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225" d="100"/>
          <a:sy n="225" d="100"/>
        </p:scale>
        <p:origin x="1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290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40480" y="1097280"/>
            <a:ext cx="73152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0" y="1097280"/>
            <a:ext cx="731520" cy="548640"/>
          </a:xfrm>
          <a:prstGeom prst="rect">
            <a:avLst/>
          </a:prstGeom>
          <a:solidFill>
            <a:srgbClr val="212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06240" y="1737360"/>
            <a:ext cx="731520" cy="548640"/>
          </a:xfrm>
          <a:prstGeom prst="rect">
            <a:avLst/>
          </a:prstGeom>
          <a:solidFill>
            <a:srgbClr val="4A90A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74720" y="1737360"/>
            <a:ext cx="731520" cy="548640"/>
          </a:xfrm>
          <a:prstGeom prst="rect">
            <a:avLst/>
          </a:prstGeom>
          <a:solidFill>
            <a:srgbClr val="2E52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1737360"/>
            <a:ext cx="73152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06240" y="1371600"/>
            <a:ext cx="365760" cy="365760"/>
          </a:xfrm>
          <a:prstGeom prst="line">
            <a:avLst/>
          </a:prstGeom>
          <a:noFill/>
          <a:ln w="25400">
            <a:solidFill>
              <a:srgbClr val="FFFFFF">
                <a:alpha val="50000"/>
              </a:srgbClr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800" dirty="0"/>
          </a:p>
        </p:txBody>
      </p:sp>
      <p:sp>
        <p:nvSpPr>
          <p:cNvPr id="41" name="Text 39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Reliable AI Systems with GitHub Spec Kit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3E50"/>
                </a:solidFill>
              </a:rPr>
              <a:t>The Vibe Coding Challenge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C3E50"/>
                </a:solidFill>
              </a:rPr>
              <a:t>When developers prototype by writing minimal prompts and letting AI guess the architecture: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E50"/>
                </a:solidFill>
              </a:rPr>
              <a:t>Fast iteration, fragile results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AI makes unscalable architectural choices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Technical debt accumulates rapidly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371600"/>
            <a:ext cx="548640" cy="5486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463040"/>
            <a:ext cx="2011680" cy="457200"/>
          </a:xfrm>
          <a:prstGeom prst="rect">
            <a:avLst/>
          </a:prstGeom>
          <a:solidFill>
            <a:srgbClr val="2C3E50"/>
          </a:solidFill>
          <a:ln w="25400">
            <a:solidFill>
              <a:srgbClr val="2C3E5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126480" y="1508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Build a website.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583680" y="2377440"/>
            <a:ext cx="0" cy="365760"/>
          </a:xfrm>
          <a:prstGeom prst="line">
            <a:avLst/>
          </a:prstGeom>
          <a:noFill/>
          <a:ln w="38100">
            <a:solidFill>
              <a:srgbClr val="F59E0B"/>
            </a:solidFill>
            <a:prstDash val="dash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126480" y="2834640"/>
            <a:ext cx="914400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26480" y="28803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C3E50"/>
                </a:solidFill>
              </a:rPr>
              <a:t>Invents custom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C3E50"/>
                </a:solidFill>
              </a:rPr>
              <a:t>framework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040880" y="2834640"/>
            <a:ext cx="0" cy="365760"/>
          </a:xfrm>
          <a:prstGeom prst="line">
            <a:avLst/>
          </a:prstGeom>
          <a:noFill/>
          <a:ln w="38100">
            <a:solidFill>
              <a:srgbClr val="F59E0B"/>
            </a:solidFill>
            <a:prstDash val="dash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83680" y="3291840"/>
            <a:ext cx="914400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0" y="33375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C3E50"/>
                </a:solidFill>
              </a:rPr>
              <a:t>New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C3E50"/>
                </a:solidFill>
              </a:rPr>
              <a:t>programming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C3E50"/>
                </a:solidFill>
              </a:rPr>
              <a:t>language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126480" y="3291840"/>
            <a:ext cx="0" cy="365760"/>
          </a:xfrm>
          <a:prstGeom prst="line">
            <a:avLst/>
          </a:prstGeom>
          <a:noFill/>
          <a:ln w="38100">
            <a:solidFill>
              <a:srgbClr val="F59E0B"/>
            </a:solidFill>
            <a:prstDash val="dash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5669280" y="3749040"/>
            <a:ext cx="914400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6692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C3E50"/>
                </a:solidFill>
              </a:rPr>
              <a:t>Unmaintainable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C3E50"/>
                </a:solidFill>
              </a:rPr>
              <a:t>prototype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715369" y="4389120"/>
            <a:ext cx="3931920" cy="731520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43434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94960" y="42976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C3E50"/>
                </a:solidFill>
              </a:rPr>
              <a:t>The speed of vibe coding comes at the cost of production reliability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3E50"/>
                </a:solidFill>
              </a:rPr>
              <a:t>The Spec-Driven Approach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</a:rPr>
              <a:t>Progressive refinement through explicit context layers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931920" cy="301752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</a:rPr>
              <a:t>Vibe Coding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</a:rPr>
              <a:t>• </a:t>
            </a:r>
            <a:r>
              <a:rPr lang="en-US" sz="1400" dirty="0">
                <a:solidFill>
                  <a:srgbClr val="2C3E50"/>
                </a:solidFill>
              </a:rPr>
              <a:t>Single prompt with vague intent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</a:rPr>
              <a:t>• </a:t>
            </a:r>
            <a:r>
              <a:rPr lang="en-US" sz="1400" dirty="0">
                <a:solidFill>
                  <a:srgbClr val="2C3E50"/>
                </a:solidFill>
              </a:rPr>
              <a:t>AI fills gaps with assumptions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</a:rPr>
              <a:t>• </a:t>
            </a:r>
            <a:r>
              <a:rPr lang="en-US" sz="1400" dirty="0">
                <a:solidFill>
                  <a:srgbClr val="2C3E50"/>
                </a:solidFill>
              </a:rPr>
              <a:t>No architectural constraints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</a:rPr>
              <a:t>• </a:t>
            </a:r>
            <a:r>
              <a:rPr lang="en-US" sz="1400" dirty="0">
                <a:solidFill>
                  <a:srgbClr val="2C3E50"/>
                </a:solidFill>
              </a:rPr>
              <a:t>Unpredictable scaling behavior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931920" cy="3017520"/>
          </a:xfrm>
          <a:prstGeom prst="rect">
            <a:avLst/>
          </a:prstGeom>
          <a:solidFill>
            <a:srgbClr val="D1FAE5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9488"/>
                </a:solidFill>
              </a:rPr>
              <a:t>Spec-Driven Development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937760" y="23774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Explicit context in Git artifacts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Progressive refinement layers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Guardrails prevent overreach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Production-ready architecture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3E50"/>
                </a:solidFill>
              </a:rPr>
              <a:t>What is GitHub Spec Kit?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7293"/>
                </a:solidFill>
              </a:rPr>
              <a:t>A Git-native framework for structuring AI development workflows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319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965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Constitution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280160" y="23317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Defines project guardrails and principles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846320" y="1828800"/>
            <a:ext cx="39319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0" y="1965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Spec Files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669280" y="23317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Feature requirements and acceptance criteria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3291840"/>
            <a:ext cx="39319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47472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429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Plan Files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280160" y="37947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Technical architecture and design decisions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846320" y="3291840"/>
            <a:ext cx="39319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47472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669280" y="3429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Task Files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5669280" y="37947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Executable implementation steps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3E50"/>
                </a:solidFill>
              </a:rPr>
              <a:t>The Context Funnel Flowchart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7293"/>
                </a:solidFill>
              </a:rPr>
              <a:t>Spec-Driven Development filters ideas through progressive context layers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29000" y="1645920"/>
            <a:ext cx="2286000" cy="41148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29000" y="16916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</a:rPr>
              <a:t>Idea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0" y="2057400"/>
            <a:ext cx="0" cy="457200"/>
          </a:xfrm>
          <a:prstGeom prst="line">
            <a:avLst/>
          </a:prstGeom>
          <a:noFill/>
          <a:ln w="508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71800" y="2194560"/>
            <a:ext cx="320040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971800" y="22402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</a:rPr>
              <a:t>constitution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C3E50"/>
                </a:solidFill>
              </a:rPr>
              <a:t>(Sets Guardrails)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2606040"/>
            <a:ext cx="0" cy="457200"/>
          </a:xfrm>
          <a:prstGeom prst="line">
            <a:avLst/>
          </a:prstGeom>
          <a:noFill/>
          <a:ln w="508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14600" y="2743200"/>
            <a:ext cx="411480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2514600" y="27889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</a:rPr>
              <a:t>spec.md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7889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C3E50"/>
                </a:solidFill>
              </a:rPr>
              <a:t>(Defines Features)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3154680"/>
            <a:ext cx="0" cy="457200"/>
          </a:xfrm>
          <a:prstGeom prst="line">
            <a:avLst/>
          </a:prstGeom>
          <a:noFill/>
          <a:ln w="508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057400" y="3291840"/>
            <a:ext cx="502920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2057400" y="333756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</a:rPr>
              <a:t>plan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0" y="333756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C3E50"/>
                </a:solidFill>
              </a:rPr>
              <a:t>(Defines Architecture)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3703320"/>
            <a:ext cx="0" cy="457200"/>
          </a:xfrm>
          <a:prstGeom prst="line">
            <a:avLst/>
          </a:prstGeom>
          <a:noFill/>
          <a:ln w="508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600200" y="3840480"/>
            <a:ext cx="594360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600200" y="38862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</a:rPr>
              <a:t>tasks.md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38862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C3E50"/>
                </a:solidFill>
              </a:rPr>
              <a:t>(Breaks Down Execution)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286000" y="4389120"/>
            <a:ext cx="457200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Code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constitution: Setting Project Guardrails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The constitution file defines: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Technology constraints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Architectural principles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Development standards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Security requirements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5661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</a:rPr>
              <a:t>Prevents AI from making unauthorized architectural decisions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937760" y="123444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constitution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Technology Stack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Backend: Node.js + Express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Database: PostgreSQL only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custom frameworks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Architecture Principles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RESTful API design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Stateless authentication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Horizontal scalability
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spec.md: Defining Features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Spec files capture: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User stories and requirements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Acceptance criteria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Edge cases and constraints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API contracts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5661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</a:rPr>
              <a:t>Clear product requirements before any architecture decisions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937760" y="123444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User Authentication Spec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Requirements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Email/password registration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JWT token authentication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Password reset flow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Acceptance Criteria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Tokens expire after 24h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Passwords hashed with bcrypt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Rate limiting: 5 attempts/min
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plan: Defining Architecture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Plan files specify: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System architecture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Data models and schemas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API endpoints and contracts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Component relationships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5661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</a:rPr>
              <a:t>Translates requirements into technical design decisions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937760" y="123444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Authentication Plan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Database Schema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users: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 (UUID, primary)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email (unique, indexed)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password_hash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API Endpoints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/auth/register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/auth/login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/auth/reset-password
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tasks.md: Breaking Down Execution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</a:rPr>
              <a:t>Task files provide: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Step-by-step implementation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Granular action items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Testing checkpoints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✓ </a:t>
            </a:r>
            <a:r>
              <a:rPr lang="en-US" sz="1400" dirty="0">
                <a:solidFill>
                  <a:srgbClr val="2C3E50"/>
                </a:solidFill>
              </a:rPr>
              <a:t>Dependency ordering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5661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</a:rPr>
              <a:t>Converts architecture into executable work items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937760" y="123444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Authentication Tasks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Phase 1: Database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 ] Create users table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 ] Add email index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 ] Write migration scripts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Phase 2: API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 ] Implement /register route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 ] Add bcrypt hashing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 ] Write integration tests
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Benefits of Spec-Driven Development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319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</a:rPr>
              <a:t>Deterministic Outputs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LLM receives complete context, eliminating guesswork and architectural drift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846320" y="1371600"/>
            <a:ext cx="39319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0" y="15544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6916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6002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</a:rPr>
              <a:t>Built-in Guardrails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21945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Constitution prevents unauthorized technology choices and maintains standards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3200400"/>
            <a:ext cx="39319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3832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204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</a:rPr>
              <a:t>Progressive Refinement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40080" y="40233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Each layer adds precision without overwhelming the model with everything at once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846320" y="3200400"/>
            <a:ext cx="393192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29200" y="33832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35204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76072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</a:rPr>
              <a:t>Git-Native Workflow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029200" y="40233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All context lives in version control—reviewable, diffable, and traceable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Development Workflow Comparison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</a:rPr>
              <a:t>Traditional AI Coding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931920" cy="4572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1. Write vague prompt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423160" y="2103120"/>
            <a:ext cx="0" cy="27432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57200" y="2377440"/>
            <a:ext cx="3931920" cy="4572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23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2. AI guesses architecture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23160" y="2834640"/>
            <a:ext cx="0" cy="27432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7200" y="3108960"/>
            <a:ext cx="3931920" cy="4572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54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3. Debug unexpected choices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3160" y="3566160"/>
            <a:ext cx="0" cy="27432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840480"/>
            <a:ext cx="3931920" cy="4572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86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4. Rewrite for production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9488"/>
                </a:solidFill>
              </a:rPr>
              <a:t>Spec-Driven Approach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754880" y="1645920"/>
            <a:ext cx="393192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1. Define constitution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20840" y="2103120"/>
            <a:ext cx="0" cy="2743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54880" y="2377440"/>
            <a:ext cx="393192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2423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2. Write spec.md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720840" y="2834640"/>
            <a:ext cx="0" cy="2743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54880" y="3108960"/>
            <a:ext cx="393192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154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3. Generate plan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20840" y="3566160"/>
            <a:ext cx="0" cy="2743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754880" y="3840480"/>
            <a:ext cx="393192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3886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4. Execute tasks → Ship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Git-Native Architectural AI Testing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7293"/>
                </a:solidFill>
              </a:rPr>
              <a:t>When implementation follows the plan, you can lock your content files and use Git workflows to test entirely different architectural implementations.</a:t>
            </a:r>
            <a:endParaRPr lang="en-US" sz="1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54480" y="1874520"/>
            <a:ext cx="1645920" cy="3657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6" name="Text 3"/>
          <p:cNvSpPr/>
          <p:nvPr/>
        </p:nvSpPr>
        <p:spPr>
          <a:xfrm>
            <a:off x="1645920" y="1920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 (locked)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77440" y="2286000"/>
            <a:ext cx="731520" cy="54864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91840" y="2514600"/>
            <a:ext cx="1828800" cy="457200"/>
          </a:xfrm>
          <a:prstGeom prst="rect">
            <a:avLst/>
          </a:prstGeom>
          <a:solidFill>
            <a:srgbClr val="E0F2FE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9184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C3E50"/>
                </a:solidFill>
              </a:rPr>
              <a:t>Node.js + PostgreSQL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377440" y="2286000"/>
            <a:ext cx="1645920" cy="1280160"/>
          </a:xfrm>
          <a:prstGeom prst="line">
            <a:avLst/>
          </a:prstGeom>
          <a:noFill/>
          <a:ln w="38100">
            <a:solidFill>
              <a:srgbClr val="2129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0" y="3383280"/>
            <a:ext cx="1828800" cy="457200"/>
          </a:xfrm>
          <a:prstGeom prst="rect">
            <a:avLst/>
          </a:prstGeom>
          <a:solidFill>
            <a:srgbClr val="DDD6FE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0624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C3E50"/>
                </a:solidFill>
              </a:rPr>
              <a:t>Python + MongoDB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7432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85800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C3E50"/>
                </a:solidFill>
              </a:rPr>
              <a:t>Same behavior,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2C3E50"/>
                </a:solidFill>
              </a:rPr>
              <a:t>different stack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C3E50"/>
                </a:solidFill>
              </a:rPr>
              <a:t>Best Practices for Spec-Driven Development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Start with constitution—define boundaries before features</a:t>
            </a:r>
            <a:endParaRPr lang="en-US" sz="15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47088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97280" y="18470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Keep specs focused on 'what', not 'how'</a:t>
            </a:r>
            <a:endParaRPr lang="en-US" sz="15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2576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97280" y="232257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Use plan files to make architectural decisions explicit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8064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97280" y="279806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Break tasks into small, testable increments</a:t>
            </a:r>
            <a:endParaRPr lang="en-US" sz="15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73552"/>
            <a:ext cx="320040" cy="32004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97280" y="32735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Version control everything—specs are living documents</a:t>
            </a:r>
            <a:endParaRPr lang="en-US" sz="15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749040"/>
            <a:ext cx="320040" cy="3200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09728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Review AI-generated plans before execution</a:t>
            </a:r>
            <a:endParaRPr lang="en-US" sz="15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2452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1097280" y="42245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Use Git branches to test alternative implementations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FFFFFF">
                <a:alpha val="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Spec-Driven Development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</a:rPr>
              <a:t>Transform AI coding from guesswork to precision engineering</a:t>
            </a:r>
            <a:endParaRPr lang="en-US" sz="220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926080"/>
            <a:ext cx="548640" cy="54864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GitHub Spec Kit</a:t>
            </a:r>
            <a:endParaRPr lang="en-US" sz="2800" dirty="0"/>
          </a:p>
        </p:txBody>
      </p:sp>
      <p:sp>
        <p:nvSpPr>
          <p:cNvPr id="38" name="Text 35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</a:rPr>
              <a:t>github.com/spec-kit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773</Words>
  <Application>Microsoft Macintosh PowerPoint</Application>
  <PresentationFormat>On-screen Show (16:9)</PresentationFormat>
  <Paragraphs>168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Spec-Driven Development with GitHub Spec Kit</dc:title>
  <dc:subject>PptxGenJS Presentation</dc:subject>
  <dc:creator>Spec Kit Engineering</dc:creator>
  <cp:lastModifiedBy>SYED RAZA</cp:lastModifiedBy>
  <cp:revision>2</cp:revision>
  <dcterms:created xsi:type="dcterms:W3CDTF">2026-04-02T03:10:51Z</dcterms:created>
  <dcterms:modified xsi:type="dcterms:W3CDTF">2026-04-02T03:21:09Z</dcterms:modified>
</cp:coreProperties>
</file>