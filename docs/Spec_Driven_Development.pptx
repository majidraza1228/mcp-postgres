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809"/>
    <p:restoredTop sz="94610"/>
  </p:normalViewPr>
  <p:slideViewPr>
    <p:cSldViewPr snapToGrid="0" snapToObjects="1">
      <p:cViewPr varScale="1">
        <p:scale>
          <a:sx n="216" d="100"/>
          <a:sy n="216" d="100"/>
        </p:scale>
        <p:origin x="63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29067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635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635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635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635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635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635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635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635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635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635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635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635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635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840480" y="1097280"/>
            <a:ext cx="731520" cy="548640"/>
          </a:xfrm>
          <a:prstGeom prst="rect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0" y="1097280"/>
            <a:ext cx="731520" cy="548640"/>
          </a:xfrm>
          <a:prstGeom prst="rect">
            <a:avLst/>
          </a:prstGeom>
          <a:solidFill>
            <a:srgbClr val="21295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206240" y="1737360"/>
            <a:ext cx="731520" cy="548640"/>
          </a:xfrm>
          <a:prstGeom prst="rect">
            <a:avLst/>
          </a:prstGeom>
          <a:solidFill>
            <a:srgbClr val="4A90A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474720" y="1737360"/>
            <a:ext cx="731520" cy="548640"/>
          </a:xfrm>
          <a:prstGeom prst="rect">
            <a:avLst/>
          </a:prstGeom>
          <a:solidFill>
            <a:srgbClr val="2E526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937760" y="1737360"/>
            <a:ext cx="731520" cy="548640"/>
          </a:xfrm>
          <a:prstGeom prst="rect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206240" y="1371600"/>
            <a:ext cx="365760" cy="365760"/>
          </a:xfrm>
          <a:prstGeom prst="line">
            <a:avLst/>
          </a:prstGeom>
          <a:noFill/>
          <a:ln w="25400">
            <a:solidFill>
              <a:srgbClr val="FFFFFF">
                <a:alpha val="50000"/>
              </a:srgbClr>
            </a:solidFill>
            <a:prstDash val="dash"/>
          </a:ln>
        </p:spPr>
      </p:sp>
      <p:sp>
        <p:nvSpPr>
          <p:cNvPr id="40" name="Text 38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Spec-Driven Development</a:t>
            </a:r>
            <a:endParaRPr lang="en-US" sz="4800" dirty="0"/>
          </a:p>
        </p:txBody>
      </p:sp>
      <p:sp>
        <p:nvSpPr>
          <p:cNvPr id="41" name="Text 39"/>
          <p:cNvSpPr/>
          <p:nvPr/>
        </p:nvSpPr>
        <p:spPr>
          <a:xfrm>
            <a:off x="457200" y="3749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Reliable AI Systems with GitHub Spec Kit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C3E50"/>
                </a:solidFill>
              </a:rPr>
              <a:t>The Vibe Coding Challenge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</a:rPr>
              <a:t>When developers prototype by writing minimal prompts and letting AI guess the architecture:</a:t>
            </a:r>
            <a:endParaRPr lang="en-US" sz="1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74320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269748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</a:rPr>
              <a:t>Fast iteration, fragile results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</a:rPr>
              <a:t>AI makes unscalable architectural choices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</a:rPr>
              <a:t>Technical debt accumulates rapidly</a:t>
            </a:r>
            <a:endParaRPr lang="en-US" sz="1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2" y="1143000"/>
            <a:ext cx="548640" cy="5486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786102" y="1154799"/>
            <a:ext cx="2011680" cy="457200"/>
          </a:xfrm>
          <a:prstGeom prst="rect">
            <a:avLst/>
          </a:prstGeom>
          <a:solidFill>
            <a:srgbClr val="2C3E50"/>
          </a:solidFill>
          <a:ln w="25400">
            <a:solidFill>
              <a:srgbClr val="2C3E5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114681" y="117618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Build a website.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 flipH="1">
            <a:off x="6701666" y="1600200"/>
            <a:ext cx="5899" cy="735945"/>
          </a:xfrm>
          <a:prstGeom prst="line">
            <a:avLst/>
          </a:prstGeom>
          <a:noFill/>
          <a:ln w="38100">
            <a:solidFill>
              <a:srgbClr val="F59E0B"/>
            </a:solidFill>
            <a:prstDash val="dash"/>
            <a:tailEnd type="triangle"/>
          </a:ln>
        </p:spPr>
      </p:sp>
      <p:sp>
        <p:nvSpPr>
          <p:cNvPr id="10" name="Shape 6"/>
          <p:cNvSpPr/>
          <p:nvPr/>
        </p:nvSpPr>
        <p:spPr>
          <a:xfrm>
            <a:off x="5993753" y="2377440"/>
            <a:ext cx="1275727" cy="54864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334742" y="2427584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C3E50"/>
                </a:solidFill>
              </a:rPr>
              <a:t>Invents custom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C3E50"/>
                </a:solidFill>
              </a:rPr>
              <a:t>framework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7040880" y="2926080"/>
            <a:ext cx="0" cy="777240"/>
          </a:xfrm>
          <a:prstGeom prst="line">
            <a:avLst/>
          </a:prstGeom>
          <a:noFill/>
          <a:ln w="38100">
            <a:solidFill>
              <a:srgbClr val="F59E0B"/>
            </a:solidFill>
            <a:prstDash val="dash"/>
            <a:tailEnd type="triangle"/>
          </a:ln>
        </p:spPr>
      </p:sp>
      <p:sp>
        <p:nvSpPr>
          <p:cNvPr id="13" name="Shape 9"/>
          <p:cNvSpPr/>
          <p:nvPr/>
        </p:nvSpPr>
        <p:spPr>
          <a:xfrm>
            <a:off x="6949440" y="3726180"/>
            <a:ext cx="914400" cy="54864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949440" y="373134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C3E50"/>
                </a:solidFill>
              </a:rPr>
              <a:t>New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C3E50"/>
                </a:solidFill>
              </a:rPr>
              <a:t>programming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C3E50"/>
                </a:solidFill>
              </a:rPr>
              <a:t>language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331791" y="2934928"/>
            <a:ext cx="1" cy="768392"/>
          </a:xfrm>
          <a:prstGeom prst="line">
            <a:avLst/>
          </a:prstGeom>
          <a:noFill/>
          <a:ln w="38100">
            <a:solidFill>
              <a:srgbClr val="F59E0B"/>
            </a:solidFill>
            <a:prstDash val="dash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5669280" y="3749040"/>
            <a:ext cx="914400" cy="54864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669280" y="37947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C3E50"/>
                </a:solidFill>
              </a:rPr>
              <a:t>Unmaintainable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C3E50"/>
                </a:solidFill>
              </a:rPr>
              <a:t>prototype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4715369" y="4389120"/>
            <a:ext cx="3931920" cy="731520"/>
          </a:xfrm>
          <a:prstGeom prst="rect">
            <a:avLst/>
          </a:prstGeom>
          <a:solidFill>
            <a:srgbClr val="FEF3C7"/>
          </a:solidFill>
          <a:ln w="25400">
            <a:solidFill>
              <a:srgbClr val="F59E0B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4343400"/>
            <a:ext cx="320040" cy="3200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394960" y="429768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C3E50"/>
                </a:solidFill>
              </a:rPr>
              <a:t>The speed of vibe coding comes at the cost of production reliability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C3E50"/>
                </a:solidFill>
              </a:rPr>
              <a:t>The Spec-Driven Approach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C7293"/>
                </a:solidFill>
              </a:rPr>
              <a:t>Progressive refinement through explicit context layers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3931920" cy="3017520"/>
          </a:xfrm>
          <a:prstGeom prst="rect">
            <a:avLst/>
          </a:prstGeom>
          <a:solidFill>
            <a:srgbClr val="FEE2E2"/>
          </a:solidFill>
          <a:ln w="25400">
            <a:solidFill>
              <a:srgbClr val="DC26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288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C2626"/>
                </a:solidFill>
              </a:rPr>
              <a:t>Vibe Coding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2626"/>
                </a:solidFill>
              </a:rPr>
              <a:t>• </a:t>
            </a:r>
            <a:r>
              <a:rPr lang="en-US" sz="1400" dirty="0">
                <a:solidFill>
                  <a:srgbClr val="2C3E50"/>
                </a:solidFill>
              </a:rPr>
              <a:t>Single prompt with vague intent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C2626"/>
                </a:solidFill>
              </a:rPr>
              <a:t>• </a:t>
            </a:r>
            <a:r>
              <a:rPr lang="en-US" sz="1400" dirty="0">
                <a:solidFill>
                  <a:srgbClr val="2C3E50"/>
                </a:solidFill>
              </a:rPr>
              <a:t>AI fills gaps with assumptions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C2626"/>
                </a:solidFill>
              </a:rPr>
              <a:t>• </a:t>
            </a:r>
            <a:r>
              <a:rPr lang="en-US" sz="1400" dirty="0">
                <a:solidFill>
                  <a:srgbClr val="2C3E50"/>
                </a:solidFill>
              </a:rPr>
              <a:t>No architectural constraints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C2626"/>
                </a:solidFill>
              </a:rPr>
              <a:t>• </a:t>
            </a:r>
            <a:r>
              <a:rPr lang="en-US" sz="1400" dirty="0">
                <a:solidFill>
                  <a:srgbClr val="2C3E50"/>
                </a:solidFill>
              </a:rPr>
              <a:t>Unpredictable scaling behavior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645920"/>
            <a:ext cx="3931920" cy="3017520"/>
          </a:xfrm>
          <a:prstGeom prst="rect">
            <a:avLst/>
          </a:prstGeom>
          <a:solidFill>
            <a:srgbClr val="D1FAE5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8288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9488"/>
                </a:solidFill>
              </a:rPr>
              <a:t>Spec-Driven Development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937760" y="2377440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</a:rPr>
              <a:t>✓ </a:t>
            </a:r>
            <a:r>
              <a:rPr lang="en-US" sz="1400" dirty="0">
                <a:solidFill>
                  <a:srgbClr val="2C3E50"/>
                </a:solidFill>
              </a:rPr>
              <a:t>Explicit context in Git artifacts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</a:rPr>
              <a:t>✓ </a:t>
            </a:r>
            <a:r>
              <a:rPr lang="en-US" sz="1400" dirty="0">
                <a:solidFill>
                  <a:srgbClr val="2C3E50"/>
                </a:solidFill>
              </a:rPr>
              <a:t>Progressive refinement layers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</a:rPr>
              <a:t>✓ </a:t>
            </a:r>
            <a:r>
              <a:rPr lang="en-US" sz="1400" dirty="0">
                <a:solidFill>
                  <a:srgbClr val="2C3E50"/>
                </a:solidFill>
              </a:rPr>
              <a:t>Guardrails prevent overreach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</a:rPr>
              <a:t>✓ </a:t>
            </a:r>
            <a:r>
              <a:rPr lang="en-US" sz="1400" dirty="0">
                <a:solidFill>
                  <a:srgbClr val="2C3E50"/>
                </a:solidFill>
              </a:rPr>
              <a:t>Production-ready architecture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C3E50"/>
                </a:solidFill>
              </a:rPr>
              <a:t>What is GitHub Spec Kit?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C7293"/>
                </a:solidFill>
              </a:rPr>
              <a:t>A Git-native framework for structuring AI development workflows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393192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0116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9659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</a:rPr>
              <a:t>Constitution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280160" y="233172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Defines project guardrails and principles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846320" y="1828800"/>
            <a:ext cx="393192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201168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669280" y="19659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</a:rPr>
              <a:t>Spec Files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5669280" y="233172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Feature requirements and acceptance criteria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57200" y="3291840"/>
            <a:ext cx="393192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47472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80160" y="34290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</a:rPr>
              <a:t>Plan Files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1280160" y="37947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Technical architecture and design decisions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4846320" y="3291840"/>
            <a:ext cx="393192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347472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669280" y="34290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</a:rPr>
              <a:t>Task Files</a:t>
            </a:r>
            <a:endParaRPr lang="en-US" sz="1800" dirty="0"/>
          </a:p>
        </p:txBody>
      </p:sp>
      <p:sp>
        <p:nvSpPr>
          <p:cNvPr id="19" name="Text 13"/>
          <p:cNvSpPr/>
          <p:nvPr/>
        </p:nvSpPr>
        <p:spPr>
          <a:xfrm>
            <a:off x="5669280" y="37947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Executable implementation steps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C3E50"/>
                </a:solidFill>
              </a:rPr>
              <a:t>The Context Funnel Flowchart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C7293"/>
                </a:solidFill>
              </a:rPr>
              <a:t>Spec-Driven Development filters ideas through progressive context layers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29000" y="1645920"/>
            <a:ext cx="2286000" cy="411480"/>
          </a:xfrm>
          <a:prstGeom prst="rect">
            <a:avLst/>
          </a:prstGeom>
          <a:solidFill>
            <a:srgbClr val="F5F5F5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29000" y="1691640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</a:rPr>
              <a:t>Idea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0" y="2057400"/>
            <a:ext cx="0" cy="457200"/>
          </a:xfrm>
          <a:prstGeom prst="line">
            <a:avLst/>
          </a:prstGeom>
          <a:noFill/>
          <a:ln w="508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971800" y="2194560"/>
            <a:ext cx="3200400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65A82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2971800" y="224028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</a:rPr>
              <a:t>constitution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0" y="224028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</a:rPr>
              <a:t>(Sets Guardrails)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0" y="2606040"/>
            <a:ext cx="0" cy="457200"/>
          </a:xfrm>
          <a:prstGeom prst="line">
            <a:avLst/>
          </a:prstGeom>
          <a:noFill/>
          <a:ln w="508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514600" y="2743200"/>
            <a:ext cx="4114800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65A82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2514600" y="278892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</a:rPr>
              <a:t>spec.md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0" y="278892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</a:rPr>
              <a:t>(Defines Features)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0" y="3154680"/>
            <a:ext cx="0" cy="457200"/>
          </a:xfrm>
          <a:prstGeom prst="line">
            <a:avLst/>
          </a:prstGeom>
          <a:noFill/>
          <a:ln w="508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057400" y="3291840"/>
            <a:ext cx="5029200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65A82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2057400" y="333756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</a:rPr>
              <a:t>plan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0" y="333756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</a:rPr>
              <a:t>(Defines Architecture)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0" y="3703320"/>
            <a:ext cx="0" cy="457200"/>
          </a:xfrm>
          <a:prstGeom prst="line">
            <a:avLst/>
          </a:prstGeom>
          <a:noFill/>
          <a:ln w="508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600200" y="3840480"/>
            <a:ext cx="5943600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65A82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1600200" y="388620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</a:rPr>
              <a:t>tasks.md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572000" y="388620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</a:rPr>
              <a:t>(Breaks Down Execution)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286000" y="4389120"/>
            <a:ext cx="457200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86000" y="44348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Deterministic Code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C3E50"/>
                </a:solidFill>
              </a:rPr>
              <a:t>constitution: Setting Project Guardrails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18872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12344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</a:rPr>
              <a:t>The constitution file defines: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40080" y="201168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</a:rPr>
              <a:t>✓ </a:t>
            </a:r>
            <a:r>
              <a:rPr lang="en-US" sz="1400" dirty="0">
                <a:solidFill>
                  <a:srgbClr val="2C3E50"/>
                </a:solidFill>
              </a:rPr>
              <a:t>Technology constraints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</a:rPr>
              <a:t>✓ </a:t>
            </a:r>
            <a:r>
              <a:rPr lang="en-US" sz="1400" dirty="0">
                <a:solidFill>
                  <a:srgbClr val="2C3E50"/>
                </a:solidFill>
              </a:rPr>
              <a:t>Architectural principles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</a:rPr>
              <a:t>✓ </a:t>
            </a:r>
            <a:r>
              <a:rPr lang="en-US" sz="1400" dirty="0">
                <a:solidFill>
                  <a:srgbClr val="2C3E50"/>
                </a:solidFill>
              </a:rPr>
              <a:t>Development standards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</a:rPr>
              <a:t>✓ </a:t>
            </a:r>
            <a:r>
              <a:rPr lang="en-US" sz="1400" dirty="0">
                <a:solidFill>
                  <a:srgbClr val="2C3E50"/>
                </a:solidFill>
              </a:rPr>
              <a:t>Security requirements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40080" y="356616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C7293"/>
                </a:solidFill>
              </a:rPr>
              <a:t>Prevents AI from making unauthorized architectural decisions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754880" y="1097280"/>
            <a:ext cx="3931920" cy="3200400"/>
          </a:xfrm>
          <a:prstGeom prst="rect">
            <a:avLst/>
          </a:prstGeom>
          <a:solidFill>
            <a:srgbClr val="1E293B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937760" y="1234440"/>
            <a:ext cx="35661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constitution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Technology Stack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Backend: Node.js + Express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Database: PostgreSQL only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No custom frameworks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Architecture Principles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RESTful API design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Stateless authentication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Horizontal scalability
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C3E50"/>
                </a:solidFill>
              </a:rPr>
              <a:t>spec.md: Defining Features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18872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12344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</a:rPr>
              <a:t>Spec files capture: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40080" y="201168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</a:rPr>
              <a:t>✓ </a:t>
            </a:r>
            <a:r>
              <a:rPr lang="en-US" sz="1400" dirty="0">
                <a:solidFill>
                  <a:srgbClr val="2C3E50"/>
                </a:solidFill>
              </a:rPr>
              <a:t>User stories and requirements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</a:rPr>
              <a:t>✓ </a:t>
            </a:r>
            <a:r>
              <a:rPr lang="en-US" sz="1400" dirty="0">
                <a:solidFill>
                  <a:srgbClr val="2C3E50"/>
                </a:solidFill>
              </a:rPr>
              <a:t>Acceptance criteria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</a:rPr>
              <a:t>✓ </a:t>
            </a:r>
            <a:r>
              <a:rPr lang="en-US" sz="1400" dirty="0">
                <a:solidFill>
                  <a:srgbClr val="2C3E50"/>
                </a:solidFill>
              </a:rPr>
              <a:t>Edge cases and constraints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</a:rPr>
              <a:t>✓ </a:t>
            </a:r>
            <a:r>
              <a:rPr lang="en-US" sz="1400" dirty="0">
                <a:solidFill>
                  <a:srgbClr val="2C3E50"/>
                </a:solidFill>
              </a:rPr>
              <a:t>API contracts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40080" y="356616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C7293"/>
                </a:solidFill>
              </a:rPr>
              <a:t>Clear product requirements before any architecture decisions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754880" y="1097280"/>
            <a:ext cx="3931920" cy="3200400"/>
          </a:xfrm>
          <a:prstGeom prst="rect">
            <a:avLst/>
          </a:prstGeom>
          <a:solidFill>
            <a:srgbClr val="1E293B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937760" y="1234440"/>
            <a:ext cx="35661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User Authentication Spec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Requirements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Email/password registration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JWT token authentication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Password reset flow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Acceptance Criteria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Tokens expire after 24h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Passwords hashed with bcrypt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Rate limiting: 5 attempts/min
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C3E50"/>
                </a:solidFill>
              </a:rPr>
              <a:t>plan: Defining Architecture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18872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12344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</a:rPr>
              <a:t>Plan files specify: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40080" y="201168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</a:rPr>
              <a:t>✓ </a:t>
            </a:r>
            <a:r>
              <a:rPr lang="en-US" sz="1400" dirty="0">
                <a:solidFill>
                  <a:srgbClr val="2C3E50"/>
                </a:solidFill>
              </a:rPr>
              <a:t>System architecture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</a:rPr>
              <a:t>✓ </a:t>
            </a:r>
            <a:r>
              <a:rPr lang="en-US" sz="1400" dirty="0">
                <a:solidFill>
                  <a:srgbClr val="2C3E50"/>
                </a:solidFill>
              </a:rPr>
              <a:t>Data models and schemas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</a:rPr>
              <a:t>✓ </a:t>
            </a:r>
            <a:r>
              <a:rPr lang="en-US" sz="1400" dirty="0">
                <a:solidFill>
                  <a:srgbClr val="2C3E50"/>
                </a:solidFill>
              </a:rPr>
              <a:t>API endpoints and contracts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</a:rPr>
              <a:t>✓ </a:t>
            </a:r>
            <a:r>
              <a:rPr lang="en-US" sz="1400" dirty="0">
                <a:solidFill>
                  <a:srgbClr val="2C3E50"/>
                </a:solidFill>
              </a:rPr>
              <a:t>Component relationships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40080" y="356616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C7293"/>
                </a:solidFill>
              </a:rPr>
              <a:t>Translates requirements into technical design decisions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754880" y="1097280"/>
            <a:ext cx="3931920" cy="3200400"/>
          </a:xfrm>
          <a:prstGeom prst="rect">
            <a:avLst/>
          </a:prstGeom>
          <a:solidFill>
            <a:srgbClr val="1E293B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937760" y="1234440"/>
            <a:ext cx="35661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Authentication Plan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Database Schema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users: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id (UUID, primary)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email (unique, indexed)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password_hash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API Endpoints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/auth/register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/auth/login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/auth/reset-password
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C3E50"/>
                </a:solidFill>
              </a:rPr>
              <a:t>tasks.md: Breaking Down Execution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18872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12344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</a:rPr>
              <a:t>Task files provide: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40080" y="201168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</a:rPr>
              <a:t>✓ </a:t>
            </a:r>
            <a:r>
              <a:rPr lang="en-US" sz="1400" dirty="0">
                <a:solidFill>
                  <a:srgbClr val="2C3E50"/>
                </a:solidFill>
              </a:rPr>
              <a:t>Step-by-step implementation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</a:rPr>
              <a:t>✓ </a:t>
            </a:r>
            <a:r>
              <a:rPr lang="en-US" sz="1400" dirty="0">
                <a:solidFill>
                  <a:srgbClr val="2C3E50"/>
                </a:solidFill>
              </a:rPr>
              <a:t>Granular action items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</a:rPr>
              <a:t>✓ </a:t>
            </a:r>
            <a:r>
              <a:rPr lang="en-US" sz="1400" dirty="0">
                <a:solidFill>
                  <a:srgbClr val="2C3E50"/>
                </a:solidFill>
              </a:rPr>
              <a:t>Testing checkpoints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</a:rPr>
              <a:t>✓ </a:t>
            </a:r>
            <a:r>
              <a:rPr lang="en-US" sz="1400" dirty="0">
                <a:solidFill>
                  <a:srgbClr val="2C3E50"/>
                </a:solidFill>
              </a:rPr>
              <a:t>Dependency ordering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40080" y="356616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C7293"/>
                </a:solidFill>
              </a:rPr>
              <a:t>Converts architecture into executable work items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754880" y="1097280"/>
            <a:ext cx="3931920" cy="3200400"/>
          </a:xfrm>
          <a:prstGeom prst="rect">
            <a:avLst/>
          </a:prstGeom>
          <a:solidFill>
            <a:srgbClr val="1E293B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937760" y="1234440"/>
            <a:ext cx="35661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Authentication Tasks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Phase 1: Database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[ ] Create users table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[ ] Add email index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[ ] Write migration scripts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Phase 2: API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[ ] Implement /register route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[ ] Add bcrypt hashing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[ ] Write integration tests
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C3E50"/>
                </a:solidFill>
              </a:rPr>
              <a:t>Benefits of Spec-Driven Development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93192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69164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6002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</a:rPr>
              <a:t>Deterministic Outputs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219456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LLM receives complete context, eliminating guesswork and architectural drift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846320" y="1371600"/>
            <a:ext cx="393192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0" y="155448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6360" y="169164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760720" y="16002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</a:rPr>
              <a:t>Built-in Guardrails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5029200" y="219456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Constitution prevents unauthorized technology choices and maintains standards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57200" y="3200400"/>
            <a:ext cx="393192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40080" y="338328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52044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71600" y="34290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</a:rPr>
              <a:t>Progressive Refinement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640080" y="402336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Each layer adds precision without overwhelming the model with everything at once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4846320" y="3200400"/>
            <a:ext cx="393192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5029200" y="338328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66360" y="352044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760720" y="34290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</a:rPr>
              <a:t>Git-Native Workflow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5029200" y="402336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All context lives in version control—reviewable, diffable, and traceable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C3E50"/>
                </a:solidFill>
              </a:rPr>
              <a:t>Development Workflow Comparison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C2626"/>
                </a:solidFill>
              </a:rPr>
              <a:t>Traditional AI Coding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3931920" cy="45720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916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</a:rPr>
              <a:t>1. Write vague prompt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423160" y="2103120"/>
            <a:ext cx="0" cy="27432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57200" y="2377440"/>
            <a:ext cx="3931920" cy="45720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4231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</a:rPr>
              <a:t>2. AI guesses architecture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423160" y="2834640"/>
            <a:ext cx="0" cy="27432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57200" y="3108960"/>
            <a:ext cx="3931920" cy="45720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1546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</a:rPr>
              <a:t>3. Debug unexpected choices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423160" y="3566160"/>
            <a:ext cx="0" cy="27432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57200" y="3840480"/>
            <a:ext cx="3931920" cy="45720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8862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</a:rPr>
              <a:t>4. Rewrite for production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54880" y="11887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9488"/>
                </a:solidFill>
              </a:rPr>
              <a:t>Spec-Driven Approach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754880" y="1645920"/>
            <a:ext cx="3931920" cy="45720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16916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</a:rPr>
              <a:t>1. Define constitution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720840" y="2103120"/>
            <a:ext cx="0" cy="27432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754880" y="2377440"/>
            <a:ext cx="3931920" cy="45720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24231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</a:rPr>
              <a:t>2. Write spec.md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720840" y="2834640"/>
            <a:ext cx="0" cy="27432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754880" y="3108960"/>
            <a:ext cx="3931920" cy="45720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23" name="Text 21"/>
          <p:cNvSpPr/>
          <p:nvPr/>
        </p:nvSpPr>
        <p:spPr>
          <a:xfrm>
            <a:off x="4937760" y="31546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</a:rPr>
              <a:t>3. Generate plan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720840" y="3566160"/>
            <a:ext cx="0" cy="27432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4754880" y="3840480"/>
            <a:ext cx="3931920" cy="45720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0" y="38862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</a:rPr>
              <a:t>4. Execute tasks → Ship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C3E50"/>
                </a:solidFill>
              </a:rPr>
              <a:t>Git-Native Architectural AI Testing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7293"/>
                </a:solidFill>
              </a:rPr>
              <a:t>When implementation follows the plan, you can lock your content files and use Git workflows to test entirely different architectural implementations.</a:t>
            </a:r>
            <a:endParaRPr lang="en-US" sz="15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828800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554480" y="1874520"/>
            <a:ext cx="1645920" cy="36576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6" name="Text 3"/>
          <p:cNvSpPr/>
          <p:nvPr/>
        </p:nvSpPr>
        <p:spPr>
          <a:xfrm>
            <a:off x="1645920" y="19202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spec.md (locked)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377440" y="2286000"/>
            <a:ext cx="731520" cy="54864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291840" y="2514600"/>
            <a:ext cx="1828800" cy="457200"/>
          </a:xfrm>
          <a:prstGeom prst="rect">
            <a:avLst/>
          </a:prstGeom>
          <a:solidFill>
            <a:srgbClr val="E0F2FE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91840" y="26974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</a:rPr>
              <a:t>Node.js + PostgreSQL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377440" y="2286000"/>
            <a:ext cx="1645920" cy="1280160"/>
          </a:xfrm>
          <a:prstGeom prst="line">
            <a:avLst/>
          </a:prstGeom>
          <a:noFill/>
          <a:ln w="38100">
            <a:solidFill>
              <a:srgbClr val="21295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114800" y="3383280"/>
            <a:ext cx="1828800" cy="457200"/>
          </a:xfrm>
          <a:prstGeom prst="rect">
            <a:avLst/>
          </a:prstGeom>
          <a:solidFill>
            <a:srgbClr val="DDD6FE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206240" y="34290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</a:rPr>
              <a:t>Python + MongoDB</a:t>
            </a:r>
            <a:endParaRPr lang="en-US" sz="12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274320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858000" y="26974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C3E50"/>
                </a:solidFill>
              </a:rPr>
              <a:t>Same behavior,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2C3E50"/>
                </a:solidFill>
              </a:rPr>
              <a:t>different stack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C3E50"/>
                </a:solidFill>
              </a:rPr>
              <a:t>Best Practices for Spec-Driven Development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7160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</a:rPr>
              <a:t>Start with constitution—define boundaries before features</a:t>
            </a:r>
            <a:endParaRPr lang="en-US" sz="15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847088"/>
            <a:ext cx="320040" cy="3200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97280" y="184708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</a:rPr>
              <a:t>Keep specs focused on 'what', not 'how'</a:t>
            </a:r>
            <a:endParaRPr lang="en-US" sz="15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322576"/>
            <a:ext cx="320040" cy="32004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97280" y="2322576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</a:rPr>
              <a:t>Use plan files to make architectural decisions explicit</a:t>
            </a:r>
            <a:endParaRPr lang="en-US" sz="15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798064"/>
            <a:ext cx="320040" cy="32004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097280" y="2798064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</a:rPr>
              <a:t>Break tasks into small, testable increments</a:t>
            </a:r>
            <a:endParaRPr lang="en-US" sz="15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73552"/>
            <a:ext cx="320040" cy="32004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097280" y="327355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</a:rPr>
              <a:t>Version control everything—specs are living documents</a:t>
            </a:r>
            <a:endParaRPr lang="en-US" sz="150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749040"/>
            <a:ext cx="320040" cy="320040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1097280" y="3749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</a:rPr>
              <a:t>Review AI-generated plans before execution</a:t>
            </a:r>
            <a:endParaRPr lang="en-US" sz="1500" dirty="0"/>
          </a:p>
        </p:txBody>
      </p:sp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224528"/>
            <a:ext cx="320040" cy="320040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1097280" y="422452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</a:rPr>
              <a:t>Use Git branches to test alternative implementations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635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635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635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635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635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635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635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635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635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635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635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635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635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Spec-Driven Development</a:t>
            </a:r>
            <a:endParaRPr lang="en-US" sz="4400" dirty="0"/>
          </a:p>
        </p:txBody>
      </p:sp>
      <p:sp>
        <p:nvSpPr>
          <p:cNvPr id="35" name="Text 33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</a:rPr>
              <a:t>Transform AI coding from guesswork to precision engineering</a:t>
            </a:r>
            <a:endParaRPr lang="en-US" sz="2200" dirty="0"/>
          </a:p>
        </p:txBody>
      </p:sp>
      <p:pic>
        <p:nvPicPr>
          <p:cNvPr id="3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2926080"/>
            <a:ext cx="548640" cy="548640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GitHub Spec Kit</a:t>
            </a:r>
            <a:endParaRPr lang="en-US" sz="2800" dirty="0"/>
          </a:p>
        </p:txBody>
      </p:sp>
      <p:sp>
        <p:nvSpPr>
          <p:cNvPr id="38" name="Text 35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CADCFC"/>
                </a:solidFill>
              </a:rPr>
              <a:t>github.com/spec-kit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773</Words>
  <Application>Microsoft Macintosh PowerPoint</Application>
  <PresentationFormat>On-screen Show (16:9)</PresentationFormat>
  <Paragraphs>168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Spec-Driven Development with GitHub Spec Kit</dc:title>
  <dc:subject>PptxGenJS Presentation</dc:subject>
  <dc:creator>Spec Kit Engineering</dc:creator>
  <cp:lastModifiedBy>SYED RAZA</cp:lastModifiedBy>
  <cp:revision>3</cp:revision>
  <dcterms:created xsi:type="dcterms:W3CDTF">2026-04-02T03:10:51Z</dcterms:created>
  <dcterms:modified xsi:type="dcterms:W3CDTF">2026-05-17T05:36:43Z</dcterms:modified>
</cp:coreProperties>
</file>