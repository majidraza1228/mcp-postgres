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Quality</c:v>
                </c:pt>
              </c:strCache>
            </c:strRef>
          </c:tx>
          <c:spPr>
            <a:solidFill>
              <a:srgbClr val="0D9488"/>
            </a:solidFill>
            <a:ln w="38100" cap="flat">
              <a:solidFill>
                <a:srgbClr val="0D948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D9488"/>
              </a:solidFill>
              <a:ln w="9525" cap="flat">
                <a:solidFill>
                  <a:srgbClr val="0D9488"/>
                </a:solidFill>
                <a:prstDash val="solid"/>
                <a:round/>
              </a:ln>
              <a:effectLst/>
            </c:spPr>
          </c:marker>
          <c:cat>
            <c:multiLvlStrRef>
              <c:f>Sheet1!$A$2:$A$12</c:f>
              <c:multiLvlStrCache>
                <c:ptCount val="11"/>
                <c:lvl>
                  <c:pt idx="0">
                    <c:v>0%</c:v>
                  </c:pt>
                  <c:pt idx="1">
                    <c:v>10%</c:v>
                  </c:pt>
                  <c:pt idx="2">
                    <c:v>20%</c:v>
                  </c:pt>
                  <c:pt idx="3">
                    <c:v>30%</c:v>
                  </c:pt>
                  <c:pt idx="4">
                    <c:v>40%</c:v>
                  </c:pt>
                  <c:pt idx="5">
                    <c:v>50%</c:v>
                  </c:pt>
                  <c:pt idx="6">
                    <c:v>60%</c:v>
                  </c:pt>
                  <c:pt idx="7">
                    <c:v>70%</c:v>
                  </c:pt>
                  <c:pt idx="8">
                    <c:v>80%</c:v>
                  </c:pt>
                  <c:pt idx="9">
                    <c:v>90%</c:v>
                  </c:pt>
                  <c:pt idx="10">
                    <c:v>100%</c:v>
                  </c:pt>
                </c:lvl>
              </c:multiLvlStrCache>
            </c:multiLvlStrRef>
          </c:cat>
          <c:val>
            <c:numRef>
              <c:f>Sheet1!$B$2:$B$12</c:f>
              <c:numCache>
                <c:formatCode>General</c:formatCode>
                <c:ptCount val="11"/>
                <c:pt idx="0">
                  <c:v>95</c:v>
                </c:pt>
                <c:pt idx="1">
                  <c:v>95</c:v>
                </c:pt>
                <c:pt idx="2">
                  <c:v>93</c:v>
                </c:pt>
                <c:pt idx="3">
                  <c:v>90</c:v>
                </c:pt>
                <c:pt idx="4">
                  <c:v>85</c:v>
                </c:pt>
                <c:pt idx="5">
                  <c:v>75</c:v>
                </c:pt>
                <c:pt idx="6">
                  <c:v>55</c:v>
                </c:pt>
                <c:pt idx="7">
                  <c:v>35</c:v>
                </c:pt>
                <c:pt idx="8">
                  <c:v>20</c:v>
                </c:pt>
                <c:pt idx="9">
                  <c:v>12</c:v>
                </c:pt>
                <c:pt idx="10">
                  <c:v>8</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475569"/>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475569"/>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5943600" y="0"/>
            <a:ext cx="3200400" cy="2011680"/>
          </a:xfrm>
          <a:prstGeom prst="rect">
            <a:avLst/>
          </a:prstGeom>
          <a:solidFill>
            <a:srgbClr val="0D9488">
              <a:alpha val="85000"/>
            </a:srgbClr>
          </a:solidFill>
          <a:ln/>
        </p:spPr>
      </p:sp>
      <p:sp>
        <p:nvSpPr>
          <p:cNvPr id="3" name="Shape 1"/>
          <p:cNvSpPr/>
          <p:nvPr/>
        </p:nvSpPr>
        <p:spPr>
          <a:xfrm>
            <a:off x="0" y="4114800"/>
            <a:ext cx="3657600" cy="1028700"/>
          </a:xfrm>
          <a:prstGeom prst="rect">
            <a:avLst/>
          </a:prstGeom>
          <a:solidFill>
            <a:srgbClr val="0F766E">
              <a:alpha val="80000"/>
            </a:srgbClr>
          </a:solidFill>
          <a:ln/>
        </p:spPr>
      </p:sp>
      <p:pic>
        <p:nvPicPr>
          <p:cNvPr id="4" name="Image 0" descr="preencoded.png">    </p:cNvPr>
          <p:cNvPicPr>
            <a:picLocks noChangeAspect="1"/>
          </p:cNvPicPr>
          <p:nvPr/>
        </p:nvPicPr>
        <p:blipFill>
          <a:blip r:embed="rId1"/>
          <a:stretch>
            <a:fillRect/>
          </a:stretch>
        </p:blipFill>
        <p:spPr>
          <a:xfrm>
            <a:off x="640080" y="731520"/>
            <a:ext cx="640080" cy="640080"/>
          </a:xfrm>
          <a:prstGeom prst="rect">
            <a:avLst/>
          </a:prstGeom>
        </p:spPr>
      </p:pic>
      <p:sp>
        <p:nvSpPr>
          <p:cNvPr id="5" name="Text 2"/>
          <p:cNvSpPr/>
          <p:nvPr/>
        </p:nvSpPr>
        <p:spPr>
          <a:xfrm>
            <a:off x="640080" y="1463040"/>
            <a:ext cx="7315200" cy="548640"/>
          </a:xfrm>
          <a:prstGeom prst="rect">
            <a:avLst/>
          </a:prstGeom>
          <a:noFill/>
          <a:ln/>
        </p:spPr>
        <p:txBody>
          <a:bodyPr wrap="square" lIns="0" tIns="0" rIns="0" bIns="0" rtlCol="0" anchor="ctr"/>
          <a:lstStyle/>
          <a:p>
            <a:pPr indent="0" marL="0">
              <a:buNone/>
            </a:pPr>
            <a:r>
              <a:rPr lang="en-US" sz="1800" dirty="0">
                <a:solidFill>
                  <a:srgbClr val="2DD4BF"/>
                </a:solidFill>
                <a:latin typeface="Calibri" pitchFamily="34" charset="0"/>
                <a:ea typeface="Calibri" pitchFamily="34" charset="-122"/>
                <a:cs typeface="Calibri" pitchFamily="34" charset="-120"/>
              </a:rPr>
              <a:t>The Builder's Playbook for</a:t>
            </a:r>
            <a:endParaRPr lang="en-US" sz="1800" dirty="0"/>
          </a:p>
        </p:txBody>
      </p:sp>
      <p:sp>
        <p:nvSpPr>
          <p:cNvPr id="6" name="Text 3"/>
          <p:cNvSpPr/>
          <p:nvPr/>
        </p:nvSpPr>
        <p:spPr>
          <a:xfrm>
            <a:off x="640080" y="1920240"/>
            <a:ext cx="7772400" cy="1005840"/>
          </a:xfrm>
          <a:prstGeom prst="rect">
            <a:avLst/>
          </a:prstGeom>
          <a:noFill/>
          <a:ln/>
        </p:spPr>
        <p:txBody>
          <a:bodyPr wrap="square" lIns="0" tIns="0" rIns="0" bIns="0" rtlCol="0" anchor="ctr"/>
          <a:lstStyle/>
          <a:p>
            <a:pPr indent="0" marL="0">
              <a:buNone/>
            </a:pPr>
            <a:r>
              <a:rPr lang="en-US" sz="4200" b="1" dirty="0">
                <a:solidFill>
                  <a:srgbClr val="FFFFFF"/>
                </a:solidFill>
                <a:latin typeface="Calibri" pitchFamily="34" charset="0"/>
                <a:ea typeface="Calibri" pitchFamily="34" charset="-122"/>
                <a:cs typeface="Calibri" pitchFamily="34" charset="-120"/>
              </a:rPr>
              <a:t>Agentic Engineering</a:t>
            </a:r>
            <a:endParaRPr lang="en-US" sz="4200" dirty="0"/>
          </a:p>
        </p:txBody>
      </p:sp>
      <p:sp>
        <p:nvSpPr>
          <p:cNvPr id="7" name="Text 4"/>
          <p:cNvSpPr/>
          <p:nvPr/>
        </p:nvSpPr>
        <p:spPr>
          <a:xfrm>
            <a:off x="640080" y="3017520"/>
            <a:ext cx="6400800" cy="457200"/>
          </a:xfrm>
          <a:prstGeom prst="rect">
            <a:avLst/>
          </a:prstGeom>
          <a:noFill/>
          <a:ln/>
        </p:spPr>
        <p:txBody>
          <a:bodyPr wrap="square" lIns="0" tIns="0" rIns="0" bIns="0" rtlCol="0" anchor="ctr"/>
          <a:lstStyle/>
          <a:p>
            <a:pPr indent="0" marL="0">
              <a:buNone/>
            </a:pPr>
            <a:r>
              <a:rPr lang="en-US" sz="1400" i="1" dirty="0">
                <a:solidFill>
                  <a:srgbClr val="94A3B8"/>
                </a:solidFill>
                <a:latin typeface="Calibri" pitchFamily="34" charset="0"/>
                <a:ea typeface="Calibri" pitchFamily="34" charset="-122"/>
                <a:cs typeface="Calibri" pitchFamily="34" charset="-120"/>
              </a:rPr>
              <a:t>Workflows, Context, and Tooling Architectures for Working With AI</a:t>
            </a:r>
            <a:endParaRPr lang="en-US" sz="1400" dirty="0"/>
          </a:p>
        </p:txBody>
      </p:sp>
      <p:sp>
        <p:nvSpPr>
          <p:cNvPr id="8" name="Text 5"/>
          <p:cNvSpPr/>
          <p:nvPr/>
        </p:nvSpPr>
        <p:spPr>
          <a:xfrm>
            <a:off x="640080" y="4297680"/>
            <a:ext cx="3657600" cy="365760"/>
          </a:xfrm>
          <a:prstGeom prst="rect">
            <a:avLst/>
          </a:prstGeom>
          <a:noFill/>
          <a:ln/>
        </p:spPr>
        <p:txBody>
          <a:bodyPr wrap="square" lIns="0" tIns="0" rIns="0" bIns="0" rtlCol="0" anchor="ctr"/>
          <a:lstStyle/>
          <a:p>
            <a:pPr indent="0" marL="0">
              <a:buNone/>
            </a:pPr>
            <a:r>
              <a:rPr lang="en-US" sz="1300" b="1" dirty="0">
                <a:solidFill>
                  <a:srgbClr val="2DD4BF"/>
                </a:solidFill>
                <a:latin typeface="Calibri" pitchFamily="34" charset="0"/>
                <a:ea typeface="Calibri" pitchFamily="34" charset="-122"/>
                <a:cs typeface="Calibri" pitchFamily="34" charset="-120"/>
              </a:rPr>
              <a:t>Developer Community Training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5486400" cy="548640"/>
          </a:xfrm>
          <a:prstGeom prst="rect">
            <a:avLst/>
          </a:prstGeom>
          <a:noFill/>
          <a:ln/>
        </p:spPr>
        <p:txBody>
          <a:bodyPr wrap="square" lIns="0" tIns="0" rIns="0" bIns="0" rtlCol="0" anchor="ctr"/>
          <a:lstStyle/>
          <a:p>
            <a:pPr indent="0" marL="0">
              <a:buNone/>
            </a:pPr>
            <a:r>
              <a:rPr lang="en-US" sz="3200" b="1" dirty="0">
                <a:solidFill>
                  <a:srgbClr val="1A2332"/>
                </a:solidFill>
                <a:latin typeface="Calibri" pitchFamily="34" charset="0"/>
                <a:ea typeface="Calibri" pitchFamily="34" charset="-122"/>
                <a:cs typeface="Calibri" pitchFamily="34" charset="-120"/>
              </a:rPr>
              <a:t>Training Agenda</a:t>
            </a:r>
            <a:endParaRPr lang="en-US" sz="3200" dirty="0"/>
          </a:p>
        </p:txBody>
      </p:sp>
      <p:sp>
        <p:nvSpPr>
          <p:cNvPr id="3" name="Shape 1"/>
          <p:cNvSpPr/>
          <p:nvPr/>
        </p:nvSpPr>
        <p:spPr>
          <a:xfrm>
            <a:off x="548640" y="1051560"/>
            <a:ext cx="502920" cy="411480"/>
          </a:xfrm>
          <a:prstGeom prst="rect">
            <a:avLst/>
          </a:prstGeom>
          <a:solidFill>
            <a:srgbClr val="0D9488"/>
          </a:solidFill>
          <a:ln/>
        </p:spPr>
      </p:sp>
      <p:sp>
        <p:nvSpPr>
          <p:cNvPr id="4" name="Text 2"/>
          <p:cNvSpPr/>
          <p:nvPr/>
        </p:nvSpPr>
        <p:spPr>
          <a:xfrm>
            <a:off x="548640" y="1051560"/>
            <a:ext cx="50292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5" name="Text 3"/>
          <p:cNvSpPr/>
          <p:nvPr/>
        </p:nvSpPr>
        <p:spPr>
          <a:xfrm>
            <a:off x="1234440" y="1051560"/>
            <a:ext cx="3657600" cy="228600"/>
          </a:xfrm>
          <a:prstGeom prst="rect">
            <a:avLst/>
          </a:prstGeom>
          <a:noFill/>
          <a:ln/>
        </p:spPr>
        <p:txBody>
          <a:bodyPr wrap="square" lIns="0" tIns="0" rIns="0" bIns="0" rtlCol="0" anchor="ctr"/>
          <a:lstStyle/>
          <a:p>
            <a:pPr indent="0" marL="0">
              <a:buNone/>
            </a:pPr>
            <a:r>
              <a:rPr lang="en-US" sz="1400" b="1" dirty="0">
                <a:solidFill>
                  <a:srgbClr val="1A2332"/>
                </a:solidFill>
                <a:latin typeface="Calibri" pitchFamily="34" charset="0"/>
                <a:ea typeface="Calibri" pitchFamily="34" charset="-122"/>
                <a:cs typeface="Calibri" pitchFamily="34" charset="-120"/>
              </a:rPr>
              <a:t>The Automation Paradigm Shift</a:t>
            </a:r>
            <a:endParaRPr lang="en-US" sz="1400" dirty="0"/>
          </a:p>
        </p:txBody>
      </p:sp>
      <p:sp>
        <p:nvSpPr>
          <p:cNvPr id="6" name="Text 4"/>
          <p:cNvSpPr/>
          <p:nvPr/>
        </p:nvSpPr>
        <p:spPr>
          <a:xfrm>
            <a:off x="1234440" y="1252728"/>
            <a:ext cx="4572000" cy="201168"/>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From autocomplete to autonomous agents — with Copilot &amp; Codex examples</a:t>
            </a:r>
            <a:endParaRPr lang="en-US" sz="1050" dirty="0"/>
          </a:p>
        </p:txBody>
      </p:sp>
      <p:sp>
        <p:nvSpPr>
          <p:cNvPr id="7" name="Shape 5"/>
          <p:cNvSpPr/>
          <p:nvPr/>
        </p:nvSpPr>
        <p:spPr>
          <a:xfrm>
            <a:off x="548640" y="1600200"/>
            <a:ext cx="502920" cy="411480"/>
          </a:xfrm>
          <a:prstGeom prst="rect">
            <a:avLst/>
          </a:prstGeom>
          <a:solidFill>
            <a:srgbClr val="1A2332"/>
          </a:solidFill>
          <a:ln/>
        </p:spPr>
      </p:sp>
      <p:sp>
        <p:nvSpPr>
          <p:cNvPr id="8" name="Text 6"/>
          <p:cNvSpPr/>
          <p:nvPr/>
        </p:nvSpPr>
        <p:spPr>
          <a:xfrm>
            <a:off x="548640" y="1600200"/>
            <a:ext cx="50292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9" name="Text 7"/>
          <p:cNvSpPr/>
          <p:nvPr/>
        </p:nvSpPr>
        <p:spPr>
          <a:xfrm>
            <a:off x="1234440" y="1600200"/>
            <a:ext cx="3657600" cy="228600"/>
          </a:xfrm>
          <a:prstGeom prst="rect">
            <a:avLst/>
          </a:prstGeom>
          <a:noFill/>
          <a:ln/>
        </p:spPr>
        <p:txBody>
          <a:bodyPr wrap="square" lIns="0" tIns="0" rIns="0" bIns="0" rtlCol="0" anchor="ctr"/>
          <a:lstStyle/>
          <a:p>
            <a:pPr indent="0" marL="0">
              <a:buNone/>
            </a:pPr>
            <a:r>
              <a:rPr lang="en-US" sz="1400" b="1" dirty="0">
                <a:solidFill>
                  <a:srgbClr val="1A2332"/>
                </a:solidFill>
                <a:latin typeface="Calibri" pitchFamily="34" charset="0"/>
                <a:ea typeface="Calibri" pitchFamily="34" charset="-122"/>
                <a:cs typeface="Calibri" pitchFamily="34" charset="-120"/>
              </a:rPr>
              <a:t>The Junior Developer Mental Model</a:t>
            </a:r>
            <a:endParaRPr lang="en-US" sz="1400" dirty="0"/>
          </a:p>
        </p:txBody>
      </p:sp>
      <p:sp>
        <p:nvSpPr>
          <p:cNvPr id="10" name="Text 8"/>
          <p:cNvSpPr/>
          <p:nvPr/>
        </p:nvSpPr>
        <p:spPr>
          <a:xfrm>
            <a:off x="1234440" y="1801368"/>
            <a:ext cx="4572000" cy="201168"/>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Treating AI as a capable but judgment-limited collaborator</a:t>
            </a:r>
            <a:endParaRPr lang="en-US" sz="1050" dirty="0"/>
          </a:p>
        </p:txBody>
      </p:sp>
      <p:sp>
        <p:nvSpPr>
          <p:cNvPr id="11" name="Shape 9"/>
          <p:cNvSpPr/>
          <p:nvPr/>
        </p:nvSpPr>
        <p:spPr>
          <a:xfrm>
            <a:off x="548640" y="2148840"/>
            <a:ext cx="502920" cy="411480"/>
          </a:xfrm>
          <a:prstGeom prst="rect">
            <a:avLst/>
          </a:prstGeom>
          <a:solidFill>
            <a:srgbClr val="0D9488"/>
          </a:solidFill>
          <a:ln/>
        </p:spPr>
      </p:sp>
      <p:sp>
        <p:nvSpPr>
          <p:cNvPr id="12" name="Text 10"/>
          <p:cNvSpPr/>
          <p:nvPr/>
        </p:nvSpPr>
        <p:spPr>
          <a:xfrm>
            <a:off x="548640" y="2148840"/>
            <a:ext cx="50292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13" name="Text 11"/>
          <p:cNvSpPr/>
          <p:nvPr/>
        </p:nvSpPr>
        <p:spPr>
          <a:xfrm>
            <a:off x="1234440" y="2148840"/>
            <a:ext cx="3657600" cy="228600"/>
          </a:xfrm>
          <a:prstGeom prst="rect">
            <a:avLst/>
          </a:prstGeom>
          <a:noFill/>
          <a:ln/>
        </p:spPr>
        <p:txBody>
          <a:bodyPr wrap="square" lIns="0" tIns="0" rIns="0" bIns="0" rtlCol="0" anchor="ctr"/>
          <a:lstStyle/>
          <a:p>
            <a:pPr indent="0" marL="0">
              <a:buNone/>
            </a:pPr>
            <a:r>
              <a:rPr lang="en-US" sz="1400" b="1" dirty="0">
                <a:solidFill>
                  <a:srgbClr val="1A2332"/>
                </a:solidFill>
                <a:latin typeface="Calibri" pitchFamily="34" charset="0"/>
                <a:ea typeface="Calibri" pitchFamily="34" charset="-122"/>
                <a:cs typeface="Calibri" pitchFamily="34" charset="-120"/>
              </a:rPr>
              <a:t>Context Engineering</a:t>
            </a:r>
            <a:endParaRPr lang="en-US" sz="1400" dirty="0"/>
          </a:p>
        </p:txBody>
      </p:sp>
      <p:sp>
        <p:nvSpPr>
          <p:cNvPr id="14" name="Text 12"/>
          <p:cNvSpPr/>
          <p:nvPr/>
        </p:nvSpPr>
        <p:spPr>
          <a:xfrm>
            <a:off x="1234440" y="2350008"/>
            <a:ext cx="4572000" cy="201168"/>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The core constraint and four pillars of context management</a:t>
            </a:r>
            <a:endParaRPr lang="en-US" sz="1050" dirty="0"/>
          </a:p>
        </p:txBody>
      </p:sp>
      <p:sp>
        <p:nvSpPr>
          <p:cNvPr id="15" name="Shape 13"/>
          <p:cNvSpPr/>
          <p:nvPr/>
        </p:nvSpPr>
        <p:spPr>
          <a:xfrm>
            <a:off x="548640" y="2697480"/>
            <a:ext cx="502920" cy="411480"/>
          </a:xfrm>
          <a:prstGeom prst="rect">
            <a:avLst/>
          </a:prstGeom>
          <a:solidFill>
            <a:srgbClr val="1A2332"/>
          </a:solidFill>
          <a:ln/>
        </p:spPr>
      </p:sp>
      <p:sp>
        <p:nvSpPr>
          <p:cNvPr id="16" name="Text 14"/>
          <p:cNvSpPr/>
          <p:nvPr/>
        </p:nvSpPr>
        <p:spPr>
          <a:xfrm>
            <a:off x="548640" y="2697480"/>
            <a:ext cx="50292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17" name="Text 15"/>
          <p:cNvSpPr/>
          <p:nvPr/>
        </p:nvSpPr>
        <p:spPr>
          <a:xfrm>
            <a:off x="1234440" y="2697480"/>
            <a:ext cx="3657600" cy="228600"/>
          </a:xfrm>
          <a:prstGeom prst="rect">
            <a:avLst/>
          </a:prstGeom>
          <a:noFill/>
          <a:ln/>
        </p:spPr>
        <p:txBody>
          <a:bodyPr wrap="square" lIns="0" tIns="0" rIns="0" bIns="0" rtlCol="0" anchor="ctr"/>
          <a:lstStyle/>
          <a:p>
            <a:pPr indent="0" marL="0">
              <a:buNone/>
            </a:pPr>
            <a:r>
              <a:rPr lang="en-US" sz="1400" b="1" dirty="0">
                <a:solidFill>
                  <a:srgbClr val="1A2332"/>
                </a:solidFill>
                <a:latin typeface="Calibri" pitchFamily="34" charset="0"/>
                <a:ea typeface="Calibri" pitchFamily="34" charset="-122"/>
                <a:cs typeface="Calibri" pitchFamily="34" charset="-120"/>
              </a:rPr>
              <a:t>The High-Leverage Loop</a:t>
            </a:r>
            <a:endParaRPr lang="en-US" sz="1400" dirty="0"/>
          </a:p>
        </p:txBody>
      </p:sp>
      <p:sp>
        <p:nvSpPr>
          <p:cNvPr id="18" name="Text 16"/>
          <p:cNvSpPr/>
          <p:nvPr/>
        </p:nvSpPr>
        <p:spPr>
          <a:xfrm>
            <a:off x="1234440" y="2898648"/>
            <a:ext cx="4572000" cy="201168"/>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Research → Plan → Implement workflow</a:t>
            </a:r>
            <a:endParaRPr lang="en-US" sz="1050" dirty="0"/>
          </a:p>
        </p:txBody>
      </p:sp>
      <p:sp>
        <p:nvSpPr>
          <p:cNvPr id="19" name="Shape 17"/>
          <p:cNvSpPr/>
          <p:nvPr/>
        </p:nvSpPr>
        <p:spPr>
          <a:xfrm>
            <a:off x="548640" y="3246120"/>
            <a:ext cx="502920" cy="411480"/>
          </a:xfrm>
          <a:prstGeom prst="rect">
            <a:avLst/>
          </a:prstGeom>
          <a:solidFill>
            <a:srgbClr val="0D9488"/>
          </a:solidFill>
          <a:ln/>
        </p:spPr>
      </p:sp>
      <p:sp>
        <p:nvSpPr>
          <p:cNvPr id="20" name="Text 18"/>
          <p:cNvSpPr/>
          <p:nvPr/>
        </p:nvSpPr>
        <p:spPr>
          <a:xfrm>
            <a:off x="548640" y="3246120"/>
            <a:ext cx="50292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sp>
        <p:nvSpPr>
          <p:cNvPr id="21" name="Text 19"/>
          <p:cNvSpPr/>
          <p:nvPr/>
        </p:nvSpPr>
        <p:spPr>
          <a:xfrm>
            <a:off x="1234440" y="3246120"/>
            <a:ext cx="3657600" cy="228600"/>
          </a:xfrm>
          <a:prstGeom prst="rect">
            <a:avLst/>
          </a:prstGeom>
          <a:noFill/>
          <a:ln/>
        </p:spPr>
        <p:txBody>
          <a:bodyPr wrap="square" lIns="0" tIns="0" rIns="0" bIns="0" rtlCol="0" anchor="ctr"/>
          <a:lstStyle/>
          <a:p>
            <a:pPr indent="0" marL="0">
              <a:buNone/>
            </a:pPr>
            <a:r>
              <a:rPr lang="en-US" sz="1400" b="1" dirty="0">
                <a:solidFill>
                  <a:srgbClr val="1A2332"/>
                </a:solidFill>
                <a:latin typeface="Calibri" pitchFamily="34" charset="0"/>
                <a:ea typeface="Calibri" pitchFamily="34" charset="-122"/>
                <a:cs typeface="Calibri" pitchFamily="34" charset="-120"/>
              </a:rPr>
              <a:t>Tooling Interfaces: CLI vs. MCP</a:t>
            </a:r>
            <a:endParaRPr lang="en-US" sz="1400" dirty="0"/>
          </a:p>
        </p:txBody>
      </p:sp>
      <p:sp>
        <p:nvSpPr>
          <p:cNvPr id="22" name="Text 20"/>
          <p:cNvSpPr/>
          <p:nvPr/>
        </p:nvSpPr>
        <p:spPr>
          <a:xfrm>
            <a:off x="1234440" y="3447288"/>
            <a:ext cx="4572000" cy="201168"/>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How agents see and interact with the world</a:t>
            </a:r>
            <a:endParaRPr lang="en-US" sz="1050" dirty="0"/>
          </a:p>
        </p:txBody>
      </p:sp>
      <p:sp>
        <p:nvSpPr>
          <p:cNvPr id="23" name="Shape 21"/>
          <p:cNvSpPr/>
          <p:nvPr/>
        </p:nvSpPr>
        <p:spPr>
          <a:xfrm>
            <a:off x="548640" y="3794760"/>
            <a:ext cx="502920" cy="411480"/>
          </a:xfrm>
          <a:prstGeom prst="rect">
            <a:avLst/>
          </a:prstGeom>
          <a:solidFill>
            <a:srgbClr val="1A2332"/>
          </a:solidFill>
          <a:ln/>
        </p:spPr>
      </p:sp>
      <p:sp>
        <p:nvSpPr>
          <p:cNvPr id="24" name="Text 22"/>
          <p:cNvSpPr/>
          <p:nvPr/>
        </p:nvSpPr>
        <p:spPr>
          <a:xfrm>
            <a:off x="548640" y="3794760"/>
            <a:ext cx="50292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06</a:t>
            </a:r>
            <a:endParaRPr lang="en-US" sz="1400" dirty="0"/>
          </a:p>
        </p:txBody>
      </p:sp>
      <p:sp>
        <p:nvSpPr>
          <p:cNvPr id="25" name="Text 23"/>
          <p:cNvSpPr/>
          <p:nvPr/>
        </p:nvSpPr>
        <p:spPr>
          <a:xfrm>
            <a:off x="1234440" y="3794760"/>
            <a:ext cx="3657600" cy="228600"/>
          </a:xfrm>
          <a:prstGeom prst="rect">
            <a:avLst/>
          </a:prstGeom>
          <a:noFill/>
          <a:ln/>
        </p:spPr>
        <p:txBody>
          <a:bodyPr wrap="square" lIns="0" tIns="0" rIns="0" bIns="0" rtlCol="0" anchor="ctr"/>
          <a:lstStyle/>
          <a:p>
            <a:pPr indent="0" marL="0">
              <a:buNone/>
            </a:pPr>
            <a:r>
              <a:rPr lang="en-US" sz="1400" b="1" dirty="0">
                <a:solidFill>
                  <a:srgbClr val="1A2332"/>
                </a:solidFill>
                <a:latin typeface="Calibri" pitchFamily="34" charset="0"/>
                <a:ea typeface="Calibri" pitchFamily="34" charset="-122"/>
                <a:cs typeface="Calibri" pitchFamily="34" charset="-120"/>
              </a:rPr>
              <a:t>Strategy &amp; Architecture</a:t>
            </a:r>
            <a:endParaRPr lang="en-US" sz="1400" dirty="0"/>
          </a:p>
        </p:txBody>
      </p:sp>
      <p:sp>
        <p:nvSpPr>
          <p:cNvPr id="26" name="Text 24"/>
          <p:cNvSpPr/>
          <p:nvPr/>
        </p:nvSpPr>
        <p:spPr>
          <a:xfrm>
            <a:off x="1234440" y="3995928"/>
            <a:ext cx="4572000" cy="201168"/>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When to build an agent and anatomy of a simple agent</a:t>
            </a:r>
            <a:endParaRPr lang="en-US" sz="1050" dirty="0"/>
          </a:p>
        </p:txBody>
      </p:sp>
      <p:sp>
        <p:nvSpPr>
          <p:cNvPr id="27" name="Shape 25"/>
          <p:cNvSpPr/>
          <p:nvPr/>
        </p:nvSpPr>
        <p:spPr>
          <a:xfrm>
            <a:off x="548640" y="4343400"/>
            <a:ext cx="502920" cy="411480"/>
          </a:xfrm>
          <a:prstGeom prst="rect">
            <a:avLst/>
          </a:prstGeom>
          <a:solidFill>
            <a:srgbClr val="0D9488"/>
          </a:solidFill>
          <a:ln/>
        </p:spPr>
      </p:sp>
      <p:sp>
        <p:nvSpPr>
          <p:cNvPr id="28" name="Text 26"/>
          <p:cNvSpPr/>
          <p:nvPr/>
        </p:nvSpPr>
        <p:spPr>
          <a:xfrm>
            <a:off x="548640" y="4343400"/>
            <a:ext cx="50292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07</a:t>
            </a:r>
            <a:endParaRPr lang="en-US" sz="1400" dirty="0"/>
          </a:p>
        </p:txBody>
      </p:sp>
      <p:sp>
        <p:nvSpPr>
          <p:cNvPr id="29" name="Text 27"/>
          <p:cNvSpPr/>
          <p:nvPr/>
        </p:nvSpPr>
        <p:spPr>
          <a:xfrm>
            <a:off x="1234440" y="4343400"/>
            <a:ext cx="3657600" cy="228600"/>
          </a:xfrm>
          <a:prstGeom prst="rect">
            <a:avLst/>
          </a:prstGeom>
          <a:noFill/>
          <a:ln/>
        </p:spPr>
        <p:txBody>
          <a:bodyPr wrap="square" lIns="0" tIns="0" rIns="0" bIns="0" rtlCol="0" anchor="ctr"/>
          <a:lstStyle/>
          <a:p>
            <a:pPr indent="0" marL="0">
              <a:buNone/>
            </a:pPr>
            <a:r>
              <a:rPr lang="en-US" sz="1400" b="1" dirty="0">
                <a:solidFill>
                  <a:srgbClr val="1A2332"/>
                </a:solidFill>
                <a:latin typeface="Calibri" pitchFamily="34" charset="0"/>
                <a:ea typeface="Calibri" pitchFamily="34" charset="-122"/>
                <a:cs typeface="Calibri" pitchFamily="34" charset="-120"/>
              </a:rPr>
              <a:t>The Empathy Principle</a:t>
            </a:r>
            <a:endParaRPr lang="en-US" sz="1400" dirty="0"/>
          </a:p>
        </p:txBody>
      </p:sp>
      <p:sp>
        <p:nvSpPr>
          <p:cNvPr id="30" name="Text 28"/>
          <p:cNvSpPr/>
          <p:nvPr/>
        </p:nvSpPr>
        <p:spPr>
          <a:xfrm>
            <a:off x="1234440" y="4544568"/>
            <a:ext cx="4572000" cy="201168"/>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Think like your agent for better results</a:t>
            </a:r>
            <a:endParaRPr lang="en-US" sz="1050" dirty="0"/>
          </a:p>
        </p:txBody>
      </p:sp>
      <p:sp>
        <p:nvSpPr>
          <p:cNvPr id="31" name="Shape 29"/>
          <p:cNvSpPr/>
          <p:nvPr/>
        </p:nvSpPr>
        <p:spPr>
          <a:xfrm>
            <a:off x="5943600" y="1051560"/>
            <a:ext cx="2834640" cy="3566160"/>
          </a:xfrm>
          <a:prstGeom prst="rect">
            <a:avLst/>
          </a:prstGeom>
          <a:solidFill>
            <a:srgbClr val="F0FDFA"/>
          </a:solidFill>
          <a:ln/>
          <a:effectLst>
            <a:outerShdw sx="100000" sy="100000" kx="0" ky="0" algn="bl" rotWithShape="0" blurRad="50800" dist="25400" dir="8100000">
              <a:srgbClr val="000000">
                <a:alpha val="10000"/>
              </a:srgbClr>
            </a:outerShdw>
          </a:effectLst>
        </p:spPr>
      </p:sp>
      <p:sp>
        <p:nvSpPr>
          <p:cNvPr id="32" name="Shape 30"/>
          <p:cNvSpPr/>
          <p:nvPr/>
        </p:nvSpPr>
        <p:spPr>
          <a:xfrm>
            <a:off x="5943600" y="1051560"/>
            <a:ext cx="2834640" cy="411480"/>
          </a:xfrm>
          <a:prstGeom prst="rect">
            <a:avLst/>
          </a:prstGeom>
          <a:solidFill>
            <a:srgbClr val="0D9488"/>
          </a:solidFill>
          <a:ln/>
        </p:spPr>
      </p:sp>
      <p:sp>
        <p:nvSpPr>
          <p:cNvPr id="33" name="Text 31"/>
          <p:cNvSpPr/>
          <p:nvPr/>
        </p:nvSpPr>
        <p:spPr>
          <a:xfrm>
            <a:off x="6035040" y="1051560"/>
            <a:ext cx="2743200" cy="41148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Key Outcomes</a:t>
            </a:r>
            <a:endParaRPr lang="en-US" sz="1300" dirty="0"/>
          </a:p>
        </p:txBody>
      </p:sp>
      <p:pic>
        <p:nvPicPr>
          <p:cNvPr id="34" name="Image 0" descr="preencoded.png">    </p:cNvPr>
          <p:cNvPicPr>
            <a:picLocks noChangeAspect="1"/>
          </p:cNvPicPr>
          <p:nvPr/>
        </p:nvPicPr>
        <p:blipFill>
          <a:blip r:embed="rId1"/>
          <a:stretch>
            <a:fillRect/>
          </a:stretch>
        </p:blipFill>
        <p:spPr>
          <a:xfrm>
            <a:off x="6126480" y="1673352"/>
            <a:ext cx="201168" cy="201168"/>
          </a:xfrm>
          <a:prstGeom prst="rect">
            <a:avLst/>
          </a:prstGeom>
        </p:spPr>
      </p:pic>
      <p:sp>
        <p:nvSpPr>
          <p:cNvPr id="35" name="Text 32"/>
          <p:cNvSpPr/>
          <p:nvPr/>
        </p:nvSpPr>
        <p:spPr>
          <a:xfrm>
            <a:off x="6446520" y="1645920"/>
            <a:ext cx="2194560" cy="45720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Understand the paradigm shift from coding to directing AI</a:t>
            </a:r>
            <a:endParaRPr lang="en-US" sz="1000" dirty="0"/>
          </a:p>
        </p:txBody>
      </p:sp>
      <p:pic>
        <p:nvPicPr>
          <p:cNvPr id="36" name="Image 1" descr="preencoded.png">    </p:cNvPr>
          <p:cNvPicPr>
            <a:picLocks noChangeAspect="1"/>
          </p:cNvPicPr>
          <p:nvPr/>
        </p:nvPicPr>
        <p:blipFill>
          <a:blip r:embed="rId2"/>
          <a:stretch>
            <a:fillRect/>
          </a:stretch>
        </p:blipFill>
        <p:spPr>
          <a:xfrm>
            <a:off x="6126480" y="2157984"/>
            <a:ext cx="201168" cy="201168"/>
          </a:xfrm>
          <a:prstGeom prst="rect">
            <a:avLst/>
          </a:prstGeom>
        </p:spPr>
      </p:pic>
      <p:sp>
        <p:nvSpPr>
          <p:cNvPr id="37" name="Text 33"/>
          <p:cNvSpPr/>
          <p:nvPr/>
        </p:nvSpPr>
        <p:spPr>
          <a:xfrm>
            <a:off x="6446520" y="2130552"/>
            <a:ext cx="2194560" cy="45720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Master context engineering as the core skill</a:t>
            </a:r>
            <a:endParaRPr lang="en-US" sz="1000" dirty="0"/>
          </a:p>
        </p:txBody>
      </p:sp>
      <p:pic>
        <p:nvPicPr>
          <p:cNvPr id="38" name="Image 2" descr="preencoded.png">    </p:cNvPr>
          <p:cNvPicPr>
            <a:picLocks noChangeAspect="1"/>
          </p:cNvPicPr>
          <p:nvPr/>
        </p:nvPicPr>
        <p:blipFill>
          <a:blip r:embed="rId3"/>
          <a:stretch>
            <a:fillRect/>
          </a:stretch>
        </p:blipFill>
        <p:spPr>
          <a:xfrm>
            <a:off x="6126480" y="2642616"/>
            <a:ext cx="201168" cy="201168"/>
          </a:xfrm>
          <a:prstGeom prst="rect">
            <a:avLst/>
          </a:prstGeom>
        </p:spPr>
      </p:pic>
      <p:sp>
        <p:nvSpPr>
          <p:cNvPr id="39" name="Text 34"/>
          <p:cNvSpPr/>
          <p:nvPr/>
        </p:nvSpPr>
        <p:spPr>
          <a:xfrm>
            <a:off x="6446520" y="2615184"/>
            <a:ext cx="2194560" cy="45720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Apply the Research → Plan → Implement loop</a:t>
            </a:r>
            <a:endParaRPr lang="en-US" sz="1000" dirty="0"/>
          </a:p>
        </p:txBody>
      </p:sp>
      <p:pic>
        <p:nvPicPr>
          <p:cNvPr id="40" name="Image 3" descr="preencoded.png">    </p:cNvPr>
          <p:cNvPicPr>
            <a:picLocks noChangeAspect="1"/>
          </p:cNvPicPr>
          <p:nvPr/>
        </p:nvPicPr>
        <p:blipFill>
          <a:blip r:embed="rId4"/>
          <a:stretch>
            <a:fillRect/>
          </a:stretch>
        </p:blipFill>
        <p:spPr>
          <a:xfrm>
            <a:off x="6126480" y="3127248"/>
            <a:ext cx="201168" cy="201168"/>
          </a:xfrm>
          <a:prstGeom prst="rect">
            <a:avLst/>
          </a:prstGeom>
        </p:spPr>
      </p:pic>
      <p:sp>
        <p:nvSpPr>
          <p:cNvPr id="41" name="Text 35"/>
          <p:cNvSpPr/>
          <p:nvPr/>
        </p:nvSpPr>
        <p:spPr>
          <a:xfrm>
            <a:off x="6446520" y="3099816"/>
            <a:ext cx="2194560" cy="45720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Choose CLI vs MCP for your use cases</a:t>
            </a:r>
            <a:endParaRPr lang="en-US" sz="1000" dirty="0"/>
          </a:p>
        </p:txBody>
      </p:sp>
      <p:pic>
        <p:nvPicPr>
          <p:cNvPr id="42" name="Image 4" descr="preencoded.png">    </p:cNvPr>
          <p:cNvPicPr>
            <a:picLocks noChangeAspect="1"/>
          </p:cNvPicPr>
          <p:nvPr/>
        </p:nvPicPr>
        <p:blipFill>
          <a:blip r:embed="rId5"/>
          <a:stretch>
            <a:fillRect/>
          </a:stretch>
        </p:blipFill>
        <p:spPr>
          <a:xfrm>
            <a:off x="6126480" y="3611880"/>
            <a:ext cx="201168" cy="201168"/>
          </a:xfrm>
          <a:prstGeom prst="rect">
            <a:avLst/>
          </a:prstGeom>
        </p:spPr>
      </p:pic>
      <p:sp>
        <p:nvSpPr>
          <p:cNvPr id="43" name="Text 36"/>
          <p:cNvSpPr/>
          <p:nvPr/>
        </p:nvSpPr>
        <p:spPr>
          <a:xfrm>
            <a:off x="6446520" y="3584448"/>
            <a:ext cx="2194560" cy="45720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Build simple agents with confidence</a:t>
            </a:r>
            <a:endParaRPr lang="en-US" sz="1000" dirty="0"/>
          </a:p>
        </p:txBody>
      </p:sp>
      <p:pic>
        <p:nvPicPr>
          <p:cNvPr id="44" name="Image 5" descr="preencoded.png">    </p:cNvPr>
          <p:cNvPicPr>
            <a:picLocks noChangeAspect="1"/>
          </p:cNvPicPr>
          <p:nvPr/>
        </p:nvPicPr>
        <p:blipFill>
          <a:blip r:embed="rId6"/>
          <a:stretch>
            <a:fillRect/>
          </a:stretch>
        </p:blipFill>
        <p:spPr>
          <a:xfrm>
            <a:off x="6126480" y="4096512"/>
            <a:ext cx="201168" cy="201168"/>
          </a:xfrm>
          <a:prstGeom prst="rect">
            <a:avLst/>
          </a:prstGeom>
        </p:spPr>
      </p:pic>
      <p:sp>
        <p:nvSpPr>
          <p:cNvPr id="45" name="Text 37"/>
          <p:cNvSpPr/>
          <p:nvPr/>
        </p:nvSpPr>
        <p:spPr>
          <a:xfrm>
            <a:off x="6446520" y="4069080"/>
            <a:ext cx="2194560" cy="45720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Debug with empathy for your agent</a:t>
            </a:r>
            <a:endParaRPr lang="en-US" sz="1000" dirty="0"/>
          </a:p>
        </p:txBody>
      </p:sp>
      <p:sp>
        <p:nvSpPr>
          <p:cNvPr id="46" name="Text 38"/>
          <p:cNvSpPr/>
          <p:nvPr/>
        </p:nvSpPr>
        <p:spPr>
          <a:xfrm>
            <a:off x="8229600" y="4754880"/>
            <a:ext cx="64008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 / 23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indent="0" marL="0">
              <a:buNone/>
            </a:pPr>
            <a:r>
              <a:rPr lang="en-US" sz="3200" b="1" dirty="0">
                <a:solidFill>
                  <a:srgbClr val="1A2332"/>
                </a:solidFill>
                <a:latin typeface="Calibri" pitchFamily="34" charset="0"/>
                <a:ea typeface="Calibri" pitchFamily="34" charset="-122"/>
                <a:cs typeface="Calibri" pitchFamily="34" charset="-120"/>
              </a:rPr>
              <a:t>The Automation Paradigm Shift</a:t>
            </a:r>
            <a:endParaRPr lang="en-US" sz="3200" dirty="0"/>
          </a:p>
        </p:txBody>
      </p:sp>
      <p:sp>
        <p:nvSpPr>
          <p:cNvPr id="3" name="Text 1"/>
          <p:cNvSpPr/>
          <p:nvPr/>
        </p:nvSpPr>
        <p:spPr>
          <a:xfrm>
            <a:off x="548640" y="777240"/>
            <a:ext cx="7315200" cy="320040"/>
          </a:xfrm>
          <a:prstGeom prst="rect">
            <a:avLst/>
          </a:prstGeom>
          <a:noFill/>
          <a:ln/>
        </p:spPr>
        <p:txBody>
          <a:bodyPr wrap="square" lIns="0" tIns="0" rIns="0" bIns="0" rtlCol="0" anchor="ctr"/>
          <a:lstStyle/>
          <a:p>
            <a:pPr indent="0" marL="0">
              <a:buNone/>
            </a:pPr>
            <a:r>
              <a:rPr lang="en-US" sz="1300" i="1" dirty="0">
                <a:solidFill>
                  <a:srgbClr val="475569"/>
                </a:solidFill>
                <a:latin typeface="Calibri" pitchFamily="34" charset="0"/>
                <a:ea typeface="Calibri" pitchFamily="34" charset="-122"/>
                <a:cs typeface="Calibri" pitchFamily="34" charset="-120"/>
              </a:rPr>
              <a:t>From autocomplete to autonomous delegation</a:t>
            </a:r>
            <a:endParaRPr lang="en-US" sz="1300" dirty="0"/>
          </a:p>
        </p:txBody>
      </p:sp>
      <p:sp>
        <p:nvSpPr>
          <p:cNvPr id="4" name="Shape 2"/>
          <p:cNvSpPr/>
          <p:nvPr/>
        </p:nvSpPr>
        <p:spPr>
          <a:xfrm>
            <a:off x="548640" y="1371600"/>
            <a:ext cx="2560320" cy="2560320"/>
          </a:xfrm>
          <a:prstGeom prst="rect">
            <a:avLst/>
          </a:prstGeom>
          <a:solidFill>
            <a:srgbClr val="F1F5F9"/>
          </a:solidFill>
          <a:ln/>
          <a:effectLst>
            <a:outerShdw sx="100000" sy="100000" kx="0" ky="0" algn="bl" rotWithShape="0" blurRad="50800" dist="25400" dir="8100000">
              <a:srgbClr val="000000">
                <a:alpha val="10000"/>
              </a:srgbClr>
            </a:outerShdw>
          </a:effectLst>
        </p:spPr>
      </p:sp>
      <p:sp>
        <p:nvSpPr>
          <p:cNvPr id="5" name="Shape 3"/>
          <p:cNvSpPr/>
          <p:nvPr/>
        </p:nvSpPr>
        <p:spPr>
          <a:xfrm>
            <a:off x="548640" y="1371600"/>
            <a:ext cx="2560320" cy="457200"/>
          </a:xfrm>
          <a:prstGeom prst="rect">
            <a:avLst/>
          </a:prstGeom>
          <a:solidFill>
            <a:srgbClr val="94A3B8"/>
          </a:solidFill>
          <a:ln/>
        </p:spPr>
      </p:sp>
      <p:sp>
        <p:nvSpPr>
          <p:cNvPr id="6" name="Text 4"/>
          <p:cNvSpPr/>
          <p:nvPr/>
        </p:nvSpPr>
        <p:spPr>
          <a:xfrm>
            <a:off x="685800" y="1399032"/>
            <a:ext cx="2286000" cy="20116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2020–2022</a:t>
            </a:r>
            <a:endParaRPr lang="en-US" sz="1000" dirty="0"/>
          </a:p>
        </p:txBody>
      </p:sp>
      <p:sp>
        <p:nvSpPr>
          <p:cNvPr id="7" name="Text 5"/>
          <p:cNvSpPr/>
          <p:nvPr/>
        </p:nvSpPr>
        <p:spPr>
          <a:xfrm>
            <a:off x="685800" y="1581912"/>
            <a:ext cx="2286000" cy="201168"/>
          </a:xfrm>
          <a:prstGeom prst="rect">
            <a:avLst/>
          </a:prstGeom>
          <a:noFill/>
          <a:ln/>
        </p:spPr>
        <p:txBody>
          <a:bodyPr wrap="square" lIns="0" tIns="0" rIns="0" bIns="0" rtlCol="0" anchor="ctr"/>
          <a:lstStyle/>
          <a:p>
            <a:pPr indent="0" marL="0">
              <a:buNone/>
            </a:pPr>
            <a:r>
              <a:rPr lang="en-US" sz="900" dirty="0">
                <a:solidFill>
                  <a:srgbClr val="CBD5E1"/>
                </a:solidFill>
                <a:latin typeface="Calibri" pitchFamily="34" charset="0"/>
                <a:ea typeface="Calibri" pitchFamily="34" charset="-122"/>
                <a:cs typeface="Calibri" pitchFamily="34" charset="-120"/>
              </a:rPr>
              <a:t>The Autocomplete Era</a:t>
            </a:r>
            <a:endParaRPr lang="en-US" sz="900" dirty="0"/>
          </a:p>
        </p:txBody>
      </p:sp>
      <p:sp>
        <p:nvSpPr>
          <p:cNvPr id="8" name="Text 6"/>
          <p:cNvSpPr/>
          <p:nvPr/>
        </p:nvSpPr>
        <p:spPr>
          <a:xfrm>
            <a:off x="685800" y="2011680"/>
            <a:ext cx="2286000" cy="1645920"/>
          </a:xfrm>
          <a:prstGeom prst="rect">
            <a:avLst/>
          </a:prstGeom>
          <a:noFill/>
          <a:ln/>
        </p:spPr>
        <p:txBody>
          <a:bodyPr wrap="square" rtlCol="0" anchor="ctr"/>
          <a:lstStyle/>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Completing lines</a:t>
            </a:r>
            <a:endParaRPr lang="en-US" sz="1200" dirty="0"/>
          </a:p>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A faster horse</a:t>
            </a:r>
            <a:endParaRPr lang="en-US" sz="1200" dirty="0"/>
          </a:p>
        </p:txBody>
      </p:sp>
      <p:pic>
        <p:nvPicPr>
          <p:cNvPr id="9" name="Image 0" descr="preencoded.png">    </p:cNvPr>
          <p:cNvPicPr>
            <a:picLocks noChangeAspect="1"/>
          </p:cNvPicPr>
          <p:nvPr/>
        </p:nvPicPr>
        <p:blipFill>
          <a:blip r:embed="rId1"/>
          <a:stretch>
            <a:fillRect/>
          </a:stretch>
        </p:blipFill>
        <p:spPr>
          <a:xfrm>
            <a:off x="3200400" y="2377440"/>
            <a:ext cx="201168" cy="201168"/>
          </a:xfrm>
          <a:prstGeom prst="rect">
            <a:avLst/>
          </a:prstGeom>
        </p:spPr>
      </p:pic>
      <p:sp>
        <p:nvSpPr>
          <p:cNvPr id="10" name="Shape 7"/>
          <p:cNvSpPr/>
          <p:nvPr/>
        </p:nvSpPr>
        <p:spPr>
          <a:xfrm>
            <a:off x="3474720" y="1371600"/>
            <a:ext cx="2560320" cy="2560320"/>
          </a:xfrm>
          <a:prstGeom prst="rect">
            <a:avLst/>
          </a:prstGeom>
          <a:solidFill>
            <a:srgbClr val="F1F5F9"/>
          </a:solidFill>
          <a:ln/>
          <a:effectLst>
            <a:outerShdw sx="100000" sy="100000" kx="0" ky="0" algn="bl" rotWithShape="0" blurRad="50800" dist="25400" dir="8100000">
              <a:srgbClr val="000000">
                <a:alpha val="10000"/>
              </a:srgbClr>
            </a:outerShdw>
          </a:effectLst>
        </p:spPr>
      </p:sp>
      <p:sp>
        <p:nvSpPr>
          <p:cNvPr id="11" name="Shape 8"/>
          <p:cNvSpPr/>
          <p:nvPr/>
        </p:nvSpPr>
        <p:spPr>
          <a:xfrm>
            <a:off x="3474720" y="1371600"/>
            <a:ext cx="2560320" cy="457200"/>
          </a:xfrm>
          <a:prstGeom prst="rect">
            <a:avLst/>
          </a:prstGeom>
          <a:solidFill>
            <a:srgbClr val="0F766E"/>
          </a:solidFill>
          <a:ln/>
        </p:spPr>
      </p:sp>
      <p:sp>
        <p:nvSpPr>
          <p:cNvPr id="12" name="Text 9"/>
          <p:cNvSpPr/>
          <p:nvPr/>
        </p:nvSpPr>
        <p:spPr>
          <a:xfrm>
            <a:off x="3611880" y="1399032"/>
            <a:ext cx="2286000" cy="20116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2022–2024</a:t>
            </a:r>
            <a:endParaRPr lang="en-US" sz="1000" dirty="0"/>
          </a:p>
        </p:txBody>
      </p:sp>
      <p:sp>
        <p:nvSpPr>
          <p:cNvPr id="13" name="Text 10"/>
          <p:cNvSpPr/>
          <p:nvPr/>
        </p:nvSpPr>
        <p:spPr>
          <a:xfrm>
            <a:off x="3611880" y="1581912"/>
            <a:ext cx="2286000" cy="201168"/>
          </a:xfrm>
          <a:prstGeom prst="rect">
            <a:avLst/>
          </a:prstGeom>
          <a:noFill/>
          <a:ln/>
        </p:spPr>
        <p:txBody>
          <a:bodyPr wrap="square" lIns="0" tIns="0" rIns="0" bIns="0" rtlCol="0" anchor="ctr"/>
          <a:lstStyle/>
          <a:p>
            <a:pPr indent="0" marL="0">
              <a:buNone/>
            </a:pPr>
            <a:r>
              <a:rPr lang="en-US" sz="900" dirty="0">
                <a:solidFill>
                  <a:srgbClr val="CBD5E1"/>
                </a:solidFill>
                <a:latin typeface="Calibri" pitchFamily="34" charset="0"/>
                <a:ea typeface="Calibri" pitchFamily="34" charset="-122"/>
                <a:cs typeface="Calibri" pitchFamily="34" charset="-120"/>
              </a:rPr>
              <a:t>The Copilot Era</a:t>
            </a:r>
            <a:endParaRPr lang="en-US" sz="900" dirty="0"/>
          </a:p>
        </p:txBody>
      </p:sp>
      <p:sp>
        <p:nvSpPr>
          <p:cNvPr id="14" name="Text 11"/>
          <p:cNvSpPr/>
          <p:nvPr/>
        </p:nvSpPr>
        <p:spPr>
          <a:xfrm>
            <a:off x="3611880" y="2011680"/>
            <a:ext cx="2286000" cy="1645920"/>
          </a:xfrm>
          <a:prstGeom prst="rect">
            <a:avLst/>
          </a:prstGeom>
          <a:noFill/>
          <a:ln/>
        </p:spPr>
        <p:txBody>
          <a:bodyPr wrap="square" rtlCol="0" anchor="ctr"/>
          <a:lstStyle/>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Suggesting functions</a:t>
            </a:r>
            <a:endParaRPr lang="en-US" sz="1200" dirty="0"/>
          </a:p>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Chatting for implementation</a:t>
            </a:r>
            <a:endParaRPr lang="en-US" sz="1200" dirty="0"/>
          </a:p>
        </p:txBody>
      </p:sp>
      <p:pic>
        <p:nvPicPr>
          <p:cNvPr id="15" name="Image 1" descr="preencoded.png">    </p:cNvPr>
          <p:cNvPicPr>
            <a:picLocks noChangeAspect="1"/>
          </p:cNvPicPr>
          <p:nvPr/>
        </p:nvPicPr>
        <p:blipFill>
          <a:blip r:embed="rId2"/>
          <a:stretch>
            <a:fillRect/>
          </a:stretch>
        </p:blipFill>
        <p:spPr>
          <a:xfrm>
            <a:off x="6126480" y="2377440"/>
            <a:ext cx="201168" cy="201168"/>
          </a:xfrm>
          <a:prstGeom prst="rect">
            <a:avLst/>
          </a:prstGeom>
        </p:spPr>
      </p:pic>
      <p:sp>
        <p:nvSpPr>
          <p:cNvPr id="16" name="Shape 12"/>
          <p:cNvSpPr/>
          <p:nvPr/>
        </p:nvSpPr>
        <p:spPr>
          <a:xfrm>
            <a:off x="6400800" y="1371600"/>
            <a:ext cx="2560320" cy="2560320"/>
          </a:xfrm>
          <a:prstGeom prst="rect">
            <a:avLst/>
          </a:prstGeom>
          <a:solidFill>
            <a:srgbClr val="F1F5F9"/>
          </a:solidFill>
          <a:ln/>
          <a:effectLst>
            <a:outerShdw sx="100000" sy="100000" kx="0" ky="0" algn="bl" rotWithShape="0" blurRad="50800" dist="25400" dir="8100000">
              <a:srgbClr val="000000">
                <a:alpha val="10000"/>
              </a:srgbClr>
            </a:outerShdw>
          </a:effectLst>
        </p:spPr>
      </p:sp>
      <p:sp>
        <p:nvSpPr>
          <p:cNvPr id="17" name="Shape 13"/>
          <p:cNvSpPr/>
          <p:nvPr/>
        </p:nvSpPr>
        <p:spPr>
          <a:xfrm>
            <a:off x="6400800" y="1371600"/>
            <a:ext cx="2560320" cy="457200"/>
          </a:xfrm>
          <a:prstGeom prst="rect">
            <a:avLst/>
          </a:prstGeom>
          <a:solidFill>
            <a:srgbClr val="1A2332"/>
          </a:solidFill>
          <a:ln/>
        </p:spPr>
      </p:sp>
      <p:sp>
        <p:nvSpPr>
          <p:cNvPr id="18" name="Text 14"/>
          <p:cNvSpPr/>
          <p:nvPr/>
        </p:nvSpPr>
        <p:spPr>
          <a:xfrm>
            <a:off x="6537960" y="1399032"/>
            <a:ext cx="2286000" cy="20116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2025+</a:t>
            </a:r>
            <a:endParaRPr lang="en-US" sz="1000" dirty="0"/>
          </a:p>
        </p:txBody>
      </p:sp>
      <p:sp>
        <p:nvSpPr>
          <p:cNvPr id="19" name="Text 15"/>
          <p:cNvSpPr/>
          <p:nvPr/>
        </p:nvSpPr>
        <p:spPr>
          <a:xfrm>
            <a:off x="6537960" y="1581912"/>
            <a:ext cx="2286000" cy="201168"/>
          </a:xfrm>
          <a:prstGeom prst="rect">
            <a:avLst/>
          </a:prstGeom>
          <a:noFill/>
          <a:ln/>
        </p:spPr>
        <p:txBody>
          <a:bodyPr wrap="square" lIns="0" tIns="0" rIns="0" bIns="0" rtlCol="0" anchor="ctr"/>
          <a:lstStyle/>
          <a:p>
            <a:pPr indent="0" marL="0">
              <a:buNone/>
            </a:pPr>
            <a:r>
              <a:rPr lang="en-US" sz="900" dirty="0">
                <a:solidFill>
                  <a:srgbClr val="CBD5E1"/>
                </a:solidFill>
                <a:latin typeface="Calibri" pitchFamily="34" charset="0"/>
                <a:ea typeface="Calibri" pitchFamily="34" charset="-122"/>
                <a:cs typeface="Calibri" pitchFamily="34" charset="-120"/>
              </a:rPr>
              <a:t>The Collaborator Era</a:t>
            </a:r>
            <a:endParaRPr lang="en-US" sz="900" dirty="0"/>
          </a:p>
        </p:txBody>
      </p:sp>
      <p:sp>
        <p:nvSpPr>
          <p:cNvPr id="20" name="Text 16"/>
          <p:cNvSpPr/>
          <p:nvPr/>
        </p:nvSpPr>
        <p:spPr>
          <a:xfrm>
            <a:off x="6537960" y="2011680"/>
            <a:ext cx="2286000" cy="1645920"/>
          </a:xfrm>
          <a:prstGeom prst="rect">
            <a:avLst/>
          </a:prstGeom>
          <a:noFill/>
          <a:ln/>
        </p:spPr>
        <p:txBody>
          <a:bodyPr wrap="square" rtlCol="0" anchor="ctr"/>
          <a:lstStyle/>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Executing tasks</a:t>
            </a:r>
            <a:endParaRPr lang="en-US" sz="1200" dirty="0"/>
          </a:p>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Building features</a:t>
            </a:r>
            <a:endParaRPr lang="en-US" sz="1200" dirty="0"/>
          </a:p>
          <a:p>
            <a:pPr marL="342900" indent="-342900">
              <a:buSzPct val="100000"/>
              <a:buChar char="•"/>
            </a:pPr>
            <a:r>
              <a:rPr lang="en-US" sz="1200" dirty="0">
                <a:solidFill>
                  <a:srgbClr val="334155"/>
                </a:solidFill>
                <a:latin typeface="Calibri" pitchFamily="34" charset="0"/>
                <a:ea typeface="Calibri" pitchFamily="34" charset="-122"/>
                <a:cs typeface="Calibri" pitchFamily="34" charset="-120"/>
              </a:rPr>
              <a:t>Creating PRs</a:t>
            </a:r>
            <a:endParaRPr lang="en-US" sz="1200" dirty="0"/>
          </a:p>
        </p:txBody>
      </p:sp>
      <p:sp>
        <p:nvSpPr>
          <p:cNvPr id="21" name="Shape 17"/>
          <p:cNvSpPr/>
          <p:nvPr/>
        </p:nvSpPr>
        <p:spPr>
          <a:xfrm>
            <a:off x="548640" y="4206240"/>
            <a:ext cx="8229600" cy="640080"/>
          </a:xfrm>
          <a:prstGeom prst="rect">
            <a:avLst/>
          </a:prstGeom>
          <a:solidFill>
            <a:srgbClr val="F0FDFA"/>
          </a:solidFill>
          <a:ln/>
        </p:spPr>
      </p:sp>
      <p:sp>
        <p:nvSpPr>
          <p:cNvPr id="22" name="Shape 18"/>
          <p:cNvSpPr/>
          <p:nvPr/>
        </p:nvSpPr>
        <p:spPr>
          <a:xfrm>
            <a:off x="548640" y="4206240"/>
            <a:ext cx="54864" cy="640080"/>
          </a:xfrm>
          <a:prstGeom prst="rect">
            <a:avLst/>
          </a:prstGeom>
          <a:solidFill>
            <a:srgbClr val="0D9488"/>
          </a:solidFill>
          <a:ln/>
        </p:spPr>
      </p:sp>
      <p:pic>
        <p:nvPicPr>
          <p:cNvPr id="23" name="Image 2" descr="preencoded.png">    </p:cNvPr>
          <p:cNvPicPr>
            <a:picLocks noChangeAspect="1"/>
          </p:cNvPicPr>
          <p:nvPr/>
        </p:nvPicPr>
        <p:blipFill>
          <a:blip r:embed="rId3"/>
          <a:stretch>
            <a:fillRect/>
          </a:stretch>
        </p:blipFill>
        <p:spPr>
          <a:xfrm>
            <a:off x="777240" y="4315968"/>
            <a:ext cx="256032" cy="256032"/>
          </a:xfrm>
          <a:prstGeom prst="rect">
            <a:avLst/>
          </a:prstGeom>
        </p:spPr>
      </p:pic>
      <p:sp>
        <p:nvSpPr>
          <p:cNvPr id="24" name="Text 19"/>
          <p:cNvSpPr/>
          <p:nvPr/>
        </p:nvSpPr>
        <p:spPr>
          <a:xfrm>
            <a:off x="1188720" y="4206240"/>
            <a:ext cx="7315200" cy="640080"/>
          </a:xfrm>
          <a:prstGeom prst="rect">
            <a:avLst/>
          </a:prstGeom>
          <a:noFill/>
          <a:ln/>
        </p:spPr>
        <p:txBody>
          <a:bodyPr wrap="square" lIns="0" tIns="0" rIns="0" bIns="0" rtlCol="0" anchor="ctr"/>
          <a:lstStyle/>
          <a:p>
            <a:pPr indent="0" marL="0">
              <a:buNone/>
            </a:pPr>
            <a:r>
              <a:rPr lang="en-US" sz="1250" b="1" dirty="0">
                <a:solidFill>
                  <a:srgbClr val="1A2332"/>
                </a:solidFill>
                <a:latin typeface="Calibri" pitchFamily="34" charset="0"/>
                <a:ea typeface="Calibri" pitchFamily="34" charset="-122"/>
                <a:cs typeface="Calibri" pitchFamily="34" charset="-120"/>
              </a:rPr>
              <a:t>We are no longer picking up and putting down tools — we are delegating to an autonomous entity.</a:t>
            </a:r>
            <a:endParaRPr lang="en-US" sz="1250" dirty="0"/>
          </a:p>
        </p:txBody>
      </p:sp>
      <p:sp>
        <p:nvSpPr>
          <p:cNvPr id="25" name="Text 20"/>
          <p:cNvSpPr/>
          <p:nvPr/>
        </p:nvSpPr>
        <p:spPr>
          <a:xfrm>
            <a:off x="8229600" y="4754880"/>
            <a:ext cx="64008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3 / 23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indent="0" marL="0">
              <a:buNone/>
            </a:pPr>
            <a:r>
              <a:rPr lang="en-US" sz="3200" b="1" dirty="0">
                <a:solidFill>
                  <a:srgbClr val="1A2332"/>
                </a:solidFill>
                <a:latin typeface="Calibri" pitchFamily="34" charset="0"/>
                <a:ea typeface="Calibri" pitchFamily="34" charset="-122"/>
                <a:cs typeface="Calibri" pitchFamily="34" charset="-120"/>
              </a:rPr>
              <a:t>GitHub Copilot: The Evolution to Agentic</a:t>
            </a:r>
            <a:endParaRPr lang="en-US" sz="3200" dirty="0"/>
          </a:p>
        </p:txBody>
      </p:sp>
      <p:sp>
        <p:nvSpPr>
          <p:cNvPr id="3" name="Text 1"/>
          <p:cNvSpPr/>
          <p:nvPr/>
        </p:nvSpPr>
        <p:spPr>
          <a:xfrm>
            <a:off x="548640" y="777240"/>
            <a:ext cx="7315200" cy="320040"/>
          </a:xfrm>
          <a:prstGeom prst="rect">
            <a:avLst/>
          </a:prstGeom>
          <a:noFill/>
          <a:ln/>
        </p:spPr>
        <p:txBody>
          <a:bodyPr wrap="square" lIns="0" tIns="0" rIns="0" bIns="0" rtlCol="0" anchor="ctr"/>
          <a:lstStyle/>
          <a:p>
            <a:pPr indent="0" marL="0">
              <a:buNone/>
            </a:pPr>
            <a:r>
              <a:rPr lang="en-US" sz="1300" i="1" dirty="0">
                <a:solidFill>
                  <a:srgbClr val="475569"/>
                </a:solidFill>
                <a:latin typeface="Calibri" pitchFamily="34" charset="0"/>
                <a:ea typeface="Calibri" pitchFamily="34" charset="-122"/>
                <a:cs typeface="Calibri" pitchFamily="34" charset="-120"/>
              </a:rPr>
              <a:t>How GitHub Copilot evolved from autocomplete to an autonomous coding agent — all inside your IDE</a:t>
            </a:r>
            <a:endParaRPr lang="en-US" sz="1300" dirty="0"/>
          </a:p>
        </p:txBody>
      </p:sp>
      <p:sp>
        <p:nvSpPr>
          <p:cNvPr id="4" name="Shape 2"/>
          <p:cNvSpPr/>
          <p:nvPr/>
        </p:nvSpPr>
        <p:spPr>
          <a:xfrm>
            <a:off x="548640" y="1371600"/>
            <a:ext cx="8229600" cy="54864"/>
          </a:xfrm>
          <a:prstGeom prst="rect">
            <a:avLst/>
          </a:prstGeom>
          <a:solidFill>
            <a:srgbClr val="0D9488">
              <a:alpha val="60000"/>
            </a:srgbClr>
          </a:solidFill>
          <a:ln/>
        </p:spPr>
      </p:sp>
      <p:sp>
        <p:nvSpPr>
          <p:cNvPr id="5" name="Shape 3"/>
          <p:cNvSpPr/>
          <p:nvPr/>
        </p:nvSpPr>
        <p:spPr>
          <a:xfrm>
            <a:off x="1600200" y="1261872"/>
            <a:ext cx="274320" cy="274320"/>
          </a:xfrm>
          <a:prstGeom prst="ellipse">
            <a:avLst/>
          </a:prstGeom>
          <a:solidFill>
            <a:srgbClr val="0D9488"/>
          </a:solidFill>
          <a:ln/>
        </p:spPr>
      </p:sp>
      <p:sp>
        <p:nvSpPr>
          <p:cNvPr id="6" name="Text 4"/>
          <p:cNvSpPr/>
          <p:nvPr/>
        </p:nvSpPr>
        <p:spPr>
          <a:xfrm>
            <a:off x="1325880" y="978408"/>
            <a:ext cx="822960" cy="274320"/>
          </a:xfrm>
          <a:prstGeom prst="rect">
            <a:avLst/>
          </a:prstGeom>
          <a:noFill/>
          <a:ln/>
        </p:spPr>
        <p:txBody>
          <a:bodyPr wrap="square" rtlCol="0" anchor="ctr"/>
          <a:lstStyle/>
          <a:p>
            <a:pPr algn="ctr" indent="0" marL="0">
              <a:buNone/>
            </a:pPr>
            <a:r>
              <a:rPr lang="en-US" sz="1000" b="1" dirty="0">
                <a:solidFill>
                  <a:srgbClr val="0D9488"/>
                </a:solidFill>
                <a:latin typeface="Calibri" pitchFamily="34" charset="0"/>
                <a:ea typeface="Calibri" pitchFamily="34" charset="-122"/>
                <a:cs typeface="Calibri" pitchFamily="34" charset="-120"/>
              </a:rPr>
              <a:t>2021</a:t>
            </a:r>
            <a:endParaRPr lang="en-US" sz="1000" dirty="0"/>
          </a:p>
        </p:txBody>
      </p:sp>
      <p:sp>
        <p:nvSpPr>
          <p:cNvPr id="7" name="Shape 5"/>
          <p:cNvSpPr/>
          <p:nvPr/>
        </p:nvSpPr>
        <p:spPr>
          <a:xfrm>
            <a:off x="548640" y="1737360"/>
            <a:ext cx="2606040" cy="2651760"/>
          </a:xfrm>
          <a:prstGeom prst="rect">
            <a:avLst/>
          </a:prstGeom>
          <a:solidFill>
            <a:srgbClr val="F1F5F9"/>
          </a:solidFill>
          <a:ln/>
          <a:effectLst>
            <a:outerShdw sx="100000" sy="100000" kx="0" ky="0" algn="bl" rotWithShape="0" blurRad="50800" dist="25400" dir="8100000">
              <a:srgbClr val="000000">
                <a:alpha val="10000"/>
              </a:srgbClr>
            </a:outerShdw>
          </a:effectLst>
        </p:spPr>
      </p:sp>
      <p:pic>
        <p:nvPicPr>
          <p:cNvPr id="8" name="Image 0" descr="preencoded.png">    </p:cNvPr>
          <p:cNvPicPr>
            <a:picLocks noChangeAspect="1"/>
          </p:cNvPicPr>
          <p:nvPr/>
        </p:nvPicPr>
        <p:blipFill>
          <a:blip r:embed="rId1"/>
          <a:stretch>
            <a:fillRect/>
          </a:stretch>
        </p:blipFill>
        <p:spPr>
          <a:xfrm>
            <a:off x="731520" y="1920240"/>
            <a:ext cx="320040" cy="320040"/>
          </a:xfrm>
          <a:prstGeom prst="rect">
            <a:avLst/>
          </a:prstGeom>
        </p:spPr>
      </p:pic>
      <p:sp>
        <p:nvSpPr>
          <p:cNvPr id="9" name="Text 6"/>
          <p:cNvSpPr/>
          <p:nvPr/>
        </p:nvSpPr>
        <p:spPr>
          <a:xfrm>
            <a:off x="1143000" y="1920240"/>
            <a:ext cx="1828800" cy="320040"/>
          </a:xfrm>
          <a:prstGeom prst="rect">
            <a:avLst/>
          </a:prstGeom>
          <a:noFill/>
          <a:ln/>
        </p:spPr>
        <p:txBody>
          <a:bodyPr wrap="square" lIns="0" tIns="0" rIns="0" bIns="0" rtlCol="0" anchor="ctr"/>
          <a:lstStyle/>
          <a:p>
            <a:pPr indent="0" marL="0">
              <a:buNone/>
            </a:pPr>
            <a:r>
              <a:rPr lang="en-US" sz="1400" b="1" dirty="0">
                <a:solidFill>
                  <a:srgbClr val="1A2332"/>
                </a:solidFill>
                <a:latin typeface="Calibri" pitchFamily="34" charset="0"/>
                <a:ea typeface="Calibri" pitchFamily="34" charset="-122"/>
                <a:cs typeface="Calibri" pitchFamily="34" charset="-120"/>
              </a:rPr>
              <a:t>Copilot</a:t>
            </a:r>
            <a:endParaRPr lang="en-US" sz="1400" dirty="0"/>
          </a:p>
        </p:txBody>
      </p:sp>
      <p:sp>
        <p:nvSpPr>
          <p:cNvPr id="10" name="Text 7"/>
          <p:cNvSpPr/>
          <p:nvPr/>
        </p:nvSpPr>
        <p:spPr>
          <a:xfrm>
            <a:off x="731520" y="2331720"/>
            <a:ext cx="2240280" cy="256032"/>
          </a:xfrm>
          <a:prstGeom prst="rect">
            <a:avLst/>
          </a:prstGeom>
          <a:noFill/>
          <a:ln/>
        </p:spPr>
        <p:txBody>
          <a:bodyPr wrap="square" lIns="0" tIns="0" rIns="0" bIns="0"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Autocomplete</a:t>
            </a:r>
            <a:endParaRPr lang="en-US" sz="1100" dirty="0"/>
          </a:p>
        </p:txBody>
      </p:sp>
      <p:sp>
        <p:nvSpPr>
          <p:cNvPr id="11" name="Text 8"/>
          <p:cNvSpPr/>
          <p:nvPr/>
        </p:nvSpPr>
        <p:spPr>
          <a:xfrm>
            <a:off x="731520" y="2606040"/>
            <a:ext cx="2240280" cy="1554480"/>
          </a:xfrm>
          <a:prstGeom prst="rect">
            <a:avLst/>
          </a:prstGeom>
          <a:noFill/>
          <a:ln/>
        </p:spPr>
        <p:txBody>
          <a:bodyPr wrap="square" lIns="0" tIns="0" rIns="0" bIns="0" rtlCol="0" anchor="ctr"/>
          <a:lstStyle/>
          <a:p>
            <a:pPr indent="0" marL="0">
              <a:lnSpc>
                <a:spcPct val="115000"/>
              </a:lnSpc>
              <a:buNone/>
            </a:pPr>
            <a:r>
              <a:rPr lang="en-US" sz="1050" dirty="0">
                <a:solidFill>
                  <a:srgbClr val="334155"/>
                </a:solidFill>
                <a:latin typeface="Calibri" pitchFamily="34" charset="0"/>
                <a:ea typeface="Calibri" pitchFamily="34" charset="-122"/>
                <a:cs typeface="Calibri" pitchFamily="34" charset="-120"/>
              </a:rPr>
              <a:t>Inline code suggestions. The developer stays in the driver's seat — accepting, rejecting, or editing one line at a time.</a:t>
            </a:r>
            <a:endParaRPr lang="en-US" sz="1050" dirty="0"/>
          </a:p>
        </p:txBody>
      </p:sp>
      <p:sp>
        <p:nvSpPr>
          <p:cNvPr id="12" name="Shape 9"/>
          <p:cNvSpPr/>
          <p:nvPr/>
        </p:nvSpPr>
        <p:spPr>
          <a:xfrm>
            <a:off x="4434840" y="1261872"/>
            <a:ext cx="274320" cy="274320"/>
          </a:xfrm>
          <a:prstGeom prst="ellipse">
            <a:avLst/>
          </a:prstGeom>
          <a:solidFill>
            <a:srgbClr val="0D9488"/>
          </a:solidFill>
          <a:ln/>
        </p:spPr>
      </p:sp>
      <p:sp>
        <p:nvSpPr>
          <p:cNvPr id="13" name="Text 10"/>
          <p:cNvSpPr/>
          <p:nvPr/>
        </p:nvSpPr>
        <p:spPr>
          <a:xfrm>
            <a:off x="4160520" y="978408"/>
            <a:ext cx="822960" cy="274320"/>
          </a:xfrm>
          <a:prstGeom prst="rect">
            <a:avLst/>
          </a:prstGeom>
          <a:noFill/>
          <a:ln/>
        </p:spPr>
        <p:txBody>
          <a:bodyPr wrap="square" rtlCol="0" anchor="ctr"/>
          <a:lstStyle/>
          <a:p>
            <a:pPr algn="ctr" indent="0" marL="0">
              <a:buNone/>
            </a:pPr>
            <a:r>
              <a:rPr lang="en-US" sz="1000" b="1" dirty="0">
                <a:solidFill>
                  <a:srgbClr val="0D9488"/>
                </a:solidFill>
                <a:latin typeface="Calibri" pitchFamily="34" charset="0"/>
                <a:ea typeface="Calibri" pitchFamily="34" charset="-122"/>
                <a:cs typeface="Calibri" pitchFamily="34" charset="-120"/>
              </a:rPr>
              <a:t>2023</a:t>
            </a:r>
            <a:endParaRPr lang="en-US" sz="1000" dirty="0"/>
          </a:p>
        </p:txBody>
      </p:sp>
      <p:sp>
        <p:nvSpPr>
          <p:cNvPr id="14" name="Shape 11"/>
          <p:cNvSpPr/>
          <p:nvPr/>
        </p:nvSpPr>
        <p:spPr>
          <a:xfrm>
            <a:off x="3383280" y="1737360"/>
            <a:ext cx="2606040" cy="2651760"/>
          </a:xfrm>
          <a:prstGeom prst="rect">
            <a:avLst/>
          </a:prstGeom>
          <a:solidFill>
            <a:srgbClr val="F0FDFA"/>
          </a:solidFill>
          <a:ln/>
          <a:effectLst>
            <a:outerShdw sx="100000" sy="100000" kx="0" ky="0" algn="bl" rotWithShape="0" blurRad="50800" dist="25400" dir="8100000">
              <a:srgbClr val="000000">
                <a:alpha val="10000"/>
              </a:srgbClr>
            </a:outerShdw>
          </a:effectLst>
        </p:spPr>
      </p:sp>
      <p:pic>
        <p:nvPicPr>
          <p:cNvPr id="15" name="Image 1" descr="preencoded.png">    </p:cNvPr>
          <p:cNvPicPr>
            <a:picLocks noChangeAspect="1"/>
          </p:cNvPicPr>
          <p:nvPr/>
        </p:nvPicPr>
        <p:blipFill>
          <a:blip r:embed="rId2"/>
          <a:stretch>
            <a:fillRect/>
          </a:stretch>
        </p:blipFill>
        <p:spPr>
          <a:xfrm>
            <a:off x="3566160" y="1920240"/>
            <a:ext cx="320040" cy="320040"/>
          </a:xfrm>
          <a:prstGeom prst="rect">
            <a:avLst/>
          </a:prstGeom>
        </p:spPr>
      </p:pic>
      <p:sp>
        <p:nvSpPr>
          <p:cNvPr id="16" name="Text 12"/>
          <p:cNvSpPr/>
          <p:nvPr/>
        </p:nvSpPr>
        <p:spPr>
          <a:xfrm>
            <a:off x="3977640" y="1920240"/>
            <a:ext cx="1828800" cy="320040"/>
          </a:xfrm>
          <a:prstGeom prst="rect">
            <a:avLst/>
          </a:prstGeom>
          <a:noFill/>
          <a:ln/>
        </p:spPr>
        <p:txBody>
          <a:bodyPr wrap="square" lIns="0" tIns="0" rIns="0" bIns="0" rtlCol="0" anchor="ctr"/>
          <a:lstStyle/>
          <a:p>
            <a:pPr indent="0" marL="0">
              <a:buNone/>
            </a:pPr>
            <a:r>
              <a:rPr lang="en-US" sz="1400" b="1" dirty="0">
                <a:solidFill>
                  <a:srgbClr val="1A2332"/>
                </a:solidFill>
                <a:latin typeface="Calibri" pitchFamily="34" charset="0"/>
                <a:ea typeface="Calibri" pitchFamily="34" charset="-122"/>
                <a:cs typeface="Calibri" pitchFamily="34" charset="-120"/>
              </a:rPr>
              <a:t>Copilot Chat</a:t>
            </a:r>
            <a:endParaRPr lang="en-US" sz="1400" dirty="0"/>
          </a:p>
        </p:txBody>
      </p:sp>
      <p:sp>
        <p:nvSpPr>
          <p:cNvPr id="17" name="Text 13"/>
          <p:cNvSpPr/>
          <p:nvPr/>
        </p:nvSpPr>
        <p:spPr>
          <a:xfrm>
            <a:off x="3566160" y="2331720"/>
            <a:ext cx="2240280" cy="256032"/>
          </a:xfrm>
          <a:prstGeom prst="rect">
            <a:avLst/>
          </a:prstGeom>
          <a:noFill/>
          <a:ln/>
        </p:spPr>
        <p:txBody>
          <a:bodyPr wrap="square" lIns="0" tIns="0" rIns="0" bIns="0"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Conversational AI</a:t>
            </a:r>
            <a:endParaRPr lang="en-US" sz="1100" dirty="0"/>
          </a:p>
        </p:txBody>
      </p:sp>
      <p:sp>
        <p:nvSpPr>
          <p:cNvPr id="18" name="Text 14"/>
          <p:cNvSpPr/>
          <p:nvPr/>
        </p:nvSpPr>
        <p:spPr>
          <a:xfrm>
            <a:off x="3566160" y="2606040"/>
            <a:ext cx="2240280" cy="1554480"/>
          </a:xfrm>
          <a:prstGeom prst="rect">
            <a:avLst/>
          </a:prstGeom>
          <a:noFill/>
          <a:ln/>
        </p:spPr>
        <p:txBody>
          <a:bodyPr wrap="square" lIns="0" tIns="0" rIns="0" bIns="0" rtlCol="0" anchor="ctr"/>
          <a:lstStyle/>
          <a:p>
            <a:pPr indent="0" marL="0">
              <a:lnSpc>
                <a:spcPct val="115000"/>
              </a:lnSpc>
              <a:buNone/>
            </a:pPr>
            <a:r>
              <a:rPr lang="en-US" sz="1050" dirty="0">
                <a:solidFill>
                  <a:srgbClr val="334155"/>
                </a:solidFill>
                <a:latin typeface="Calibri" pitchFamily="34" charset="0"/>
                <a:ea typeface="Calibri" pitchFamily="34" charset="-122"/>
                <a:cs typeface="Calibri" pitchFamily="34" charset="-120"/>
              </a:rPr>
              <a:t>Ask questions, explain code, generate tests, and debug — all inside VS Code. Context-aware but still human-initiated per action.</a:t>
            </a:r>
            <a:endParaRPr lang="en-US" sz="1050" dirty="0"/>
          </a:p>
        </p:txBody>
      </p:sp>
      <p:sp>
        <p:nvSpPr>
          <p:cNvPr id="19" name="Shape 15"/>
          <p:cNvSpPr/>
          <p:nvPr/>
        </p:nvSpPr>
        <p:spPr>
          <a:xfrm>
            <a:off x="7269480" y="1261872"/>
            <a:ext cx="274320" cy="274320"/>
          </a:xfrm>
          <a:prstGeom prst="ellipse">
            <a:avLst/>
          </a:prstGeom>
          <a:solidFill>
            <a:srgbClr val="0D9488"/>
          </a:solidFill>
          <a:ln/>
        </p:spPr>
      </p:sp>
      <p:sp>
        <p:nvSpPr>
          <p:cNvPr id="20" name="Text 16"/>
          <p:cNvSpPr/>
          <p:nvPr/>
        </p:nvSpPr>
        <p:spPr>
          <a:xfrm>
            <a:off x="6995160" y="978408"/>
            <a:ext cx="822960" cy="274320"/>
          </a:xfrm>
          <a:prstGeom prst="rect">
            <a:avLst/>
          </a:prstGeom>
          <a:noFill/>
          <a:ln/>
        </p:spPr>
        <p:txBody>
          <a:bodyPr wrap="square" rtlCol="0" anchor="ctr"/>
          <a:lstStyle/>
          <a:p>
            <a:pPr algn="ctr" indent="0" marL="0">
              <a:buNone/>
            </a:pPr>
            <a:r>
              <a:rPr lang="en-US" sz="1000" b="1" dirty="0">
                <a:solidFill>
                  <a:srgbClr val="0D9488"/>
                </a:solidFill>
                <a:latin typeface="Calibri" pitchFamily="34" charset="0"/>
                <a:ea typeface="Calibri" pitchFamily="34" charset="-122"/>
                <a:cs typeface="Calibri" pitchFamily="34" charset="-120"/>
              </a:rPr>
              <a:t>2025</a:t>
            </a:r>
            <a:endParaRPr lang="en-US" sz="1000" dirty="0"/>
          </a:p>
        </p:txBody>
      </p:sp>
      <p:sp>
        <p:nvSpPr>
          <p:cNvPr id="21" name="Shape 17"/>
          <p:cNvSpPr/>
          <p:nvPr/>
        </p:nvSpPr>
        <p:spPr>
          <a:xfrm>
            <a:off x="6217920" y="1737360"/>
            <a:ext cx="2606040" cy="2651760"/>
          </a:xfrm>
          <a:prstGeom prst="rect">
            <a:avLst/>
          </a:prstGeom>
          <a:solidFill>
            <a:srgbClr val="F0FDFA"/>
          </a:solidFill>
          <a:ln/>
          <a:effectLst>
            <a:outerShdw sx="100000" sy="100000" kx="0" ky="0" algn="bl" rotWithShape="0" blurRad="50800" dist="25400" dir="8100000">
              <a:srgbClr val="000000">
                <a:alpha val="10000"/>
              </a:srgbClr>
            </a:outerShdw>
          </a:effectLst>
        </p:spPr>
      </p:sp>
      <p:pic>
        <p:nvPicPr>
          <p:cNvPr id="22" name="Image 2" descr="preencoded.png">    </p:cNvPr>
          <p:cNvPicPr>
            <a:picLocks noChangeAspect="1"/>
          </p:cNvPicPr>
          <p:nvPr/>
        </p:nvPicPr>
        <p:blipFill>
          <a:blip r:embed="rId3"/>
          <a:stretch>
            <a:fillRect/>
          </a:stretch>
        </p:blipFill>
        <p:spPr>
          <a:xfrm>
            <a:off x="6400800" y="1920240"/>
            <a:ext cx="320040" cy="320040"/>
          </a:xfrm>
          <a:prstGeom prst="rect">
            <a:avLst/>
          </a:prstGeom>
        </p:spPr>
      </p:pic>
      <p:sp>
        <p:nvSpPr>
          <p:cNvPr id="23" name="Text 18"/>
          <p:cNvSpPr/>
          <p:nvPr/>
        </p:nvSpPr>
        <p:spPr>
          <a:xfrm>
            <a:off x="6812280" y="1920240"/>
            <a:ext cx="1828800" cy="320040"/>
          </a:xfrm>
          <a:prstGeom prst="rect">
            <a:avLst/>
          </a:prstGeom>
          <a:noFill/>
          <a:ln/>
        </p:spPr>
        <p:txBody>
          <a:bodyPr wrap="square" lIns="0" tIns="0" rIns="0" bIns="0" rtlCol="0" anchor="ctr"/>
          <a:lstStyle/>
          <a:p>
            <a:pPr indent="0" marL="0">
              <a:buNone/>
            </a:pPr>
            <a:r>
              <a:rPr lang="en-US" sz="1400" b="1" dirty="0">
                <a:solidFill>
                  <a:srgbClr val="1A2332"/>
                </a:solidFill>
                <a:latin typeface="Calibri" pitchFamily="34" charset="0"/>
                <a:ea typeface="Calibri" pitchFamily="34" charset="-122"/>
                <a:cs typeface="Calibri" pitchFamily="34" charset="-120"/>
              </a:rPr>
              <a:t>Copilot Agent Mode</a:t>
            </a:r>
            <a:endParaRPr lang="en-US" sz="1400" dirty="0"/>
          </a:p>
        </p:txBody>
      </p:sp>
      <p:sp>
        <p:nvSpPr>
          <p:cNvPr id="24" name="Text 19"/>
          <p:cNvSpPr/>
          <p:nvPr/>
        </p:nvSpPr>
        <p:spPr>
          <a:xfrm>
            <a:off x="6400800" y="2331720"/>
            <a:ext cx="2240280" cy="256032"/>
          </a:xfrm>
          <a:prstGeom prst="rect">
            <a:avLst/>
          </a:prstGeom>
          <a:noFill/>
          <a:ln/>
        </p:spPr>
        <p:txBody>
          <a:bodyPr wrap="square" lIns="0" tIns="0" rIns="0" bIns="0"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Autonomous Agent</a:t>
            </a:r>
            <a:endParaRPr lang="en-US" sz="1100" dirty="0"/>
          </a:p>
        </p:txBody>
      </p:sp>
      <p:sp>
        <p:nvSpPr>
          <p:cNvPr id="25" name="Text 20"/>
          <p:cNvSpPr/>
          <p:nvPr/>
        </p:nvSpPr>
        <p:spPr>
          <a:xfrm>
            <a:off x="6400800" y="2606040"/>
            <a:ext cx="2240280" cy="1554480"/>
          </a:xfrm>
          <a:prstGeom prst="rect">
            <a:avLst/>
          </a:prstGeom>
          <a:noFill/>
          <a:ln/>
        </p:spPr>
        <p:txBody>
          <a:bodyPr wrap="square" lIns="0" tIns="0" rIns="0" bIns="0" rtlCol="0" anchor="ctr"/>
          <a:lstStyle/>
          <a:p>
            <a:pPr indent="0" marL="0">
              <a:lnSpc>
                <a:spcPct val="115000"/>
              </a:lnSpc>
              <a:buNone/>
            </a:pPr>
            <a:r>
              <a:rPr lang="en-US" sz="1050" dirty="0">
                <a:solidFill>
                  <a:srgbClr val="334155"/>
                </a:solidFill>
                <a:latin typeface="Calibri" pitchFamily="34" charset="0"/>
                <a:ea typeface="Calibri" pitchFamily="34" charset="-122"/>
                <a:cs typeface="Calibri" pitchFamily="34" charset="-120"/>
              </a:rPr>
              <a:t>Copilot autonomously plans multi-file changes, runs terminal commands, fixes errors in a loop, and iterates until tests pass — inside your IDE.</a:t>
            </a:r>
            <a:endParaRPr lang="en-US" sz="1050" dirty="0"/>
          </a:p>
        </p:txBody>
      </p:sp>
      <p:sp>
        <p:nvSpPr>
          <p:cNvPr id="26" name="Shape 21"/>
          <p:cNvSpPr/>
          <p:nvPr/>
        </p:nvSpPr>
        <p:spPr>
          <a:xfrm>
            <a:off x="548640" y="4526280"/>
            <a:ext cx="8229600" cy="411480"/>
          </a:xfrm>
          <a:prstGeom prst="rect">
            <a:avLst/>
          </a:prstGeom>
          <a:solidFill>
            <a:srgbClr val="F0FDFA"/>
          </a:solidFill>
          <a:ln/>
        </p:spPr>
      </p:sp>
      <p:sp>
        <p:nvSpPr>
          <p:cNvPr id="27" name="Shape 22"/>
          <p:cNvSpPr/>
          <p:nvPr/>
        </p:nvSpPr>
        <p:spPr>
          <a:xfrm>
            <a:off x="548640" y="4526280"/>
            <a:ext cx="54864" cy="411480"/>
          </a:xfrm>
          <a:prstGeom prst="rect">
            <a:avLst/>
          </a:prstGeom>
          <a:solidFill>
            <a:srgbClr val="0D9488"/>
          </a:solidFill>
          <a:ln/>
        </p:spPr>
      </p:sp>
      <p:sp>
        <p:nvSpPr>
          <p:cNvPr id="28" name="Text 23"/>
          <p:cNvSpPr/>
          <p:nvPr/>
        </p:nvSpPr>
        <p:spPr>
          <a:xfrm>
            <a:off x="777240" y="4526280"/>
            <a:ext cx="7772400" cy="411480"/>
          </a:xfrm>
          <a:prstGeom prst="rect">
            <a:avLst/>
          </a:prstGeom>
          <a:noFill/>
          <a:ln/>
        </p:spPr>
        <p:txBody>
          <a:bodyPr wrap="square" lIns="0" tIns="0" rIns="0" bIns="0"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Each generation gives Copilot more autonomy — and demands more structured context and oversight from you.</a:t>
            </a:r>
            <a:endParaRPr lang="en-US" sz="1200" dirty="0"/>
          </a:p>
        </p:txBody>
      </p:sp>
      <p:sp>
        <p:nvSpPr>
          <p:cNvPr id="29" name="Text 24"/>
          <p:cNvSpPr/>
          <p:nvPr/>
        </p:nvSpPr>
        <p:spPr>
          <a:xfrm>
            <a:off x="8229600" y="4754880"/>
            <a:ext cx="64008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4 / 23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indent="0" marL="0">
              <a:buNone/>
            </a:pPr>
            <a:r>
              <a:rPr lang="en-US" sz="3000" b="1" dirty="0">
                <a:solidFill>
                  <a:srgbClr val="1A2332"/>
                </a:solidFill>
                <a:latin typeface="Calibri" pitchFamily="34" charset="0"/>
                <a:ea typeface="Calibri" pitchFamily="34" charset="-122"/>
                <a:cs typeface="Calibri" pitchFamily="34" charset="-120"/>
              </a:rPr>
              <a:t>GitHub Copilot: Chat vs. Agent Mode</a:t>
            </a:r>
            <a:endParaRPr lang="en-US" sz="3000" dirty="0"/>
          </a:p>
        </p:txBody>
      </p:sp>
      <p:sp>
        <p:nvSpPr>
          <p:cNvPr id="3" name="Shape 1"/>
          <p:cNvSpPr/>
          <p:nvPr/>
        </p:nvSpPr>
        <p:spPr>
          <a:xfrm>
            <a:off x="548640" y="1005840"/>
            <a:ext cx="3749040" cy="3566160"/>
          </a:xfrm>
          <a:prstGeom prst="rect">
            <a:avLst/>
          </a:prstGeom>
          <a:solidFill>
            <a:srgbClr val="F1F5F9"/>
          </a:solidFill>
          <a:ln/>
          <a:effectLst>
            <a:outerShdw sx="100000" sy="100000" kx="0" ky="0" algn="bl" rotWithShape="0" blurRad="50800" dist="25400" dir="8100000">
              <a:srgbClr val="000000">
                <a:alpha val="10000"/>
              </a:srgbClr>
            </a:outerShdw>
          </a:effectLst>
        </p:spPr>
      </p:sp>
      <p:sp>
        <p:nvSpPr>
          <p:cNvPr id="4" name="Shape 2"/>
          <p:cNvSpPr/>
          <p:nvPr/>
        </p:nvSpPr>
        <p:spPr>
          <a:xfrm>
            <a:off x="548640" y="1005840"/>
            <a:ext cx="3749040" cy="457200"/>
          </a:xfrm>
          <a:prstGeom prst="rect">
            <a:avLst/>
          </a:prstGeom>
          <a:solidFill>
            <a:srgbClr val="334155"/>
          </a:solidFill>
          <a:ln/>
        </p:spPr>
      </p:sp>
      <p:pic>
        <p:nvPicPr>
          <p:cNvPr id="5" name="Image 0" descr="preencoded.png">    </p:cNvPr>
          <p:cNvPicPr>
            <a:picLocks noChangeAspect="1"/>
          </p:cNvPicPr>
          <p:nvPr/>
        </p:nvPicPr>
        <p:blipFill>
          <a:blip r:embed="rId1"/>
          <a:stretch>
            <a:fillRect/>
          </a:stretch>
        </p:blipFill>
        <p:spPr>
          <a:xfrm>
            <a:off x="731520" y="1069848"/>
            <a:ext cx="274320" cy="274320"/>
          </a:xfrm>
          <a:prstGeom prst="rect">
            <a:avLst/>
          </a:prstGeom>
        </p:spPr>
      </p:pic>
      <p:sp>
        <p:nvSpPr>
          <p:cNvPr id="6" name="Text 3"/>
          <p:cNvSpPr/>
          <p:nvPr/>
        </p:nvSpPr>
        <p:spPr>
          <a:xfrm>
            <a:off x="1097280" y="1005840"/>
            <a:ext cx="301752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Copilot Chat (Conversational)</a:t>
            </a:r>
            <a:endParaRPr lang="en-US" sz="1400" dirty="0"/>
          </a:p>
        </p:txBody>
      </p:sp>
      <p:sp>
        <p:nvSpPr>
          <p:cNvPr id="7" name="Text 4"/>
          <p:cNvSpPr/>
          <p:nvPr/>
        </p:nvSpPr>
        <p:spPr>
          <a:xfrm>
            <a:off x="731520" y="1645920"/>
            <a:ext cx="1005840" cy="228600"/>
          </a:xfrm>
          <a:prstGeom prst="rect">
            <a:avLst/>
          </a:prstGeom>
          <a:noFill/>
          <a:ln/>
        </p:spPr>
        <p:txBody>
          <a:bodyPr wrap="square" lIns="0" tIns="0" rIns="0" bIns="0" rtlCol="0" anchor="ctr"/>
          <a:lstStyle/>
          <a:p>
            <a:pPr indent="0" marL="0">
              <a:buNone/>
            </a:pPr>
            <a:r>
              <a:rPr lang="en-US" sz="1050" b="1" dirty="0">
                <a:solidFill>
                  <a:srgbClr val="0D9488"/>
                </a:solidFill>
                <a:latin typeface="Calibri" pitchFamily="34" charset="0"/>
                <a:ea typeface="Calibri" pitchFamily="34" charset="-122"/>
                <a:cs typeface="Calibri" pitchFamily="34" charset="-120"/>
              </a:rPr>
              <a:t>Mode</a:t>
            </a:r>
            <a:endParaRPr lang="en-US" sz="1050" dirty="0"/>
          </a:p>
        </p:txBody>
      </p:sp>
      <p:sp>
        <p:nvSpPr>
          <p:cNvPr id="8" name="Text 5"/>
          <p:cNvSpPr/>
          <p:nvPr/>
        </p:nvSpPr>
        <p:spPr>
          <a:xfrm>
            <a:off x="1783080" y="1645920"/>
            <a:ext cx="2331720" cy="411480"/>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Chat panel in VS Code — ask questions, get answers</a:t>
            </a:r>
            <a:endParaRPr lang="en-US" sz="1050" dirty="0"/>
          </a:p>
        </p:txBody>
      </p:sp>
      <p:sp>
        <p:nvSpPr>
          <p:cNvPr id="9" name="Text 6"/>
          <p:cNvSpPr/>
          <p:nvPr/>
        </p:nvSpPr>
        <p:spPr>
          <a:xfrm>
            <a:off x="731520" y="2212848"/>
            <a:ext cx="1005840" cy="228600"/>
          </a:xfrm>
          <a:prstGeom prst="rect">
            <a:avLst/>
          </a:prstGeom>
          <a:noFill/>
          <a:ln/>
        </p:spPr>
        <p:txBody>
          <a:bodyPr wrap="square" lIns="0" tIns="0" rIns="0" bIns="0" rtlCol="0" anchor="ctr"/>
          <a:lstStyle/>
          <a:p>
            <a:pPr indent="0" marL="0">
              <a:buNone/>
            </a:pPr>
            <a:r>
              <a:rPr lang="en-US" sz="1050" b="1" dirty="0">
                <a:solidFill>
                  <a:srgbClr val="0D9488"/>
                </a:solidFill>
                <a:latin typeface="Calibri" pitchFamily="34" charset="0"/>
                <a:ea typeface="Calibri" pitchFamily="34" charset="-122"/>
                <a:cs typeface="Calibri" pitchFamily="34" charset="-120"/>
              </a:rPr>
              <a:t>Scope</a:t>
            </a:r>
            <a:endParaRPr lang="en-US" sz="1050" dirty="0"/>
          </a:p>
        </p:txBody>
      </p:sp>
      <p:sp>
        <p:nvSpPr>
          <p:cNvPr id="10" name="Text 7"/>
          <p:cNvSpPr/>
          <p:nvPr/>
        </p:nvSpPr>
        <p:spPr>
          <a:xfrm>
            <a:off x="1783080" y="2212848"/>
            <a:ext cx="2331720" cy="411480"/>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Current file + referenced files you select</a:t>
            </a:r>
            <a:endParaRPr lang="en-US" sz="1050" dirty="0"/>
          </a:p>
        </p:txBody>
      </p:sp>
      <p:sp>
        <p:nvSpPr>
          <p:cNvPr id="11" name="Text 8"/>
          <p:cNvSpPr/>
          <p:nvPr/>
        </p:nvSpPr>
        <p:spPr>
          <a:xfrm>
            <a:off x="731520" y="2779776"/>
            <a:ext cx="1005840" cy="228600"/>
          </a:xfrm>
          <a:prstGeom prst="rect">
            <a:avLst/>
          </a:prstGeom>
          <a:noFill/>
          <a:ln/>
        </p:spPr>
        <p:txBody>
          <a:bodyPr wrap="square" lIns="0" tIns="0" rIns="0" bIns="0" rtlCol="0" anchor="ctr"/>
          <a:lstStyle/>
          <a:p>
            <a:pPr indent="0" marL="0">
              <a:buNone/>
            </a:pPr>
            <a:r>
              <a:rPr lang="en-US" sz="1050" b="1" dirty="0">
                <a:solidFill>
                  <a:srgbClr val="0D9488"/>
                </a:solidFill>
                <a:latin typeface="Calibri" pitchFamily="34" charset="0"/>
                <a:ea typeface="Calibri" pitchFamily="34" charset="-122"/>
                <a:cs typeface="Calibri" pitchFamily="34" charset="-120"/>
              </a:rPr>
              <a:t>Human Role</a:t>
            </a:r>
            <a:endParaRPr lang="en-US" sz="1050" dirty="0"/>
          </a:p>
        </p:txBody>
      </p:sp>
      <p:sp>
        <p:nvSpPr>
          <p:cNvPr id="12" name="Text 9"/>
          <p:cNvSpPr/>
          <p:nvPr/>
        </p:nvSpPr>
        <p:spPr>
          <a:xfrm>
            <a:off x="1783080" y="2779776"/>
            <a:ext cx="2331720" cy="411480"/>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Copy-paste suggestions, manually apply changes</a:t>
            </a:r>
            <a:endParaRPr lang="en-US" sz="1050" dirty="0"/>
          </a:p>
        </p:txBody>
      </p:sp>
      <p:sp>
        <p:nvSpPr>
          <p:cNvPr id="13" name="Text 10"/>
          <p:cNvSpPr/>
          <p:nvPr/>
        </p:nvSpPr>
        <p:spPr>
          <a:xfrm>
            <a:off x="731520" y="3346704"/>
            <a:ext cx="1005840" cy="228600"/>
          </a:xfrm>
          <a:prstGeom prst="rect">
            <a:avLst/>
          </a:prstGeom>
          <a:noFill/>
          <a:ln/>
        </p:spPr>
        <p:txBody>
          <a:bodyPr wrap="square" lIns="0" tIns="0" rIns="0" bIns="0" rtlCol="0" anchor="ctr"/>
          <a:lstStyle/>
          <a:p>
            <a:pPr indent="0" marL="0">
              <a:buNone/>
            </a:pPr>
            <a:r>
              <a:rPr lang="en-US" sz="1050" b="1" dirty="0">
                <a:solidFill>
                  <a:srgbClr val="0D9488"/>
                </a:solidFill>
                <a:latin typeface="Calibri" pitchFamily="34" charset="0"/>
                <a:ea typeface="Calibri" pitchFamily="34" charset="-122"/>
                <a:cs typeface="Calibri" pitchFamily="34" charset="-120"/>
              </a:rPr>
              <a:t>Context</a:t>
            </a:r>
            <a:endParaRPr lang="en-US" sz="1050" dirty="0"/>
          </a:p>
        </p:txBody>
      </p:sp>
      <p:sp>
        <p:nvSpPr>
          <p:cNvPr id="14" name="Text 11"/>
          <p:cNvSpPr/>
          <p:nvPr/>
        </p:nvSpPr>
        <p:spPr>
          <a:xfrm>
            <a:off x="1783080" y="3346704"/>
            <a:ext cx="2331720" cy="411480"/>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#file, #selection, @workspace references</a:t>
            </a:r>
            <a:endParaRPr lang="en-US" sz="1050" dirty="0"/>
          </a:p>
        </p:txBody>
      </p:sp>
      <p:sp>
        <p:nvSpPr>
          <p:cNvPr id="15" name="Text 12"/>
          <p:cNvSpPr/>
          <p:nvPr/>
        </p:nvSpPr>
        <p:spPr>
          <a:xfrm>
            <a:off x="731520" y="3913632"/>
            <a:ext cx="1005840" cy="228600"/>
          </a:xfrm>
          <a:prstGeom prst="rect">
            <a:avLst/>
          </a:prstGeom>
          <a:noFill/>
          <a:ln/>
        </p:spPr>
        <p:txBody>
          <a:bodyPr wrap="square" lIns="0" tIns="0" rIns="0" bIns="0" rtlCol="0" anchor="ctr"/>
          <a:lstStyle/>
          <a:p>
            <a:pPr indent="0" marL="0">
              <a:buNone/>
            </a:pPr>
            <a:r>
              <a:rPr lang="en-US" sz="1050" b="1" dirty="0">
                <a:solidFill>
                  <a:srgbClr val="0D9488"/>
                </a:solidFill>
                <a:latin typeface="Calibri" pitchFamily="34" charset="0"/>
                <a:ea typeface="Calibri" pitchFamily="34" charset="-122"/>
                <a:cs typeface="Calibri" pitchFamily="34" charset="-120"/>
              </a:rPr>
              <a:t>Best For</a:t>
            </a:r>
            <a:endParaRPr lang="en-US" sz="1050" dirty="0"/>
          </a:p>
        </p:txBody>
      </p:sp>
      <p:sp>
        <p:nvSpPr>
          <p:cNvPr id="16" name="Text 13"/>
          <p:cNvSpPr/>
          <p:nvPr/>
        </p:nvSpPr>
        <p:spPr>
          <a:xfrm>
            <a:off x="1783080" y="3913632"/>
            <a:ext cx="2331720" cy="411480"/>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Explanations, debugging, generating snippets</a:t>
            </a:r>
            <a:endParaRPr lang="en-US" sz="1050" dirty="0"/>
          </a:p>
        </p:txBody>
      </p:sp>
      <p:sp>
        <p:nvSpPr>
          <p:cNvPr id="17" name="Shape 14"/>
          <p:cNvSpPr/>
          <p:nvPr/>
        </p:nvSpPr>
        <p:spPr>
          <a:xfrm>
            <a:off x="4754880" y="1005840"/>
            <a:ext cx="4023360" cy="3566160"/>
          </a:xfrm>
          <a:prstGeom prst="rect">
            <a:avLst/>
          </a:prstGeom>
          <a:solidFill>
            <a:srgbClr val="F0FDFA"/>
          </a:solidFill>
          <a:ln/>
          <a:effectLst>
            <a:outerShdw sx="100000" sy="100000" kx="0" ky="0" algn="bl" rotWithShape="0" blurRad="50800" dist="25400" dir="8100000">
              <a:srgbClr val="000000">
                <a:alpha val="10000"/>
              </a:srgbClr>
            </a:outerShdw>
          </a:effectLst>
        </p:spPr>
      </p:sp>
      <p:sp>
        <p:nvSpPr>
          <p:cNvPr id="18" name="Shape 15"/>
          <p:cNvSpPr/>
          <p:nvPr/>
        </p:nvSpPr>
        <p:spPr>
          <a:xfrm>
            <a:off x="4754880" y="1005840"/>
            <a:ext cx="4023360" cy="457200"/>
          </a:xfrm>
          <a:prstGeom prst="rect">
            <a:avLst/>
          </a:prstGeom>
          <a:solidFill>
            <a:srgbClr val="0D9488"/>
          </a:solidFill>
          <a:ln/>
        </p:spPr>
      </p:sp>
      <p:pic>
        <p:nvPicPr>
          <p:cNvPr id="19" name="Image 1" descr="preencoded.png">    </p:cNvPr>
          <p:cNvPicPr>
            <a:picLocks noChangeAspect="1"/>
          </p:cNvPicPr>
          <p:nvPr/>
        </p:nvPicPr>
        <p:blipFill>
          <a:blip r:embed="rId2"/>
          <a:stretch>
            <a:fillRect/>
          </a:stretch>
        </p:blipFill>
        <p:spPr>
          <a:xfrm>
            <a:off x="4937760" y="1069848"/>
            <a:ext cx="274320" cy="274320"/>
          </a:xfrm>
          <a:prstGeom prst="rect">
            <a:avLst/>
          </a:prstGeom>
        </p:spPr>
      </p:pic>
      <p:sp>
        <p:nvSpPr>
          <p:cNvPr id="20" name="Text 16"/>
          <p:cNvSpPr/>
          <p:nvPr/>
        </p:nvSpPr>
        <p:spPr>
          <a:xfrm>
            <a:off x="5303520" y="1005840"/>
            <a:ext cx="320040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Copilot Agent Mode (Agentic)</a:t>
            </a:r>
            <a:endParaRPr lang="en-US" sz="1400" dirty="0"/>
          </a:p>
        </p:txBody>
      </p:sp>
      <p:sp>
        <p:nvSpPr>
          <p:cNvPr id="21" name="Text 17"/>
          <p:cNvSpPr/>
          <p:nvPr/>
        </p:nvSpPr>
        <p:spPr>
          <a:xfrm>
            <a:off x="4937760" y="1645920"/>
            <a:ext cx="1005840" cy="228600"/>
          </a:xfrm>
          <a:prstGeom prst="rect">
            <a:avLst/>
          </a:prstGeom>
          <a:noFill/>
          <a:ln/>
        </p:spPr>
        <p:txBody>
          <a:bodyPr wrap="square" lIns="0" tIns="0" rIns="0" bIns="0" rtlCol="0" anchor="ctr"/>
          <a:lstStyle/>
          <a:p>
            <a:pPr indent="0" marL="0">
              <a:buNone/>
            </a:pPr>
            <a:r>
              <a:rPr lang="en-US" sz="1050" b="1" dirty="0">
                <a:solidFill>
                  <a:srgbClr val="0F766E"/>
                </a:solidFill>
                <a:latin typeface="Calibri" pitchFamily="34" charset="0"/>
                <a:ea typeface="Calibri" pitchFamily="34" charset="-122"/>
                <a:cs typeface="Calibri" pitchFamily="34" charset="-120"/>
              </a:rPr>
              <a:t>Mode</a:t>
            </a:r>
            <a:endParaRPr lang="en-US" sz="1050" dirty="0"/>
          </a:p>
        </p:txBody>
      </p:sp>
      <p:sp>
        <p:nvSpPr>
          <p:cNvPr id="22" name="Text 18"/>
          <p:cNvSpPr/>
          <p:nvPr/>
        </p:nvSpPr>
        <p:spPr>
          <a:xfrm>
            <a:off x="5989320" y="1645920"/>
            <a:ext cx="2606040" cy="411480"/>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Autonomous multi-step execution in VS Code</a:t>
            </a:r>
            <a:endParaRPr lang="en-US" sz="1050" dirty="0"/>
          </a:p>
        </p:txBody>
      </p:sp>
      <p:sp>
        <p:nvSpPr>
          <p:cNvPr id="23" name="Text 19"/>
          <p:cNvSpPr/>
          <p:nvPr/>
        </p:nvSpPr>
        <p:spPr>
          <a:xfrm>
            <a:off x="4937760" y="2212848"/>
            <a:ext cx="1005840" cy="228600"/>
          </a:xfrm>
          <a:prstGeom prst="rect">
            <a:avLst/>
          </a:prstGeom>
          <a:noFill/>
          <a:ln/>
        </p:spPr>
        <p:txBody>
          <a:bodyPr wrap="square" lIns="0" tIns="0" rIns="0" bIns="0" rtlCol="0" anchor="ctr"/>
          <a:lstStyle/>
          <a:p>
            <a:pPr indent="0" marL="0">
              <a:buNone/>
            </a:pPr>
            <a:r>
              <a:rPr lang="en-US" sz="1050" b="1" dirty="0">
                <a:solidFill>
                  <a:srgbClr val="0F766E"/>
                </a:solidFill>
                <a:latin typeface="Calibri" pitchFamily="34" charset="0"/>
                <a:ea typeface="Calibri" pitchFamily="34" charset="-122"/>
                <a:cs typeface="Calibri" pitchFamily="34" charset="-120"/>
              </a:rPr>
              <a:t>Scope</a:t>
            </a:r>
            <a:endParaRPr lang="en-US" sz="1050" dirty="0"/>
          </a:p>
        </p:txBody>
      </p:sp>
      <p:sp>
        <p:nvSpPr>
          <p:cNvPr id="24" name="Text 20"/>
          <p:cNvSpPr/>
          <p:nvPr/>
        </p:nvSpPr>
        <p:spPr>
          <a:xfrm>
            <a:off x="5989320" y="2212848"/>
            <a:ext cx="2606040" cy="411480"/>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Multi-file edits + terminal commands + error loops</a:t>
            </a:r>
            <a:endParaRPr lang="en-US" sz="1050" dirty="0"/>
          </a:p>
        </p:txBody>
      </p:sp>
      <p:sp>
        <p:nvSpPr>
          <p:cNvPr id="25" name="Text 21"/>
          <p:cNvSpPr/>
          <p:nvPr/>
        </p:nvSpPr>
        <p:spPr>
          <a:xfrm>
            <a:off x="4937760" y="2779776"/>
            <a:ext cx="1005840" cy="228600"/>
          </a:xfrm>
          <a:prstGeom prst="rect">
            <a:avLst/>
          </a:prstGeom>
          <a:noFill/>
          <a:ln/>
        </p:spPr>
        <p:txBody>
          <a:bodyPr wrap="square" lIns="0" tIns="0" rIns="0" bIns="0" rtlCol="0" anchor="ctr"/>
          <a:lstStyle/>
          <a:p>
            <a:pPr indent="0" marL="0">
              <a:buNone/>
            </a:pPr>
            <a:r>
              <a:rPr lang="en-US" sz="1050" b="1" dirty="0">
                <a:solidFill>
                  <a:srgbClr val="0F766E"/>
                </a:solidFill>
                <a:latin typeface="Calibri" pitchFamily="34" charset="0"/>
                <a:ea typeface="Calibri" pitchFamily="34" charset="-122"/>
                <a:cs typeface="Calibri" pitchFamily="34" charset="-120"/>
              </a:rPr>
              <a:t>Human Role</a:t>
            </a:r>
            <a:endParaRPr lang="en-US" sz="1050" dirty="0"/>
          </a:p>
        </p:txBody>
      </p:sp>
      <p:sp>
        <p:nvSpPr>
          <p:cNvPr id="26" name="Text 22"/>
          <p:cNvSpPr/>
          <p:nvPr/>
        </p:nvSpPr>
        <p:spPr>
          <a:xfrm>
            <a:off x="5989320" y="2779776"/>
            <a:ext cx="2606040" cy="411480"/>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Review diffs, accept/reject, verify test results</a:t>
            </a:r>
            <a:endParaRPr lang="en-US" sz="1050" dirty="0"/>
          </a:p>
        </p:txBody>
      </p:sp>
      <p:sp>
        <p:nvSpPr>
          <p:cNvPr id="27" name="Text 23"/>
          <p:cNvSpPr/>
          <p:nvPr/>
        </p:nvSpPr>
        <p:spPr>
          <a:xfrm>
            <a:off x="4937760" y="3346704"/>
            <a:ext cx="1005840" cy="228600"/>
          </a:xfrm>
          <a:prstGeom prst="rect">
            <a:avLst/>
          </a:prstGeom>
          <a:noFill/>
          <a:ln/>
        </p:spPr>
        <p:txBody>
          <a:bodyPr wrap="square" lIns="0" tIns="0" rIns="0" bIns="0" rtlCol="0" anchor="ctr"/>
          <a:lstStyle/>
          <a:p>
            <a:pPr indent="0" marL="0">
              <a:buNone/>
            </a:pPr>
            <a:r>
              <a:rPr lang="en-US" sz="1050" b="1" dirty="0">
                <a:solidFill>
                  <a:srgbClr val="0F766E"/>
                </a:solidFill>
                <a:latin typeface="Calibri" pitchFamily="34" charset="0"/>
                <a:ea typeface="Calibri" pitchFamily="34" charset="-122"/>
                <a:cs typeface="Calibri" pitchFamily="34" charset="-120"/>
              </a:rPr>
              <a:t>Context</a:t>
            </a:r>
            <a:endParaRPr lang="en-US" sz="1050" dirty="0"/>
          </a:p>
        </p:txBody>
      </p:sp>
      <p:sp>
        <p:nvSpPr>
          <p:cNvPr id="28" name="Text 24"/>
          <p:cNvSpPr/>
          <p:nvPr/>
        </p:nvSpPr>
        <p:spPr>
          <a:xfrm>
            <a:off x="5989320" y="3346704"/>
            <a:ext cx="2606040" cy="411480"/>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Full workspace, terminal output, build errors</a:t>
            </a:r>
            <a:endParaRPr lang="en-US" sz="1050" dirty="0"/>
          </a:p>
        </p:txBody>
      </p:sp>
      <p:sp>
        <p:nvSpPr>
          <p:cNvPr id="29" name="Text 25"/>
          <p:cNvSpPr/>
          <p:nvPr/>
        </p:nvSpPr>
        <p:spPr>
          <a:xfrm>
            <a:off x="4937760" y="3913632"/>
            <a:ext cx="1005840" cy="228600"/>
          </a:xfrm>
          <a:prstGeom prst="rect">
            <a:avLst/>
          </a:prstGeom>
          <a:noFill/>
          <a:ln/>
        </p:spPr>
        <p:txBody>
          <a:bodyPr wrap="square" lIns="0" tIns="0" rIns="0" bIns="0" rtlCol="0" anchor="ctr"/>
          <a:lstStyle/>
          <a:p>
            <a:pPr indent="0" marL="0">
              <a:buNone/>
            </a:pPr>
            <a:r>
              <a:rPr lang="en-US" sz="1050" b="1" dirty="0">
                <a:solidFill>
                  <a:srgbClr val="0F766E"/>
                </a:solidFill>
                <a:latin typeface="Calibri" pitchFamily="34" charset="0"/>
                <a:ea typeface="Calibri" pitchFamily="34" charset="-122"/>
                <a:cs typeface="Calibri" pitchFamily="34" charset="-120"/>
              </a:rPr>
              <a:t>Best For</a:t>
            </a:r>
            <a:endParaRPr lang="en-US" sz="1050" dirty="0"/>
          </a:p>
        </p:txBody>
      </p:sp>
      <p:sp>
        <p:nvSpPr>
          <p:cNvPr id="30" name="Text 26"/>
          <p:cNvSpPr/>
          <p:nvPr/>
        </p:nvSpPr>
        <p:spPr>
          <a:xfrm>
            <a:off x="5989320" y="3913632"/>
            <a:ext cx="2606040" cy="411480"/>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Feature implementation, refactors, fixing failing tests</a:t>
            </a:r>
            <a:endParaRPr lang="en-US" sz="1050" dirty="0"/>
          </a:p>
        </p:txBody>
      </p:sp>
      <p:pic>
        <p:nvPicPr>
          <p:cNvPr id="31" name="Image 2" descr="preencoded.png">    </p:cNvPr>
          <p:cNvPicPr>
            <a:picLocks noChangeAspect="1"/>
          </p:cNvPicPr>
          <p:nvPr/>
        </p:nvPicPr>
        <p:blipFill>
          <a:blip r:embed="rId3"/>
          <a:stretch>
            <a:fillRect/>
          </a:stretch>
        </p:blipFill>
        <p:spPr>
          <a:xfrm>
            <a:off x="4389120" y="2560320"/>
            <a:ext cx="274320" cy="274320"/>
          </a:xfrm>
          <a:prstGeom prst="rect">
            <a:avLst/>
          </a:prstGeom>
        </p:spPr>
      </p:pic>
      <p:sp>
        <p:nvSpPr>
          <p:cNvPr id="32" name="Shape 27"/>
          <p:cNvSpPr/>
          <p:nvPr/>
        </p:nvSpPr>
        <p:spPr>
          <a:xfrm>
            <a:off x="548640" y="4663440"/>
            <a:ext cx="8229600" cy="320040"/>
          </a:xfrm>
          <a:prstGeom prst="rect">
            <a:avLst/>
          </a:prstGeom>
          <a:solidFill>
            <a:srgbClr val="F0FDFA"/>
          </a:solidFill>
          <a:ln/>
        </p:spPr>
      </p:sp>
      <p:sp>
        <p:nvSpPr>
          <p:cNvPr id="33" name="Shape 28"/>
          <p:cNvSpPr/>
          <p:nvPr/>
        </p:nvSpPr>
        <p:spPr>
          <a:xfrm>
            <a:off x="548640" y="4663440"/>
            <a:ext cx="54864" cy="320040"/>
          </a:xfrm>
          <a:prstGeom prst="rect">
            <a:avLst/>
          </a:prstGeom>
          <a:solidFill>
            <a:srgbClr val="F59E0B"/>
          </a:solidFill>
          <a:ln/>
        </p:spPr>
      </p:sp>
      <p:sp>
        <p:nvSpPr>
          <p:cNvPr id="34" name="Text 29"/>
          <p:cNvSpPr/>
          <p:nvPr/>
        </p:nvSpPr>
        <p:spPr>
          <a:xfrm>
            <a:off x="777240" y="4663440"/>
            <a:ext cx="7772400" cy="320040"/>
          </a:xfrm>
          <a:prstGeom prst="rect">
            <a:avLst/>
          </a:prstGeom>
          <a:noFill/>
          <a:ln/>
        </p:spPr>
        <p:txBody>
          <a:bodyPr wrap="square" lIns="0" tIns="0" rIns="0" bIns="0" rtlCol="0" anchor="ctr"/>
          <a:lstStyle/>
          <a:p>
            <a:pPr indent="0" marL="0">
              <a:buNone/>
            </a:pPr>
            <a:r>
              <a:rPr lang="en-US" sz="1150" b="1" dirty="0">
                <a:solidFill>
                  <a:srgbClr val="1A2332"/>
                </a:solidFill>
                <a:latin typeface="Calibri" pitchFamily="34" charset="0"/>
                <a:ea typeface="Calibri" pitchFamily="34" charset="-122"/>
                <a:cs typeface="Calibri" pitchFamily="34" charset="-120"/>
              </a:rPr>
              <a:t>Agent Mode is Copilot doing the Research → Plan → Implement loop for you — your job shifts from typing to reviewing.</a:t>
            </a:r>
            <a:endParaRPr lang="en-US" sz="1150" dirty="0"/>
          </a:p>
        </p:txBody>
      </p:sp>
      <p:sp>
        <p:nvSpPr>
          <p:cNvPr id="35" name="Text 30"/>
          <p:cNvSpPr/>
          <p:nvPr/>
        </p:nvSpPr>
        <p:spPr>
          <a:xfrm>
            <a:off x="8229600" y="4754880"/>
            <a:ext cx="64008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5 / 23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indent="0" marL="0">
              <a:buNone/>
            </a:pPr>
            <a:r>
              <a:rPr lang="en-US" sz="2800" b="1" dirty="0">
                <a:solidFill>
                  <a:srgbClr val="1A2332"/>
                </a:solidFill>
                <a:latin typeface="Calibri" pitchFamily="34" charset="0"/>
                <a:ea typeface="Calibri" pitchFamily="34" charset="-122"/>
                <a:cs typeface="Calibri" pitchFamily="34" charset="-120"/>
              </a:rPr>
              <a:t>Local-First Agentic Tools (No Cloud Required)</a:t>
            </a:r>
            <a:endParaRPr lang="en-US" sz="2800" dirty="0"/>
          </a:p>
        </p:txBody>
      </p:sp>
      <p:sp>
        <p:nvSpPr>
          <p:cNvPr id="3" name="Text 1"/>
          <p:cNvSpPr/>
          <p:nvPr/>
        </p:nvSpPr>
        <p:spPr>
          <a:xfrm>
            <a:off x="548640" y="777240"/>
            <a:ext cx="7772400" cy="320040"/>
          </a:xfrm>
          <a:prstGeom prst="rect">
            <a:avLst/>
          </a:prstGeom>
          <a:noFill/>
          <a:ln/>
        </p:spPr>
        <p:txBody>
          <a:bodyPr wrap="square" lIns="0" tIns="0" rIns="0" bIns="0" rtlCol="0" anchor="ctr"/>
          <a:lstStyle/>
          <a:p>
            <a:pPr indent="0" marL="0">
              <a:buNone/>
            </a:pPr>
            <a:r>
              <a:rPr lang="en-US" sz="1200" i="1" dirty="0">
                <a:solidFill>
                  <a:srgbClr val="475569"/>
                </a:solidFill>
                <a:latin typeface="Calibri" pitchFamily="34" charset="0"/>
                <a:ea typeface="Calibri" pitchFamily="34" charset="-122"/>
                <a:cs typeface="Calibri" pitchFamily="34" charset="-120"/>
              </a:rPr>
              <a:t>You don't need a cloud sandbox — these agents run directly on your machine, inside your existing workflow.</a:t>
            </a:r>
            <a:endParaRPr lang="en-US" sz="1200" dirty="0"/>
          </a:p>
        </p:txBody>
      </p:sp>
      <p:sp>
        <p:nvSpPr>
          <p:cNvPr id="4" name="Shape 2"/>
          <p:cNvSpPr/>
          <p:nvPr/>
        </p:nvSpPr>
        <p:spPr>
          <a:xfrm>
            <a:off x="548640" y="1280160"/>
            <a:ext cx="2606040" cy="3108960"/>
          </a:xfrm>
          <a:prstGeom prst="rect">
            <a:avLst/>
          </a:prstGeom>
          <a:solidFill>
            <a:srgbClr val="F1F5F9"/>
          </a:solidFill>
          <a:ln/>
          <a:effectLst>
            <a:outerShdw sx="100000" sy="100000" kx="0" ky="0" algn="bl" rotWithShape="0" blurRad="50800" dist="25400" dir="8100000">
              <a:srgbClr val="000000">
                <a:alpha val="10000"/>
              </a:srgbClr>
            </a:outerShdw>
          </a:effectLst>
        </p:spPr>
      </p:sp>
      <p:sp>
        <p:nvSpPr>
          <p:cNvPr id="5" name="Shape 3"/>
          <p:cNvSpPr/>
          <p:nvPr/>
        </p:nvSpPr>
        <p:spPr>
          <a:xfrm>
            <a:off x="548640" y="1280160"/>
            <a:ext cx="2606040" cy="502920"/>
          </a:xfrm>
          <a:prstGeom prst="rect">
            <a:avLst/>
          </a:prstGeom>
          <a:solidFill>
            <a:srgbClr val="0D9488"/>
          </a:solidFill>
          <a:ln/>
        </p:spPr>
      </p:sp>
      <p:pic>
        <p:nvPicPr>
          <p:cNvPr id="6" name="Image 0" descr="preencoded.png">    </p:cNvPr>
          <p:cNvPicPr>
            <a:picLocks noChangeAspect="1"/>
          </p:cNvPicPr>
          <p:nvPr/>
        </p:nvPicPr>
        <p:blipFill>
          <a:blip r:embed="rId1"/>
          <a:stretch>
            <a:fillRect/>
          </a:stretch>
        </p:blipFill>
        <p:spPr>
          <a:xfrm>
            <a:off x="685800" y="1371600"/>
            <a:ext cx="256032" cy="256032"/>
          </a:xfrm>
          <a:prstGeom prst="rect">
            <a:avLst/>
          </a:prstGeom>
        </p:spPr>
      </p:pic>
      <p:sp>
        <p:nvSpPr>
          <p:cNvPr id="7" name="Text 4"/>
          <p:cNvSpPr/>
          <p:nvPr/>
        </p:nvSpPr>
        <p:spPr>
          <a:xfrm>
            <a:off x="1005840" y="1280160"/>
            <a:ext cx="20116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Copilot Agent Mode</a:t>
            </a:r>
            <a:endParaRPr lang="en-US" sz="1300" dirty="0"/>
          </a:p>
        </p:txBody>
      </p:sp>
      <p:sp>
        <p:nvSpPr>
          <p:cNvPr id="8" name="Text 5"/>
          <p:cNvSpPr/>
          <p:nvPr/>
        </p:nvSpPr>
        <p:spPr>
          <a:xfrm>
            <a:off x="1005840" y="1554480"/>
            <a:ext cx="2011680" cy="201168"/>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VS Code built-in agent</a:t>
            </a:r>
            <a:endParaRPr lang="en-US" sz="950" dirty="0"/>
          </a:p>
        </p:txBody>
      </p:sp>
      <p:sp>
        <p:nvSpPr>
          <p:cNvPr id="9" name="Text 6"/>
          <p:cNvSpPr/>
          <p:nvPr/>
        </p:nvSpPr>
        <p:spPr>
          <a:xfrm>
            <a:off x="685800" y="1965960"/>
            <a:ext cx="182880" cy="228600"/>
          </a:xfrm>
          <a:prstGeom prst="rect">
            <a:avLst/>
          </a:prstGeom>
          <a:noFill/>
          <a:ln/>
        </p:spPr>
        <p:txBody>
          <a:bodyPr wrap="square" lIns="0" tIns="0" rIns="0" bIns="0"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a:t>
            </a:r>
            <a:endParaRPr lang="en-US" sz="1100" dirty="0"/>
          </a:p>
        </p:txBody>
      </p:sp>
      <p:sp>
        <p:nvSpPr>
          <p:cNvPr id="10" name="Text 7"/>
          <p:cNvSpPr/>
          <p:nvPr/>
        </p:nvSpPr>
        <p:spPr>
          <a:xfrm>
            <a:off x="868680" y="1965960"/>
            <a:ext cx="2103120" cy="457200"/>
          </a:xfrm>
          <a:prstGeom prst="rect">
            <a:avLst/>
          </a:prstGeom>
          <a:noFill/>
          <a:ln/>
        </p:spPr>
        <p:txBody>
          <a:bodyPr wrap="square" lIns="0" tIns="0" rIns="0" bIns="0" rtlCol="0" anchor="ctr"/>
          <a:lstStyle/>
          <a:p>
            <a:pPr indent="0" marL="0">
              <a:lnSpc>
                <a:spcPct val="110000"/>
              </a:lnSpc>
              <a:buNone/>
            </a:pPr>
            <a:r>
              <a:rPr lang="en-US" sz="1000" dirty="0">
                <a:solidFill>
                  <a:srgbClr val="334155"/>
                </a:solidFill>
                <a:latin typeface="Calibri" pitchFamily="34" charset="0"/>
                <a:ea typeface="Calibri" pitchFamily="34" charset="-122"/>
                <a:cs typeface="Calibri" pitchFamily="34" charset="-120"/>
              </a:rPr>
              <a:t>Built into GitHub Copilot — no extra install</a:t>
            </a:r>
            <a:endParaRPr lang="en-US" sz="1000" dirty="0"/>
          </a:p>
        </p:txBody>
      </p:sp>
      <p:sp>
        <p:nvSpPr>
          <p:cNvPr id="11" name="Text 8"/>
          <p:cNvSpPr/>
          <p:nvPr/>
        </p:nvSpPr>
        <p:spPr>
          <a:xfrm>
            <a:off x="685800" y="2532888"/>
            <a:ext cx="182880" cy="228600"/>
          </a:xfrm>
          <a:prstGeom prst="rect">
            <a:avLst/>
          </a:prstGeom>
          <a:noFill/>
          <a:ln/>
        </p:spPr>
        <p:txBody>
          <a:bodyPr wrap="square" lIns="0" tIns="0" rIns="0" bIns="0"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a:t>
            </a:r>
            <a:endParaRPr lang="en-US" sz="1100" dirty="0"/>
          </a:p>
        </p:txBody>
      </p:sp>
      <p:sp>
        <p:nvSpPr>
          <p:cNvPr id="12" name="Text 9"/>
          <p:cNvSpPr/>
          <p:nvPr/>
        </p:nvSpPr>
        <p:spPr>
          <a:xfrm>
            <a:off x="868680" y="2532888"/>
            <a:ext cx="2103120" cy="457200"/>
          </a:xfrm>
          <a:prstGeom prst="rect">
            <a:avLst/>
          </a:prstGeom>
          <a:noFill/>
          <a:ln/>
        </p:spPr>
        <p:txBody>
          <a:bodyPr wrap="square" lIns="0" tIns="0" rIns="0" bIns="0" rtlCol="0" anchor="ctr"/>
          <a:lstStyle/>
          <a:p>
            <a:pPr indent="0" marL="0">
              <a:lnSpc>
                <a:spcPct val="110000"/>
              </a:lnSpc>
              <a:buNone/>
            </a:pPr>
            <a:r>
              <a:rPr lang="en-US" sz="1000" dirty="0">
                <a:solidFill>
                  <a:srgbClr val="334155"/>
                </a:solidFill>
                <a:latin typeface="Calibri" pitchFamily="34" charset="0"/>
                <a:ea typeface="Calibri" pitchFamily="34" charset="-122"/>
                <a:cs typeface="Calibri" pitchFamily="34" charset="-120"/>
              </a:rPr>
              <a:t>Plans multi-file changes, runs terminal commands</a:t>
            </a:r>
            <a:endParaRPr lang="en-US" sz="1000" dirty="0"/>
          </a:p>
        </p:txBody>
      </p:sp>
      <p:sp>
        <p:nvSpPr>
          <p:cNvPr id="13" name="Text 10"/>
          <p:cNvSpPr/>
          <p:nvPr/>
        </p:nvSpPr>
        <p:spPr>
          <a:xfrm>
            <a:off x="685800" y="3099816"/>
            <a:ext cx="182880" cy="228600"/>
          </a:xfrm>
          <a:prstGeom prst="rect">
            <a:avLst/>
          </a:prstGeom>
          <a:noFill/>
          <a:ln/>
        </p:spPr>
        <p:txBody>
          <a:bodyPr wrap="square" lIns="0" tIns="0" rIns="0" bIns="0"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a:t>
            </a:r>
            <a:endParaRPr lang="en-US" sz="1100" dirty="0"/>
          </a:p>
        </p:txBody>
      </p:sp>
      <p:sp>
        <p:nvSpPr>
          <p:cNvPr id="14" name="Text 11"/>
          <p:cNvSpPr/>
          <p:nvPr/>
        </p:nvSpPr>
        <p:spPr>
          <a:xfrm>
            <a:off x="868680" y="3099816"/>
            <a:ext cx="2103120" cy="457200"/>
          </a:xfrm>
          <a:prstGeom prst="rect">
            <a:avLst/>
          </a:prstGeom>
          <a:noFill/>
          <a:ln/>
        </p:spPr>
        <p:txBody>
          <a:bodyPr wrap="square" lIns="0" tIns="0" rIns="0" bIns="0" rtlCol="0" anchor="ctr"/>
          <a:lstStyle/>
          <a:p>
            <a:pPr indent="0" marL="0">
              <a:lnSpc>
                <a:spcPct val="110000"/>
              </a:lnSpc>
              <a:buNone/>
            </a:pPr>
            <a:r>
              <a:rPr lang="en-US" sz="1000" dirty="0">
                <a:solidFill>
                  <a:srgbClr val="334155"/>
                </a:solidFill>
                <a:latin typeface="Calibri" pitchFamily="34" charset="0"/>
                <a:ea typeface="Calibri" pitchFamily="34" charset="-122"/>
                <a:cs typeface="Calibri" pitchFamily="34" charset="-120"/>
              </a:rPr>
              <a:t>Self-heals: detects errors and iterates automatically</a:t>
            </a:r>
            <a:endParaRPr lang="en-US" sz="1000" dirty="0"/>
          </a:p>
        </p:txBody>
      </p:sp>
      <p:sp>
        <p:nvSpPr>
          <p:cNvPr id="15" name="Text 12"/>
          <p:cNvSpPr/>
          <p:nvPr/>
        </p:nvSpPr>
        <p:spPr>
          <a:xfrm>
            <a:off x="685800" y="3666744"/>
            <a:ext cx="182880" cy="228600"/>
          </a:xfrm>
          <a:prstGeom prst="rect">
            <a:avLst/>
          </a:prstGeom>
          <a:noFill/>
          <a:ln/>
        </p:spPr>
        <p:txBody>
          <a:bodyPr wrap="square" lIns="0" tIns="0" rIns="0" bIns="0"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a:t>
            </a:r>
            <a:endParaRPr lang="en-US" sz="1100" dirty="0"/>
          </a:p>
        </p:txBody>
      </p:sp>
      <p:sp>
        <p:nvSpPr>
          <p:cNvPr id="16" name="Text 13"/>
          <p:cNvSpPr/>
          <p:nvPr/>
        </p:nvSpPr>
        <p:spPr>
          <a:xfrm>
            <a:off x="868680" y="3666744"/>
            <a:ext cx="2103120" cy="457200"/>
          </a:xfrm>
          <a:prstGeom prst="rect">
            <a:avLst/>
          </a:prstGeom>
          <a:noFill/>
          <a:ln/>
        </p:spPr>
        <p:txBody>
          <a:bodyPr wrap="square" lIns="0" tIns="0" rIns="0" bIns="0" rtlCol="0" anchor="ctr"/>
          <a:lstStyle/>
          <a:p>
            <a:pPr indent="0" marL="0">
              <a:lnSpc>
                <a:spcPct val="110000"/>
              </a:lnSpc>
              <a:buNone/>
            </a:pPr>
            <a:r>
              <a:rPr lang="en-US" sz="1000" dirty="0">
                <a:solidFill>
                  <a:srgbClr val="334155"/>
                </a:solidFill>
                <a:latin typeface="Calibri" pitchFamily="34" charset="0"/>
                <a:ea typeface="Calibri" pitchFamily="34" charset="-122"/>
                <a:cs typeface="Calibri" pitchFamily="34" charset="-120"/>
              </a:rPr>
              <a:t>Review diffs inline before accepting changes</a:t>
            </a:r>
            <a:endParaRPr lang="en-US" sz="1000" dirty="0"/>
          </a:p>
        </p:txBody>
      </p:sp>
      <p:sp>
        <p:nvSpPr>
          <p:cNvPr id="17" name="Shape 14"/>
          <p:cNvSpPr/>
          <p:nvPr/>
        </p:nvSpPr>
        <p:spPr>
          <a:xfrm>
            <a:off x="3383280" y="1280160"/>
            <a:ext cx="2606040" cy="3108960"/>
          </a:xfrm>
          <a:prstGeom prst="rect">
            <a:avLst/>
          </a:prstGeom>
          <a:solidFill>
            <a:srgbClr val="F1F5F9"/>
          </a:solidFill>
          <a:ln/>
          <a:effectLst>
            <a:outerShdw sx="100000" sy="100000" kx="0" ky="0" algn="bl" rotWithShape="0" blurRad="50800" dist="25400" dir="8100000">
              <a:srgbClr val="000000">
                <a:alpha val="10000"/>
              </a:srgbClr>
            </a:outerShdw>
          </a:effectLst>
        </p:spPr>
      </p:sp>
      <p:sp>
        <p:nvSpPr>
          <p:cNvPr id="18" name="Shape 15"/>
          <p:cNvSpPr/>
          <p:nvPr/>
        </p:nvSpPr>
        <p:spPr>
          <a:xfrm>
            <a:off x="3383280" y="1280160"/>
            <a:ext cx="2606040" cy="502920"/>
          </a:xfrm>
          <a:prstGeom prst="rect">
            <a:avLst/>
          </a:prstGeom>
          <a:solidFill>
            <a:srgbClr val="1A2332"/>
          </a:solidFill>
          <a:ln/>
        </p:spPr>
      </p:sp>
      <p:pic>
        <p:nvPicPr>
          <p:cNvPr id="19" name="Image 1" descr="preencoded.png">    </p:cNvPr>
          <p:cNvPicPr>
            <a:picLocks noChangeAspect="1"/>
          </p:cNvPicPr>
          <p:nvPr/>
        </p:nvPicPr>
        <p:blipFill>
          <a:blip r:embed="rId2"/>
          <a:stretch>
            <a:fillRect/>
          </a:stretch>
        </p:blipFill>
        <p:spPr>
          <a:xfrm>
            <a:off x="3520440" y="1371600"/>
            <a:ext cx="256032" cy="256032"/>
          </a:xfrm>
          <a:prstGeom prst="rect">
            <a:avLst/>
          </a:prstGeom>
        </p:spPr>
      </p:pic>
      <p:sp>
        <p:nvSpPr>
          <p:cNvPr id="20" name="Text 16"/>
          <p:cNvSpPr/>
          <p:nvPr/>
        </p:nvSpPr>
        <p:spPr>
          <a:xfrm>
            <a:off x="3840480" y="1280160"/>
            <a:ext cx="20116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Cursor (Agent Mode)</a:t>
            </a:r>
            <a:endParaRPr lang="en-US" sz="1300" dirty="0"/>
          </a:p>
        </p:txBody>
      </p:sp>
      <p:sp>
        <p:nvSpPr>
          <p:cNvPr id="21" name="Text 17"/>
          <p:cNvSpPr/>
          <p:nvPr/>
        </p:nvSpPr>
        <p:spPr>
          <a:xfrm>
            <a:off x="3840480" y="1554480"/>
            <a:ext cx="2011680" cy="201168"/>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IDE-integrated agent</a:t>
            </a:r>
            <a:endParaRPr lang="en-US" sz="950" dirty="0"/>
          </a:p>
        </p:txBody>
      </p:sp>
      <p:sp>
        <p:nvSpPr>
          <p:cNvPr id="22" name="Text 18"/>
          <p:cNvSpPr/>
          <p:nvPr/>
        </p:nvSpPr>
        <p:spPr>
          <a:xfrm>
            <a:off x="3520440" y="1965960"/>
            <a:ext cx="182880" cy="228600"/>
          </a:xfrm>
          <a:prstGeom prst="rect">
            <a:avLst/>
          </a:prstGeom>
          <a:noFill/>
          <a:ln/>
        </p:spPr>
        <p:txBody>
          <a:bodyPr wrap="square" lIns="0" tIns="0" rIns="0" bIns="0"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a:t>
            </a:r>
            <a:endParaRPr lang="en-US" sz="1100" dirty="0"/>
          </a:p>
        </p:txBody>
      </p:sp>
      <p:sp>
        <p:nvSpPr>
          <p:cNvPr id="23" name="Text 19"/>
          <p:cNvSpPr/>
          <p:nvPr/>
        </p:nvSpPr>
        <p:spPr>
          <a:xfrm>
            <a:off x="3703320" y="1965960"/>
            <a:ext cx="2103120" cy="457200"/>
          </a:xfrm>
          <a:prstGeom prst="rect">
            <a:avLst/>
          </a:prstGeom>
          <a:noFill/>
          <a:ln/>
        </p:spPr>
        <p:txBody>
          <a:bodyPr wrap="square" lIns="0" tIns="0" rIns="0" bIns="0" rtlCol="0" anchor="ctr"/>
          <a:lstStyle/>
          <a:p>
            <a:pPr indent="0" marL="0">
              <a:lnSpc>
                <a:spcPct val="110000"/>
              </a:lnSpc>
              <a:buNone/>
            </a:pPr>
            <a:r>
              <a:rPr lang="en-US" sz="1000" dirty="0">
                <a:solidFill>
                  <a:srgbClr val="334155"/>
                </a:solidFill>
                <a:latin typeface="Calibri" pitchFamily="34" charset="0"/>
                <a:ea typeface="Calibri" pitchFamily="34" charset="-122"/>
                <a:cs typeface="Calibri" pitchFamily="34" charset="-120"/>
              </a:rPr>
              <a:t>Built into VS Code fork — familiar environment</a:t>
            </a:r>
            <a:endParaRPr lang="en-US" sz="1000" dirty="0"/>
          </a:p>
        </p:txBody>
      </p:sp>
      <p:sp>
        <p:nvSpPr>
          <p:cNvPr id="24" name="Text 20"/>
          <p:cNvSpPr/>
          <p:nvPr/>
        </p:nvSpPr>
        <p:spPr>
          <a:xfrm>
            <a:off x="3520440" y="2532888"/>
            <a:ext cx="182880" cy="228600"/>
          </a:xfrm>
          <a:prstGeom prst="rect">
            <a:avLst/>
          </a:prstGeom>
          <a:noFill/>
          <a:ln/>
        </p:spPr>
        <p:txBody>
          <a:bodyPr wrap="square" lIns="0" tIns="0" rIns="0" bIns="0"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a:t>
            </a:r>
            <a:endParaRPr lang="en-US" sz="1100" dirty="0"/>
          </a:p>
        </p:txBody>
      </p:sp>
      <p:sp>
        <p:nvSpPr>
          <p:cNvPr id="25" name="Text 21"/>
          <p:cNvSpPr/>
          <p:nvPr/>
        </p:nvSpPr>
        <p:spPr>
          <a:xfrm>
            <a:off x="3703320" y="2532888"/>
            <a:ext cx="2103120" cy="457200"/>
          </a:xfrm>
          <a:prstGeom prst="rect">
            <a:avLst/>
          </a:prstGeom>
          <a:noFill/>
          <a:ln/>
        </p:spPr>
        <p:txBody>
          <a:bodyPr wrap="square" lIns="0" tIns="0" rIns="0" bIns="0" rtlCol="0" anchor="ctr"/>
          <a:lstStyle/>
          <a:p>
            <a:pPr indent="0" marL="0">
              <a:lnSpc>
                <a:spcPct val="110000"/>
              </a:lnSpc>
              <a:buNone/>
            </a:pPr>
            <a:r>
              <a:rPr lang="en-US" sz="1000" dirty="0">
                <a:solidFill>
                  <a:srgbClr val="334155"/>
                </a:solidFill>
                <a:latin typeface="Calibri" pitchFamily="34" charset="0"/>
                <a:ea typeface="Calibri" pitchFamily="34" charset="-122"/>
                <a:cs typeface="Calibri" pitchFamily="34" charset="-120"/>
              </a:rPr>
              <a:t>Multi-file editing with inline diff review</a:t>
            </a:r>
            <a:endParaRPr lang="en-US" sz="1000" dirty="0"/>
          </a:p>
        </p:txBody>
      </p:sp>
      <p:sp>
        <p:nvSpPr>
          <p:cNvPr id="26" name="Text 22"/>
          <p:cNvSpPr/>
          <p:nvPr/>
        </p:nvSpPr>
        <p:spPr>
          <a:xfrm>
            <a:off x="3520440" y="3099816"/>
            <a:ext cx="182880" cy="228600"/>
          </a:xfrm>
          <a:prstGeom prst="rect">
            <a:avLst/>
          </a:prstGeom>
          <a:noFill/>
          <a:ln/>
        </p:spPr>
        <p:txBody>
          <a:bodyPr wrap="square" lIns="0" tIns="0" rIns="0" bIns="0"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a:t>
            </a:r>
            <a:endParaRPr lang="en-US" sz="1100" dirty="0"/>
          </a:p>
        </p:txBody>
      </p:sp>
      <p:sp>
        <p:nvSpPr>
          <p:cNvPr id="27" name="Text 23"/>
          <p:cNvSpPr/>
          <p:nvPr/>
        </p:nvSpPr>
        <p:spPr>
          <a:xfrm>
            <a:off x="3703320" y="3099816"/>
            <a:ext cx="2103120" cy="457200"/>
          </a:xfrm>
          <a:prstGeom prst="rect">
            <a:avLst/>
          </a:prstGeom>
          <a:noFill/>
          <a:ln/>
        </p:spPr>
        <p:txBody>
          <a:bodyPr wrap="square" lIns="0" tIns="0" rIns="0" bIns="0" rtlCol="0" anchor="ctr"/>
          <a:lstStyle/>
          <a:p>
            <a:pPr indent="0" marL="0">
              <a:lnSpc>
                <a:spcPct val="110000"/>
              </a:lnSpc>
              <a:buNone/>
            </a:pPr>
            <a:r>
              <a:rPr lang="en-US" sz="1000" dirty="0">
                <a:solidFill>
                  <a:srgbClr val="334155"/>
                </a:solidFill>
                <a:latin typeface="Calibri" pitchFamily="34" charset="0"/>
                <a:ea typeface="Calibri" pitchFamily="34" charset="-122"/>
                <a:cs typeface="Calibri" pitchFamily="34" charset="-120"/>
              </a:rPr>
              <a:t>Auto-runs terminal commands &amp; test suites</a:t>
            </a:r>
            <a:endParaRPr lang="en-US" sz="1000" dirty="0"/>
          </a:p>
        </p:txBody>
      </p:sp>
      <p:sp>
        <p:nvSpPr>
          <p:cNvPr id="28" name="Text 24"/>
          <p:cNvSpPr/>
          <p:nvPr/>
        </p:nvSpPr>
        <p:spPr>
          <a:xfrm>
            <a:off x="3520440" y="3666744"/>
            <a:ext cx="182880" cy="228600"/>
          </a:xfrm>
          <a:prstGeom prst="rect">
            <a:avLst/>
          </a:prstGeom>
          <a:noFill/>
          <a:ln/>
        </p:spPr>
        <p:txBody>
          <a:bodyPr wrap="square" lIns="0" tIns="0" rIns="0" bIns="0"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a:t>
            </a:r>
            <a:endParaRPr lang="en-US" sz="1100" dirty="0"/>
          </a:p>
        </p:txBody>
      </p:sp>
      <p:sp>
        <p:nvSpPr>
          <p:cNvPr id="29" name="Text 25"/>
          <p:cNvSpPr/>
          <p:nvPr/>
        </p:nvSpPr>
        <p:spPr>
          <a:xfrm>
            <a:off x="3703320" y="3666744"/>
            <a:ext cx="2103120" cy="457200"/>
          </a:xfrm>
          <a:prstGeom prst="rect">
            <a:avLst/>
          </a:prstGeom>
          <a:noFill/>
          <a:ln/>
        </p:spPr>
        <p:txBody>
          <a:bodyPr wrap="square" lIns="0" tIns="0" rIns="0" bIns="0" rtlCol="0" anchor="ctr"/>
          <a:lstStyle/>
          <a:p>
            <a:pPr indent="0" marL="0">
              <a:lnSpc>
                <a:spcPct val="110000"/>
              </a:lnSpc>
              <a:buNone/>
            </a:pPr>
            <a:r>
              <a:rPr lang="en-US" sz="1000" dirty="0">
                <a:solidFill>
                  <a:srgbClr val="334155"/>
                </a:solidFill>
                <a:latin typeface="Calibri" pitchFamily="34" charset="0"/>
                <a:ea typeface="Calibri" pitchFamily="34" charset="-122"/>
                <a:cs typeface="Calibri" pitchFamily="34" charset="-120"/>
              </a:rPr>
              <a:t>Composer mode for multi-step task planning</a:t>
            </a:r>
            <a:endParaRPr lang="en-US" sz="1000" dirty="0"/>
          </a:p>
        </p:txBody>
      </p:sp>
      <p:sp>
        <p:nvSpPr>
          <p:cNvPr id="30" name="Shape 26"/>
          <p:cNvSpPr/>
          <p:nvPr/>
        </p:nvSpPr>
        <p:spPr>
          <a:xfrm>
            <a:off x="6217920" y="1280160"/>
            <a:ext cx="2606040" cy="3108960"/>
          </a:xfrm>
          <a:prstGeom prst="rect">
            <a:avLst/>
          </a:prstGeom>
          <a:solidFill>
            <a:srgbClr val="F1F5F9"/>
          </a:solidFill>
          <a:ln/>
          <a:effectLst>
            <a:outerShdw sx="100000" sy="100000" kx="0" ky="0" algn="bl" rotWithShape="0" blurRad="50800" dist="25400" dir="8100000">
              <a:srgbClr val="000000">
                <a:alpha val="10000"/>
              </a:srgbClr>
            </a:outerShdw>
          </a:effectLst>
        </p:spPr>
      </p:sp>
      <p:sp>
        <p:nvSpPr>
          <p:cNvPr id="31" name="Shape 27"/>
          <p:cNvSpPr/>
          <p:nvPr/>
        </p:nvSpPr>
        <p:spPr>
          <a:xfrm>
            <a:off x="6217920" y="1280160"/>
            <a:ext cx="2606040" cy="502920"/>
          </a:xfrm>
          <a:prstGeom prst="rect">
            <a:avLst/>
          </a:prstGeom>
          <a:solidFill>
            <a:srgbClr val="0F766E"/>
          </a:solidFill>
          <a:ln/>
        </p:spPr>
      </p:sp>
      <p:pic>
        <p:nvPicPr>
          <p:cNvPr id="32" name="Image 2" descr="preencoded.png">    </p:cNvPr>
          <p:cNvPicPr>
            <a:picLocks noChangeAspect="1"/>
          </p:cNvPicPr>
          <p:nvPr/>
        </p:nvPicPr>
        <p:blipFill>
          <a:blip r:embed="rId3"/>
          <a:stretch>
            <a:fillRect/>
          </a:stretch>
        </p:blipFill>
        <p:spPr>
          <a:xfrm>
            <a:off x="6355080" y="1371600"/>
            <a:ext cx="256032" cy="256032"/>
          </a:xfrm>
          <a:prstGeom prst="rect">
            <a:avLst/>
          </a:prstGeom>
        </p:spPr>
      </p:pic>
      <p:sp>
        <p:nvSpPr>
          <p:cNvPr id="33" name="Text 28"/>
          <p:cNvSpPr/>
          <p:nvPr/>
        </p:nvSpPr>
        <p:spPr>
          <a:xfrm>
            <a:off x="6675120" y="1280160"/>
            <a:ext cx="20116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Aider (Open Source)</a:t>
            </a:r>
            <a:endParaRPr lang="en-US" sz="1300" dirty="0"/>
          </a:p>
        </p:txBody>
      </p:sp>
      <p:sp>
        <p:nvSpPr>
          <p:cNvPr id="34" name="Text 29"/>
          <p:cNvSpPr/>
          <p:nvPr/>
        </p:nvSpPr>
        <p:spPr>
          <a:xfrm>
            <a:off x="6675120" y="1554480"/>
            <a:ext cx="2011680" cy="201168"/>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Git-aware pair programmer</a:t>
            </a:r>
            <a:endParaRPr lang="en-US" sz="950" dirty="0"/>
          </a:p>
        </p:txBody>
      </p:sp>
      <p:sp>
        <p:nvSpPr>
          <p:cNvPr id="35" name="Text 30"/>
          <p:cNvSpPr/>
          <p:nvPr/>
        </p:nvSpPr>
        <p:spPr>
          <a:xfrm>
            <a:off x="6355080" y="1965960"/>
            <a:ext cx="182880" cy="228600"/>
          </a:xfrm>
          <a:prstGeom prst="rect">
            <a:avLst/>
          </a:prstGeom>
          <a:noFill/>
          <a:ln/>
        </p:spPr>
        <p:txBody>
          <a:bodyPr wrap="square" lIns="0" tIns="0" rIns="0" bIns="0"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a:t>
            </a:r>
            <a:endParaRPr lang="en-US" sz="1100" dirty="0"/>
          </a:p>
        </p:txBody>
      </p:sp>
      <p:sp>
        <p:nvSpPr>
          <p:cNvPr id="36" name="Text 31"/>
          <p:cNvSpPr/>
          <p:nvPr/>
        </p:nvSpPr>
        <p:spPr>
          <a:xfrm>
            <a:off x="6537960" y="1965960"/>
            <a:ext cx="2103120" cy="457200"/>
          </a:xfrm>
          <a:prstGeom prst="rect">
            <a:avLst/>
          </a:prstGeom>
          <a:noFill/>
          <a:ln/>
        </p:spPr>
        <p:txBody>
          <a:bodyPr wrap="square" lIns="0" tIns="0" rIns="0" bIns="0" rtlCol="0" anchor="ctr"/>
          <a:lstStyle/>
          <a:p>
            <a:pPr indent="0" marL="0">
              <a:lnSpc>
                <a:spcPct val="110000"/>
              </a:lnSpc>
              <a:buNone/>
            </a:pPr>
            <a:r>
              <a:rPr lang="en-US" sz="1000" dirty="0">
                <a:solidFill>
                  <a:srgbClr val="334155"/>
                </a:solidFill>
                <a:latin typeface="Calibri" pitchFamily="34" charset="0"/>
                <a:ea typeface="Calibri" pitchFamily="34" charset="-122"/>
                <a:cs typeface="Calibri" pitchFamily="34" charset="-120"/>
              </a:rPr>
              <a:t>Open-source CLI, works with any LLM backend</a:t>
            </a:r>
            <a:endParaRPr lang="en-US" sz="1000" dirty="0"/>
          </a:p>
        </p:txBody>
      </p:sp>
      <p:sp>
        <p:nvSpPr>
          <p:cNvPr id="37" name="Text 32"/>
          <p:cNvSpPr/>
          <p:nvPr/>
        </p:nvSpPr>
        <p:spPr>
          <a:xfrm>
            <a:off x="6355080" y="2532888"/>
            <a:ext cx="182880" cy="228600"/>
          </a:xfrm>
          <a:prstGeom prst="rect">
            <a:avLst/>
          </a:prstGeom>
          <a:noFill/>
          <a:ln/>
        </p:spPr>
        <p:txBody>
          <a:bodyPr wrap="square" lIns="0" tIns="0" rIns="0" bIns="0"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a:t>
            </a:r>
            <a:endParaRPr lang="en-US" sz="1100" dirty="0"/>
          </a:p>
        </p:txBody>
      </p:sp>
      <p:sp>
        <p:nvSpPr>
          <p:cNvPr id="38" name="Text 33"/>
          <p:cNvSpPr/>
          <p:nvPr/>
        </p:nvSpPr>
        <p:spPr>
          <a:xfrm>
            <a:off x="6537960" y="2532888"/>
            <a:ext cx="2103120" cy="457200"/>
          </a:xfrm>
          <a:prstGeom prst="rect">
            <a:avLst/>
          </a:prstGeom>
          <a:noFill/>
          <a:ln/>
        </p:spPr>
        <p:txBody>
          <a:bodyPr wrap="square" lIns="0" tIns="0" rIns="0" bIns="0" rtlCol="0" anchor="ctr"/>
          <a:lstStyle/>
          <a:p>
            <a:pPr indent="0" marL="0">
              <a:lnSpc>
                <a:spcPct val="110000"/>
              </a:lnSpc>
              <a:buNone/>
            </a:pPr>
            <a:r>
              <a:rPr lang="en-US" sz="1000" dirty="0">
                <a:solidFill>
                  <a:srgbClr val="334155"/>
                </a:solidFill>
                <a:latin typeface="Calibri" pitchFamily="34" charset="0"/>
                <a:ea typeface="Calibri" pitchFamily="34" charset="-122"/>
                <a:cs typeface="Calibri" pitchFamily="34" charset="-120"/>
              </a:rPr>
              <a:t>Auto-commits each change for easy revert</a:t>
            </a:r>
            <a:endParaRPr lang="en-US" sz="1000" dirty="0"/>
          </a:p>
        </p:txBody>
      </p:sp>
      <p:sp>
        <p:nvSpPr>
          <p:cNvPr id="39" name="Text 34"/>
          <p:cNvSpPr/>
          <p:nvPr/>
        </p:nvSpPr>
        <p:spPr>
          <a:xfrm>
            <a:off x="6355080" y="3099816"/>
            <a:ext cx="182880" cy="228600"/>
          </a:xfrm>
          <a:prstGeom prst="rect">
            <a:avLst/>
          </a:prstGeom>
          <a:noFill/>
          <a:ln/>
        </p:spPr>
        <p:txBody>
          <a:bodyPr wrap="square" lIns="0" tIns="0" rIns="0" bIns="0"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a:t>
            </a:r>
            <a:endParaRPr lang="en-US" sz="1100" dirty="0"/>
          </a:p>
        </p:txBody>
      </p:sp>
      <p:sp>
        <p:nvSpPr>
          <p:cNvPr id="40" name="Text 35"/>
          <p:cNvSpPr/>
          <p:nvPr/>
        </p:nvSpPr>
        <p:spPr>
          <a:xfrm>
            <a:off x="6537960" y="3099816"/>
            <a:ext cx="2103120" cy="457200"/>
          </a:xfrm>
          <a:prstGeom prst="rect">
            <a:avLst/>
          </a:prstGeom>
          <a:noFill/>
          <a:ln/>
        </p:spPr>
        <p:txBody>
          <a:bodyPr wrap="square" lIns="0" tIns="0" rIns="0" bIns="0" rtlCol="0" anchor="ctr"/>
          <a:lstStyle/>
          <a:p>
            <a:pPr indent="0" marL="0">
              <a:lnSpc>
                <a:spcPct val="110000"/>
              </a:lnSpc>
              <a:buNone/>
            </a:pPr>
            <a:r>
              <a:rPr lang="en-US" sz="1000" dirty="0">
                <a:solidFill>
                  <a:srgbClr val="334155"/>
                </a:solidFill>
                <a:latin typeface="Calibri" pitchFamily="34" charset="0"/>
                <a:ea typeface="Calibri" pitchFamily="34" charset="-122"/>
                <a:cs typeface="Calibri" pitchFamily="34" charset="-120"/>
              </a:rPr>
              <a:t>Maps your repo to build smart context</a:t>
            </a:r>
            <a:endParaRPr lang="en-US" sz="1000" dirty="0"/>
          </a:p>
        </p:txBody>
      </p:sp>
      <p:sp>
        <p:nvSpPr>
          <p:cNvPr id="41" name="Text 36"/>
          <p:cNvSpPr/>
          <p:nvPr/>
        </p:nvSpPr>
        <p:spPr>
          <a:xfrm>
            <a:off x="6355080" y="3666744"/>
            <a:ext cx="182880" cy="228600"/>
          </a:xfrm>
          <a:prstGeom prst="rect">
            <a:avLst/>
          </a:prstGeom>
          <a:noFill/>
          <a:ln/>
        </p:spPr>
        <p:txBody>
          <a:bodyPr wrap="square" lIns="0" tIns="0" rIns="0" bIns="0"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a:t>
            </a:r>
            <a:endParaRPr lang="en-US" sz="1100" dirty="0"/>
          </a:p>
        </p:txBody>
      </p:sp>
      <p:sp>
        <p:nvSpPr>
          <p:cNvPr id="42" name="Text 37"/>
          <p:cNvSpPr/>
          <p:nvPr/>
        </p:nvSpPr>
        <p:spPr>
          <a:xfrm>
            <a:off x="6537960" y="3666744"/>
            <a:ext cx="2103120" cy="457200"/>
          </a:xfrm>
          <a:prstGeom prst="rect">
            <a:avLst/>
          </a:prstGeom>
          <a:noFill/>
          <a:ln/>
        </p:spPr>
        <p:txBody>
          <a:bodyPr wrap="square" lIns="0" tIns="0" rIns="0" bIns="0" rtlCol="0" anchor="ctr"/>
          <a:lstStyle/>
          <a:p>
            <a:pPr indent="0" marL="0">
              <a:lnSpc>
                <a:spcPct val="110000"/>
              </a:lnSpc>
              <a:buNone/>
            </a:pPr>
            <a:r>
              <a:rPr lang="en-US" sz="1000" dirty="0">
                <a:solidFill>
                  <a:srgbClr val="334155"/>
                </a:solidFill>
                <a:latin typeface="Calibri" pitchFamily="34" charset="0"/>
                <a:ea typeface="Calibri" pitchFamily="34" charset="-122"/>
                <a:cs typeface="Calibri" pitchFamily="34" charset="-120"/>
              </a:rPr>
              <a:t>Bring your own API key — full control</a:t>
            </a:r>
            <a:endParaRPr lang="en-US" sz="1000" dirty="0"/>
          </a:p>
        </p:txBody>
      </p:sp>
      <p:sp>
        <p:nvSpPr>
          <p:cNvPr id="43" name="Shape 38"/>
          <p:cNvSpPr/>
          <p:nvPr/>
        </p:nvSpPr>
        <p:spPr>
          <a:xfrm>
            <a:off x="548640" y="4526280"/>
            <a:ext cx="8229600" cy="411480"/>
          </a:xfrm>
          <a:prstGeom prst="rect">
            <a:avLst/>
          </a:prstGeom>
          <a:solidFill>
            <a:srgbClr val="F0FDFA"/>
          </a:solidFill>
          <a:ln/>
        </p:spPr>
      </p:sp>
      <p:sp>
        <p:nvSpPr>
          <p:cNvPr id="44" name="Shape 39"/>
          <p:cNvSpPr/>
          <p:nvPr/>
        </p:nvSpPr>
        <p:spPr>
          <a:xfrm>
            <a:off x="548640" y="4526280"/>
            <a:ext cx="54864" cy="411480"/>
          </a:xfrm>
          <a:prstGeom prst="rect">
            <a:avLst/>
          </a:prstGeom>
          <a:solidFill>
            <a:srgbClr val="0D9488"/>
          </a:solidFill>
          <a:ln/>
        </p:spPr>
      </p:sp>
      <p:sp>
        <p:nvSpPr>
          <p:cNvPr id="45" name="Text 40"/>
          <p:cNvSpPr/>
          <p:nvPr/>
        </p:nvSpPr>
        <p:spPr>
          <a:xfrm>
            <a:off x="777240" y="4526280"/>
            <a:ext cx="7772400" cy="411480"/>
          </a:xfrm>
          <a:prstGeom prst="rect">
            <a:avLst/>
          </a:prstGeom>
          <a:noFill/>
          <a:ln/>
        </p:spPr>
        <p:txBody>
          <a:bodyPr wrap="square" lIns="0" tIns="0" rIns="0" bIns="0" rtlCol="0" anchor="ctr"/>
          <a:lstStyle/>
          <a:p>
            <a:pPr indent="0" marL="0">
              <a:buNone/>
            </a:pPr>
            <a:r>
              <a:rPr lang="en-US" sz="1150" b="1" dirty="0">
                <a:solidFill>
                  <a:srgbClr val="1A2332"/>
                </a:solidFill>
                <a:latin typeface="Calibri" pitchFamily="34" charset="0"/>
                <a:ea typeface="Calibri" pitchFamily="34" charset="-122"/>
                <a:cs typeface="Calibri" pitchFamily="34" charset="-120"/>
              </a:rPr>
              <a:t>All three follow the same pattern: agent reads context → plans changes → edits files → runs tests — all on your local machine.</a:t>
            </a:r>
            <a:endParaRPr lang="en-US" sz="1150" dirty="0"/>
          </a:p>
        </p:txBody>
      </p:sp>
      <p:sp>
        <p:nvSpPr>
          <p:cNvPr id="46" name="Text 41"/>
          <p:cNvSpPr/>
          <p:nvPr/>
        </p:nvSpPr>
        <p:spPr>
          <a:xfrm>
            <a:off x="8229600" y="4754880"/>
            <a:ext cx="64008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6 / 23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indent="0" marL="0">
              <a:buNone/>
            </a:pPr>
            <a:r>
              <a:rPr lang="en-US" sz="3200" b="1" dirty="0">
                <a:solidFill>
                  <a:srgbClr val="1A2332"/>
                </a:solidFill>
                <a:latin typeface="Calibri" pitchFamily="34" charset="0"/>
                <a:ea typeface="Calibri" pitchFamily="34" charset="-122"/>
                <a:cs typeface="Calibri" pitchFamily="34" charset="-120"/>
              </a:rPr>
              <a:t>The Junior Developer Mental Model</a:t>
            </a:r>
            <a:endParaRPr lang="en-US" sz="3200" dirty="0"/>
          </a:p>
        </p:txBody>
      </p:sp>
      <p:sp>
        <p:nvSpPr>
          <p:cNvPr id="3" name="Shape 1"/>
          <p:cNvSpPr/>
          <p:nvPr/>
        </p:nvSpPr>
        <p:spPr>
          <a:xfrm>
            <a:off x="548640" y="1097280"/>
            <a:ext cx="3749040" cy="3291840"/>
          </a:xfrm>
          <a:prstGeom prst="rect">
            <a:avLst/>
          </a:prstGeom>
          <a:solidFill>
            <a:srgbClr val="F0FDFA"/>
          </a:solidFill>
          <a:ln/>
          <a:effectLst>
            <a:outerShdw sx="100000" sy="100000" kx="0" ky="0" algn="bl" rotWithShape="0" blurRad="50800" dist="25400" dir="8100000">
              <a:srgbClr val="000000">
                <a:alpha val="10000"/>
              </a:srgbClr>
            </a:outerShdw>
          </a:effectLst>
        </p:spPr>
      </p:sp>
      <p:sp>
        <p:nvSpPr>
          <p:cNvPr id="4" name="Shape 2"/>
          <p:cNvSpPr/>
          <p:nvPr/>
        </p:nvSpPr>
        <p:spPr>
          <a:xfrm>
            <a:off x="548640" y="1097280"/>
            <a:ext cx="3749040" cy="411480"/>
          </a:xfrm>
          <a:prstGeom prst="rect">
            <a:avLst/>
          </a:prstGeom>
          <a:solidFill>
            <a:srgbClr val="0D9488"/>
          </a:solidFill>
          <a:ln/>
        </p:spPr>
      </p:sp>
      <p:sp>
        <p:nvSpPr>
          <p:cNvPr id="5" name="Text 3"/>
          <p:cNvSpPr/>
          <p:nvPr/>
        </p:nvSpPr>
        <p:spPr>
          <a:xfrm>
            <a:off x="685800" y="1097280"/>
            <a:ext cx="3200400" cy="41148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 Pros</a:t>
            </a:r>
            <a:endParaRPr lang="en-US" sz="1500" dirty="0"/>
          </a:p>
        </p:txBody>
      </p:sp>
      <p:sp>
        <p:nvSpPr>
          <p:cNvPr id="6" name="Text 4"/>
          <p:cNvSpPr/>
          <p:nvPr/>
        </p:nvSpPr>
        <p:spPr>
          <a:xfrm>
            <a:off x="777240" y="1691640"/>
            <a:ext cx="3291840" cy="22860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Astonishing Breadth</a:t>
            </a:r>
            <a:endParaRPr lang="en-US" sz="1300" dirty="0"/>
          </a:p>
        </p:txBody>
      </p:sp>
      <p:sp>
        <p:nvSpPr>
          <p:cNvPr id="7" name="Text 5"/>
          <p:cNvSpPr/>
          <p:nvPr/>
        </p:nvSpPr>
        <p:spPr>
          <a:xfrm>
            <a:off x="777240" y="1947672"/>
            <a:ext cx="3291840" cy="50292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Has read every Stack Overflow answer, framework, and tutorial ever written</a:t>
            </a:r>
            <a:endParaRPr lang="en-US" sz="1100" dirty="0"/>
          </a:p>
        </p:txBody>
      </p:sp>
      <p:sp>
        <p:nvSpPr>
          <p:cNvPr id="8" name="Text 6"/>
          <p:cNvSpPr/>
          <p:nvPr/>
        </p:nvSpPr>
        <p:spPr>
          <a:xfrm>
            <a:off x="777240" y="2606040"/>
            <a:ext cx="3291840" cy="22860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Zero Ego</a:t>
            </a:r>
            <a:endParaRPr lang="en-US" sz="1300" dirty="0"/>
          </a:p>
        </p:txBody>
      </p:sp>
      <p:sp>
        <p:nvSpPr>
          <p:cNvPr id="9" name="Text 7"/>
          <p:cNvSpPr/>
          <p:nvPr/>
        </p:nvSpPr>
        <p:spPr>
          <a:xfrm>
            <a:off x="777240" y="2862072"/>
            <a:ext cx="3291840" cy="50292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Happily rewrites the same block of code 50 times without complaint</a:t>
            </a:r>
            <a:endParaRPr lang="en-US" sz="1100" dirty="0"/>
          </a:p>
        </p:txBody>
      </p:sp>
      <p:sp>
        <p:nvSpPr>
          <p:cNvPr id="10" name="Text 8"/>
          <p:cNvSpPr/>
          <p:nvPr/>
        </p:nvSpPr>
        <p:spPr>
          <a:xfrm>
            <a:off x="777240" y="3520440"/>
            <a:ext cx="3291840" cy="22860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High Velocity</a:t>
            </a:r>
            <a:endParaRPr lang="en-US" sz="1300" dirty="0"/>
          </a:p>
        </p:txBody>
      </p:sp>
      <p:sp>
        <p:nvSpPr>
          <p:cNvPr id="11" name="Text 9"/>
          <p:cNvSpPr/>
          <p:nvPr/>
        </p:nvSpPr>
        <p:spPr>
          <a:xfrm>
            <a:off x="777240" y="3776472"/>
            <a:ext cx="3291840" cy="50292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Generates technical output instantly, parallel across files</a:t>
            </a:r>
            <a:endParaRPr lang="en-US" sz="1100" dirty="0"/>
          </a:p>
        </p:txBody>
      </p:sp>
      <p:sp>
        <p:nvSpPr>
          <p:cNvPr id="12" name="Shape 10"/>
          <p:cNvSpPr/>
          <p:nvPr/>
        </p:nvSpPr>
        <p:spPr>
          <a:xfrm>
            <a:off x="4754880" y="1097280"/>
            <a:ext cx="4023360" cy="3291840"/>
          </a:xfrm>
          <a:prstGeom prst="rect">
            <a:avLst/>
          </a:prstGeom>
          <a:solidFill>
            <a:srgbClr val="FEF2F2"/>
          </a:solidFill>
          <a:ln/>
          <a:effectLst>
            <a:outerShdw sx="100000" sy="100000" kx="0" ky="0" algn="bl" rotWithShape="0" blurRad="50800" dist="25400" dir="8100000">
              <a:srgbClr val="000000">
                <a:alpha val="10000"/>
              </a:srgbClr>
            </a:outerShdw>
          </a:effectLst>
        </p:spPr>
      </p:sp>
      <p:sp>
        <p:nvSpPr>
          <p:cNvPr id="13" name="Shape 11"/>
          <p:cNvSpPr/>
          <p:nvPr/>
        </p:nvSpPr>
        <p:spPr>
          <a:xfrm>
            <a:off x="4754880" y="1097280"/>
            <a:ext cx="4023360" cy="411480"/>
          </a:xfrm>
          <a:prstGeom prst="rect">
            <a:avLst/>
          </a:prstGeom>
          <a:solidFill>
            <a:srgbClr val="EF4444"/>
          </a:solidFill>
          <a:ln/>
        </p:spPr>
      </p:sp>
      <p:sp>
        <p:nvSpPr>
          <p:cNvPr id="14" name="Text 12"/>
          <p:cNvSpPr/>
          <p:nvPr/>
        </p:nvSpPr>
        <p:spPr>
          <a:xfrm>
            <a:off x="4892040" y="1097280"/>
            <a:ext cx="3657600" cy="41148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 Missing Link: JUDGMENT</a:t>
            </a:r>
            <a:endParaRPr lang="en-US" sz="1500" dirty="0"/>
          </a:p>
        </p:txBody>
      </p:sp>
      <p:pic>
        <p:nvPicPr>
          <p:cNvPr id="15" name="Image 0" descr="preencoded.png">    </p:cNvPr>
          <p:cNvPicPr>
            <a:picLocks noChangeAspect="1"/>
          </p:cNvPicPr>
          <p:nvPr/>
        </p:nvPicPr>
        <p:blipFill>
          <a:blip r:embed="rId1"/>
          <a:stretch>
            <a:fillRect/>
          </a:stretch>
        </p:blipFill>
        <p:spPr>
          <a:xfrm>
            <a:off x="4937760" y="1709928"/>
            <a:ext cx="201168" cy="201168"/>
          </a:xfrm>
          <a:prstGeom prst="rect">
            <a:avLst/>
          </a:prstGeom>
        </p:spPr>
      </p:pic>
      <p:sp>
        <p:nvSpPr>
          <p:cNvPr id="16" name="Text 13"/>
          <p:cNvSpPr/>
          <p:nvPr/>
        </p:nvSpPr>
        <p:spPr>
          <a:xfrm>
            <a:off x="5257800" y="1691640"/>
            <a:ext cx="3291840" cy="228600"/>
          </a:xfrm>
          <a:prstGeom prst="rect">
            <a:avLst/>
          </a:prstGeom>
          <a:noFill/>
          <a:ln/>
        </p:spPr>
        <p:txBody>
          <a:bodyPr wrap="square" lIns="0" tIns="0" rIns="0" bIns="0" rtlCol="0" anchor="ctr"/>
          <a:lstStyle/>
          <a:p>
            <a:pPr indent="0" marL="0">
              <a:buNone/>
            </a:pPr>
            <a:r>
              <a:rPr lang="en-US" sz="1300" b="1" dirty="0">
                <a:solidFill>
                  <a:srgbClr val="EF4444"/>
                </a:solidFill>
                <a:latin typeface="Calibri" pitchFamily="34" charset="0"/>
                <a:ea typeface="Calibri" pitchFamily="34" charset="-122"/>
                <a:cs typeface="Calibri" pitchFamily="34" charset="-120"/>
              </a:rPr>
              <a:t>No Business Context</a:t>
            </a:r>
            <a:endParaRPr lang="en-US" sz="1300" dirty="0"/>
          </a:p>
        </p:txBody>
      </p:sp>
      <p:sp>
        <p:nvSpPr>
          <p:cNvPr id="17" name="Text 14"/>
          <p:cNvSpPr/>
          <p:nvPr/>
        </p:nvSpPr>
        <p:spPr>
          <a:xfrm>
            <a:off x="5257800" y="1947672"/>
            <a:ext cx="3291840" cy="64008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Doesn't understand the 'why' behind your architectural decisions from 3 years ago</a:t>
            </a:r>
            <a:endParaRPr lang="en-US" sz="1100" dirty="0"/>
          </a:p>
        </p:txBody>
      </p:sp>
      <p:pic>
        <p:nvPicPr>
          <p:cNvPr id="18" name="Image 1" descr="preencoded.png">    </p:cNvPr>
          <p:cNvPicPr>
            <a:picLocks noChangeAspect="1"/>
          </p:cNvPicPr>
          <p:nvPr/>
        </p:nvPicPr>
        <p:blipFill>
          <a:blip r:embed="rId2"/>
          <a:stretch>
            <a:fillRect/>
          </a:stretch>
        </p:blipFill>
        <p:spPr>
          <a:xfrm>
            <a:off x="4937760" y="2807208"/>
            <a:ext cx="201168" cy="201168"/>
          </a:xfrm>
          <a:prstGeom prst="rect">
            <a:avLst/>
          </a:prstGeom>
        </p:spPr>
      </p:pic>
      <p:sp>
        <p:nvSpPr>
          <p:cNvPr id="19" name="Text 15"/>
          <p:cNvSpPr/>
          <p:nvPr/>
        </p:nvSpPr>
        <p:spPr>
          <a:xfrm>
            <a:off x="5257800" y="2788920"/>
            <a:ext cx="3291840" cy="228600"/>
          </a:xfrm>
          <a:prstGeom prst="rect">
            <a:avLst/>
          </a:prstGeom>
          <a:noFill/>
          <a:ln/>
        </p:spPr>
        <p:txBody>
          <a:bodyPr wrap="square" lIns="0" tIns="0" rIns="0" bIns="0" rtlCol="0" anchor="ctr"/>
          <a:lstStyle/>
          <a:p>
            <a:pPr indent="0" marL="0">
              <a:buNone/>
            </a:pPr>
            <a:r>
              <a:rPr lang="en-US" sz="1300" b="1" dirty="0">
                <a:solidFill>
                  <a:srgbClr val="EF4444"/>
                </a:solidFill>
                <a:latin typeface="Calibri" pitchFamily="34" charset="0"/>
                <a:ea typeface="Calibri" pitchFamily="34" charset="-122"/>
                <a:cs typeface="Calibri" pitchFamily="34" charset="-120"/>
              </a:rPr>
              <a:t>Confidently Wrong</a:t>
            </a:r>
            <a:endParaRPr lang="en-US" sz="1300" dirty="0"/>
          </a:p>
        </p:txBody>
      </p:sp>
      <p:sp>
        <p:nvSpPr>
          <p:cNvPr id="20" name="Text 16"/>
          <p:cNvSpPr/>
          <p:nvPr/>
        </p:nvSpPr>
        <p:spPr>
          <a:xfrm>
            <a:off x="5257800" y="3044952"/>
            <a:ext cx="3291840" cy="64008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Will rapidly write code that is technically correct but architecturally destructive</a:t>
            </a:r>
            <a:endParaRPr lang="en-US" sz="1100" dirty="0"/>
          </a:p>
        </p:txBody>
      </p:sp>
      <p:sp>
        <p:nvSpPr>
          <p:cNvPr id="21" name="Shape 17"/>
          <p:cNvSpPr/>
          <p:nvPr/>
        </p:nvSpPr>
        <p:spPr>
          <a:xfrm>
            <a:off x="548640" y="4526280"/>
            <a:ext cx="8229600" cy="411480"/>
          </a:xfrm>
          <a:prstGeom prst="rect">
            <a:avLst/>
          </a:prstGeom>
          <a:solidFill>
            <a:srgbClr val="F0FDFA"/>
          </a:solidFill>
          <a:ln/>
        </p:spPr>
      </p:sp>
      <p:sp>
        <p:nvSpPr>
          <p:cNvPr id="22" name="Shape 18"/>
          <p:cNvSpPr/>
          <p:nvPr/>
        </p:nvSpPr>
        <p:spPr>
          <a:xfrm>
            <a:off x="548640" y="4526280"/>
            <a:ext cx="54864" cy="411480"/>
          </a:xfrm>
          <a:prstGeom prst="rect">
            <a:avLst/>
          </a:prstGeom>
          <a:solidFill>
            <a:srgbClr val="F59E0B"/>
          </a:solidFill>
          <a:ln/>
        </p:spPr>
      </p:sp>
      <p:sp>
        <p:nvSpPr>
          <p:cNvPr id="23" name="Text 19"/>
          <p:cNvSpPr/>
          <p:nvPr/>
        </p:nvSpPr>
        <p:spPr>
          <a:xfrm>
            <a:off x="777240" y="4526280"/>
            <a:ext cx="7772400" cy="411480"/>
          </a:xfrm>
          <a:prstGeom prst="rect">
            <a:avLst/>
          </a:prstGeom>
          <a:noFill/>
          <a:ln/>
        </p:spPr>
        <p:txBody>
          <a:bodyPr wrap="square" lIns="0" tIns="0" rIns="0" bIns="0"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The machine does the typing (saving 10× engineering time), but the human must direct the work.</a:t>
            </a:r>
            <a:endParaRPr lang="en-US" sz="1200" dirty="0"/>
          </a:p>
        </p:txBody>
      </p:sp>
      <p:sp>
        <p:nvSpPr>
          <p:cNvPr id="24" name="Text 20"/>
          <p:cNvSpPr/>
          <p:nvPr/>
        </p:nvSpPr>
        <p:spPr>
          <a:xfrm>
            <a:off x="8229600" y="4754880"/>
            <a:ext cx="64008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7 / 23</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indent="0" marL="0">
              <a:buNone/>
            </a:pPr>
            <a:r>
              <a:rPr lang="en-US" sz="3000" b="1" dirty="0">
                <a:solidFill>
                  <a:srgbClr val="1A2332"/>
                </a:solidFill>
                <a:latin typeface="Calibri" pitchFamily="34" charset="0"/>
                <a:ea typeface="Calibri" pitchFamily="34" charset="-122"/>
                <a:cs typeface="Calibri" pitchFamily="34" charset="-120"/>
              </a:rPr>
              <a:t>The Core Constraint: Context Degradation</a:t>
            </a:r>
            <a:endParaRPr lang="en-US" sz="3000" dirty="0"/>
          </a:p>
        </p:txBody>
      </p:sp>
      <p:sp>
        <p:nvSpPr>
          <p:cNvPr id="3" name="Shape 1"/>
          <p:cNvSpPr/>
          <p:nvPr/>
        </p:nvSpPr>
        <p:spPr>
          <a:xfrm>
            <a:off x="548640" y="1051560"/>
            <a:ext cx="4114800" cy="3749040"/>
          </a:xfrm>
          <a:prstGeom prst="rect">
            <a:avLst/>
          </a:prstGeom>
          <a:solidFill>
            <a:srgbClr val="F1F5F9"/>
          </a:solidFill>
          <a:ln/>
          <a:effectLst>
            <a:outerShdw sx="100000" sy="100000" kx="0" ky="0" algn="bl" rotWithShape="0" blurRad="50800" dist="25400" dir="8100000">
              <a:srgbClr val="000000">
                <a:alpha val="10000"/>
              </a:srgbClr>
            </a:outerShdw>
          </a:effectLst>
        </p:spPr>
      </p:sp>
      <p:sp>
        <p:nvSpPr>
          <p:cNvPr id="4" name="Text 2"/>
          <p:cNvSpPr/>
          <p:nvPr/>
        </p:nvSpPr>
        <p:spPr>
          <a:xfrm>
            <a:off x="777240" y="1188720"/>
            <a:ext cx="3657600" cy="320040"/>
          </a:xfrm>
          <a:prstGeom prst="rect">
            <a:avLst/>
          </a:prstGeom>
          <a:noFill/>
          <a:ln/>
        </p:spPr>
        <p:txBody>
          <a:bodyPr wrap="square" lIns="0" tIns="0" rIns="0" bIns="0" rtlCol="0" anchor="ctr"/>
          <a:lstStyle/>
          <a:p>
            <a:pPr indent="0" marL="0">
              <a:buNone/>
            </a:pPr>
            <a:r>
              <a:rPr lang="en-US" sz="1600" b="1" dirty="0">
                <a:solidFill>
                  <a:srgbClr val="0F766E"/>
                </a:solidFill>
                <a:latin typeface="Calibri" pitchFamily="34" charset="0"/>
                <a:ea typeface="Calibri" pitchFamily="34" charset="-122"/>
                <a:cs typeface="Calibri" pitchFamily="34" charset="-120"/>
              </a:rPr>
              <a:t>Why Context Matters</a:t>
            </a:r>
            <a:endParaRPr lang="en-US" sz="1600" dirty="0"/>
          </a:p>
        </p:txBody>
      </p:sp>
      <p:sp>
        <p:nvSpPr>
          <p:cNvPr id="5" name="Text 3"/>
          <p:cNvSpPr/>
          <p:nvPr/>
        </p:nvSpPr>
        <p:spPr>
          <a:xfrm>
            <a:off x="777240" y="1691640"/>
            <a:ext cx="3657600" cy="201168"/>
          </a:xfrm>
          <a:prstGeom prst="rect">
            <a:avLst/>
          </a:prstGeom>
          <a:noFill/>
          <a:ln/>
        </p:spPr>
        <p:txBody>
          <a:bodyPr wrap="square" lIns="0" tIns="0" rIns="0" bIns="0" rtlCol="0" anchor="ctr"/>
          <a:lstStyle/>
          <a:p>
            <a:pPr indent="0" marL="0">
              <a:buNone/>
            </a:pPr>
            <a:r>
              <a:rPr lang="en-US" sz="1150" b="1" dirty="0">
                <a:solidFill>
                  <a:srgbClr val="1A2332"/>
                </a:solidFill>
                <a:latin typeface="Calibri" pitchFamily="34" charset="0"/>
                <a:ea typeface="Calibri" pitchFamily="34" charset="-122"/>
                <a:cs typeface="Calibri" pitchFamily="34" charset="-120"/>
              </a:rPr>
              <a:t>Precise context needed</a:t>
            </a:r>
            <a:endParaRPr lang="en-US" sz="1150" dirty="0"/>
          </a:p>
        </p:txBody>
      </p:sp>
      <p:sp>
        <p:nvSpPr>
          <p:cNvPr id="6" name="Text 4"/>
          <p:cNvSpPr/>
          <p:nvPr/>
        </p:nvSpPr>
        <p:spPr>
          <a:xfrm>
            <a:off x="777240" y="1892808"/>
            <a:ext cx="3657600" cy="45720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Context is both expensive and fragile — bad context creates bad output</a:t>
            </a:r>
            <a:endParaRPr lang="en-US" sz="1050" dirty="0"/>
          </a:p>
        </p:txBody>
      </p:sp>
      <p:sp>
        <p:nvSpPr>
          <p:cNvPr id="7" name="Text 5"/>
          <p:cNvSpPr/>
          <p:nvPr/>
        </p:nvSpPr>
        <p:spPr>
          <a:xfrm>
            <a:off x="777240" y="2468880"/>
            <a:ext cx="3657600" cy="201168"/>
          </a:xfrm>
          <a:prstGeom prst="rect">
            <a:avLst/>
          </a:prstGeom>
          <a:noFill/>
          <a:ln/>
        </p:spPr>
        <p:txBody>
          <a:bodyPr wrap="square" lIns="0" tIns="0" rIns="0" bIns="0" rtlCol="0" anchor="ctr"/>
          <a:lstStyle/>
          <a:p>
            <a:pPr indent="0" marL="0">
              <a:buNone/>
            </a:pPr>
            <a:r>
              <a:rPr lang="en-US" sz="1150" b="1" dirty="0">
                <a:solidFill>
                  <a:srgbClr val="1A2332"/>
                </a:solidFill>
                <a:latin typeface="Calibri" pitchFamily="34" charset="0"/>
                <a:ea typeface="Calibri" pitchFamily="34" charset="-122"/>
                <a:cs typeface="Calibri" pitchFamily="34" charset="-120"/>
              </a:rPr>
              <a:t>Good context = good reasoning</a:t>
            </a:r>
            <a:endParaRPr lang="en-US" sz="1150" dirty="0"/>
          </a:p>
        </p:txBody>
      </p:sp>
      <p:sp>
        <p:nvSpPr>
          <p:cNvPr id="8" name="Text 6"/>
          <p:cNvSpPr/>
          <p:nvPr/>
        </p:nvSpPr>
        <p:spPr>
          <a:xfrm>
            <a:off x="777240" y="2670048"/>
            <a:ext cx="3657600" cy="45720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Relevant files and clear history improve model decisions dramatically</a:t>
            </a:r>
            <a:endParaRPr lang="en-US" sz="1050" dirty="0"/>
          </a:p>
        </p:txBody>
      </p:sp>
      <p:sp>
        <p:nvSpPr>
          <p:cNvPr id="9" name="Text 7"/>
          <p:cNvSpPr/>
          <p:nvPr/>
        </p:nvSpPr>
        <p:spPr>
          <a:xfrm>
            <a:off x="777240" y="3246120"/>
            <a:ext cx="3657600" cy="201168"/>
          </a:xfrm>
          <a:prstGeom prst="rect">
            <a:avLst/>
          </a:prstGeom>
          <a:noFill/>
          <a:ln/>
        </p:spPr>
        <p:txBody>
          <a:bodyPr wrap="square" lIns="0" tIns="0" rIns="0" bIns="0" rtlCol="0" anchor="ctr"/>
          <a:lstStyle/>
          <a:p>
            <a:pPr indent="0" marL="0">
              <a:buNone/>
            </a:pPr>
            <a:r>
              <a:rPr lang="en-US" sz="1150" b="1" dirty="0">
                <a:solidFill>
                  <a:srgbClr val="1A2332"/>
                </a:solidFill>
                <a:latin typeface="Calibri" pitchFamily="34" charset="0"/>
                <a:ea typeface="Calibri" pitchFamily="34" charset="-122"/>
                <a:cs typeface="Calibri" pitchFamily="34" charset="-120"/>
              </a:rPr>
              <a:t>The Dumb Zone</a:t>
            </a:r>
            <a:endParaRPr lang="en-US" sz="1150" dirty="0"/>
          </a:p>
        </p:txBody>
      </p:sp>
      <p:sp>
        <p:nvSpPr>
          <p:cNvPr id="10" name="Text 8"/>
          <p:cNvSpPr/>
          <p:nvPr/>
        </p:nvSpPr>
        <p:spPr>
          <a:xfrm>
            <a:off x="777240" y="3447288"/>
            <a:ext cx="3657600" cy="45720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Past ~50% context capacity, agents get lost, hallucinate files, and degrade logic</a:t>
            </a:r>
            <a:endParaRPr lang="en-US" sz="1050" dirty="0"/>
          </a:p>
        </p:txBody>
      </p:sp>
      <p:sp>
        <p:nvSpPr>
          <p:cNvPr id="11" name="Text 9"/>
          <p:cNvSpPr/>
          <p:nvPr/>
        </p:nvSpPr>
        <p:spPr>
          <a:xfrm>
            <a:off x="777240" y="4023360"/>
            <a:ext cx="3657600" cy="201168"/>
          </a:xfrm>
          <a:prstGeom prst="rect">
            <a:avLst/>
          </a:prstGeom>
          <a:noFill/>
          <a:ln/>
        </p:spPr>
        <p:txBody>
          <a:bodyPr wrap="square" lIns="0" tIns="0" rIns="0" bIns="0" rtlCol="0" anchor="ctr"/>
          <a:lstStyle/>
          <a:p>
            <a:pPr indent="0" marL="0">
              <a:buNone/>
            </a:pPr>
            <a:r>
              <a:rPr lang="en-US" sz="1150" b="1" dirty="0">
                <a:solidFill>
                  <a:srgbClr val="1A2332"/>
                </a:solidFill>
                <a:latin typeface="Calibri" pitchFamily="34" charset="0"/>
                <a:ea typeface="Calibri" pitchFamily="34" charset="-122"/>
                <a:cs typeface="Calibri" pitchFamily="34" charset="-120"/>
              </a:rPr>
              <a:t>Recovery is costly</a:t>
            </a:r>
            <a:endParaRPr lang="en-US" sz="1150" dirty="0"/>
          </a:p>
        </p:txBody>
      </p:sp>
      <p:sp>
        <p:nvSpPr>
          <p:cNvPr id="12" name="Text 10"/>
          <p:cNvSpPr/>
          <p:nvPr/>
        </p:nvSpPr>
        <p:spPr>
          <a:xfrm>
            <a:off x="777240" y="4224528"/>
            <a:ext cx="3657600" cy="45720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If an agent goes off the rails, trying to steer it back in the same chat usually fails. Start a new conversation.</a:t>
            </a:r>
            <a:endParaRPr lang="en-US" sz="1050" dirty="0"/>
          </a:p>
        </p:txBody>
      </p:sp>
      <p:sp>
        <p:nvSpPr>
          <p:cNvPr id="13" name="Shape 11"/>
          <p:cNvSpPr/>
          <p:nvPr/>
        </p:nvSpPr>
        <p:spPr>
          <a:xfrm>
            <a:off x="5029200" y="1051560"/>
            <a:ext cx="3749040" cy="374904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4" name="Text 12"/>
          <p:cNvSpPr/>
          <p:nvPr/>
        </p:nvSpPr>
        <p:spPr>
          <a:xfrm>
            <a:off x="5212080" y="1188720"/>
            <a:ext cx="3383280" cy="274320"/>
          </a:xfrm>
          <a:prstGeom prst="rect">
            <a:avLst/>
          </a:prstGeom>
          <a:noFill/>
          <a:ln/>
        </p:spPr>
        <p:txBody>
          <a:bodyPr wrap="square" lIns="0" tIns="0" rIns="0" bIns="0"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Output Quality vs. Context Volume</a:t>
            </a:r>
            <a:endParaRPr lang="en-US" sz="1200" dirty="0"/>
          </a:p>
        </p:txBody>
      </p:sp>
      <p:graphicFrame>
        <p:nvGraphicFramePr>
          <p:cNvPr id="15" name="Chart 0" descr=""/>
          <p:cNvGraphicFramePr/>
          <p:nvPr/>
        </p:nvGraphicFramePr>
        <p:xfrm>
          <a:off x="5120640" y="1554480"/>
          <a:ext cx="3474720" cy="2560320"/>
        </p:xfrm>
        <a:graphic xmlns:a="http://schemas.openxmlformats.org/drawingml/2006/main">
          <a:graphicData uri="http://schemas.openxmlformats.org/drawingml/2006/chart">
            <c:chart xmlns:c="http://schemas.openxmlformats.org/drawingml/2006/chart" r:id="rId1"/>
          </a:graphicData>
        </a:graphic>
      </p:graphicFrame>
      <p:sp>
        <p:nvSpPr>
          <p:cNvPr id="16" name="Shape 13"/>
          <p:cNvSpPr/>
          <p:nvPr/>
        </p:nvSpPr>
        <p:spPr>
          <a:xfrm>
            <a:off x="6766560" y="3749040"/>
            <a:ext cx="1645920" cy="320040"/>
          </a:xfrm>
          <a:prstGeom prst="rect">
            <a:avLst/>
          </a:prstGeom>
          <a:solidFill>
            <a:srgbClr val="EF4444">
              <a:alpha val="15000"/>
            </a:srgbClr>
          </a:solidFill>
          <a:ln/>
        </p:spPr>
      </p:sp>
      <p:sp>
        <p:nvSpPr>
          <p:cNvPr id="17" name="Text 14"/>
          <p:cNvSpPr/>
          <p:nvPr/>
        </p:nvSpPr>
        <p:spPr>
          <a:xfrm>
            <a:off x="6766560" y="3749040"/>
            <a:ext cx="1645920" cy="320040"/>
          </a:xfrm>
          <a:prstGeom prst="rect">
            <a:avLst/>
          </a:prstGeom>
          <a:noFill/>
          <a:ln/>
        </p:spPr>
        <p:txBody>
          <a:bodyPr wrap="square" rtlCol="0" anchor="ctr"/>
          <a:lstStyle/>
          <a:p>
            <a:pPr algn="ctr" indent="0" marL="0">
              <a:buNone/>
            </a:pPr>
            <a:r>
              <a:rPr lang="en-US" sz="900" b="1" dirty="0">
                <a:solidFill>
                  <a:srgbClr val="EF4444"/>
                </a:solidFill>
                <a:latin typeface="Calibri" pitchFamily="34" charset="0"/>
                <a:ea typeface="Calibri" pitchFamily="34" charset="-122"/>
                <a:cs typeface="Calibri" pitchFamily="34" charset="-120"/>
              </a:rPr>
              <a:t>THE DUMB ZONE</a:t>
            </a:r>
            <a:endParaRPr lang="en-US" sz="900" dirty="0"/>
          </a:p>
        </p:txBody>
      </p:sp>
      <p:sp>
        <p:nvSpPr>
          <p:cNvPr id="18" name="Text 15"/>
          <p:cNvSpPr/>
          <p:nvPr/>
        </p:nvSpPr>
        <p:spPr>
          <a:xfrm>
            <a:off x="8229600" y="4754880"/>
            <a:ext cx="64008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8 / 23</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indent="0" marL="0">
              <a:buNone/>
            </a:pPr>
            <a:r>
              <a:rPr lang="en-US" sz="3000" b="1" dirty="0">
                <a:solidFill>
                  <a:srgbClr val="1A2332"/>
                </a:solidFill>
                <a:latin typeface="Calibri" pitchFamily="34" charset="0"/>
                <a:ea typeface="Calibri" pitchFamily="34" charset="-122"/>
                <a:cs typeface="Calibri" pitchFamily="34" charset="-120"/>
              </a:rPr>
              <a:t>The Four Pillars of Context Engineering</a:t>
            </a:r>
            <a:endParaRPr lang="en-US" sz="3000" dirty="0"/>
          </a:p>
        </p:txBody>
      </p:sp>
      <p:sp>
        <p:nvSpPr>
          <p:cNvPr id="3" name="Shape 1"/>
          <p:cNvSpPr/>
          <p:nvPr/>
        </p:nvSpPr>
        <p:spPr>
          <a:xfrm>
            <a:off x="548640" y="1051560"/>
            <a:ext cx="3931920" cy="1691640"/>
          </a:xfrm>
          <a:prstGeom prst="rect">
            <a:avLst/>
          </a:prstGeom>
          <a:solidFill>
            <a:srgbClr val="F1F5F9"/>
          </a:solidFill>
          <a:ln/>
          <a:effectLst>
            <a:outerShdw sx="100000" sy="100000" kx="0" ky="0" algn="bl" rotWithShape="0" blurRad="50800" dist="25400" dir="8100000">
              <a:srgbClr val="000000">
                <a:alpha val="10000"/>
              </a:srgbClr>
            </a:outerShdw>
          </a:effectLst>
        </p:spPr>
      </p:sp>
      <p:sp>
        <p:nvSpPr>
          <p:cNvPr id="4" name="Shape 2"/>
          <p:cNvSpPr/>
          <p:nvPr/>
        </p:nvSpPr>
        <p:spPr>
          <a:xfrm>
            <a:off x="731520" y="1234440"/>
            <a:ext cx="502920" cy="502920"/>
          </a:xfrm>
          <a:prstGeom prst="ellipse">
            <a:avLst/>
          </a:prstGeom>
          <a:solidFill>
            <a:srgbClr val="0D9488"/>
          </a:solidFill>
          <a:ln/>
        </p:spPr>
      </p:sp>
      <p:pic>
        <p:nvPicPr>
          <p:cNvPr id="5" name="Image 0" descr="preencoded.png">    </p:cNvPr>
          <p:cNvPicPr>
            <a:picLocks noChangeAspect="1"/>
          </p:cNvPicPr>
          <p:nvPr/>
        </p:nvPicPr>
        <p:blipFill>
          <a:blip r:embed="rId1"/>
          <a:stretch>
            <a:fillRect/>
          </a:stretch>
        </p:blipFill>
        <p:spPr>
          <a:xfrm>
            <a:off x="850392" y="1353312"/>
            <a:ext cx="256032" cy="256032"/>
          </a:xfrm>
          <a:prstGeom prst="rect">
            <a:avLst/>
          </a:prstGeom>
        </p:spPr>
      </p:pic>
      <p:sp>
        <p:nvSpPr>
          <p:cNvPr id="6" name="Text 3"/>
          <p:cNvSpPr/>
          <p:nvPr/>
        </p:nvSpPr>
        <p:spPr>
          <a:xfrm>
            <a:off x="1371600" y="1234440"/>
            <a:ext cx="2743200" cy="320040"/>
          </a:xfrm>
          <a:prstGeom prst="rect">
            <a:avLst/>
          </a:prstGeom>
          <a:noFill/>
          <a:ln/>
        </p:spPr>
        <p:txBody>
          <a:bodyPr wrap="square" lIns="0" tIns="0" rIns="0" bIns="0" rtlCol="0" anchor="ctr"/>
          <a:lstStyle/>
          <a:p>
            <a:pPr indent="0" marL="0">
              <a:buNone/>
            </a:pPr>
            <a:r>
              <a:rPr lang="en-US" sz="1800" b="1" dirty="0">
                <a:solidFill>
                  <a:srgbClr val="1A2332"/>
                </a:solidFill>
                <a:latin typeface="Calibri" pitchFamily="34" charset="0"/>
                <a:ea typeface="Calibri" pitchFamily="34" charset="-122"/>
                <a:cs typeface="Calibri" pitchFamily="34" charset="-120"/>
              </a:rPr>
              <a:t>Persist</a:t>
            </a:r>
            <a:endParaRPr lang="en-US" sz="1800" dirty="0"/>
          </a:p>
        </p:txBody>
      </p:sp>
      <p:sp>
        <p:nvSpPr>
          <p:cNvPr id="7" name="Text 4"/>
          <p:cNvSpPr/>
          <p:nvPr/>
        </p:nvSpPr>
        <p:spPr>
          <a:xfrm>
            <a:off x="731520" y="1828800"/>
            <a:ext cx="3566160" cy="7772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Offload memory from the context window for permanency. Use agent.md for persistent instructions; use files for current state.</a:t>
            </a:r>
            <a:endParaRPr lang="en-US" sz="1100" dirty="0"/>
          </a:p>
        </p:txBody>
      </p:sp>
      <p:sp>
        <p:nvSpPr>
          <p:cNvPr id="8" name="Shape 5"/>
          <p:cNvSpPr/>
          <p:nvPr/>
        </p:nvSpPr>
        <p:spPr>
          <a:xfrm>
            <a:off x="4846320" y="1051560"/>
            <a:ext cx="3931920" cy="1691640"/>
          </a:xfrm>
          <a:prstGeom prst="rect">
            <a:avLst/>
          </a:prstGeom>
          <a:solidFill>
            <a:srgbClr val="F1F5F9"/>
          </a:solidFill>
          <a:ln/>
          <a:effectLst>
            <a:outerShdw sx="100000" sy="100000" kx="0" ky="0" algn="bl" rotWithShape="0" blurRad="50800" dist="25400" dir="8100000">
              <a:srgbClr val="000000">
                <a:alpha val="10000"/>
              </a:srgbClr>
            </a:outerShdw>
          </a:effectLst>
        </p:spPr>
      </p:sp>
      <p:sp>
        <p:nvSpPr>
          <p:cNvPr id="9" name="Shape 6"/>
          <p:cNvSpPr/>
          <p:nvPr/>
        </p:nvSpPr>
        <p:spPr>
          <a:xfrm>
            <a:off x="5029200" y="1234440"/>
            <a:ext cx="502920" cy="502920"/>
          </a:xfrm>
          <a:prstGeom prst="ellipse">
            <a:avLst/>
          </a:prstGeom>
          <a:solidFill>
            <a:srgbClr val="0D9488"/>
          </a:solidFill>
          <a:ln/>
        </p:spPr>
      </p:sp>
      <p:pic>
        <p:nvPicPr>
          <p:cNvPr id="10" name="Image 1" descr="preencoded.png">    </p:cNvPr>
          <p:cNvPicPr>
            <a:picLocks noChangeAspect="1"/>
          </p:cNvPicPr>
          <p:nvPr/>
        </p:nvPicPr>
        <p:blipFill>
          <a:blip r:embed="rId2"/>
          <a:stretch>
            <a:fillRect/>
          </a:stretch>
        </p:blipFill>
        <p:spPr>
          <a:xfrm>
            <a:off x="5148072" y="1353312"/>
            <a:ext cx="256032" cy="256032"/>
          </a:xfrm>
          <a:prstGeom prst="rect">
            <a:avLst/>
          </a:prstGeom>
        </p:spPr>
      </p:pic>
      <p:sp>
        <p:nvSpPr>
          <p:cNvPr id="11" name="Text 7"/>
          <p:cNvSpPr/>
          <p:nvPr/>
        </p:nvSpPr>
        <p:spPr>
          <a:xfrm>
            <a:off x="5669280" y="1234440"/>
            <a:ext cx="2743200" cy="320040"/>
          </a:xfrm>
          <a:prstGeom prst="rect">
            <a:avLst/>
          </a:prstGeom>
          <a:noFill/>
          <a:ln/>
        </p:spPr>
        <p:txBody>
          <a:bodyPr wrap="square" lIns="0" tIns="0" rIns="0" bIns="0" rtlCol="0" anchor="ctr"/>
          <a:lstStyle/>
          <a:p>
            <a:pPr indent="0" marL="0">
              <a:buNone/>
            </a:pPr>
            <a:r>
              <a:rPr lang="en-US" sz="1800" b="1" dirty="0">
                <a:solidFill>
                  <a:srgbClr val="1A2332"/>
                </a:solidFill>
                <a:latin typeface="Calibri" pitchFamily="34" charset="0"/>
                <a:ea typeface="Calibri" pitchFamily="34" charset="-122"/>
                <a:cs typeface="Calibri" pitchFamily="34" charset="-120"/>
              </a:rPr>
              <a:t>Select</a:t>
            </a:r>
            <a:endParaRPr lang="en-US" sz="1800" dirty="0"/>
          </a:p>
        </p:txBody>
      </p:sp>
      <p:sp>
        <p:nvSpPr>
          <p:cNvPr id="12" name="Text 8"/>
          <p:cNvSpPr/>
          <p:nvPr/>
        </p:nvSpPr>
        <p:spPr>
          <a:xfrm>
            <a:off x="5029200" y="1828800"/>
            <a:ext cx="3566160" cy="7772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Only pull what is explicitly needed. Don't dump everything into the window. Use specific files, disable unnecessary tools.</a:t>
            </a:r>
            <a:endParaRPr lang="en-US" sz="1100" dirty="0"/>
          </a:p>
        </p:txBody>
      </p:sp>
      <p:sp>
        <p:nvSpPr>
          <p:cNvPr id="13" name="Shape 9"/>
          <p:cNvSpPr/>
          <p:nvPr/>
        </p:nvSpPr>
        <p:spPr>
          <a:xfrm>
            <a:off x="548640" y="2971800"/>
            <a:ext cx="3931920" cy="1691640"/>
          </a:xfrm>
          <a:prstGeom prst="rect">
            <a:avLst/>
          </a:prstGeom>
          <a:solidFill>
            <a:srgbClr val="F1F5F9"/>
          </a:solidFill>
          <a:ln/>
          <a:effectLst>
            <a:outerShdw sx="100000" sy="100000" kx="0" ky="0" algn="bl" rotWithShape="0" blurRad="50800" dist="25400" dir="8100000">
              <a:srgbClr val="000000">
                <a:alpha val="10000"/>
              </a:srgbClr>
            </a:outerShdw>
          </a:effectLst>
        </p:spPr>
      </p:sp>
      <p:sp>
        <p:nvSpPr>
          <p:cNvPr id="14" name="Shape 10"/>
          <p:cNvSpPr/>
          <p:nvPr/>
        </p:nvSpPr>
        <p:spPr>
          <a:xfrm>
            <a:off x="731520" y="3154680"/>
            <a:ext cx="502920" cy="502920"/>
          </a:xfrm>
          <a:prstGeom prst="ellipse">
            <a:avLst/>
          </a:prstGeom>
          <a:solidFill>
            <a:srgbClr val="0D9488"/>
          </a:solidFill>
          <a:ln/>
        </p:spPr>
      </p:sp>
      <p:pic>
        <p:nvPicPr>
          <p:cNvPr id="15" name="Image 2" descr="preencoded.png">    </p:cNvPr>
          <p:cNvPicPr>
            <a:picLocks noChangeAspect="1"/>
          </p:cNvPicPr>
          <p:nvPr/>
        </p:nvPicPr>
        <p:blipFill>
          <a:blip r:embed="rId3"/>
          <a:stretch>
            <a:fillRect/>
          </a:stretch>
        </p:blipFill>
        <p:spPr>
          <a:xfrm>
            <a:off x="850392" y="3273552"/>
            <a:ext cx="256032" cy="256032"/>
          </a:xfrm>
          <a:prstGeom prst="rect">
            <a:avLst/>
          </a:prstGeom>
        </p:spPr>
      </p:pic>
      <p:sp>
        <p:nvSpPr>
          <p:cNvPr id="16" name="Text 11"/>
          <p:cNvSpPr/>
          <p:nvPr/>
        </p:nvSpPr>
        <p:spPr>
          <a:xfrm>
            <a:off x="1371600" y="3154680"/>
            <a:ext cx="2743200" cy="320040"/>
          </a:xfrm>
          <a:prstGeom prst="rect">
            <a:avLst/>
          </a:prstGeom>
          <a:noFill/>
          <a:ln/>
        </p:spPr>
        <p:txBody>
          <a:bodyPr wrap="square" lIns="0" tIns="0" rIns="0" bIns="0" rtlCol="0" anchor="ctr"/>
          <a:lstStyle/>
          <a:p>
            <a:pPr indent="0" marL="0">
              <a:buNone/>
            </a:pPr>
            <a:r>
              <a:rPr lang="en-US" sz="1800" b="1" dirty="0">
                <a:solidFill>
                  <a:srgbClr val="1A2332"/>
                </a:solidFill>
                <a:latin typeface="Calibri" pitchFamily="34" charset="0"/>
                <a:ea typeface="Calibri" pitchFamily="34" charset="-122"/>
                <a:cs typeface="Calibri" pitchFamily="34" charset="-120"/>
              </a:rPr>
              <a:t>Compress</a:t>
            </a:r>
            <a:endParaRPr lang="en-US" sz="1800" dirty="0"/>
          </a:p>
        </p:txBody>
      </p:sp>
      <p:sp>
        <p:nvSpPr>
          <p:cNvPr id="17" name="Text 12"/>
          <p:cNvSpPr/>
          <p:nvPr/>
        </p:nvSpPr>
        <p:spPr>
          <a:xfrm>
            <a:off x="731520" y="3749040"/>
            <a:ext cx="3566160" cy="7772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After a long debugging session, have the AI summarize the core findings into a short summary. Start a fresh, clean session.</a:t>
            </a:r>
            <a:endParaRPr lang="en-US" sz="1100" dirty="0"/>
          </a:p>
        </p:txBody>
      </p:sp>
      <p:sp>
        <p:nvSpPr>
          <p:cNvPr id="18" name="Shape 13"/>
          <p:cNvSpPr/>
          <p:nvPr/>
        </p:nvSpPr>
        <p:spPr>
          <a:xfrm>
            <a:off x="4846320" y="2971800"/>
            <a:ext cx="3931920" cy="1691640"/>
          </a:xfrm>
          <a:prstGeom prst="rect">
            <a:avLst/>
          </a:prstGeom>
          <a:solidFill>
            <a:srgbClr val="F1F5F9"/>
          </a:solidFill>
          <a:ln/>
          <a:effectLst>
            <a:outerShdw sx="100000" sy="100000" kx="0" ky="0" algn="bl" rotWithShape="0" blurRad="50800" dist="25400" dir="8100000">
              <a:srgbClr val="000000">
                <a:alpha val="10000"/>
              </a:srgbClr>
            </a:outerShdw>
          </a:effectLst>
        </p:spPr>
      </p:sp>
      <p:sp>
        <p:nvSpPr>
          <p:cNvPr id="19" name="Shape 14"/>
          <p:cNvSpPr/>
          <p:nvPr/>
        </p:nvSpPr>
        <p:spPr>
          <a:xfrm>
            <a:off x="5029200" y="3154680"/>
            <a:ext cx="502920" cy="502920"/>
          </a:xfrm>
          <a:prstGeom prst="ellipse">
            <a:avLst/>
          </a:prstGeom>
          <a:solidFill>
            <a:srgbClr val="0D9488"/>
          </a:solidFill>
          <a:ln/>
        </p:spPr>
      </p:sp>
      <p:pic>
        <p:nvPicPr>
          <p:cNvPr id="20" name="Image 3" descr="preencoded.png">    </p:cNvPr>
          <p:cNvPicPr>
            <a:picLocks noChangeAspect="1"/>
          </p:cNvPicPr>
          <p:nvPr/>
        </p:nvPicPr>
        <p:blipFill>
          <a:blip r:embed="rId4"/>
          <a:stretch>
            <a:fillRect/>
          </a:stretch>
        </p:blipFill>
        <p:spPr>
          <a:xfrm>
            <a:off x="5148072" y="3273552"/>
            <a:ext cx="256032" cy="256032"/>
          </a:xfrm>
          <a:prstGeom prst="rect">
            <a:avLst/>
          </a:prstGeom>
        </p:spPr>
      </p:pic>
      <p:sp>
        <p:nvSpPr>
          <p:cNvPr id="21" name="Text 15"/>
          <p:cNvSpPr/>
          <p:nvPr/>
        </p:nvSpPr>
        <p:spPr>
          <a:xfrm>
            <a:off x="5669280" y="3154680"/>
            <a:ext cx="2743200" cy="320040"/>
          </a:xfrm>
          <a:prstGeom prst="rect">
            <a:avLst/>
          </a:prstGeom>
          <a:noFill/>
          <a:ln/>
        </p:spPr>
        <p:txBody>
          <a:bodyPr wrap="square" lIns="0" tIns="0" rIns="0" bIns="0" rtlCol="0" anchor="ctr"/>
          <a:lstStyle/>
          <a:p>
            <a:pPr indent="0" marL="0">
              <a:buNone/>
            </a:pPr>
            <a:r>
              <a:rPr lang="en-US" sz="1800" b="1" dirty="0">
                <a:solidFill>
                  <a:srgbClr val="1A2332"/>
                </a:solidFill>
                <a:latin typeface="Calibri" pitchFamily="34" charset="0"/>
                <a:ea typeface="Calibri" pitchFamily="34" charset="-122"/>
                <a:cs typeface="Calibri" pitchFamily="34" charset="-120"/>
              </a:rPr>
              <a:t>Isolate</a:t>
            </a:r>
            <a:endParaRPr lang="en-US" sz="1800" dirty="0"/>
          </a:p>
        </p:txBody>
      </p:sp>
      <p:sp>
        <p:nvSpPr>
          <p:cNvPr id="22" name="Text 16"/>
          <p:cNvSpPr/>
          <p:nvPr/>
        </p:nvSpPr>
        <p:spPr>
          <a:xfrm>
            <a:off x="5029200" y="3749040"/>
            <a:ext cx="3566160" cy="7772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Enforce task separation. Split work across parallel agents scoped to one task, preventing token accumulation across concerns.</a:t>
            </a:r>
            <a:endParaRPr lang="en-US" sz="1100" dirty="0"/>
          </a:p>
        </p:txBody>
      </p:sp>
      <p:sp>
        <p:nvSpPr>
          <p:cNvPr id="23" name="Text 17"/>
          <p:cNvSpPr/>
          <p:nvPr/>
        </p:nvSpPr>
        <p:spPr>
          <a:xfrm>
            <a:off x="8229600" y="4754880"/>
            <a:ext cx="64008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9 / 23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indent="0" marL="0">
              <a:buNone/>
            </a:pPr>
            <a:r>
              <a:rPr lang="en-US" sz="3000" b="1" dirty="0">
                <a:solidFill>
                  <a:srgbClr val="1A2332"/>
                </a:solidFill>
                <a:latin typeface="Calibri" pitchFamily="34" charset="0"/>
                <a:ea typeface="Calibri" pitchFamily="34" charset="-122"/>
                <a:cs typeface="Calibri" pitchFamily="34" charset="-120"/>
              </a:rPr>
              <a:t>Context Engineering: Practical Tips</a:t>
            </a:r>
            <a:endParaRPr lang="en-US" sz="3000" dirty="0"/>
          </a:p>
        </p:txBody>
      </p:sp>
      <p:sp>
        <p:nvSpPr>
          <p:cNvPr id="3" name="Shape 1"/>
          <p:cNvSpPr/>
          <p:nvPr/>
        </p:nvSpPr>
        <p:spPr>
          <a:xfrm>
            <a:off x="548640" y="1051560"/>
            <a:ext cx="3931920" cy="1691640"/>
          </a:xfrm>
          <a:prstGeom prst="rect">
            <a:avLst/>
          </a:prstGeom>
          <a:solidFill>
            <a:srgbClr val="F0FDFA"/>
          </a:solidFill>
          <a:ln/>
          <a:effectLst>
            <a:outerShdw sx="100000" sy="100000" kx="0" ky="0" algn="bl" rotWithShape="0" blurRad="50800" dist="25400" dir="8100000">
              <a:srgbClr val="000000">
                <a:alpha val="10000"/>
              </a:srgbClr>
            </a:outerShdw>
          </a:effectLst>
        </p:spPr>
      </p:sp>
      <p:sp>
        <p:nvSpPr>
          <p:cNvPr id="4" name="Shape 2"/>
          <p:cNvSpPr/>
          <p:nvPr/>
        </p:nvSpPr>
        <p:spPr>
          <a:xfrm>
            <a:off x="548640" y="1051560"/>
            <a:ext cx="54864" cy="1691640"/>
          </a:xfrm>
          <a:prstGeom prst="rect">
            <a:avLst/>
          </a:prstGeom>
          <a:solidFill>
            <a:srgbClr val="0D9488"/>
          </a:solidFill>
          <a:ln/>
        </p:spPr>
      </p:sp>
      <p:sp>
        <p:nvSpPr>
          <p:cNvPr id="5" name="Text 3"/>
          <p:cNvSpPr/>
          <p:nvPr/>
        </p:nvSpPr>
        <p:spPr>
          <a:xfrm>
            <a:off x="777240" y="1143000"/>
            <a:ext cx="3474720" cy="274320"/>
          </a:xfrm>
          <a:prstGeom prst="rect">
            <a:avLst/>
          </a:prstGeom>
          <a:noFill/>
          <a:ln/>
        </p:spPr>
        <p:txBody>
          <a:bodyPr wrap="square" lIns="0" tIns="0" rIns="0" bIns="0" rtlCol="0" anchor="ctr"/>
          <a:lstStyle/>
          <a:p>
            <a:pPr indent="0" marL="0">
              <a:buNone/>
            </a:pPr>
            <a:r>
              <a:rPr lang="en-US" sz="1400" b="1" dirty="0">
                <a:solidFill>
                  <a:srgbClr val="1A2332"/>
                </a:solidFill>
                <a:latin typeface="Calibri" pitchFamily="34" charset="0"/>
                <a:ea typeface="Calibri" pitchFamily="34" charset="-122"/>
                <a:cs typeface="Calibri" pitchFamily="34" charset="-120"/>
              </a:rPr>
              <a:t>agent.md Files</a:t>
            </a:r>
            <a:endParaRPr lang="en-US" sz="1400" dirty="0"/>
          </a:p>
        </p:txBody>
      </p:sp>
      <p:sp>
        <p:nvSpPr>
          <p:cNvPr id="6" name="Text 4"/>
          <p:cNvSpPr/>
          <p:nvPr/>
        </p:nvSpPr>
        <p:spPr>
          <a:xfrm>
            <a:off x="777240" y="1508760"/>
            <a:ext cx="3474720" cy="1097280"/>
          </a:xfrm>
          <a:prstGeom prst="rect">
            <a:avLst/>
          </a:prstGeom>
          <a:noFill/>
          <a:ln/>
        </p:spPr>
        <p:txBody>
          <a:bodyPr wrap="square" rtlCol="0" anchor="ctr"/>
          <a:lstStyle/>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Store project conventions, architecture decisions, and coding standards</a:t>
            </a:r>
            <a:endParaRPr lang="en-US" sz="1100" dirty="0"/>
          </a:p>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Keep it concise — under 500 lines ideally</a:t>
            </a:r>
            <a:endParaRPr lang="en-US" sz="1100" dirty="0"/>
          </a:p>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Update it as the project evolves</a:t>
            </a:r>
            <a:endParaRPr lang="en-US" sz="1100" dirty="0"/>
          </a:p>
        </p:txBody>
      </p:sp>
      <p:sp>
        <p:nvSpPr>
          <p:cNvPr id="7" name="Shape 5"/>
          <p:cNvSpPr/>
          <p:nvPr/>
        </p:nvSpPr>
        <p:spPr>
          <a:xfrm>
            <a:off x="4846320" y="1051560"/>
            <a:ext cx="3931920" cy="1691640"/>
          </a:xfrm>
          <a:prstGeom prst="rect">
            <a:avLst/>
          </a:prstGeom>
          <a:solidFill>
            <a:srgbClr val="F0FDFA"/>
          </a:solidFill>
          <a:ln/>
          <a:effectLst>
            <a:outerShdw sx="100000" sy="100000" kx="0" ky="0" algn="bl" rotWithShape="0" blurRad="50800" dist="25400" dir="8100000">
              <a:srgbClr val="000000">
                <a:alpha val="10000"/>
              </a:srgbClr>
            </a:outerShdw>
          </a:effectLst>
        </p:spPr>
      </p:sp>
      <p:sp>
        <p:nvSpPr>
          <p:cNvPr id="8" name="Shape 6"/>
          <p:cNvSpPr/>
          <p:nvPr/>
        </p:nvSpPr>
        <p:spPr>
          <a:xfrm>
            <a:off x="4846320" y="1051560"/>
            <a:ext cx="54864" cy="1691640"/>
          </a:xfrm>
          <a:prstGeom prst="rect">
            <a:avLst/>
          </a:prstGeom>
          <a:solidFill>
            <a:srgbClr val="0D9488"/>
          </a:solidFill>
          <a:ln/>
        </p:spPr>
      </p:sp>
      <p:sp>
        <p:nvSpPr>
          <p:cNvPr id="9" name="Text 7"/>
          <p:cNvSpPr/>
          <p:nvPr/>
        </p:nvSpPr>
        <p:spPr>
          <a:xfrm>
            <a:off x="5074920" y="1143000"/>
            <a:ext cx="3474720" cy="274320"/>
          </a:xfrm>
          <a:prstGeom prst="rect">
            <a:avLst/>
          </a:prstGeom>
          <a:noFill/>
          <a:ln/>
        </p:spPr>
        <p:txBody>
          <a:bodyPr wrap="square" lIns="0" tIns="0" rIns="0" bIns="0" rtlCol="0" anchor="ctr"/>
          <a:lstStyle/>
          <a:p>
            <a:pPr indent="0" marL="0">
              <a:buNone/>
            </a:pPr>
            <a:r>
              <a:rPr lang="en-US" sz="1400" b="1" dirty="0">
                <a:solidFill>
                  <a:srgbClr val="1A2332"/>
                </a:solidFill>
                <a:latin typeface="Calibri" pitchFamily="34" charset="0"/>
                <a:ea typeface="Calibri" pitchFamily="34" charset="-122"/>
                <a:cs typeface="Calibri" pitchFamily="34" charset="-120"/>
              </a:rPr>
              <a:t>Selective Context</a:t>
            </a:r>
            <a:endParaRPr lang="en-US" sz="1400" dirty="0"/>
          </a:p>
        </p:txBody>
      </p:sp>
      <p:sp>
        <p:nvSpPr>
          <p:cNvPr id="10" name="Text 8"/>
          <p:cNvSpPr/>
          <p:nvPr/>
        </p:nvSpPr>
        <p:spPr>
          <a:xfrm>
            <a:off x="5074920" y="1508760"/>
            <a:ext cx="3474720" cy="1097280"/>
          </a:xfrm>
          <a:prstGeom prst="rect">
            <a:avLst/>
          </a:prstGeom>
          <a:noFill/>
          <a:ln/>
        </p:spPr>
        <p:txBody>
          <a:bodyPr wrap="square" rtlCol="0" anchor="ctr"/>
          <a:lstStyle/>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Point agents at specific files, not entire repos</a:t>
            </a:r>
            <a:endParaRPr lang="en-US" sz="1100" dirty="0"/>
          </a:p>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Use .gitignore-style rules to exclude noise</a:t>
            </a:r>
            <a:endParaRPr lang="en-US" sz="1100" dirty="0"/>
          </a:p>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Disable tools the agent doesn't need for a task</a:t>
            </a:r>
            <a:endParaRPr lang="en-US" sz="1100" dirty="0"/>
          </a:p>
        </p:txBody>
      </p:sp>
      <p:sp>
        <p:nvSpPr>
          <p:cNvPr id="11" name="Shape 9"/>
          <p:cNvSpPr/>
          <p:nvPr/>
        </p:nvSpPr>
        <p:spPr>
          <a:xfrm>
            <a:off x="548640" y="2971800"/>
            <a:ext cx="3931920" cy="1691640"/>
          </a:xfrm>
          <a:prstGeom prst="rect">
            <a:avLst/>
          </a:prstGeom>
          <a:solidFill>
            <a:srgbClr val="F0FDFA"/>
          </a:solidFill>
          <a:ln/>
          <a:effectLst>
            <a:outerShdw sx="100000" sy="100000" kx="0" ky="0" algn="bl" rotWithShape="0" blurRad="50800" dist="25400" dir="8100000">
              <a:srgbClr val="000000">
                <a:alpha val="10000"/>
              </a:srgbClr>
            </a:outerShdw>
          </a:effectLst>
        </p:spPr>
      </p:sp>
      <p:sp>
        <p:nvSpPr>
          <p:cNvPr id="12" name="Shape 10"/>
          <p:cNvSpPr/>
          <p:nvPr/>
        </p:nvSpPr>
        <p:spPr>
          <a:xfrm>
            <a:off x="548640" y="2971800"/>
            <a:ext cx="54864" cy="1691640"/>
          </a:xfrm>
          <a:prstGeom prst="rect">
            <a:avLst/>
          </a:prstGeom>
          <a:solidFill>
            <a:srgbClr val="0D9488"/>
          </a:solidFill>
          <a:ln/>
        </p:spPr>
      </p:sp>
      <p:sp>
        <p:nvSpPr>
          <p:cNvPr id="13" name="Text 11"/>
          <p:cNvSpPr/>
          <p:nvPr/>
        </p:nvSpPr>
        <p:spPr>
          <a:xfrm>
            <a:off x="777240" y="3063240"/>
            <a:ext cx="3474720" cy="274320"/>
          </a:xfrm>
          <a:prstGeom prst="rect">
            <a:avLst/>
          </a:prstGeom>
          <a:noFill/>
          <a:ln/>
        </p:spPr>
        <p:txBody>
          <a:bodyPr wrap="square" lIns="0" tIns="0" rIns="0" bIns="0" rtlCol="0" anchor="ctr"/>
          <a:lstStyle/>
          <a:p>
            <a:pPr indent="0" marL="0">
              <a:buNone/>
            </a:pPr>
            <a:r>
              <a:rPr lang="en-US" sz="1400" b="1" dirty="0">
                <a:solidFill>
                  <a:srgbClr val="1A2332"/>
                </a:solidFill>
                <a:latin typeface="Calibri" pitchFamily="34" charset="0"/>
                <a:ea typeface="Calibri" pitchFamily="34" charset="-122"/>
                <a:cs typeface="Calibri" pitchFamily="34" charset="-120"/>
              </a:rPr>
              <a:t>Session Hygiene</a:t>
            </a:r>
            <a:endParaRPr lang="en-US" sz="1400" dirty="0"/>
          </a:p>
        </p:txBody>
      </p:sp>
      <p:sp>
        <p:nvSpPr>
          <p:cNvPr id="14" name="Text 12"/>
          <p:cNvSpPr/>
          <p:nvPr/>
        </p:nvSpPr>
        <p:spPr>
          <a:xfrm>
            <a:off x="777240" y="3429000"/>
            <a:ext cx="3474720" cy="1097280"/>
          </a:xfrm>
          <a:prstGeom prst="rect">
            <a:avLst/>
          </a:prstGeom>
          <a:noFill/>
          <a:ln/>
        </p:spPr>
        <p:txBody>
          <a:bodyPr wrap="square" rtlCol="0" anchor="ctr"/>
          <a:lstStyle/>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Start fresh conversations for new tasks</a:t>
            </a:r>
            <a:endParaRPr lang="en-US" sz="1100" dirty="0"/>
          </a:p>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Summarize findings before switching context</a:t>
            </a:r>
            <a:endParaRPr lang="en-US" sz="1100" dirty="0"/>
          </a:p>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Never let sessions exceed ~50% context capacity</a:t>
            </a:r>
            <a:endParaRPr lang="en-US" sz="1100" dirty="0"/>
          </a:p>
        </p:txBody>
      </p:sp>
      <p:sp>
        <p:nvSpPr>
          <p:cNvPr id="15" name="Shape 13"/>
          <p:cNvSpPr/>
          <p:nvPr/>
        </p:nvSpPr>
        <p:spPr>
          <a:xfrm>
            <a:off x="4846320" y="2971800"/>
            <a:ext cx="3931920" cy="1691640"/>
          </a:xfrm>
          <a:prstGeom prst="rect">
            <a:avLst/>
          </a:prstGeom>
          <a:solidFill>
            <a:srgbClr val="F0FDFA"/>
          </a:solidFill>
          <a:ln/>
          <a:effectLst>
            <a:outerShdw sx="100000" sy="100000" kx="0" ky="0" algn="bl" rotWithShape="0" blurRad="50800" dist="25400" dir="8100000">
              <a:srgbClr val="000000">
                <a:alpha val="10000"/>
              </a:srgbClr>
            </a:outerShdw>
          </a:effectLst>
        </p:spPr>
      </p:sp>
      <p:sp>
        <p:nvSpPr>
          <p:cNvPr id="16" name="Shape 14"/>
          <p:cNvSpPr/>
          <p:nvPr/>
        </p:nvSpPr>
        <p:spPr>
          <a:xfrm>
            <a:off x="4846320" y="2971800"/>
            <a:ext cx="54864" cy="1691640"/>
          </a:xfrm>
          <a:prstGeom prst="rect">
            <a:avLst/>
          </a:prstGeom>
          <a:solidFill>
            <a:srgbClr val="0D9488"/>
          </a:solidFill>
          <a:ln/>
        </p:spPr>
      </p:sp>
      <p:sp>
        <p:nvSpPr>
          <p:cNvPr id="17" name="Text 15"/>
          <p:cNvSpPr/>
          <p:nvPr/>
        </p:nvSpPr>
        <p:spPr>
          <a:xfrm>
            <a:off x="5074920" y="3063240"/>
            <a:ext cx="3474720" cy="274320"/>
          </a:xfrm>
          <a:prstGeom prst="rect">
            <a:avLst/>
          </a:prstGeom>
          <a:noFill/>
          <a:ln/>
        </p:spPr>
        <p:txBody>
          <a:bodyPr wrap="square" lIns="0" tIns="0" rIns="0" bIns="0" rtlCol="0" anchor="ctr"/>
          <a:lstStyle/>
          <a:p>
            <a:pPr indent="0" marL="0">
              <a:buNone/>
            </a:pPr>
            <a:r>
              <a:rPr lang="en-US" sz="1400" b="1" dirty="0">
                <a:solidFill>
                  <a:srgbClr val="1A2332"/>
                </a:solidFill>
                <a:latin typeface="Calibri" pitchFamily="34" charset="0"/>
                <a:ea typeface="Calibri" pitchFamily="34" charset="-122"/>
                <a:cs typeface="Calibri" pitchFamily="34" charset="-120"/>
              </a:rPr>
              <a:t>Parallel Isolation</a:t>
            </a:r>
            <a:endParaRPr lang="en-US" sz="1400" dirty="0"/>
          </a:p>
        </p:txBody>
      </p:sp>
      <p:sp>
        <p:nvSpPr>
          <p:cNvPr id="18" name="Text 16"/>
          <p:cNvSpPr/>
          <p:nvPr/>
        </p:nvSpPr>
        <p:spPr>
          <a:xfrm>
            <a:off x="5074920" y="3429000"/>
            <a:ext cx="3474720" cy="1097280"/>
          </a:xfrm>
          <a:prstGeom prst="rect">
            <a:avLst/>
          </a:prstGeom>
          <a:noFill/>
          <a:ln/>
        </p:spPr>
        <p:txBody>
          <a:bodyPr wrap="square" rtlCol="0" anchor="ctr"/>
          <a:lstStyle/>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One agent per concern (tests, implementation, docs)</a:t>
            </a:r>
            <a:endParaRPr lang="en-US" sz="1100" dirty="0"/>
          </a:p>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Use sub-agents or worktrees for parallelism</a:t>
            </a:r>
            <a:endParaRPr lang="en-US" sz="1100" dirty="0"/>
          </a:p>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Each agent gets only the files it needs</a:t>
            </a:r>
            <a:endParaRPr lang="en-US" sz="1100" dirty="0"/>
          </a:p>
        </p:txBody>
      </p:sp>
      <p:sp>
        <p:nvSpPr>
          <p:cNvPr id="19" name="Text 17"/>
          <p:cNvSpPr/>
          <p:nvPr/>
        </p:nvSpPr>
        <p:spPr>
          <a:xfrm>
            <a:off x="8229600" y="4754880"/>
            <a:ext cx="64008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10 / 23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indent="0" marL="0">
              <a:buNone/>
            </a:pPr>
            <a:r>
              <a:rPr lang="en-US" sz="3200" b="1" dirty="0">
                <a:solidFill>
                  <a:srgbClr val="1A2332"/>
                </a:solidFill>
                <a:latin typeface="Calibri" pitchFamily="34" charset="0"/>
                <a:ea typeface="Calibri" pitchFamily="34" charset="-122"/>
                <a:cs typeface="Calibri" pitchFamily="34" charset="-120"/>
              </a:rPr>
              <a:t>The High-Leverage Loop</a:t>
            </a:r>
            <a:endParaRPr lang="en-US" sz="3200" dirty="0"/>
          </a:p>
        </p:txBody>
      </p:sp>
      <p:sp>
        <p:nvSpPr>
          <p:cNvPr id="3" name="Shape 1"/>
          <p:cNvSpPr/>
          <p:nvPr/>
        </p:nvSpPr>
        <p:spPr>
          <a:xfrm>
            <a:off x="548640" y="1051560"/>
            <a:ext cx="2560320" cy="1463040"/>
          </a:xfrm>
          <a:prstGeom prst="rect">
            <a:avLst/>
          </a:prstGeom>
          <a:solidFill>
            <a:srgbClr val="0D9488"/>
          </a:solidFill>
          <a:ln/>
          <a:effectLst>
            <a:outerShdw sx="100000" sy="100000" kx="0" ky="0" algn="bl" rotWithShape="0" blurRad="50800" dist="25400" dir="8100000">
              <a:srgbClr val="000000">
                <a:alpha val="10000"/>
              </a:srgbClr>
            </a:outerShdw>
          </a:effectLst>
        </p:spPr>
      </p:sp>
      <p:sp>
        <p:nvSpPr>
          <p:cNvPr id="4" name="Text 2"/>
          <p:cNvSpPr/>
          <p:nvPr/>
        </p:nvSpPr>
        <p:spPr>
          <a:xfrm>
            <a:off x="548640" y="1143000"/>
            <a:ext cx="2560320" cy="274320"/>
          </a:xfrm>
          <a:prstGeom prst="rect">
            <a:avLst/>
          </a:prstGeom>
          <a:noFill/>
          <a:ln/>
        </p:spPr>
        <p:txBody>
          <a:bodyPr wrap="square" lIns="0" tIns="0" rIns="0" bIns="0" rtlCol="0" anchor="ctr"/>
          <a:lstStyle/>
          <a:p>
            <a:pPr algn="ctr" indent="0" marL="0">
              <a:buNone/>
            </a:pPr>
            <a:r>
              <a:rPr lang="en-US" sz="1400" b="1" dirty="0">
                <a:solidFill>
                  <a:srgbClr val="CBD5E1"/>
                </a:solidFill>
                <a:latin typeface="Calibri" pitchFamily="34" charset="0"/>
                <a:ea typeface="Calibri" pitchFamily="34" charset="-122"/>
                <a:cs typeface="Calibri" pitchFamily="34" charset="-120"/>
              </a:rPr>
              <a:t>[1]</a:t>
            </a:r>
            <a:endParaRPr lang="en-US" sz="1400" dirty="0"/>
          </a:p>
        </p:txBody>
      </p:sp>
      <p:sp>
        <p:nvSpPr>
          <p:cNvPr id="5" name="Text 3"/>
          <p:cNvSpPr/>
          <p:nvPr/>
        </p:nvSpPr>
        <p:spPr>
          <a:xfrm>
            <a:off x="548640" y="1417320"/>
            <a:ext cx="2560320" cy="3657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RESEARCH</a:t>
            </a:r>
            <a:endParaRPr lang="en-US" sz="2200" dirty="0"/>
          </a:p>
        </p:txBody>
      </p:sp>
      <p:sp>
        <p:nvSpPr>
          <p:cNvPr id="6" name="Text 4"/>
          <p:cNvSpPr/>
          <p:nvPr/>
        </p:nvSpPr>
        <p:spPr>
          <a:xfrm>
            <a:off x="548640" y="1783080"/>
            <a:ext cx="2560320" cy="274320"/>
          </a:xfrm>
          <a:prstGeom prst="rect">
            <a:avLst/>
          </a:prstGeom>
          <a:noFill/>
          <a:ln/>
        </p:spPr>
        <p:txBody>
          <a:bodyPr wrap="square" lIns="0" tIns="0" rIns="0" bIns="0" rtlCol="0" anchor="ctr"/>
          <a:lstStyle/>
          <a:p>
            <a:pPr algn="ctr" indent="0" marL="0">
              <a:buNone/>
            </a:pPr>
            <a:r>
              <a:rPr lang="en-US" sz="1100" dirty="0">
                <a:solidFill>
                  <a:srgbClr val="CBD5E1"/>
                </a:solidFill>
                <a:latin typeface="Calibri" pitchFamily="34" charset="0"/>
                <a:ea typeface="Calibri" pitchFamily="34" charset="-122"/>
                <a:cs typeface="Calibri" pitchFamily="34" charset="-120"/>
              </a:rPr>
              <a:t>Focus: Understanding</a:t>
            </a:r>
            <a:endParaRPr lang="en-US" sz="1100" dirty="0"/>
          </a:p>
        </p:txBody>
      </p:sp>
      <p:pic>
        <p:nvPicPr>
          <p:cNvPr id="7" name="Image 0" descr="preencoded.png">    </p:cNvPr>
          <p:cNvPicPr>
            <a:picLocks noChangeAspect="1"/>
          </p:cNvPicPr>
          <p:nvPr/>
        </p:nvPicPr>
        <p:blipFill>
          <a:blip r:embed="rId1"/>
          <a:stretch>
            <a:fillRect/>
          </a:stretch>
        </p:blipFill>
        <p:spPr>
          <a:xfrm>
            <a:off x="3200400" y="1645920"/>
            <a:ext cx="201168" cy="201168"/>
          </a:xfrm>
          <a:prstGeom prst="rect">
            <a:avLst/>
          </a:prstGeom>
        </p:spPr>
      </p:pic>
      <p:sp>
        <p:nvSpPr>
          <p:cNvPr id="8" name="Shape 5"/>
          <p:cNvSpPr/>
          <p:nvPr/>
        </p:nvSpPr>
        <p:spPr>
          <a:xfrm>
            <a:off x="3474720" y="1051560"/>
            <a:ext cx="2560320" cy="1463040"/>
          </a:xfrm>
          <a:prstGeom prst="rect">
            <a:avLst/>
          </a:prstGeom>
          <a:solidFill>
            <a:srgbClr val="0F766E"/>
          </a:solidFill>
          <a:ln/>
          <a:effectLst>
            <a:outerShdw sx="100000" sy="100000" kx="0" ky="0" algn="bl" rotWithShape="0" blurRad="50800" dist="25400" dir="8100000">
              <a:srgbClr val="000000">
                <a:alpha val="10000"/>
              </a:srgbClr>
            </a:outerShdw>
          </a:effectLst>
        </p:spPr>
      </p:sp>
      <p:sp>
        <p:nvSpPr>
          <p:cNvPr id="9" name="Text 6"/>
          <p:cNvSpPr/>
          <p:nvPr/>
        </p:nvSpPr>
        <p:spPr>
          <a:xfrm>
            <a:off x="3474720" y="1143000"/>
            <a:ext cx="2560320" cy="274320"/>
          </a:xfrm>
          <a:prstGeom prst="rect">
            <a:avLst/>
          </a:prstGeom>
          <a:noFill/>
          <a:ln/>
        </p:spPr>
        <p:txBody>
          <a:bodyPr wrap="square" lIns="0" tIns="0" rIns="0" bIns="0" rtlCol="0" anchor="ctr"/>
          <a:lstStyle/>
          <a:p>
            <a:pPr algn="ctr" indent="0" marL="0">
              <a:buNone/>
            </a:pPr>
            <a:r>
              <a:rPr lang="en-US" sz="1400" b="1" dirty="0">
                <a:solidFill>
                  <a:srgbClr val="CBD5E1"/>
                </a:solidFill>
                <a:latin typeface="Calibri" pitchFamily="34" charset="0"/>
                <a:ea typeface="Calibri" pitchFamily="34" charset="-122"/>
                <a:cs typeface="Calibri" pitchFamily="34" charset="-120"/>
              </a:rPr>
              <a:t>[2]</a:t>
            </a:r>
            <a:endParaRPr lang="en-US" sz="1400" dirty="0"/>
          </a:p>
        </p:txBody>
      </p:sp>
      <p:sp>
        <p:nvSpPr>
          <p:cNvPr id="10" name="Text 7"/>
          <p:cNvSpPr/>
          <p:nvPr/>
        </p:nvSpPr>
        <p:spPr>
          <a:xfrm>
            <a:off x="3474720" y="1417320"/>
            <a:ext cx="2560320" cy="3657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PLAN</a:t>
            </a:r>
            <a:endParaRPr lang="en-US" sz="2200" dirty="0"/>
          </a:p>
        </p:txBody>
      </p:sp>
      <p:sp>
        <p:nvSpPr>
          <p:cNvPr id="11" name="Text 8"/>
          <p:cNvSpPr/>
          <p:nvPr/>
        </p:nvSpPr>
        <p:spPr>
          <a:xfrm>
            <a:off x="3474720" y="1783080"/>
            <a:ext cx="2560320" cy="274320"/>
          </a:xfrm>
          <a:prstGeom prst="rect">
            <a:avLst/>
          </a:prstGeom>
          <a:noFill/>
          <a:ln/>
        </p:spPr>
        <p:txBody>
          <a:bodyPr wrap="square" lIns="0" tIns="0" rIns="0" bIns="0" rtlCol="0" anchor="ctr"/>
          <a:lstStyle/>
          <a:p>
            <a:pPr algn="ctr" indent="0" marL="0">
              <a:buNone/>
            </a:pPr>
            <a:r>
              <a:rPr lang="en-US" sz="1100" dirty="0">
                <a:solidFill>
                  <a:srgbClr val="CBD5E1"/>
                </a:solidFill>
                <a:latin typeface="Calibri" pitchFamily="34" charset="0"/>
                <a:ea typeface="Calibri" pitchFamily="34" charset="-122"/>
                <a:cs typeface="Calibri" pitchFamily="34" charset="-120"/>
              </a:rPr>
              <a:t>Focus: Strategy</a:t>
            </a:r>
            <a:endParaRPr lang="en-US" sz="1100" dirty="0"/>
          </a:p>
        </p:txBody>
      </p:sp>
      <p:pic>
        <p:nvPicPr>
          <p:cNvPr id="12" name="Image 1" descr="preencoded.png">    </p:cNvPr>
          <p:cNvPicPr>
            <a:picLocks noChangeAspect="1"/>
          </p:cNvPicPr>
          <p:nvPr/>
        </p:nvPicPr>
        <p:blipFill>
          <a:blip r:embed="rId2"/>
          <a:stretch>
            <a:fillRect/>
          </a:stretch>
        </p:blipFill>
        <p:spPr>
          <a:xfrm>
            <a:off x="6126480" y="1645920"/>
            <a:ext cx="201168" cy="201168"/>
          </a:xfrm>
          <a:prstGeom prst="rect">
            <a:avLst/>
          </a:prstGeom>
        </p:spPr>
      </p:pic>
      <p:sp>
        <p:nvSpPr>
          <p:cNvPr id="13" name="Shape 9"/>
          <p:cNvSpPr/>
          <p:nvPr/>
        </p:nvSpPr>
        <p:spPr>
          <a:xfrm>
            <a:off x="6400800" y="1051560"/>
            <a:ext cx="2560320" cy="1463040"/>
          </a:xfrm>
          <a:prstGeom prst="rect">
            <a:avLst/>
          </a:prstGeom>
          <a:solidFill>
            <a:srgbClr val="1A2332"/>
          </a:solidFill>
          <a:ln/>
          <a:effectLst>
            <a:outerShdw sx="100000" sy="100000" kx="0" ky="0" algn="bl" rotWithShape="0" blurRad="50800" dist="25400" dir="8100000">
              <a:srgbClr val="000000">
                <a:alpha val="10000"/>
              </a:srgbClr>
            </a:outerShdw>
          </a:effectLst>
        </p:spPr>
      </p:sp>
      <p:sp>
        <p:nvSpPr>
          <p:cNvPr id="14" name="Text 10"/>
          <p:cNvSpPr/>
          <p:nvPr/>
        </p:nvSpPr>
        <p:spPr>
          <a:xfrm>
            <a:off x="6400800" y="1143000"/>
            <a:ext cx="2560320" cy="274320"/>
          </a:xfrm>
          <a:prstGeom prst="rect">
            <a:avLst/>
          </a:prstGeom>
          <a:noFill/>
          <a:ln/>
        </p:spPr>
        <p:txBody>
          <a:bodyPr wrap="square" lIns="0" tIns="0" rIns="0" bIns="0" rtlCol="0" anchor="ctr"/>
          <a:lstStyle/>
          <a:p>
            <a:pPr algn="ctr" indent="0" marL="0">
              <a:buNone/>
            </a:pPr>
            <a:r>
              <a:rPr lang="en-US" sz="1400" b="1" dirty="0">
                <a:solidFill>
                  <a:srgbClr val="CBD5E1"/>
                </a:solidFill>
                <a:latin typeface="Calibri" pitchFamily="34" charset="0"/>
                <a:ea typeface="Calibri" pitchFamily="34" charset="-122"/>
                <a:cs typeface="Calibri" pitchFamily="34" charset="-120"/>
              </a:rPr>
              <a:t>[3]</a:t>
            </a:r>
            <a:endParaRPr lang="en-US" sz="1400" dirty="0"/>
          </a:p>
        </p:txBody>
      </p:sp>
      <p:sp>
        <p:nvSpPr>
          <p:cNvPr id="15" name="Text 11"/>
          <p:cNvSpPr/>
          <p:nvPr/>
        </p:nvSpPr>
        <p:spPr>
          <a:xfrm>
            <a:off x="6400800" y="1417320"/>
            <a:ext cx="2560320" cy="3657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IMPLEMENT</a:t>
            </a:r>
            <a:endParaRPr lang="en-US" sz="2200" dirty="0"/>
          </a:p>
        </p:txBody>
      </p:sp>
      <p:sp>
        <p:nvSpPr>
          <p:cNvPr id="16" name="Text 12"/>
          <p:cNvSpPr/>
          <p:nvPr/>
        </p:nvSpPr>
        <p:spPr>
          <a:xfrm>
            <a:off x="6400800" y="1783080"/>
            <a:ext cx="2560320" cy="274320"/>
          </a:xfrm>
          <a:prstGeom prst="rect">
            <a:avLst/>
          </a:prstGeom>
          <a:noFill/>
          <a:ln/>
        </p:spPr>
        <p:txBody>
          <a:bodyPr wrap="square" lIns="0" tIns="0" rIns="0" bIns="0" rtlCol="0" anchor="ctr"/>
          <a:lstStyle/>
          <a:p>
            <a:pPr algn="ctr" indent="0" marL="0">
              <a:buNone/>
            </a:pPr>
            <a:r>
              <a:rPr lang="en-US" sz="1100" dirty="0">
                <a:solidFill>
                  <a:srgbClr val="CBD5E1"/>
                </a:solidFill>
                <a:latin typeface="Calibri" pitchFamily="34" charset="0"/>
                <a:ea typeface="Calibri" pitchFamily="34" charset="-122"/>
                <a:cs typeface="Calibri" pitchFamily="34" charset="-120"/>
              </a:rPr>
              <a:t>Focus: Execution</a:t>
            </a:r>
            <a:endParaRPr lang="en-US" sz="1100" dirty="0"/>
          </a:p>
        </p:txBody>
      </p:sp>
      <p:sp>
        <p:nvSpPr>
          <p:cNvPr id="17" name="Shape 13"/>
          <p:cNvSpPr/>
          <p:nvPr/>
        </p:nvSpPr>
        <p:spPr>
          <a:xfrm>
            <a:off x="548640" y="2834640"/>
            <a:ext cx="8229600" cy="914400"/>
          </a:xfrm>
          <a:prstGeom prst="rect">
            <a:avLst/>
          </a:prstGeom>
          <a:solidFill>
            <a:srgbClr val="FEF2F2"/>
          </a:solidFill>
          <a:ln/>
        </p:spPr>
      </p:sp>
      <p:sp>
        <p:nvSpPr>
          <p:cNvPr id="18" name="Shape 14"/>
          <p:cNvSpPr/>
          <p:nvPr/>
        </p:nvSpPr>
        <p:spPr>
          <a:xfrm>
            <a:off x="548640" y="2834640"/>
            <a:ext cx="54864" cy="914400"/>
          </a:xfrm>
          <a:prstGeom prst="rect">
            <a:avLst/>
          </a:prstGeom>
          <a:solidFill>
            <a:srgbClr val="EF4444"/>
          </a:solidFill>
          <a:ln/>
        </p:spPr>
      </p:sp>
      <p:pic>
        <p:nvPicPr>
          <p:cNvPr id="19" name="Image 2" descr="preencoded.png">    </p:cNvPr>
          <p:cNvPicPr>
            <a:picLocks noChangeAspect="1"/>
          </p:cNvPicPr>
          <p:nvPr/>
        </p:nvPicPr>
        <p:blipFill>
          <a:blip r:embed="rId3"/>
          <a:stretch>
            <a:fillRect/>
          </a:stretch>
        </p:blipFill>
        <p:spPr>
          <a:xfrm>
            <a:off x="777240" y="2971800"/>
            <a:ext cx="228600" cy="228600"/>
          </a:xfrm>
          <a:prstGeom prst="rect">
            <a:avLst/>
          </a:prstGeom>
        </p:spPr>
      </p:pic>
      <p:sp>
        <p:nvSpPr>
          <p:cNvPr id="20" name="Text 15"/>
          <p:cNvSpPr/>
          <p:nvPr/>
        </p:nvSpPr>
        <p:spPr>
          <a:xfrm>
            <a:off x="1143000" y="2926080"/>
            <a:ext cx="4572000" cy="274320"/>
          </a:xfrm>
          <a:prstGeom prst="rect">
            <a:avLst/>
          </a:prstGeom>
          <a:noFill/>
          <a:ln/>
        </p:spPr>
        <p:txBody>
          <a:bodyPr wrap="square" lIns="0" tIns="0" rIns="0" bIns="0" rtlCol="0" anchor="ctr"/>
          <a:lstStyle/>
          <a:p>
            <a:pPr indent="0" marL="0">
              <a:buNone/>
            </a:pPr>
            <a:r>
              <a:rPr lang="en-US" sz="1300" b="1" dirty="0">
                <a:solidFill>
                  <a:srgbClr val="EF4444"/>
                </a:solidFill>
                <a:latin typeface="Calibri" pitchFamily="34" charset="0"/>
                <a:ea typeface="Calibri" pitchFamily="34" charset="-122"/>
                <a:cs typeface="Calibri" pitchFamily="34" charset="-120"/>
              </a:rPr>
              <a:t>Common Anti-Pattern</a:t>
            </a:r>
            <a:endParaRPr lang="en-US" sz="1300" dirty="0"/>
          </a:p>
        </p:txBody>
      </p:sp>
      <p:sp>
        <p:nvSpPr>
          <p:cNvPr id="21" name="Text 16"/>
          <p:cNvSpPr/>
          <p:nvPr/>
        </p:nvSpPr>
        <p:spPr>
          <a:xfrm>
            <a:off x="1143000" y="3200400"/>
            <a:ext cx="7315200" cy="457200"/>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Jumping straight to implementation is the most common failure mode. A bad line of research leads to hundreds of lines of bad code.</a:t>
            </a:r>
            <a:endParaRPr lang="en-US" sz="1150" dirty="0"/>
          </a:p>
        </p:txBody>
      </p:sp>
      <p:sp>
        <p:nvSpPr>
          <p:cNvPr id="22" name="Shape 17"/>
          <p:cNvSpPr/>
          <p:nvPr/>
        </p:nvSpPr>
        <p:spPr>
          <a:xfrm>
            <a:off x="548640" y="4023360"/>
            <a:ext cx="8229600" cy="822960"/>
          </a:xfrm>
          <a:prstGeom prst="rect">
            <a:avLst/>
          </a:prstGeom>
          <a:solidFill>
            <a:srgbClr val="F0FDFA"/>
          </a:solidFill>
          <a:ln/>
        </p:spPr>
      </p:sp>
      <p:sp>
        <p:nvSpPr>
          <p:cNvPr id="23" name="Shape 18"/>
          <p:cNvSpPr/>
          <p:nvPr/>
        </p:nvSpPr>
        <p:spPr>
          <a:xfrm>
            <a:off x="548640" y="4023360"/>
            <a:ext cx="54864" cy="822960"/>
          </a:xfrm>
          <a:prstGeom prst="rect">
            <a:avLst/>
          </a:prstGeom>
          <a:solidFill>
            <a:srgbClr val="0D9488"/>
          </a:solidFill>
          <a:ln/>
        </p:spPr>
      </p:sp>
      <p:pic>
        <p:nvPicPr>
          <p:cNvPr id="24" name="Image 3" descr="preencoded.png">    </p:cNvPr>
          <p:cNvPicPr>
            <a:picLocks noChangeAspect="1"/>
          </p:cNvPicPr>
          <p:nvPr/>
        </p:nvPicPr>
        <p:blipFill>
          <a:blip r:embed="rId4"/>
          <a:stretch>
            <a:fillRect/>
          </a:stretch>
        </p:blipFill>
        <p:spPr>
          <a:xfrm>
            <a:off x="777240" y="4160520"/>
            <a:ext cx="228600" cy="228600"/>
          </a:xfrm>
          <a:prstGeom prst="rect">
            <a:avLst/>
          </a:prstGeom>
        </p:spPr>
      </p:pic>
      <p:sp>
        <p:nvSpPr>
          <p:cNvPr id="25" name="Text 19"/>
          <p:cNvSpPr/>
          <p:nvPr/>
        </p:nvSpPr>
        <p:spPr>
          <a:xfrm>
            <a:off x="1143000" y="4023360"/>
            <a:ext cx="7315200" cy="822960"/>
          </a:xfrm>
          <a:prstGeom prst="rect">
            <a:avLst/>
          </a:prstGeom>
          <a:noFill/>
          <a:ln/>
        </p:spPr>
        <p:txBody>
          <a:bodyPr wrap="square" lIns="0" tIns="0" rIns="0" bIns="0" rtlCol="0" anchor="ctr"/>
          <a:lstStyle/>
          <a:p>
            <a:pPr indent="0" marL="0">
              <a:buNone/>
            </a:pPr>
            <a:r>
              <a:rPr lang="en-US" sz="1150" b="1" dirty="0">
                <a:solidFill>
                  <a:srgbClr val="1A2332"/>
                </a:solidFill>
                <a:latin typeface="Calibri" pitchFamily="34" charset="0"/>
                <a:ea typeface="Calibri" pitchFamily="34" charset="-122"/>
                <a:cs typeface="Calibri" pitchFamily="34" charset="-120"/>
              </a:rPr>
              <a:t>Human leverage is highest during Research &amp; Plan phases. By the time you reach Implementation, all the hard architectural thinking must be complete.</a:t>
            </a:r>
            <a:endParaRPr lang="en-US" sz="1150" dirty="0"/>
          </a:p>
        </p:txBody>
      </p:sp>
      <p:sp>
        <p:nvSpPr>
          <p:cNvPr id="26" name="Text 20"/>
          <p:cNvSpPr/>
          <p:nvPr/>
        </p:nvSpPr>
        <p:spPr>
          <a:xfrm>
            <a:off x="8229600" y="4754880"/>
            <a:ext cx="64008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11 / 23</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indent="0" marL="0">
              <a:buNone/>
            </a:pPr>
            <a:r>
              <a:rPr lang="en-US" sz="3000" b="1" dirty="0">
                <a:solidFill>
                  <a:srgbClr val="1A2332"/>
                </a:solidFill>
                <a:latin typeface="Calibri" pitchFamily="34" charset="0"/>
                <a:ea typeface="Calibri" pitchFamily="34" charset="-122"/>
                <a:cs typeface="Calibri" pitchFamily="34" charset="-120"/>
              </a:rPr>
              <a:t>Forcing Restraint: Research &amp; Plan</a:t>
            </a:r>
            <a:endParaRPr lang="en-US" sz="3000" dirty="0"/>
          </a:p>
        </p:txBody>
      </p:sp>
      <p:sp>
        <p:nvSpPr>
          <p:cNvPr id="3" name="Shape 1"/>
          <p:cNvSpPr/>
          <p:nvPr/>
        </p:nvSpPr>
        <p:spPr>
          <a:xfrm>
            <a:off x="548640" y="1051560"/>
            <a:ext cx="3931920" cy="3749040"/>
          </a:xfrm>
          <a:prstGeom prst="rect">
            <a:avLst/>
          </a:prstGeom>
          <a:solidFill>
            <a:srgbClr val="F1F5F9"/>
          </a:solidFill>
          <a:ln/>
          <a:effectLst>
            <a:outerShdw sx="100000" sy="100000" kx="0" ky="0" algn="bl" rotWithShape="0" blurRad="50800" dist="25400" dir="8100000">
              <a:srgbClr val="000000">
                <a:alpha val="10000"/>
              </a:srgbClr>
            </a:outerShdw>
          </a:effectLst>
        </p:spPr>
      </p:sp>
      <p:sp>
        <p:nvSpPr>
          <p:cNvPr id="4" name="Text 2"/>
          <p:cNvSpPr/>
          <p:nvPr/>
        </p:nvSpPr>
        <p:spPr>
          <a:xfrm>
            <a:off x="731520" y="1143000"/>
            <a:ext cx="3566160" cy="320040"/>
          </a:xfrm>
          <a:prstGeom prst="rect">
            <a:avLst/>
          </a:prstGeom>
          <a:noFill/>
          <a:ln/>
        </p:spPr>
        <p:txBody>
          <a:bodyPr wrap="square" lIns="0" tIns="0" rIns="0" bIns="0" rtlCol="0" anchor="ctr"/>
          <a:lstStyle/>
          <a:p>
            <a:pPr indent="0" marL="0">
              <a:buNone/>
            </a:pPr>
            <a:r>
              <a:rPr lang="en-US" sz="1500" b="1" dirty="0">
                <a:solidFill>
                  <a:srgbClr val="0F766E"/>
                </a:solidFill>
                <a:latin typeface="Calibri" pitchFamily="34" charset="0"/>
                <a:ea typeface="Calibri" pitchFamily="34" charset="-122"/>
                <a:cs typeface="Calibri" pitchFamily="34" charset="-120"/>
              </a:rPr>
              <a:t>Phase 1: Ask Mode (Research)</a:t>
            </a:r>
            <a:endParaRPr lang="en-US" sz="1500" dirty="0"/>
          </a:p>
        </p:txBody>
      </p:sp>
      <p:sp>
        <p:nvSpPr>
          <p:cNvPr id="5" name="Text 3"/>
          <p:cNvSpPr/>
          <p:nvPr/>
        </p:nvSpPr>
        <p:spPr>
          <a:xfrm>
            <a:off x="731520" y="1691640"/>
            <a:ext cx="3566160" cy="201168"/>
          </a:xfrm>
          <a:prstGeom prst="rect">
            <a:avLst/>
          </a:prstGeom>
          <a:noFill/>
          <a:ln/>
        </p:spPr>
        <p:txBody>
          <a:bodyPr wrap="square" lIns="0" tIns="0" rIns="0" bIns="0" rtlCol="0" anchor="ctr"/>
          <a:lstStyle/>
          <a:p>
            <a:pPr indent="0" marL="0">
              <a:buNone/>
            </a:pPr>
            <a:r>
              <a:rPr lang="en-US" sz="1150" b="1" dirty="0">
                <a:solidFill>
                  <a:srgbClr val="1A2332"/>
                </a:solidFill>
                <a:latin typeface="Calibri" pitchFamily="34" charset="0"/>
                <a:ea typeface="Calibri" pitchFamily="34" charset="-122"/>
                <a:cs typeface="Calibri" pitchFamily="34" charset="-120"/>
              </a:rPr>
              <a:t>Constraints</a:t>
            </a:r>
            <a:endParaRPr lang="en-US" sz="1150" dirty="0"/>
          </a:p>
        </p:txBody>
      </p:sp>
      <p:sp>
        <p:nvSpPr>
          <p:cNvPr id="6" name="Text 4"/>
          <p:cNvSpPr/>
          <p:nvPr/>
        </p:nvSpPr>
        <p:spPr>
          <a:xfrm>
            <a:off x="731520" y="1911096"/>
            <a:ext cx="3566160" cy="45720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The agent is in read-only mode. It can read files and run tests but cannot write code.</a:t>
            </a:r>
            <a:endParaRPr lang="en-US" sz="1050" dirty="0"/>
          </a:p>
        </p:txBody>
      </p:sp>
      <p:sp>
        <p:nvSpPr>
          <p:cNvPr id="7" name="Text 5"/>
          <p:cNvSpPr/>
          <p:nvPr/>
        </p:nvSpPr>
        <p:spPr>
          <a:xfrm>
            <a:off x="731520" y="2423160"/>
            <a:ext cx="3566160" cy="201168"/>
          </a:xfrm>
          <a:prstGeom prst="rect">
            <a:avLst/>
          </a:prstGeom>
          <a:noFill/>
          <a:ln/>
        </p:spPr>
        <p:txBody>
          <a:bodyPr wrap="square" lIns="0" tIns="0" rIns="0" bIns="0" rtlCol="0" anchor="ctr"/>
          <a:lstStyle/>
          <a:p>
            <a:pPr indent="0" marL="0">
              <a:buNone/>
            </a:pPr>
            <a:r>
              <a:rPr lang="en-US" sz="1150" b="1" dirty="0">
                <a:solidFill>
                  <a:srgbClr val="1A2332"/>
                </a:solidFill>
                <a:latin typeface="Calibri" pitchFamily="34" charset="0"/>
                <a:ea typeface="Calibri" pitchFamily="34" charset="-122"/>
                <a:cs typeface="Calibri" pitchFamily="34" charset="-120"/>
              </a:rPr>
              <a:t>Objective</a:t>
            </a:r>
            <a:endParaRPr lang="en-US" sz="1150" dirty="0"/>
          </a:p>
        </p:txBody>
      </p:sp>
      <p:sp>
        <p:nvSpPr>
          <p:cNvPr id="8" name="Text 6"/>
          <p:cNvSpPr/>
          <p:nvPr/>
        </p:nvSpPr>
        <p:spPr>
          <a:xfrm>
            <a:off x="731520" y="2642616"/>
            <a:ext cx="3566160" cy="45720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Understand the codebase, identify relevant files, discover edge cases.</a:t>
            </a:r>
            <a:endParaRPr lang="en-US" sz="1050" dirty="0"/>
          </a:p>
        </p:txBody>
      </p:sp>
      <p:sp>
        <p:nvSpPr>
          <p:cNvPr id="9" name="Text 7"/>
          <p:cNvSpPr/>
          <p:nvPr/>
        </p:nvSpPr>
        <p:spPr>
          <a:xfrm>
            <a:off x="731520" y="3154680"/>
            <a:ext cx="3566160" cy="201168"/>
          </a:xfrm>
          <a:prstGeom prst="rect">
            <a:avLst/>
          </a:prstGeom>
          <a:noFill/>
          <a:ln/>
        </p:spPr>
        <p:txBody>
          <a:bodyPr wrap="square" lIns="0" tIns="0" rIns="0" bIns="0" rtlCol="0" anchor="ctr"/>
          <a:lstStyle/>
          <a:p>
            <a:pPr indent="0" marL="0">
              <a:buNone/>
            </a:pPr>
            <a:r>
              <a:rPr lang="en-US" sz="1150" b="1" dirty="0">
                <a:solidFill>
                  <a:srgbClr val="1A2332"/>
                </a:solidFill>
                <a:latin typeface="Calibri" pitchFamily="34" charset="0"/>
                <a:ea typeface="Calibri" pitchFamily="34" charset="-122"/>
                <a:cs typeface="Calibri" pitchFamily="34" charset="-120"/>
              </a:rPr>
              <a:t>Output Artifact</a:t>
            </a:r>
            <a:endParaRPr lang="en-US" sz="1150" dirty="0"/>
          </a:p>
        </p:txBody>
      </p:sp>
      <p:sp>
        <p:nvSpPr>
          <p:cNvPr id="10" name="Text 8"/>
          <p:cNvSpPr/>
          <p:nvPr/>
        </p:nvSpPr>
        <p:spPr>
          <a:xfrm>
            <a:off x="731520" y="3374136"/>
            <a:ext cx="3566160" cy="45720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A comprehensive research document.</a:t>
            </a:r>
            <a:endParaRPr lang="en-US" sz="1050" dirty="0"/>
          </a:p>
        </p:txBody>
      </p:sp>
      <p:sp>
        <p:nvSpPr>
          <p:cNvPr id="11" name="Shape 9"/>
          <p:cNvSpPr/>
          <p:nvPr/>
        </p:nvSpPr>
        <p:spPr>
          <a:xfrm>
            <a:off x="4846320" y="1051560"/>
            <a:ext cx="3931920" cy="3749040"/>
          </a:xfrm>
          <a:prstGeom prst="rect">
            <a:avLst/>
          </a:prstGeom>
          <a:solidFill>
            <a:srgbClr val="F0FDFA"/>
          </a:solidFill>
          <a:ln/>
          <a:effectLst>
            <a:outerShdw sx="100000" sy="100000" kx="0" ky="0" algn="bl" rotWithShape="0" blurRad="50800" dist="25400" dir="8100000">
              <a:srgbClr val="000000">
                <a:alpha val="10000"/>
              </a:srgbClr>
            </a:outerShdw>
          </a:effectLst>
        </p:spPr>
      </p:sp>
      <p:sp>
        <p:nvSpPr>
          <p:cNvPr id="12" name="Text 10"/>
          <p:cNvSpPr/>
          <p:nvPr/>
        </p:nvSpPr>
        <p:spPr>
          <a:xfrm>
            <a:off x="5029200" y="1143000"/>
            <a:ext cx="3566160" cy="320040"/>
          </a:xfrm>
          <a:prstGeom prst="rect">
            <a:avLst/>
          </a:prstGeom>
          <a:noFill/>
          <a:ln/>
        </p:spPr>
        <p:txBody>
          <a:bodyPr wrap="square" lIns="0" tIns="0" rIns="0" bIns="0" rtlCol="0" anchor="ctr"/>
          <a:lstStyle/>
          <a:p>
            <a:pPr indent="0" marL="0">
              <a:buNone/>
            </a:pPr>
            <a:r>
              <a:rPr lang="en-US" sz="1500" b="1" dirty="0">
                <a:solidFill>
                  <a:srgbClr val="0F766E"/>
                </a:solidFill>
                <a:latin typeface="Calibri" pitchFamily="34" charset="0"/>
                <a:ea typeface="Calibri" pitchFamily="34" charset="-122"/>
                <a:cs typeface="Calibri" pitchFamily="34" charset="-120"/>
              </a:rPr>
              <a:t>Phase 2: Architect Mode (Plan)</a:t>
            </a:r>
            <a:endParaRPr lang="en-US" sz="1500" dirty="0"/>
          </a:p>
        </p:txBody>
      </p:sp>
      <p:sp>
        <p:nvSpPr>
          <p:cNvPr id="13" name="Text 11"/>
          <p:cNvSpPr/>
          <p:nvPr/>
        </p:nvSpPr>
        <p:spPr>
          <a:xfrm>
            <a:off x="5029200" y="1691640"/>
            <a:ext cx="3566160" cy="201168"/>
          </a:xfrm>
          <a:prstGeom prst="rect">
            <a:avLst/>
          </a:prstGeom>
          <a:noFill/>
          <a:ln/>
        </p:spPr>
        <p:txBody>
          <a:bodyPr wrap="square" lIns="0" tIns="0" rIns="0" bIns="0" rtlCol="0" anchor="ctr"/>
          <a:lstStyle/>
          <a:p>
            <a:pPr indent="0" marL="0">
              <a:buNone/>
            </a:pPr>
            <a:r>
              <a:rPr lang="en-US" sz="1150" b="1" dirty="0">
                <a:solidFill>
                  <a:srgbClr val="1A2332"/>
                </a:solidFill>
                <a:latin typeface="Calibri" pitchFamily="34" charset="0"/>
                <a:ea typeface="Calibri" pitchFamily="34" charset="-122"/>
                <a:cs typeface="Calibri" pitchFamily="34" charset="-120"/>
              </a:rPr>
              <a:t>Constraints</a:t>
            </a:r>
            <a:endParaRPr lang="en-US" sz="1150" dirty="0"/>
          </a:p>
        </p:txBody>
      </p:sp>
      <p:sp>
        <p:nvSpPr>
          <p:cNvPr id="14" name="Text 12"/>
          <p:cNvSpPr/>
          <p:nvPr/>
        </p:nvSpPr>
        <p:spPr>
          <a:xfrm>
            <a:off x="5029200" y="1911096"/>
            <a:ext cx="3566160" cy="45720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The agent plans but still does not write production code; it only writes test/verification comments.</a:t>
            </a:r>
            <a:endParaRPr lang="en-US" sz="1050" dirty="0"/>
          </a:p>
        </p:txBody>
      </p:sp>
      <p:sp>
        <p:nvSpPr>
          <p:cNvPr id="15" name="Text 13"/>
          <p:cNvSpPr/>
          <p:nvPr/>
        </p:nvSpPr>
        <p:spPr>
          <a:xfrm>
            <a:off x="5029200" y="2423160"/>
            <a:ext cx="3566160" cy="201168"/>
          </a:xfrm>
          <a:prstGeom prst="rect">
            <a:avLst/>
          </a:prstGeom>
          <a:noFill/>
          <a:ln/>
        </p:spPr>
        <p:txBody>
          <a:bodyPr wrap="square" lIns="0" tIns="0" rIns="0" bIns="0" rtlCol="0" anchor="ctr"/>
          <a:lstStyle/>
          <a:p>
            <a:pPr indent="0" marL="0">
              <a:buNone/>
            </a:pPr>
            <a:r>
              <a:rPr lang="en-US" sz="1150" b="1" dirty="0">
                <a:solidFill>
                  <a:srgbClr val="1A2332"/>
                </a:solidFill>
                <a:latin typeface="Calibri" pitchFamily="34" charset="0"/>
                <a:ea typeface="Calibri" pitchFamily="34" charset="-122"/>
                <a:cs typeface="Calibri" pitchFamily="34" charset="-120"/>
              </a:rPr>
              <a:t>Objective</a:t>
            </a:r>
            <a:endParaRPr lang="en-US" sz="1150" dirty="0"/>
          </a:p>
        </p:txBody>
      </p:sp>
      <p:sp>
        <p:nvSpPr>
          <p:cNvPr id="16" name="Text 14"/>
          <p:cNvSpPr/>
          <p:nvPr/>
        </p:nvSpPr>
        <p:spPr>
          <a:xfrm>
            <a:off x="5029200" y="2642616"/>
            <a:ext cx="3566160" cy="45720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Name files, define what is added or changed, write test verification comments.</a:t>
            </a:r>
            <a:endParaRPr lang="en-US" sz="1050" dirty="0"/>
          </a:p>
        </p:txBody>
      </p:sp>
      <p:sp>
        <p:nvSpPr>
          <p:cNvPr id="17" name="Text 15"/>
          <p:cNvSpPr/>
          <p:nvPr/>
        </p:nvSpPr>
        <p:spPr>
          <a:xfrm>
            <a:off x="5029200" y="3154680"/>
            <a:ext cx="3566160" cy="201168"/>
          </a:xfrm>
          <a:prstGeom prst="rect">
            <a:avLst/>
          </a:prstGeom>
          <a:noFill/>
          <a:ln/>
        </p:spPr>
        <p:txBody>
          <a:bodyPr wrap="square" lIns="0" tIns="0" rIns="0" bIns="0" rtlCol="0" anchor="ctr"/>
          <a:lstStyle/>
          <a:p>
            <a:pPr indent="0" marL="0">
              <a:buNone/>
            </a:pPr>
            <a:r>
              <a:rPr lang="en-US" sz="1150" b="1" dirty="0">
                <a:solidFill>
                  <a:srgbClr val="1A2332"/>
                </a:solidFill>
                <a:latin typeface="Calibri" pitchFamily="34" charset="0"/>
                <a:ea typeface="Calibri" pitchFamily="34" charset="-122"/>
                <a:cs typeface="Calibri" pitchFamily="34" charset="-120"/>
              </a:rPr>
              <a:t>Output Artifact</a:t>
            </a:r>
            <a:endParaRPr lang="en-US" sz="1150" dirty="0"/>
          </a:p>
        </p:txBody>
      </p:sp>
      <p:sp>
        <p:nvSpPr>
          <p:cNvPr id="18" name="Text 16"/>
          <p:cNvSpPr/>
          <p:nvPr/>
        </p:nvSpPr>
        <p:spPr>
          <a:xfrm>
            <a:off x="5029200" y="3374136"/>
            <a:ext cx="3566160" cy="45720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A step-by-step implementation plan with file-level specifics.</a:t>
            </a:r>
            <a:endParaRPr lang="en-US" sz="1050" dirty="0"/>
          </a:p>
        </p:txBody>
      </p:sp>
      <p:sp>
        <p:nvSpPr>
          <p:cNvPr id="19" name="Text 17"/>
          <p:cNvSpPr/>
          <p:nvPr/>
        </p:nvSpPr>
        <p:spPr>
          <a:xfrm>
            <a:off x="8229600" y="4754880"/>
            <a:ext cx="64008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12 / 23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indent="0" marL="0">
              <a:buNone/>
            </a:pPr>
            <a:r>
              <a:rPr lang="en-US" sz="3000" b="1" dirty="0">
                <a:solidFill>
                  <a:srgbClr val="1A2332"/>
                </a:solidFill>
                <a:latin typeface="Calibri" pitchFamily="34" charset="0"/>
                <a:ea typeface="Calibri" pitchFamily="34" charset="-122"/>
                <a:cs typeface="Calibri" pitchFamily="34" charset="-120"/>
              </a:rPr>
              <a:t>Phase 3: Implement &amp; Review</a:t>
            </a:r>
            <a:endParaRPr lang="en-US" sz="3000" dirty="0"/>
          </a:p>
        </p:txBody>
      </p:sp>
      <p:sp>
        <p:nvSpPr>
          <p:cNvPr id="3" name="Shape 1"/>
          <p:cNvSpPr/>
          <p:nvPr/>
        </p:nvSpPr>
        <p:spPr>
          <a:xfrm>
            <a:off x="548640" y="1051560"/>
            <a:ext cx="1920240" cy="2286000"/>
          </a:xfrm>
          <a:prstGeom prst="rect">
            <a:avLst/>
          </a:prstGeom>
          <a:solidFill>
            <a:srgbClr val="F1F5F9"/>
          </a:solidFill>
          <a:ln/>
          <a:effectLst>
            <a:outerShdw sx="100000" sy="100000" kx="0" ky="0" algn="bl" rotWithShape="0" blurRad="50800" dist="25400" dir="8100000">
              <a:srgbClr val="000000">
                <a:alpha val="10000"/>
              </a:srgbClr>
            </a:outerShdw>
          </a:effectLst>
        </p:spPr>
      </p:sp>
      <p:sp>
        <p:nvSpPr>
          <p:cNvPr id="4" name="Shape 2"/>
          <p:cNvSpPr/>
          <p:nvPr/>
        </p:nvSpPr>
        <p:spPr>
          <a:xfrm>
            <a:off x="548640" y="1051560"/>
            <a:ext cx="1920240" cy="365760"/>
          </a:xfrm>
          <a:prstGeom prst="rect">
            <a:avLst/>
          </a:prstGeom>
          <a:solidFill>
            <a:srgbClr val="0D9488"/>
          </a:solidFill>
          <a:ln/>
        </p:spPr>
      </p:sp>
      <p:sp>
        <p:nvSpPr>
          <p:cNvPr id="5" name="Text 3"/>
          <p:cNvSpPr/>
          <p:nvPr/>
        </p:nvSpPr>
        <p:spPr>
          <a:xfrm>
            <a:off x="548640" y="1051560"/>
            <a:ext cx="192024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Step 1</a:t>
            </a:r>
            <a:endParaRPr lang="en-US" sz="1100" dirty="0"/>
          </a:p>
        </p:txBody>
      </p:sp>
      <p:sp>
        <p:nvSpPr>
          <p:cNvPr id="6" name="Text 4"/>
          <p:cNvSpPr/>
          <p:nvPr/>
        </p:nvSpPr>
        <p:spPr>
          <a:xfrm>
            <a:off x="685800" y="1554480"/>
            <a:ext cx="1645920" cy="274320"/>
          </a:xfrm>
          <a:prstGeom prst="rect">
            <a:avLst/>
          </a:prstGeom>
          <a:noFill/>
          <a:ln/>
        </p:spPr>
        <p:txBody>
          <a:bodyPr wrap="square" lIns="0" tIns="0" rIns="0" bIns="0" rtlCol="0" anchor="ctr"/>
          <a:lstStyle/>
          <a:p>
            <a:pPr indent="0" marL="0">
              <a:buNone/>
            </a:pPr>
            <a:r>
              <a:rPr lang="en-US" sz="1300" b="1" dirty="0">
                <a:solidFill>
                  <a:srgbClr val="1A2332"/>
                </a:solidFill>
                <a:latin typeface="Calibri" pitchFamily="34" charset="0"/>
                <a:ea typeface="Calibri" pitchFamily="34" charset="-122"/>
                <a:cs typeface="Calibri" pitchFamily="34" charset="-120"/>
              </a:rPr>
              <a:t>Clean Slate</a:t>
            </a:r>
            <a:endParaRPr lang="en-US" sz="1300" dirty="0"/>
          </a:p>
        </p:txBody>
      </p:sp>
      <p:sp>
        <p:nvSpPr>
          <p:cNvPr id="7" name="Text 5"/>
          <p:cNvSpPr/>
          <p:nvPr/>
        </p:nvSpPr>
        <p:spPr>
          <a:xfrm>
            <a:off x="685800" y="1874520"/>
            <a:ext cx="1645920" cy="11887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Open a new session using only the plan as context.</a:t>
            </a:r>
            <a:endParaRPr lang="en-US" sz="1000" dirty="0"/>
          </a:p>
        </p:txBody>
      </p:sp>
      <p:sp>
        <p:nvSpPr>
          <p:cNvPr id="8" name="Shape 6"/>
          <p:cNvSpPr/>
          <p:nvPr/>
        </p:nvSpPr>
        <p:spPr>
          <a:xfrm>
            <a:off x="2697480" y="1051560"/>
            <a:ext cx="1920240" cy="2286000"/>
          </a:xfrm>
          <a:prstGeom prst="rect">
            <a:avLst/>
          </a:prstGeom>
          <a:solidFill>
            <a:srgbClr val="F1F5F9"/>
          </a:solidFill>
          <a:ln/>
          <a:effectLst>
            <a:outerShdw sx="100000" sy="100000" kx="0" ky="0" algn="bl" rotWithShape="0" blurRad="50800" dist="25400" dir="8100000">
              <a:srgbClr val="000000">
                <a:alpha val="10000"/>
              </a:srgbClr>
            </a:outerShdw>
          </a:effectLst>
        </p:spPr>
      </p:sp>
      <p:sp>
        <p:nvSpPr>
          <p:cNvPr id="9" name="Shape 7"/>
          <p:cNvSpPr/>
          <p:nvPr/>
        </p:nvSpPr>
        <p:spPr>
          <a:xfrm>
            <a:off x="2697480" y="1051560"/>
            <a:ext cx="1920240" cy="365760"/>
          </a:xfrm>
          <a:prstGeom prst="rect">
            <a:avLst/>
          </a:prstGeom>
          <a:solidFill>
            <a:srgbClr val="0F766E"/>
          </a:solidFill>
          <a:ln/>
        </p:spPr>
      </p:sp>
      <p:sp>
        <p:nvSpPr>
          <p:cNvPr id="10" name="Text 8"/>
          <p:cNvSpPr/>
          <p:nvPr/>
        </p:nvSpPr>
        <p:spPr>
          <a:xfrm>
            <a:off x="2697480" y="1051560"/>
            <a:ext cx="192024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Step 2</a:t>
            </a:r>
            <a:endParaRPr lang="en-US" sz="1100" dirty="0"/>
          </a:p>
        </p:txBody>
      </p:sp>
      <p:sp>
        <p:nvSpPr>
          <p:cNvPr id="11" name="Text 9"/>
          <p:cNvSpPr/>
          <p:nvPr/>
        </p:nvSpPr>
        <p:spPr>
          <a:xfrm>
            <a:off x="2834640" y="1554480"/>
            <a:ext cx="1645920" cy="274320"/>
          </a:xfrm>
          <a:prstGeom prst="rect">
            <a:avLst/>
          </a:prstGeom>
          <a:noFill/>
          <a:ln/>
        </p:spPr>
        <p:txBody>
          <a:bodyPr wrap="square" lIns="0" tIns="0" rIns="0" bIns="0" rtlCol="0" anchor="ctr"/>
          <a:lstStyle/>
          <a:p>
            <a:pPr indent="0" marL="0">
              <a:buNone/>
            </a:pPr>
            <a:r>
              <a:rPr lang="en-US" sz="1300" b="1" dirty="0">
                <a:solidFill>
                  <a:srgbClr val="1A2332"/>
                </a:solidFill>
                <a:latin typeface="Calibri" pitchFamily="34" charset="0"/>
                <a:ea typeface="Calibri" pitchFamily="34" charset="-122"/>
                <a:cs typeface="Calibri" pitchFamily="34" charset="-120"/>
              </a:rPr>
              <a:t>Micro-Execution</a:t>
            </a:r>
            <a:endParaRPr lang="en-US" sz="1300" dirty="0"/>
          </a:p>
        </p:txBody>
      </p:sp>
      <p:sp>
        <p:nvSpPr>
          <p:cNvPr id="12" name="Text 10"/>
          <p:cNvSpPr/>
          <p:nvPr/>
        </p:nvSpPr>
        <p:spPr>
          <a:xfrm>
            <a:off x="2834640" y="1874520"/>
            <a:ext cx="1645920" cy="11887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Implement one step of the plan in Code Mode at a time.</a:t>
            </a:r>
            <a:endParaRPr lang="en-US" sz="1000" dirty="0"/>
          </a:p>
        </p:txBody>
      </p:sp>
      <p:sp>
        <p:nvSpPr>
          <p:cNvPr id="13" name="Shape 11"/>
          <p:cNvSpPr/>
          <p:nvPr/>
        </p:nvSpPr>
        <p:spPr>
          <a:xfrm>
            <a:off x="4846320" y="1051560"/>
            <a:ext cx="1920240" cy="2286000"/>
          </a:xfrm>
          <a:prstGeom prst="rect">
            <a:avLst/>
          </a:prstGeom>
          <a:solidFill>
            <a:srgbClr val="F1F5F9"/>
          </a:solidFill>
          <a:ln/>
          <a:effectLst>
            <a:outerShdw sx="100000" sy="100000" kx="0" ky="0" algn="bl" rotWithShape="0" blurRad="50800" dist="25400" dir="8100000">
              <a:srgbClr val="000000">
                <a:alpha val="10000"/>
              </a:srgbClr>
            </a:outerShdw>
          </a:effectLst>
        </p:spPr>
      </p:sp>
      <p:sp>
        <p:nvSpPr>
          <p:cNvPr id="14" name="Shape 12"/>
          <p:cNvSpPr/>
          <p:nvPr/>
        </p:nvSpPr>
        <p:spPr>
          <a:xfrm>
            <a:off x="4846320" y="1051560"/>
            <a:ext cx="1920240" cy="365760"/>
          </a:xfrm>
          <a:prstGeom prst="rect">
            <a:avLst/>
          </a:prstGeom>
          <a:solidFill>
            <a:srgbClr val="1A2332"/>
          </a:solidFill>
          <a:ln/>
        </p:spPr>
      </p:sp>
      <p:sp>
        <p:nvSpPr>
          <p:cNvPr id="15" name="Text 13"/>
          <p:cNvSpPr/>
          <p:nvPr/>
        </p:nvSpPr>
        <p:spPr>
          <a:xfrm>
            <a:off x="4846320" y="1051560"/>
            <a:ext cx="192024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Step 3</a:t>
            </a:r>
            <a:endParaRPr lang="en-US" sz="1100" dirty="0"/>
          </a:p>
        </p:txBody>
      </p:sp>
      <p:sp>
        <p:nvSpPr>
          <p:cNvPr id="16" name="Text 14"/>
          <p:cNvSpPr/>
          <p:nvPr/>
        </p:nvSpPr>
        <p:spPr>
          <a:xfrm>
            <a:off x="4983480" y="1554480"/>
            <a:ext cx="1645920" cy="274320"/>
          </a:xfrm>
          <a:prstGeom prst="rect">
            <a:avLst/>
          </a:prstGeom>
          <a:noFill/>
          <a:ln/>
        </p:spPr>
        <p:txBody>
          <a:bodyPr wrap="square" lIns="0" tIns="0" rIns="0" bIns="0" rtlCol="0" anchor="ctr"/>
          <a:lstStyle/>
          <a:p>
            <a:pPr indent="0" marL="0">
              <a:buNone/>
            </a:pPr>
            <a:r>
              <a:rPr lang="en-US" sz="1300" b="1" dirty="0">
                <a:solidFill>
                  <a:srgbClr val="1A2332"/>
                </a:solidFill>
                <a:latin typeface="Calibri" pitchFamily="34" charset="0"/>
                <a:ea typeface="Calibri" pitchFamily="34" charset="-122"/>
                <a:cs typeface="Calibri" pitchFamily="34" charset="-120"/>
              </a:rPr>
              <a:t>Local Git First</a:t>
            </a:r>
            <a:endParaRPr lang="en-US" sz="1300" dirty="0"/>
          </a:p>
        </p:txBody>
      </p:sp>
      <p:sp>
        <p:nvSpPr>
          <p:cNvPr id="17" name="Text 15"/>
          <p:cNvSpPr/>
          <p:nvPr/>
        </p:nvSpPr>
        <p:spPr>
          <a:xfrm>
            <a:off x="4983480" y="1874520"/>
            <a:ext cx="1645920" cy="11887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Commit after each step as a staging ground. Review the developer's Pull Request.</a:t>
            </a:r>
            <a:endParaRPr lang="en-US" sz="1000" dirty="0"/>
          </a:p>
        </p:txBody>
      </p:sp>
      <p:sp>
        <p:nvSpPr>
          <p:cNvPr id="18" name="Shape 16"/>
          <p:cNvSpPr/>
          <p:nvPr/>
        </p:nvSpPr>
        <p:spPr>
          <a:xfrm>
            <a:off x="6995160" y="1051560"/>
            <a:ext cx="1920240" cy="2286000"/>
          </a:xfrm>
          <a:prstGeom prst="rect">
            <a:avLst/>
          </a:prstGeom>
          <a:solidFill>
            <a:srgbClr val="F1F5F9"/>
          </a:solidFill>
          <a:ln/>
          <a:effectLst>
            <a:outerShdw sx="100000" sy="100000" kx="0" ky="0" algn="bl" rotWithShape="0" blurRad="50800" dist="25400" dir="8100000">
              <a:srgbClr val="000000">
                <a:alpha val="10000"/>
              </a:srgbClr>
            </a:outerShdw>
          </a:effectLst>
        </p:spPr>
      </p:sp>
      <p:sp>
        <p:nvSpPr>
          <p:cNvPr id="19" name="Shape 17"/>
          <p:cNvSpPr/>
          <p:nvPr/>
        </p:nvSpPr>
        <p:spPr>
          <a:xfrm>
            <a:off x="6995160" y="1051560"/>
            <a:ext cx="1920240" cy="365760"/>
          </a:xfrm>
          <a:prstGeom prst="rect">
            <a:avLst/>
          </a:prstGeom>
          <a:solidFill>
            <a:srgbClr val="0F1923"/>
          </a:solidFill>
          <a:ln/>
        </p:spPr>
      </p:sp>
      <p:sp>
        <p:nvSpPr>
          <p:cNvPr id="20" name="Text 18"/>
          <p:cNvSpPr/>
          <p:nvPr/>
        </p:nvSpPr>
        <p:spPr>
          <a:xfrm>
            <a:off x="6995160" y="1051560"/>
            <a:ext cx="192024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Step 4</a:t>
            </a:r>
            <a:endParaRPr lang="en-US" sz="1100" dirty="0"/>
          </a:p>
        </p:txBody>
      </p:sp>
      <p:sp>
        <p:nvSpPr>
          <p:cNvPr id="21" name="Text 19"/>
          <p:cNvSpPr/>
          <p:nvPr/>
        </p:nvSpPr>
        <p:spPr>
          <a:xfrm>
            <a:off x="7132320" y="1554480"/>
            <a:ext cx="1645920" cy="274320"/>
          </a:xfrm>
          <a:prstGeom prst="rect">
            <a:avLst/>
          </a:prstGeom>
          <a:noFill/>
          <a:ln/>
        </p:spPr>
        <p:txBody>
          <a:bodyPr wrap="square" lIns="0" tIns="0" rIns="0" bIns="0" rtlCol="0" anchor="ctr"/>
          <a:lstStyle/>
          <a:p>
            <a:pPr indent="0" marL="0">
              <a:buNone/>
            </a:pPr>
            <a:r>
              <a:rPr lang="en-US" sz="1300" b="1" dirty="0">
                <a:solidFill>
                  <a:srgbClr val="1A2332"/>
                </a:solidFill>
                <a:latin typeface="Calibri" pitchFamily="34" charset="0"/>
                <a:ea typeface="Calibri" pitchFamily="34" charset="-122"/>
                <a:cs typeface="Calibri" pitchFamily="34" charset="-120"/>
              </a:rPr>
              <a:t>Commit or Revert</a:t>
            </a:r>
            <a:endParaRPr lang="en-US" sz="1300" dirty="0"/>
          </a:p>
        </p:txBody>
      </p:sp>
      <p:sp>
        <p:nvSpPr>
          <p:cNvPr id="22" name="Text 20"/>
          <p:cNvSpPr/>
          <p:nvPr/>
        </p:nvSpPr>
        <p:spPr>
          <a:xfrm>
            <a:off x="7132320" y="1874520"/>
            <a:ext cx="1645920" cy="118872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Merge good changes locally, or git reset to prevent context poisoning.</a:t>
            </a:r>
            <a:endParaRPr lang="en-US" sz="1000" dirty="0"/>
          </a:p>
        </p:txBody>
      </p:sp>
      <p:sp>
        <p:nvSpPr>
          <p:cNvPr id="23" name="Shape 21"/>
          <p:cNvSpPr/>
          <p:nvPr/>
        </p:nvSpPr>
        <p:spPr>
          <a:xfrm>
            <a:off x="548640" y="3657600"/>
            <a:ext cx="8229600" cy="1188720"/>
          </a:xfrm>
          <a:prstGeom prst="rect">
            <a:avLst/>
          </a:prstGeom>
          <a:solidFill>
            <a:srgbClr val="F0FDFA"/>
          </a:solidFill>
          <a:ln/>
        </p:spPr>
      </p:sp>
      <p:sp>
        <p:nvSpPr>
          <p:cNvPr id="24" name="Shape 22"/>
          <p:cNvSpPr/>
          <p:nvPr/>
        </p:nvSpPr>
        <p:spPr>
          <a:xfrm>
            <a:off x="548640" y="3657600"/>
            <a:ext cx="54864" cy="1188720"/>
          </a:xfrm>
          <a:prstGeom prst="rect">
            <a:avLst/>
          </a:prstGeom>
          <a:solidFill>
            <a:srgbClr val="0D9488"/>
          </a:solidFill>
          <a:ln/>
        </p:spPr>
      </p:sp>
      <p:pic>
        <p:nvPicPr>
          <p:cNvPr id="25" name="Image 0" descr="preencoded.png">    </p:cNvPr>
          <p:cNvPicPr>
            <a:picLocks noChangeAspect="1"/>
          </p:cNvPicPr>
          <p:nvPr/>
        </p:nvPicPr>
        <p:blipFill>
          <a:blip r:embed="rId1"/>
          <a:stretch>
            <a:fillRect/>
          </a:stretch>
        </p:blipFill>
        <p:spPr>
          <a:xfrm>
            <a:off x="777240" y="3794760"/>
            <a:ext cx="365760" cy="365760"/>
          </a:xfrm>
          <a:prstGeom prst="rect">
            <a:avLst/>
          </a:prstGeom>
        </p:spPr>
      </p:pic>
      <p:sp>
        <p:nvSpPr>
          <p:cNvPr id="26" name="Text 23"/>
          <p:cNvSpPr/>
          <p:nvPr/>
        </p:nvSpPr>
        <p:spPr>
          <a:xfrm>
            <a:off x="1280160" y="3749040"/>
            <a:ext cx="4572000" cy="274320"/>
          </a:xfrm>
          <a:prstGeom prst="rect">
            <a:avLst/>
          </a:prstGeom>
          <a:noFill/>
          <a:ln/>
        </p:spPr>
        <p:txBody>
          <a:bodyPr wrap="square" lIns="0" tIns="0" rIns="0" bIns="0" rtlCol="0" anchor="ctr"/>
          <a:lstStyle/>
          <a:p>
            <a:pPr indent="0" marL="0">
              <a:buNone/>
            </a:pPr>
            <a:r>
              <a:rPr lang="en-US" sz="1400" b="1" dirty="0">
                <a:solidFill>
                  <a:srgbClr val="1A2332"/>
                </a:solidFill>
                <a:latin typeface="Calibri" pitchFamily="34" charset="0"/>
                <a:ea typeface="Calibri" pitchFamily="34" charset="-122"/>
                <a:cs typeface="Calibri" pitchFamily="34" charset="-120"/>
              </a:rPr>
              <a:t>Human Verification Checkpoints</a:t>
            </a:r>
            <a:endParaRPr lang="en-US" sz="1400" dirty="0"/>
          </a:p>
        </p:txBody>
      </p:sp>
      <p:sp>
        <p:nvSpPr>
          <p:cNvPr id="27" name="Text 24"/>
          <p:cNvSpPr/>
          <p:nvPr/>
        </p:nvSpPr>
        <p:spPr>
          <a:xfrm>
            <a:off x="1280160" y="4069080"/>
            <a:ext cx="6858000" cy="731520"/>
          </a:xfrm>
          <a:prstGeom prst="rect">
            <a:avLst/>
          </a:prstGeom>
          <a:noFill/>
          <a:ln/>
        </p:spPr>
        <p:txBody>
          <a:bodyPr wrap="square" rtlCol="0" anchor="ctr"/>
          <a:lstStyle/>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Review each micro-commit before moving to next step</a:t>
            </a:r>
            <a:endParaRPr lang="en-US" sz="1100" dirty="0"/>
          </a:p>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Revert immediately if output diverges from plan</a:t>
            </a:r>
            <a:endParaRPr lang="en-US" sz="1100" dirty="0"/>
          </a:p>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Never let bad code accumulate — it compounds context pollution</a:t>
            </a:r>
            <a:endParaRPr lang="en-US" sz="1100" dirty="0"/>
          </a:p>
        </p:txBody>
      </p:sp>
      <p:sp>
        <p:nvSpPr>
          <p:cNvPr id="28" name="Text 25"/>
          <p:cNvSpPr/>
          <p:nvPr/>
        </p:nvSpPr>
        <p:spPr>
          <a:xfrm>
            <a:off x="8229600" y="4754880"/>
            <a:ext cx="64008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13 / 23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indent="0" marL="0">
              <a:buNone/>
            </a:pPr>
            <a:r>
              <a:rPr lang="en-US" sz="2800" b="1" dirty="0">
                <a:solidFill>
                  <a:srgbClr val="1A2332"/>
                </a:solidFill>
                <a:latin typeface="Calibri" pitchFamily="34" charset="0"/>
                <a:ea typeface="Calibri" pitchFamily="34" charset="-122"/>
                <a:cs typeface="Calibri" pitchFamily="34" charset="-120"/>
              </a:rPr>
              <a:t>Tooling Interfaces: How Agents See the World</a:t>
            </a:r>
            <a:endParaRPr lang="en-US" sz="2800" dirty="0"/>
          </a:p>
        </p:txBody>
      </p:sp>
      <p:sp>
        <p:nvSpPr>
          <p:cNvPr id="3" name="Text 1"/>
          <p:cNvSpPr/>
          <p:nvPr/>
        </p:nvSpPr>
        <p:spPr>
          <a:xfrm>
            <a:off x="548640" y="777240"/>
            <a:ext cx="7772400" cy="411480"/>
          </a:xfrm>
          <a:prstGeom prst="rect">
            <a:avLst/>
          </a:prstGeom>
          <a:noFill/>
          <a:ln/>
        </p:spPr>
        <p:txBody>
          <a:bodyPr wrap="square" lIns="0" tIns="0" rIns="0" bIns="0" rtlCol="0" anchor="ctr"/>
          <a:lstStyle/>
          <a:p>
            <a:pPr indent="0" marL="0">
              <a:buNone/>
            </a:pPr>
            <a:r>
              <a:rPr lang="en-US" sz="1150" dirty="0">
                <a:solidFill>
                  <a:srgbClr val="475569"/>
                </a:solidFill>
                <a:latin typeface="Calibri" pitchFamily="34" charset="0"/>
                <a:ea typeface="Calibri" pitchFamily="34" charset="-122"/>
                <a:cs typeface="Calibri" pitchFamily="34" charset="-120"/>
              </a:rPr>
              <a:t>LLMs originally could only input and output text. CLI and MCP are the two fundamental bridges that allow agents to take actual actions.</a:t>
            </a:r>
            <a:endParaRPr lang="en-US" sz="1150" dirty="0"/>
          </a:p>
        </p:txBody>
      </p:sp>
      <p:sp>
        <p:nvSpPr>
          <p:cNvPr id="4" name="Shape 2"/>
          <p:cNvSpPr/>
          <p:nvPr/>
        </p:nvSpPr>
        <p:spPr>
          <a:xfrm>
            <a:off x="3474720" y="1554480"/>
            <a:ext cx="2194560" cy="1828800"/>
          </a:xfrm>
          <a:prstGeom prst="ellipse">
            <a:avLst/>
          </a:prstGeom>
          <a:solidFill>
            <a:srgbClr val="1A2332"/>
          </a:solidFill>
          <a:ln/>
          <a:effectLst>
            <a:outerShdw sx="100000" sy="100000" kx="0" ky="0" algn="bl" rotWithShape="0" blurRad="50800" dist="25400" dir="8100000">
              <a:srgbClr val="000000">
                <a:alpha val="10000"/>
              </a:srgbClr>
            </a:outerShdw>
          </a:effectLst>
        </p:spPr>
      </p:sp>
      <p:pic>
        <p:nvPicPr>
          <p:cNvPr id="5" name="Image 0" descr="preencoded.png">    </p:cNvPr>
          <p:cNvPicPr>
            <a:picLocks noChangeAspect="1"/>
          </p:cNvPicPr>
          <p:nvPr/>
        </p:nvPicPr>
        <p:blipFill>
          <a:blip r:embed="rId1"/>
          <a:stretch>
            <a:fillRect/>
          </a:stretch>
        </p:blipFill>
        <p:spPr>
          <a:xfrm>
            <a:off x="4160520" y="1737360"/>
            <a:ext cx="457200" cy="457200"/>
          </a:xfrm>
          <a:prstGeom prst="rect">
            <a:avLst/>
          </a:prstGeom>
        </p:spPr>
      </p:pic>
      <p:sp>
        <p:nvSpPr>
          <p:cNvPr id="6" name="Text 3"/>
          <p:cNvSpPr/>
          <p:nvPr/>
        </p:nvSpPr>
        <p:spPr>
          <a:xfrm>
            <a:off x="3474720" y="2240280"/>
            <a:ext cx="219456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AI AGENT</a:t>
            </a:r>
            <a:endParaRPr lang="en-US" sz="1300" dirty="0"/>
          </a:p>
        </p:txBody>
      </p:sp>
      <p:sp>
        <p:nvSpPr>
          <p:cNvPr id="7" name="Text 4"/>
          <p:cNvSpPr/>
          <p:nvPr/>
        </p:nvSpPr>
        <p:spPr>
          <a:xfrm>
            <a:off x="3474720" y="2468880"/>
            <a:ext cx="2194560" cy="228600"/>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(LLM Brain)</a:t>
            </a:r>
            <a:endParaRPr lang="en-US" sz="900" dirty="0"/>
          </a:p>
        </p:txBody>
      </p:sp>
      <p:sp>
        <p:nvSpPr>
          <p:cNvPr id="8" name="Shape 5"/>
          <p:cNvSpPr/>
          <p:nvPr/>
        </p:nvSpPr>
        <p:spPr>
          <a:xfrm>
            <a:off x="548640" y="1645920"/>
            <a:ext cx="2560320" cy="1645920"/>
          </a:xfrm>
          <a:prstGeom prst="rect">
            <a:avLst/>
          </a:prstGeom>
          <a:solidFill>
            <a:srgbClr val="F1F5F9"/>
          </a:solidFill>
          <a:ln/>
          <a:effectLst>
            <a:outerShdw sx="100000" sy="100000" kx="0" ky="0" algn="bl" rotWithShape="0" blurRad="50800" dist="25400" dir="8100000">
              <a:srgbClr val="000000">
                <a:alpha val="10000"/>
              </a:srgbClr>
            </a:outerShdw>
          </a:effectLst>
        </p:spPr>
      </p:sp>
      <p:sp>
        <p:nvSpPr>
          <p:cNvPr id="9" name="Shape 6"/>
          <p:cNvSpPr/>
          <p:nvPr/>
        </p:nvSpPr>
        <p:spPr>
          <a:xfrm>
            <a:off x="548640" y="1645920"/>
            <a:ext cx="2560320" cy="411480"/>
          </a:xfrm>
          <a:prstGeom prst="rect">
            <a:avLst/>
          </a:prstGeom>
          <a:solidFill>
            <a:srgbClr val="0F766E"/>
          </a:solidFill>
          <a:ln/>
        </p:spPr>
      </p:sp>
      <p:pic>
        <p:nvPicPr>
          <p:cNvPr id="10" name="Image 1" descr="preencoded.png">    </p:cNvPr>
          <p:cNvPicPr>
            <a:picLocks noChangeAspect="1"/>
          </p:cNvPicPr>
          <p:nvPr/>
        </p:nvPicPr>
        <p:blipFill>
          <a:blip r:embed="rId2"/>
          <a:stretch>
            <a:fillRect/>
          </a:stretch>
        </p:blipFill>
        <p:spPr>
          <a:xfrm>
            <a:off x="685800" y="1719072"/>
            <a:ext cx="228600" cy="228600"/>
          </a:xfrm>
          <a:prstGeom prst="rect">
            <a:avLst/>
          </a:prstGeom>
        </p:spPr>
      </p:pic>
      <p:sp>
        <p:nvSpPr>
          <p:cNvPr id="11" name="Text 7"/>
          <p:cNvSpPr/>
          <p:nvPr/>
        </p:nvSpPr>
        <p:spPr>
          <a:xfrm>
            <a:off x="1005840" y="1645920"/>
            <a:ext cx="2011680"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Command Line (CLI)</a:t>
            </a:r>
            <a:endParaRPr lang="en-US" sz="1100" dirty="0"/>
          </a:p>
        </p:txBody>
      </p:sp>
      <p:sp>
        <p:nvSpPr>
          <p:cNvPr id="12" name="Text 8"/>
          <p:cNvSpPr/>
          <p:nvPr/>
        </p:nvSpPr>
        <p:spPr>
          <a:xfrm>
            <a:off x="685800" y="2240280"/>
            <a:ext cx="2286000" cy="822960"/>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Raw, universal, built-in system execution.</a:t>
            </a:r>
            <a:endParaRPr lang="en-US" sz="1050" dirty="0"/>
          </a:p>
        </p:txBody>
      </p:sp>
      <p:sp>
        <p:nvSpPr>
          <p:cNvPr id="13" name="Shape 9"/>
          <p:cNvSpPr/>
          <p:nvPr/>
        </p:nvSpPr>
        <p:spPr>
          <a:xfrm>
            <a:off x="6035040" y="1645920"/>
            <a:ext cx="2743200" cy="1645920"/>
          </a:xfrm>
          <a:prstGeom prst="rect">
            <a:avLst/>
          </a:prstGeom>
          <a:solidFill>
            <a:srgbClr val="F1F5F9"/>
          </a:solidFill>
          <a:ln/>
          <a:effectLst>
            <a:outerShdw sx="100000" sy="100000" kx="0" ky="0" algn="bl" rotWithShape="0" blurRad="50800" dist="25400" dir="8100000">
              <a:srgbClr val="000000">
                <a:alpha val="10000"/>
              </a:srgbClr>
            </a:outerShdw>
          </a:effectLst>
        </p:spPr>
      </p:sp>
      <p:sp>
        <p:nvSpPr>
          <p:cNvPr id="14" name="Shape 10"/>
          <p:cNvSpPr/>
          <p:nvPr/>
        </p:nvSpPr>
        <p:spPr>
          <a:xfrm>
            <a:off x="6035040" y="1645920"/>
            <a:ext cx="2743200" cy="411480"/>
          </a:xfrm>
          <a:prstGeom prst="rect">
            <a:avLst/>
          </a:prstGeom>
          <a:solidFill>
            <a:srgbClr val="1A2332"/>
          </a:solidFill>
          <a:ln/>
        </p:spPr>
      </p:sp>
      <p:pic>
        <p:nvPicPr>
          <p:cNvPr id="15" name="Image 2" descr="preencoded.png">    </p:cNvPr>
          <p:cNvPicPr>
            <a:picLocks noChangeAspect="1"/>
          </p:cNvPicPr>
          <p:nvPr/>
        </p:nvPicPr>
        <p:blipFill>
          <a:blip r:embed="rId3"/>
          <a:stretch>
            <a:fillRect/>
          </a:stretch>
        </p:blipFill>
        <p:spPr>
          <a:xfrm>
            <a:off x="6172200" y="1719072"/>
            <a:ext cx="228600" cy="228600"/>
          </a:xfrm>
          <a:prstGeom prst="rect">
            <a:avLst/>
          </a:prstGeom>
        </p:spPr>
      </p:pic>
      <p:sp>
        <p:nvSpPr>
          <p:cNvPr id="16" name="Text 11"/>
          <p:cNvSpPr/>
          <p:nvPr/>
        </p:nvSpPr>
        <p:spPr>
          <a:xfrm>
            <a:off x="6492240" y="1645920"/>
            <a:ext cx="2194560"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Model Context Protocol</a:t>
            </a:r>
            <a:endParaRPr lang="en-US" sz="1100" dirty="0"/>
          </a:p>
        </p:txBody>
      </p:sp>
      <p:sp>
        <p:nvSpPr>
          <p:cNvPr id="17" name="Text 12"/>
          <p:cNvSpPr/>
          <p:nvPr/>
        </p:nvSpPr>
        <p:spPr>
          <a:xfrm>
            <a:off x="6172200" y="2240280"/>
            <a:ext cx="2468880" cy="822960"/>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Structured tools, APIs, and enterprise abstractions.</a:t>
            </a:r>
            <a:endParaRPr lang="en-US" sz="1050" dirty="0"/>
          </a:p>
        </p:txBody>
      </p:sp>
      <p:sp>
        <p:nvSpPr>
          <p:cNvPr id="18" name="Shape 13"/>
          <p:cNvSpPr/>
          <p:nvPr/>
        </p:nvSpPr>
        <p:spPr>
          <a:xfrm flipH="1">
            <a:off x="3108960" y="2468880"/>
            <a:ext cx="457200" cy="0"/>
          </a:xfrm>
          <a:prstGeom prst="line">
            <a:avLst/>
          </a:prstGeom>
          <a:noFill/>
          <a:ln w="25400">
            <a:solidFill>
              <a:srgbClr val="0D9488"/>
            </a:solidFill>
            <a:prstDash val="dash"/>
          </a:ln>
        </p:spPr>
      </p:sp>
      <p:sp>
        <p:nvSpPr>
          <p:cNvPr id="19" name="Shape 14"/>
          <p:cNvSpPr/>
          <p:nvPr/>
        </p:nvSpPr>
        <p:spPr>
          <a:xfrm>
            <a:off x="5669280" y="2468880"/>
            <a:ext cx="457200" cy="0"/>
          </a:xfrm>
          <a:prstGeom prst="line">
            <a:avLst/>
          </a:prstGeom>
          <a:noFill/>
          <a:ln w="25400">
            <a:solidFill>
              <a:srgbClr val="0D9488"/>
            </a:solidFill>
            <a:prstDash val="dash"/>
          </a:ln>
        </p:spPr>
      </p:sp>
      <p:sp>
        <p:nvSpPr>
          <p:cNvPr id="20" name="Text 15"/>
          <p:cNvSpPr/>
          <p:nvPr/>
        </p:nvSpPr>
        <p:spPr>
          <a:xfrm>
            <a:off x="8229600" y="4754880"/>
            <a:ext cx="64008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14 / 23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indent="0" marL="0">
              <a:buNone/>
            </a:pPr>
            <a:r>
              <a:rPr lang="en-US" sz="3000" b="1" dirty="0">
                <a:solidFill>
                  <a:srgbClr val="1A2332"/>
                </a:solidFill>
                <a:latin typeface="Calibri" pitchFamily="34" charset="0"/>
                <a:ea typeface="Calibri" pitchFamily="34" charset="-122"/>
                <a:cs typeface="Calibri" pitchFamily="34" charset="-120"/>
              </a:rPr>
              <a:t>Deep Dive: The CLI Approach</a:t>
            </a:r>
            <a:endParaRPr lang="en-US" sz="3000" dirty="0"/>
          </a:p>
        </p:txBody>
      </p:sp>
      <p:sp>
        <p:nvSpPr>
          <p:cNvPr id="3" name="Shape 1"/>
          <p:cNvSpPr/>
          <p:nvPr/>
        </p:nvSpPr>
        <p:spPr>
          <a:xfrm>
            <a:off x="548640" y="1051560"/>
            <a:ext cx="3931920" cy="2286000"/>
          </a:xfrm>
          <a:prstGeom prst="rect">
            <a:avLst/>
          </a:prstGeom>
          <a:solidFill>
            <a:srgbClr val="1E293B"/>
          </a:solidFill>
          <a:ln/>
          <a:effectLst>
            <a:outerShdw sx="100000" sy="100000" kx="0" ky="0" algn="bl" rotWithShape="0" blurRad="50800" dist="25400" dir="8100000">
              <a:srgbClr val="000000">
                <a:alpha val="10000"/>
              </a:srgbClr>
            </a:outerShdw>
          </a:effectLst>
        </p:spPr>
      </p:sp>
      <p:sp>
        <p:nvSpPr>
          <p:cNvPr id="4" name="Shape 2"/>
          <p:cNvSpPr/>
          <p:nvPr/>
        </p:nvSpPr>
        <p:spPr>
          <a:xfrm>
            <a:off x="731520" y="1143000"/>
            <a:ext cx="137160" cy="137160"/>
          </a:xfrm>
          <a:prstGeom prst="ellipse">
            <a:avLst/>
          </a:prstGeom>
          <a:solidFill>
            <a:srgbClr val="EF4444"/>
          </a:solidFill>
          <a:ln/>
        </p:spPr>
      </p:sp>
      <p:sp>
        <p:nvSpPr>
          <p:cNvPr id="5" name="Shape 3"/>
          <p:cNvSpPr/>
          <p:nvPr/>
        </p:nvSpPr>
        <p:spPr>
          <a:xfrm>
            <a:off x="914400" y="1143000"/>
            <a:ext cx="137160" cy="137160"/>
          </a:xfrm>
          <a:prstGeom prst="ellipse">
            <a:avLst/>
          </a:prstGeom>
          <a:solidFill>
            <a:srgbClr val="F59E0B"/>
          </a:solidFill>
          <a:ln/>
        </p:spPr>
      </p:sp>
      <p:sp>
        <p:nvSpPr>
          <p:cNvPr id="6" name="Shape 4"/>
          <p:cNvSpPr/>
          <p:nvPr/>
        </p:nvSpPr>
        <p:spPr>
          <a:xfrm>
            <a:off x="1097280" y="1143000"/>
            <a:ext cx="137160" cy="137160"/>
          </a:xfrm>
          <a:prstGeom prst="ellipse">
            <a:avLst/>
          </a:prstGeom>
          <a:solidFill>
            <a:srgbClr val="10B981"/>
          </a:solidFill>
          <a:ln/>
        </p:spPr>
      </p:sp>
      <p:sp>
        <p:nvSpPr>
          <p:cNvPr id="7" name="Text 5"/>
          <p:cNvSpPr/>
          <p:nvPr/>
        </p:nvSpPr>
        <p:spPr>
          <a:xfrm>
            <a:off x="731520" y="1417320"/>
            <a:ext cx="3566160" cy="1645920"/>
          </a:xfrm>
          <a:prstGeom prst="rect">
            <a:avLst/>
          </a:prstGeom>
          <a:noFill/>
          <a:ln/>
        </p:spPr>
        <p:txBody>
          <a:bodyPr wrap="square" lIns="0" tIns="0" rIns="0" bIns="0" rtlCol="0" anchor="ctr"/>
          <a:lstStyle/>
          <a:p>
            <a:pPr indent="0" marL="0">
              <a:buNone/>
            </a:pPr>
            <a:r>
              <a:rPr lang="en-US" sz="1100" dirty="0">
                <a:solidFill>
                  <a:srgbClr val="2DD4BF"/>
                </a:solidFill>
                <a:latin typeface="Consolas" pitchFamily="34" charset="0"/>
                <a:ea typeface="Consolas" pitchFamily="34" charset="-122"/>
                <a:cs typeface="Consolas" pitchFamily="34" charset="-120"/>
              </a:rPr>
              <a:t>&gt; cat notes.md</a:t>
            </a:r>
            <a:endParaRPr lang="en-US" sz="1100" dirty="0"/>
          </a:p>
          <a:p>
            <a:pPr indent="0" marL="0">
              <a:buNone/>
            </a:pPr>
            <a:r>
              <a:rPr lang="en-US" sz="1100" dirty="0">
                <a:solidFill>
                  <a:srgbClr val="2DD4BF"/>
                </a:solidFill>
                <a:latin typeface="Consolas" pitchFamily="34" charset="0"/>
                <a:ea typeface="Consolas" pitchFamily="34" charset="-122"/>
                <a:cs typeface="Consolas" pitchFamily="34" charset="-120"/>
              </a:rPr>
              <a:t>&gt; grep -rn "agent" *.md</a:t>
            </a:r>
            <a:endParaRPr lang="en-US" sz="1100" dirty="0"/>
          </a:p>
          <a:p>
            <a:pPr indent="0" marL="0">
              <a:buNone/>
            </a:pPr>
            <a:r>
              <a:rPr lang="en-US" sz="1100" dirty="0">
                <a:solidFill>
                  <a:srgbClr val="2DD4BF"/>
                </a:solidFill>
                <a:latin typeface="Consolas" pitchFamily="34" charset="0"/>
                <a:ea typeface="Consolas" pitchFamily="34" charset="-122"/>
                <a:cs typeface="Consolas" pitchFamily="34" charset="-120"/>
              </a:rPr>
              <a:t>&gt; git status</a:t>
            </a:r>
            <a:endParaRPr lang="en-US" sz="1100" dirty="0"/>
          </a:p>
          <a:p>
            <a:pPr indent="0" marL="0">
              <a:buNone/>
            </a:pPr>
            <a:endParaRPr lang="en-US" sz="1100" dirty="0"/>
          </a:p>
          <a:p>
            <a:pPr indent="0" marL="0">
              <a:buNone/>
            </a:pPr>
            <a:r>
              <a:rPr lang="en-US" sz="1100" dirty="0">
                <a:solidFill>
                  <a:srgbClr val="94A3B8"/>
                </a:solidFill>
                <a:latin typeface="Consolas" pitchFamily="34" charset="0"/>
                <a:ea typeface="Consolas" pitchFamily="34" charset="-122"/>
                <a:cs typeface="Consolas" pitchFamily="34" charset="-120"/>
              </a:rPr>
              <a:t>Built-in Bash capability.</a:t>
            </a:r>
            <a:endParaRPr lang="en-US" sz="1100" dirty="0"/>
          </a:p>
        </p:txBody>
      </p:sp>
      <p:sp>
        <p:nvSpPr>
          <p:cNvPr id="8" name="Text 6"/>
          <p:cNvSpPr/>
          <p:nvPr/>
        </p:nvSpPr>
        <p:spPr>
          <a:xfrm>
            <a:off x="4846320" y="1051560"/>
            <a:ext cx="3840480" cy="228600"/>
          </a:xfrm>
          <a:prstGeom prst="rect">
            <a:avLst/>
          </a:prstGeom>
          <a:noFill/>
          <a:ln/>
        </p:spPr>
        <p:txBody>
          <a:bodyPr wrap="square" lIns="0" tIns="0" rIns="0" bIns="0"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Baked-in Knowledge</a:t>
            </a:r>
            <a:endParaRPr lang="en-US" sz="1300" dirty="0"/>
          </a:p>
        </p:txBody>
      </p:sp>
      <p:sp>
        <p:nvSpPr>
          <p:cNvPr id="9" name="Text 7"/>
          <p:cNvSpPr/>
          <p:nvPr/>
        </p:nvSpPr>
        <p:spPr>
          <a:xfrm>
            <a:off x="4846320" y="1280160"/>
            <a:ext cx="3840480" cy="457200"/>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The model already knows bash and git fluently from its massive instruction dataset.</a:t>
            </a:r>
            <a:endParaRPr lang="en-US" sz="1050" dirty="0"/>
          </a:p>
        </p:txBody>
      </p:sp>
      <p:sp>
        <p:nvSpPr>
          <p:cNvPr id="10" name="Text 8"/>
          <p:cNvSpPr/>
          <p:nvPr/>
        </p:nvSpPr>
        <p:spPr>
          <a:xfrm>
            <a:off x="4846320" y="1828800"/>
            <a:ext cx="3840480" cy="228600"/>
          </a:xfrm>
          <a:prstGeom prst="rect">
            <a:avLst/>
          </a:prstGeom>
          <a:noFill/>
          <a:ln/>
        </p:spPr>
        <p:txBody>
          <a:bodyPr wrap="square" lIns="0" tIns="0" rIns="0" bIns="0"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Composability</a:t>
            </a:r>
            <a:endParaRPr lang="en-US" sz="1300" dirty="0"/>
          </a:p>
        </p:txBody>
      </p:sp>
      <p:sp>
        <p:nvSpPr>
          <p:cNvPr id="11" name="Text 9"/>
          <p:cNvSpPr/>
          <p:nvPr/>
        </p:nvSpPr>
        <p:spPr>
          <a:xfrm>
            <a:off x="4846320" y="2057400"/>
            <a:ext cx="3840480" cy="457200"/>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CLI tools naturally pipe together (chaining commands in a single line).</a:t>
            </a:r>
            <a:endParaRPr lang="en-US" sz="1050" dirty="0"/>
          </a:p>
        </p:txBody>
      </p:sp>
      <p:sp>
        <p:nvSpPr>
          <p:cNvPr id="12" name="Text 10"/>
          <p:cNvSpPr/>
          <p:nvPr/>
        </p:nvSpPr>
        <p:spPr>
          <a:xfrm>
            <a:off x="4846320" y="2606040"/>
            <a:ext cx="3840480" cy="228600"/>
          </a:xfrm>
          <a:prstGeom prst="rect">
            <a:avLst/>
          </a:prstGeom>
          <a:noFill/>
          <a:ln/>
        </p:spPr>
        <p:txBody>
          <a:bodyPr wrap="square" lIns="0" tIns="0" rIns="0" bIns="0"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Zero Tax</a:t>
            </a:r>
            <a:endParaRPr lang="en-US" sz="1300" dirty="0"/>
          </a:p>
        </p:txBody>
      </p:sp>
      <p:sp>
        <p:nvSpPr>
          <p:cNvPr id="13" name="Text 11"/>
          <p:cNvSpPr/>
          <p:nvPr/>
        </p:nvSpPr>
        <p:spPr>
          <a:xfrm>
            <a:off x="4846320" y="2834640"/>
            <a:ext cx="3840480" cy="457200"/>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Executing a git status or grep costs practically zero tokens.</a:t>
            </a:r>
            <a:endParaRPr lang="en-US" sz="1050" dirty="0"/>
          </a:p>
        </p:txBody>
      </p:sp>
      <p:sp>
        <p:nvSpPr>
          <p:cNvPr id="14" name="Text 12"/>
          <p:cNvSpPr/>
          <p:nvPr/>
        </p:nvSpPr>
        <p:spPr>
          <a:xfrm>
            <a:off x="8229600" y="4754880"/>
            <a:ext cx="64008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15 / 23</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indent="0" marL="0">
              <a:buNone/>
            </a:pPr>
            <a:r>
              <a:rPr lang="en-US" sz="2800" b="1" dirty="0">
                <a:solidFill>
                  <a:srgbClr val="1A2332"/>
                </a:solidFill>
                <a:latin typeface="Calibri" pitchFamily="34" charset="0"/>
                <a:ea typeface="Calibri" pitchFamily="34" charset="-122"/>
                <a:cs typeface="Calibri" pitchFamily="34" charset="-120"/>
              </a:rPr>
              <a:t>Deep Dive: Model Context Protocol (MCP)</a:t>
            </a:r>
            <a:endParaRPr lang="en-US" sz="2800" dirty="0"/>
          </a:p>
        </p:txBody>
      </p:sp>
      <p:sp>
        <p:nvSpPr>
          <p:cNvPr id="3" name="Shape 1"/>
          <p:cNvSpPr/>
          <p:nvPr/>
        </p:nvSpPr>
        <p:spPr>
          <a:xfrm>
            <a:off x="548640" y="1051560"/>
            <a:ext cx="3931920" cy="2286000"/>
          </a:xfrm>
          <a:prstGeom prst="rect">
            <a:avLst/>
          </a:prstGeom>
          <a:solidFill>
            <a:srgbClr val="F0FDFA"/>
          </a:solidFill>
          <a:ln/>
          <a:effectLst>
            <a:outerShdw sx="100000" sy="100000" kx="0" ky="0" algn="bl" rotWithShape="0" blurRad="50800" dist="25400" dir="8100000">
              <a:srgbClr val="000000">
                <a:alpha val="10000"/>
              </a:srgbClr>
            </a:outerShdw>
          </a:effectLst>
        </p:spPr>
      </p:sp>
      <p:sp>
        <p:nvSpPr>
          <p:cNvPr id="4" name="Shape 2"/>
          <p:cNvSpPr/>
          <p:nvPr/>
        </p:nvSpPr>
        <p:spPr>
          <a:xfrm>
            <a:off x="548640" y="1051560"/>
            <a:ext cx="54864" cy="2286000"/>
          </a:xfrm>
          <a:prstGeom prst="rect">
            <a:avLst/>
          </a:prstGeom>
          <a:solidFill>
            <a:srgbClr val="0D9488"/>
          </a:solidFill>
          <a:ln/>
        </p:spPr>
      </p:sp>
      <p:sp>
        <p:nvSpPr>
          <p:cNvPr id="5" name="Text 3"/>
          <p:cNvSpPr/>
          <p:nvPr/>
        </p:nvSpPr>
        <p:spPr>
          <a:xfrm>
            <a:off x="777240" y="1143000"/>
            <a:ext cx="3474720" cy="274320"/>
          </a:xfrm>
          <a:prstGeom prst="rect">
            <a:avLst/>
          </a:prstGeom>
          <a:noFill/>
          <a:ln/>
        </p:spPr>
        <p:txBody>
          <a:bodyPr wrap="square" lIns="0" tIns="0" rIns="0" bIns="0" rtlCol="0" anchor="ctr"/>
          <a:lstStyle/>
          <a:p>
            <a:pPr indent="0" marL="0">
              <a:buNone/>
            </a:pPr>
            <a:r>
              <a:rPr lang="en-US" sz="1500" b="1" dirty="0">
                <a:solidFill>
                  <a:srgbClr val="0F766E"/>
                </a:solidFill>
                <a:latin typeface="Calibri" pitchFamily="34" charset="0"/>
                <a:ea typeface="Calibri" pitchFamily="34" charset="-122"/>
                <a:cs typeface="Calibri" pitchFamily="34" charset="-120"/>
              </a:rPr>
              <a:t>The Power</a:t>
            </a:r>
            <a:endParaRPr lang="en-US" sz="1500" dirty="0"/>
          </a:p>
        </p:txBody>
      </p:sp>
      <p:sp>
        <p:nvSpPr>
          <p:cNvPr id="6" name="Text 4"/>
          <p:cNvSpPr/>
          <p:nvPr/>
        </p:nvSpPr>
        <p:spPr>
          <a:xfrm>
            <a:off x="777240" y="1508760"/>
            <a:ext cx="3520440" cy="1554480"/>
          </a:xfrm>
          <a:prstGeom prst="rect">
            <a:avLst/>
          </a:prstGeom>
          <a:noFill/>
          <a:ln/>
        </p:spPr>
        <p:txBody>
          <a:bodyPr wrap="square" rtlCol="0" anchor="ctr"/>
          <a:lstStyle/>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Bridges capabilities the CLI cannot handle</a:t>
            </a:r>
            <a:endParaRPr lang="en-US" sz="1100" dirty="0"/>
          </a:p>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Example: Using an MCP "Retrieve" to render a dynamic headless browser</a:t>
            </a:r>
            <a:endParaRPr lang="en-US" sz="1100" dirty="0"/>
          </a:p>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Handles complex authentication, OAuth, and per-user access controls</a:t>
            </a:r>
            <a:endParaRPr lang="en-US" sz="1100" dirty="0"/>
          </a:p>
        </p:txBody>
      </p:sp>
      <p:sp>
        <p:nvSpPr>
          <p:cNvPr id="7" name="Shape 5"/>
          <p:cNvSpPr/>
          <p:nvPr/>
        </p:nvSpPr>
        <p:spPr>
          <a:xfrm>
            <a:off x="4846320" y="1051560"/>
            <a:ext cx="3931920" cy="2286000"/>
          </a:xfrm>
          <a:prstGeom prst="rect">
            <a:avLst/>
          </a:prstGeom>
          <a:solidFill>
            <a:srgbClr val="FEF2F2"/>
          </a:solidFill>
          <a:ln/>
          <a:effectLst>
            <a:outerShdw sx="100000" sy="100000" kx="0" ky="0" algn="bl" rotWithShape="0" blurRad="50800" dist="25400" dir="8100000">
              <a:srgbClr val="000000">
                <a:alpha val="10000"/>
              </a:srgbClr>
            </a:outerShdw>
          </a:effectLst>
        </p:spPr>
      </p:sp>
      <p:sp>
        <p:nvSpPr>
          <p:cNvPr id="8" name="Shape 6"/>
          <p:cNvSpPr/>
          <p:nvPr/>
        </p:nvSpPr>
        <p:spPr>
          <a:xfrm>
            <a:off x="4846320" y="1051560"/>
            <a:ext cx="54864" cy="2286000"/>
          </a:xfrm>
          <a:prstGeom prst="rect">
            <a:avLst/>
          </a:prstGeom>
          <a:solidFill>
            <a:srgbClr val="EF4444"/>
          </a:solidFill>
          <a:ln/>
        </p:spPr>
      </p:sp>
      <p:sp>
        <p:nvSpPr>
          <p:cNvPr id="9" name="Text 7"/>
          <p:cNvSpPr/>
          <p:nvPr/>
        </p:nvSpPr>
        <p:spPr>
          <a:xfrm>
            <a:off x="5074920" y="1143000"/>
            <a:ext cx="3474720" cy="274320"/>
          </a:xfrm>
          <a:prstGeom prst="rect">
            <a:avLst/>
          </a:prstGeom>
          <a:noFill/>
          <a:ln/>
        </p:spPr>
        <p:txBody>
          <a:bodyPr wrap="square" lIns="0" tIns="0" rIns="0" bIns="0" rtlCol="0" anchor="ctr"/>
          <a:lstStyle/>
          <a:p>
            <a:pPr indent="0" marL="0">
              <a:buNone/>
            </a:pPr>
            <a:r>
              <a:rPr lang="en-US" sz="1500" b="1" dirty="0">
                <a:solidFill>
                  <a:srgbClr val="EF4444"/>
                </a:solidFill>
                <a:latin typeface="Calibri" pitchFamily="34" charset="0"/>
                <a:ea typeface="Calibri" pitchFamily="34" charset="-122"/>
                <a:cs typeface="Calibri" pitchFamily="34" charset="-120"/>
              </a:rPr>
              <a:t>The Context Tax</a:t>
            </a:r>
            <a:endParaRPr lang="en-US" sz="1500" dirty="0"/>
          </a:p>
        </p:txBody>
      </p:sp>
      <p:sp>
        <p:nvSpPr>
          <p:cNvPr id="10" name="Text 8"/>
          <p:cNvSpPr/>
          <p:nvPr/>
        </p:nvSpPr>
        <p:spPr>
          <a:xfrm>
            <a:off x="5074920" y="1508760"/>
            <a:ext cx="3520440" cy="1554480"/>
          </a:xfrm>
          <a:prstGeom prst="rect">
            <a:avLst/>
          </a:prstGeom>
          <a:noFill/>
          <a:ln/>
        </p:spPr>
        <p:txBody>
          <a:bodyPr wrap="square" rtlCol="0" anchor="ctr"/>
          <a:lstStyle/>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MCP exposes structured tools, but every tool's JSON schema must be injected into the system prompt before any work begins</a:t>
            </a:r>
            <a:endParaRPr lang="en-US" sz="1100" dirty="0"/>
          </a:p>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Data Point: Loading the GitHub MCP server costs ~5,000 tokens upfront — eating into your context budget before a single command is executed</a:t>
            </a:r>
            <a:endParaRPr lang="en-US" sz="1100" dirty="0"/>
          </a:p>
        </p:txBody>
      </p:sp>
      <p:sp>
        <p:nvSpPr>
          <p:cNvPr id="11" name="Shape 9"/>
          <p:cNvSpPr/>
          <p:nvPr/>
        </p:nvSpPr>
        <p:spPr>
          <a:xfrm>
            <a:off x="548640" y="3566160"/>
            <a:ext cx="8229600" cy="502920"/>
          </a:xfrm>
          <a:prstGeom prst="rect">
            <a:avLst/>
          </a:prstGeom>
          <a:solidFill>
            <a:srgbClr val="F0FDFA"/>
          </a:solidFill>
          <a:ln/>
        </p:spPr>
      </p:sp>
      <p:sp>
        <p:nvSpPr>
          <p:cNvPr id="12" name="Shape 10"/>
          <p:cNvSpPr/>
          <p:nvPr/>
        </p:nvSpPr>
        <p:spPr>
          <a:xfrm>
            <a:off x="548640" y="3566160"/>
            <a:ext cx="54864" cy="502920"/>
          </a:xfrm>
          <a:prstGeom prst="rect">
            <a:avLst/>
          </a:prstGeom>
          <a:solidFill>
            <a:srgbClr val="F59E0B"/>
          </a:solidFill>
          <a:ln/>
        </p:spPr>
      </p:sp>
      <p:sp>
        <p:nvSpPr>
          <p:cNvPr id="13" name="Text 11"/>
          <p:cNvSpPr/>
          <p:nvPr/>
        </p:nvSpPr>
        <p:spPr>
          <a:xfrm>
            <a:off x="777240" y="3566160"/>
            <a:ext cx="7772400" cy="502920"/>
          </a:xfrm>
          <a:prstGeom prst="rect">
            <a:avLst/>
          </a:prstGeom>
          <a:noFill/>
          <a:ln/>
        </p:spPr>
        <p:txBody>
          <a:bodyPr wrap="square" lIns="0" tIns="0" rIns="0" bIns="0" rtlCol="0" anchor="ctr"/>
          <a:lstStyle/>
          <a:p>
            <a:pPr indent="0" marL="0">
              <a:buNone/>
            </a:pPr>
            <a:r>
              <a:rPr lang="en-US" sz="1100" b="1" dirty="0">
                <a:solidFill>
                  <a:srgbClr val="1A2332"/>
                </a:solidFill>
                <a:latin typeface="Calibri" pitchFamily="34" charset="0"/>
                <a:ea typeface="Calibri" pitchFamily="34" charset="-122"/>
                <a:cs typeface="Calibri" pitchFamily="34" charset="-120"/>
              </a:rPr>
              <a:t>Rule of Thumb: Use CLI when the command maps directly to the job. Pay the MCP token tax when abstraction, rendering, or governance justifies the cost.</a:t>
            </a:r>
            <a:endParaRPr lang="en-US" sz="1100" dirty="0"/>
          </a:p>
        </p:txBody>
      </p:sp>
      <p:sp>
        <p:nvSpPr>
          <p:cNvPr id="14" name="Text 12"/>
          <p:cNvSpPr/>
          <p:nvPr/>
        </p:nvSpPr>
        <p:spPr>
          <a:xfrm>
            <a:off x="8229600" y="4754880"/>
            <a:ext cx="64008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16 / 23</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indent="0" marL="0">
              <a:buNone/>
            </a:pPr>
            <a:r>
              <a:rPr lang="en-US" sz="3000" b="1" dirty="0">
                <a:solidFill>
                  <a:srgbClr val="1A2332"/>
                </a:solidFill>
                <a:latin typeface="Calibri" pitchFamily="34" charset="0"/>
                <a:ea typeface="Calibri" pitchFamily="34" charset="-122"/>
                <a:cs typeface="Calibri" pitchFamily="34" charset="-120"/>
              </a:rPr>
              <a:t>Tooling Architecture: CLI vs. MCP</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051560"/>
          <a:ext cx="8046720" cy="914400"/>
        </p:xfrm>
        <a:graphic>
          <a:graphicData uri="http://schemas.openxmlformats.org/drawingml/2006/table">
            <a:tbl>
              <a:tblPr/>
              <a:tblGrid>
                <a:gridCol w="2011680"/>
                <a:gridCol w="3017520"/>
                <a:gridCol w="3017520"/>
              </a:tblGrid>
              <a:tr h="41148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Dimension</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332"/>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CLI (Command Line)</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332"/>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MCP (Model Context Protocol)</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332"/>
                    </a:solidFill>
                  </a:tcPr>
                </a:tc>
              </a:tr>
              <a:tr h="457200">
                <a:tc>
                  <a:txBody>
                    <a:bodyPr/>
                    <a:lstStyle/>
                    <a:p>
                      <a:pPr indent="0" marL="0">
                        <a:buNone/>
                      </a:pPr>
                      <a:r>
                        <a:rPr lang="en-US" sz="1100" b="1" dirty="0">
                          <a:solidFill>
                            <a:srgbClr val="334155"/>
                          </a:solidFill>
                          <a:latin typeface="Calibri" pitchFamily="34" charset="0"/>
                          <a:ea typeface="Calibri" pitchFamily="34" charset="-122"/>
                          <a:cs typeface="Calibri" pitchFamily="34" charset="-120"/>
                        </a:rPr>
                        <a:t>Token Cost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Near Zero</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High ("Context Tax" per tool schema)</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57200">
                <a:tc>
                  <a:txBody>
                    <a:bodyPr/>
                    <a:lstStyle/>
                    <a:p>
                      <a:pPr indent="0" marL="0">
                        <a:buNone/>
                      </a:pPr>
                      <a:r>
                        <a:rPr lang="en-US" sz="1100" b="1" dirty="0">
                          <a:solidFill>
                            <a:srgbClr val="334155"/>
                          </a:solidFill>
                          <a:latin typeface="Calibri" pitchFamily="34" charset="0"/>
                          <a:ea typeface="Calibri" pitchFamily="34" charset="-122"/>
                          <a:cs typeface="Calibri" pitchFamily="34" charset="-120"/>
                        </a:rPr>
                        <a:t>Model Knowledge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Baked-in from training data</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Must be explicitly taught via JSON</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57200">
                <a:tc>
                  <a:txBody>
                    <a:bodyPr/>
                    <a:lstStyle/>
                    <a:p>
                      <a:pPr indent="0" marL="0">
                        <a:buNone/>
                      </a:pPr>
                      <a:r>
                        <a:rPr lang="en-US" sz="1100" b="1" dirty="0">
                          <a:solidFill>
                            <a:srgbClr val="334155"/>
                          </a:solidFill>
                          <a:latin typeface="Calibri" pitchFamily="34" charset="0"/>
                          <a:ea typeface="Calibri" pitchFamily="34" charset="-122"/>
                          <a:cs typeface="Calibri" pitchFamily="34" charset="-120"/>
                        </a:rPr>
                        <a:t>Composability</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High (Pipes to chain commands)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Low (Independent tool calls)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57200">
                <a:tc>
                  <a:txBody>
                    <a:bodyPr/>
                    <a:lstStyle/>
                    <a:p>
                      <a:pPr indent="0" marL="0">
                        <a:buNone/>
                      </a:pPr>
                      <a:r>
                        <a:rPr lang="en-US" sz="1100" b="1" dirty="0">
                          <a:solidFill>
                            <a:srgbClr val="334155"/>
                          </a:solidFill>
                          <a:latin typeface="Calibri" pitchFamily="34" charset="0"/>
                          <a:ea typeface="Calibri" pitchFamily="34" charset="-122"/>
                          <a:cs typeface="Calibri" pitchFamily="34" charset="-120"/>
                        </a:rPr>
                        <a:t>Auth &amp; Governance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Manual (Agent manages raw tokens)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Server-Managed (Built-in audit trails)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57200">
                <a:tc>
                  <a:txBody>
                    <a:bodyPr/>
                    <a:lstStyle/>
                    <a:p>
                      <a:pPr indent="0" marL="0">
                        <a:buNone/>
                      </a:pPr>
                      <a:r>
                        <a:rPr lang="en-US" sz="1100" b="1" dirty="0">
                          <a:solidFill>
                            <a:srgbClr val="334155"/>
                          </a:solidFill>
                          <a:latin typeface="Calibri" pitchFamily="34" charset="0"/>
                          <a:ea typeface="Calibri" pitchFamily="34" charset="-122"/>
                          <a:cs typeface="Calibri" pitchFamily="34" charset="-120"/>
                        </a:rPr>
                        <a:t>Best Used For</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File ops, Git, script execution</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Proprietary APIs, headless browsers, Enterprise access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4" name="Shape 1"/>
          <p:cNvSpPr/>
          <p:nvPr/>
        </p:nvSpPr>
        <p:spPr>
          <a:xfrm>
            <a:off x="548640" y="4114800"/>
            <a:ext cx="8046720" cy="502920"/>
          </a:xfrm>
          <a:prstGeom prst="rect">
            <a:avLst/>
          </a:prstGeom>
          <a:solidFill>
            <a:srgbClr val="F0FDFA"/>
          </a:solidFill>
          <a:ln/>
        </p:spPr>
      </p:sp>
      <p:sp>
        <p:nvSpPr>
          <p:cNvPr id="5" name="Shape 2"/>
          <p:cNvSpPr/>
          <p:nvPr/>
        </p:nvSpPr>
        <p:spPr>
          <a:xfrm>
            <a:off x="548640" y="4114800"/>
            <a:ext cx="54864" cy="502920"/>
          </a:xfrm>
          <a:prstGeom prst="rect">
            <a:avLst/>
          </a:prstGeom>
          <a:solidFill>
            <a:srgbClr val="0D9488"/>
          </a:solidFill>
          <a:ln/>
        </p:spPr>
      </p:sp>
      <p:sp>
        <p:nvSpPr>
          <p:cNvPr id="6" name="Text 3"/>
          <p:cNvSpPr/>
          <p:nvPr/>
        </p:nvSpPr>
        <p:spPr>
          <a:xfrm>
            <a:off x="777240" y="4114800"/>
            <a:ext cx="7589520" cy="502920"/>
          </a:xfrm>
          <a:prstGeom prst="rect">
            <a:avLst/>
          </a:prstGeom>
          <a:noFill/>
          <a:ln/>
        </p:spPr>
        <p:txBody>
          <a:bodyPr wrap="square" lIns="0" tIns="0" rIns="0" bIns="0" rtlCol="0" anchor="ctr"/>
          <a:lstStyle/>
          <a:p>
            <a:pPr indent="0" marL="0">
              <a:buNone/>
            </a:pPr>
            <a:r>
              <a:rPr lang="en-US" sz="1100" b="1" dirty="0">
                <a:solidFill>
                  <a:srgbClr val="1A2332"/>
                </a:solidFill>
                <a:latin typeface="Calibri" pitchFamily="34" charset="0"/>
                <a:ea typeface="Calibri" pitchFamily="34" charset="-122"/>
                <a:cs typeface="Calibri" pitchFamily="34" charset="-120"/>
              </a:rPr>
              <a:t>Use CLI when the command maps directly to the job. Pay the MCP token tax when abstraction, rendering, or governance justifies the cost.</a:t>
            </a:r>
            <a:endParaRPr lang="en-US" sz="1100" dirty="0"/>
          </a:p>
        </p:txBody>
      </p:sp>
      <p:sp>
        <p:nvSpPr>
          <p:cNvPr id="7" name="Text 4"/>
          <p:cNvSpPr/>
          <p:nvPr/>
        </p:nvSpPr>
        <p:spPr>
          <a:xfrm>
            <a:off x="8229600" y="4754880"/>
            <a:ext cx="64008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17 / 23</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indent="0" marL="0">
              <a:buNone/>
            </a:pPr>
            <a:r>
              <a:rPr lang="en-US" sz="2800" b="1" dirty="0">
                <a:solidFill>
                  <a:srgbClr val="1A2332"/>
                </a:solidFill>
                <a:latin typeface="Calibri" pitchFamily="34" charset="0"/>
                <a:ea typeface="Calibri" pitchFamily="34" charset="-122"/>
                <a:cs typeface="Calibri" pitchFamily="34" charset="-120"/>
              </a:rPr>
              <a:t>Strategy Checklist: When to Build an Agent?</a:t>
            </a:r>
            <a:endParaRPr lang="en-US" sz="2800" dirty="0"/>
          </a:p>
        </p:txBody>
      </p:sp>
      <p:sp>
        <p:nvSpPr>
          <p:cNvPr id="3" name="Shape 1"/>
          <p:cNvSpPr/>
          <p:nvPr/>
        </p:nvSpPr>
        <p:spPr>
          <a:xfrm>
            <a:off x="548640" y="1005840"/>
            <a:ext cx="4114800" cy="777240"/>
          </a:xfrm>
          <a:prstGeom prst="rect">
            <a:avLst/>
          </a:prstGeom>
          <a:solidFill>
            <a:srgbClr val="F1F5F9"/>
          </a:solidFill>
          <a:ln/>
          <a:effectLst>
            <a:outerShdw sx="100000" sy="100000" kx="0" ky="0" algn="bl" rotWithShape="0" blurRad="50800" dist="25400" dir="8100000">
              <a:srgbClr val="000000">
                <a:alpha val="10000"/>
              </a:srgbClr>
            </a:outerShdw>
          </a:effectLst>
        </p:spPr>
      </p:sp>
      <p:sp>
        <p:nvSpPr>
          <p:cNvPr id="4" name="Shape 2"/>
          <p:cNvSpPr/>
          <p:nvPr/>
        </p:nvSpPr>
        <p:spPr>
          <a:xfrm>
            <a:off x="548640" y="1005840"/>
            <a:ext cx="54864" cy="777240"/>
          </a:xfrm>
          <a:prstGeom prst="rect">
            <a:avLst/>
          </a:prstGeom>
          <a:solidFill>
            <a:srgbClr val="0D9488"/>
          </a:solidFill>
          <a:ln/>
        </p:spPr>
      </p:sp>
      <p:sp>
        <p:nvSpPr>
          <p:cNvPr id="5" name="Text 3"/>
          <p:cNvSpPr/>
          <p:nvPr/>
        </p:nvSpPr>
        <p:spPr>
          <a:xfrm>
            <a:off x="777240" y="1005840"/>
            <a:ext cx="3749040" cy="777240"/>
          </a:xfrm>
          <a:prstGeom prst="rect">
            <a:avLst/>
          </a:prstGeom>
          <a:noFill/>
          <a:ln/>
        </p:spPr>
        <p:txBody>
          <a:bodyPr wrap="square" lIns="0" tIns="0" rIns="0" bIns="0"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Is the problem well-defined?</a:t>
            </a:r>
            <a:endParaRPr lang="en-US" sz="1200" dirty="0"/>
          </a:p>
        </p:txBody>
      </p:sp>
      <p:sp>
        <p:nvSpPr>
          <p:cNvPr id="6" name="Shape 4"/>
          <p:cNvSpPr/>
          <p:nvPr/>
        </p:nvSpPr>
        <p:spPr>
          <a:xfrm>
            <a:off x="5029200" y="1005840"/>
            <a:ext cx="3749040" cy="347472"/>
          </a:xfrm>
          <a:prstGeom prst="rect">
            <a:avLst/>
          </a:prstGeom>
          <a:solidFill>
            <a:srgbClr val="FEF2F2"/>
          </a:solidFill>
          <a:ln/>
        </p:spPr>
      </p:sp>
      <p:sp>
        <p:nvSpPr>
          <p:cNvPr id="7" name="Text 5"/>
          <p:cNvSpPr/>
          <p:nvPr/>
        </p:nvSpPr>
        <p:spPr>
          <a:xfrm>
            <a:off x="5120640" y="1005840"/>
            <a:ext cx="3566160" cy="347472"/>
          </a:xfrm>
          <a:prstGeom prst="rect">
            <a:avLst/>
          </a:prstGeom>
          <a:noFill/>
          <a:ln/>
        </p:spPr>
        <p:txBody>
          <a:bodyPr wrap="square" lIns="0" tIns="0" rIns="0" bIns="0" rtlCol="0" anchor="ctr"/>
          <a:lstStyle/>
          <a:p>
            <a:pPr indent="0" marL="0">
              <a:buNone/>
            </a:pPr>
            <a:r>
              <a:rPr lang="en-US" sz="1000" b="1" dirty="0">
                <a:solidFill>
                  <a:srgbClr val="EF4444"/>
                </a:solidFill>
                <a:latin typeface="Calibri" pitchFamily="34" charset="0"/>
                <a:ea typeface="Calibri" pitchFamily="34" charset="-122"/>
                <a:cs typeface="Calibri" pitchFamily="34" charset="-120"/>
              </a:rPr>
              <a:t>NO → Reduce scope &amp; simplify</a:t>
            </a:r>
            <a:endParaRPr lang="en-US" sz="1000" dirty="0"/>
          </a:p>
        </p:txBody>
      </p:sp>
      <p:sp>
        <p:nvSpPr>
          <p:cNvPr id="8" name="Shape 6"/>
          <p:cNvSpPr/>
          <p:nvPr/>
        </p:nvSpPr>
        <p:spPr>
          <a:xfrm>
            <a:off x="5029200" y="1389888"/>
            <a:ext cx="3749040" cy="347472"/>
          </a:xfrm>
          <a:prstGeom prst="rect">
            <a:avLst/>
          </a:prstGeom>
          <a:solidFill>
            <a:srgbClr val="F0FDFA"/>
          </a:solidFill>
          <a:ln/>
        </p:spPr>
      </p:sp>
      <p:sp>
        <p:nvSpPr>
          <p:cNvPr id="9" name="Text 7"/>
          <p:cNvSpPr/>
          <p:nvPr/>
        </p:nvSpPr>
        <p:spPr>
          <a:xfrm>
            <a:off x="5120640" y="1389888"/>
            <a:ext cx="3566160" cy="347472"/>
          </a:xfrm>
          <a:prstGeom prst="rect">
            <a:avLst/>
          </a:prstGeom>
          <a:noFill/>
          <a:ln/>
        </p:spPr>
        <p:txBody>
          <a:bodyPr wrap="square" lIns="0" tIns="0" rIns="0" bIns="0" rtlCol="0" anchor="ctr"/>
          <a:lstStyle/>
          <a:p>
            <a:pPr indent="0" marL="0">
              <a:buNone/>
            </a:pPr>
            <a:r>
              <a:rPr lang="en-US" sz="1000" b="1" dirty="0">
                <a:solidFill>
                  <a:srgbClr val="0D9488"/>
                </a:solidFill>
                <a:latin typeface="Calibri" pitchFamily="34" charset="0"/>
                <a:ea typeface="Calibri" pitchFamily="34" charset="-122"/>
                <a:cs typeface="Calibri" pitchFamily="34" charset="-120"/>
              </a:rPr>
              <a:t>YES → Continue</a:t>
            </a:r>
            <a:endParaRPr lang="en-US" sz="1000" dirty="0"/>
          </a:p>
        </p:txBody>
      </p:sp>
      <p:sp>
        <p:nvSpPr>
          <p:cNvPr id="10" name="Shape 8"/>
          <p:cNvSpPr/>
          <p:nvPr/>
        </p:nvSpPr>
        <p:spPr>
          <a:xfrm>
            <a:off x="548640" y="1965960"/>
            <a:ext cx="4114800" cy="777240"/>
          </a:xfrm>
          <a:prstGeom prst="rect">
            <a:avLst/>
          </a:prstGeom>
          <a:solidFill>
            <a:srgbClr val="F1F5F9"/>
          </a:solidFill>
          <a:ln/>
          <a:effectLst>
            <a:outerShdw sx="100000" sy="100000" kx="0" ky="0" algn="bl" rotWithShape="0" blurRad="50800" dist="25400" dir="8100000">
              <a:srgbClr val="000000">
                <a:alpha val="10000"/>
              </a:srgbClr>
            </a:outerShdw>
          </a:effectLst>
        </p:spPr>
      </p:sp>
      <p:sp>
        <p:nvSpPr>
          <p:cNvPr id="11" name="Shape 9"/>
          <p:cNvSpPr/>
          <p:nvPr/>
        </p:nvSpPr>
        <p:spPr>
          <a:xfrm>
            <a:off x="548640" y="1965960"/>
            <a:ext cx="54864" cy="777240"/>
          </a:xfrm>
          <a:prstGeom prst="rect">
            <a:avLst/>
          </a:prstGeom>
          <a:solidFill>
            <a:srgbClr val="0D9488"/>
          </a:solidFill>
          <a:ln/>
        </p:spPr>
      </p:sp>
      <p:sp>
        <p:nvSpPr>
          <p:cNvPr id="12" name="Text 10"/>
          <p:cNvSpPr/>
          <p:nvPr/>
        </p:nvSpPr>
        <p:spPr>
          <a:xfrm>
            <a:off x="777240" y="1965960"/>
            <a:ext cx="3749040" cy="777240"/>
          </a:xfrm>
          <a:prstGeom prst="rect">
            <a:avLst/>
          </a:prstGeom>
          <a:noFill/>
          <a:ln/>
        </p:spPr>
        <p:txBody>
          <a:bodyPr wrap="square" lIns="0" tIns="0" rIns="0" bIns="0"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Does the task require judgment calls?</a:t>
            </a:r>
            <a:endParaRPr lang="en-US" sz="1200" dirty="0"/>
          </a:p>
        </p:txBody>
      </p:sp>
      <p:sp>
        <p:nvSpPr>
          <p:cNvPr id="13" name="Shape 11"/>
          <p:cNvSpPr/>
          <p:nvPr/>
        </p:nvSpPr>
        <p:spPr>
          <a:xfrm>
            <a:off x="5029200" y="1965960"/>
            <a:ext cx="3749040" cy="347472"/>
          </a:xfrm>
          <a:prstGeom prst="rect">
            <a:avLst/>
          </a:prstGeom>
          <a:solidFill>
            <a:srgbClr val="FEF2F2"/>
          </a:solidFill>
          <a:ln/>
        </p:spPr>
      </p:sp>
      <p:sp>
        <p:nvSpPr>
          <p:cNvPr id="14" name="Text 12"/>
          <p:cNvSpPr/>
          <p:nvPr/>
        </p:nvSpPr>
        <p:spPr>
          <a:xfrm>
            <a:off x="5120640" y="1965960"/>
            <a:ext cx="3566160" cy="347472"/>
          </a:xfrm>
          <a:prstGeom prst="rect">
            <a:avLst/>
          </a:prstGeom>
          <a:noFill/>
          <a:ln/>
        </p:spPr>
        <p:txBody>
          <a:bodyPr wrap="square" lIns="0" tIns="0" rIns="0" bIns="0" rtlCol="0" anchor="ctr"/>
          <a:lstStyle/>
          <a:p>
            <a:pPr indent="0" marL="0">
              <a:buNone/>
            </a:pPr>
            <a:r>
              <a:rPr lang="en-US" sz="1000" b="1" dirty="0">
                <a:solidFill>
                  <a:srgbClr val="EF4444"/>
                </a:solidFill>
                <a:latin typeface="Calibri" pitchFamily="34" charset="0"/>
                <a:ea typeface="Calibri" pitchFamily="34" charset="-122"/>
                <a:cs typeface="Calibri" pitchFamily="34" charset="-120"/>
              </a:rPr>
              <a:t>NO → Build a Workflow (Predictable/Deterministic)</a:t>
            </a:r>
            <a:endParaRPr lang="en-US" sz="1000" dirty="0"/>
          </a:p>
        </p:txBody>
      </p:sp>
      <p:sp>
        <p:nvSpPr>
          <p:cNvPr id="15" name="Shape 13"/>
          <p:cNvSpPr/>
          <p:nvPr/>
        </p:nvSpPr>
        <p:spPr>
          <a:xfrm>
            <a:off x="5029200" y="2350008"/>
            <a:ext cx="3749040" cy="347472"/>
          </a:xfrm>
          <a:prstGeom prst="rect">
            <a:avLst/>
          </a:prstGeom>
          <a:solidFill>
            <a:srgbClr val="F0FDFA"/>
          </a:solidFill>
          <a:ln/>
        </p:spPr>
      </p:sp>
      <p:sp>
        <p:nvSpPr>
          <p:cNvPr id="16" name="Text 14"/>
          <p:cNvSpPr/>
          <p:nvPr/>
        </p:nvSpPr>
        <p:spPr>
          <a:xfrm>
            <a:off x="5120640" y="2350008"/>
            <a:ext cx="3566160" cy="347472"/>
          </a:xfrm>
          <a:prstGeom prst="rect">
            <a:avLst/>
          </a:prstGeom>
          <a:noFill/>
          <a:ln/>
        </p:spPr>
        <p:txBody>
          <a:bodyPr wrap="square" lIns="0" tIns="0" rIns="0" bIns="0" rtlCol="0" anchor="ctr"/>
          <a:lstStyle/>
          <a:p>
            <a:pPr indent="0" marL="0">
              <a:buNone/>
            </a:pPr>
            <a:r>
              <a:rPr lang="en-US" sz="1000" b="1" dirty="0">
                <a:solidFill>
                  <a:srgbClr val="0D9488"/>
                </a:solidFill>
                <a:latin typeface="Calibri" pitchFamily="34" charset="0"/>
                <a:ea typeface="Calibri" pitchFamily="34" charset="-122"/>
                <a:cs typeface="Calibri" pitchFamily="34" charset="-120"/>
              </a:rPr>
              <a:t>YES → Continue</a:t>
            </a:r>
            <a:endParaRPr lang="en-US" sz="1000" dirty="0"/>
          </a:p>
        </p:txBody>
      </p:sp>
      <p:sp>
        <p:nvSpPr>
          <p:cNvPr id="17" name="Shape 15"/>
          <p:cNvSpPr/>
          <p:nvPr/>
        </p:nvSpPr>
        <p:spPr>
          <a:xfrm>
            <a:off x="548640" y="2926080"/>
            <a:ext cx="4114800" cy="777240"/>
          </a:xfrm>
          <a:prstGeom prst="rect">
            <a:avLst/>
          </a:prstGeom>
          <a:solidFill>
            <a:srgbClr val="F1F5F9"/>
          </a:solidFill>
          <a:ln/>
          <a:effectLst>
            <a:outerShdw sx="100000" sy="100000" kx="0" ky="0" algn="bl" rotWithShape="0" blurRad="50800" dist="25400" dir="8100000">
              <a:srgbClr val="000000">
                <a:alpha val="10000"/>
              </a:srgbClr>
            </a:outerShdw>
          </a:effectLst>
        </p:spPr>
      </p:sp>
      <p:sp>
        <p:nvSpPr>
          <p:cNvPr id="18" name="Shape 16"/>
          <p:cNvSpPr/>
          <p:nvPr/>
        </p:nvSpPr>
        <p:spPr>
          <a:xfrm>
            <a:off x="548640" y="2926080"/>
            <a:ext cx="54864" cy="777240"/>
          </a:xfrm>
          <a:prstGeom prst="rect">
            <a:avLst/>
          </a:prstGeom>
          <a:solidFill>
            <a:srgbClr val="0D9488"/>
          </a:solidFill>
          <a:ln/>
        </p:spPr>
      </p:sp>
      <p:sp>
        <p:nvSpPr>
          <p:cNvPr id="19" name="Text 17"/>
          <p:cNvSpPr/>
          <p:nvPr/>
        </p:nvSpPr>
        <p:spPr>
          <a:xfrm>
            <a:off x="777240" y="2926080"/>
            <a:ext cx="3749040" cy="777240"/>
          </a:xfrm>
          <a:prstGeom prst="rect">
            <a:avLst/>
          </a:prstGeom>
          <a:noFill/>
          <a:ln/>
        </p:spPr>
        <p:txBody>
          <a:bodyPr wrap="square" lIns="0" tIns="0" rIns="0" bIns="0"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Is the scope contained enough for an agent?</a:t>
            </a:r>
            <a:endParaRPr lang="en-US" sz="1200" dirty="0"/>
          </a:p>
        </p:txBody>
      </p:sp>
      <p:sp>
        <p:nvSpPr>
          <p:cNvPr id="20" name="Shape 18"/>
          <p:cNvSpPr/>
          <p:nvPr/>
        </p:nvSpPr>
        <p:spPr>
          <a:xfrm>
            <a:off x="5029200" y="2926080"/>
            <a:ext cx="3749040" cy="347472"/>
          </a:xfrm>
          <a:prstGeom prst="rect">
            <a:avLst/>
          </a:prstGeom>
          <a:solidFill>
            <a:srgbClr val="FEF2F2"/>
          </a:solidFill>
          <a:ln/>
        </p:spPr>
      </p:sp>
      <p:sp>
        <p:nvSpPr>
          <p:cNvPr id="21" name="Text 19"/>
          <p:cNvSpPr/>
          <p:nvPr/>
        </p:nvSpPr>
        <p:spPr>
          <a:xfrm>
            <a:off x="5120640" y="2926080"/>
            <a:ext cx="3566160" cy="347472"/>
          </a:xfrm>
          <a:prstGeom prst="rect">
            <a:avLst/>
          </a:prstGeom>
          <a:noFill/>
          <a:ln/>
        </p:spPr>
        <p:txBody>
          <a:bodyPr wrap="square" lIns="0" tIns="0" rIns="0" bIns="0" rtlCol="0" anchor="ctr"/>
          <a:lstStyle/>
          <a:p>
            <a:pPr indent="0" marL="0">
              <a:buNone/>
            </a:pPr>
            <a:r>
              <a:rPr lang="en-US" sz="1000" b="1" dirty="0">
                <a:solidFill>
                  <a:srgbClr val="EF4444"/>
                </a:solidFill>
                <a:latin typeface="Calibri" pitchFamily="34" charset="0"/>
                <a:ea typeface="Calibri" pitchFamily="34" charset="-122"/>
                <a:cs typeface="Calibri" pitchFamily="34" charset="-120"/>
              </a:rPr>
              <a:t>NO → Build a Workflow (For high-volume, low-margin tasks)</a:t>
            </a:r>
            <a:endParaRPr lang="en-US" sz="1000" dirty="0"/>
          </a:p>
        </p:txBody>
      </p:sp>
      <p:sp>
        <p:nvSpPr>
          <p:cNvPr id="22" name="Shape 20"/>
          <p:cNvSpPr/>
          <p:nvPr/>
        </p:nvSpPr>
        <p:spPr>
          <a:xfrm>
            <a:off x="5029200" y="3310128"/>
            <a:ext cx="3749040" cy="347472"/>
          </a:xfrm>
          <a:prstGeom prst="rect">
            <a:avLst/>
          </a:prstGeom>
          <a:solidFill>
            <a:srgbClr val="F0FDFA"/>
          </a:solidFill>
          <a:ln/>
        </p:spPr>
      </p:sp>
      <p:sp>
        <p:nvSpPr>
          <p:cNvPr id="23" name="Text 21"/>
          <p:cNvSpPr/>
          <p:nvPr/>
        </p:nvSpPr>
        <p:spPr>
          <a:xfrm>
            <a:off x="5120640" y="3310128"/>
            <a:ext cx="3566160" cy="347472"/>
          </a:xfrm>
          <a:prstGeom prst="rect">
            <a:avLst/>
          </a:prstGeom>
          <a:noFill/>
          <a:ln/>
        </p:spPr>
        <p:txBody>
          <a:bodyPr wrap="square" lIns="0" tIns="0" rIns="0" bIns="0" rtlCol="0" anchor="ctr"/>
          <a:lstStyle/>
          <a:p>
            <a:pPr indent="0" marL="0">
              <a:buNone/>
            </a:pPr>
            <a:r>
              <a:rPr lang="en-US" sz="1000" b="1" dirty="0">
                <a:solidFill>
                  <a:srgbClr val="0D9488"/>
                </a:solidFill>
                <a:latin typeface="Calibri" pitchFamily="34" charset="0"/>
                <a:ea typeface="Calibri" pitchFamily="34" charset="-122"/>
                <a:cs typeface="Calibri" pitchFamily="34" charset="-120"/>
              </a:rPr>
              <a:t>YES → Continue</a:t>
            </a:r>
            <a:endParaRPr lang="en-US" sz="1000" dirty="0"/>
          </a:p>
        </p:txBody>
      </p:sp>
      <p:sp>
        <p:nvSpPr>
          <p:cNvPr id="24" name="Shape 22"/>
          <p:cNvSpPr/>
          <p:nvPr/>
        </p:nvSpPr>
        <p:spPr>
          <a:xfrm>
            <a:off x="548640" y="3886200"/>
            <a:ext cx="4114800" cy="777240"/>
          </a:xfrm>
          <a:prstGeom prst="rect">
            <a:avLst/>
          </a:prstGeom>
          <a:solidFill>
            <a:srgbClr val="F1F5F9"/>
          </a:solidFill>
          <a:ln/>
          <a:effectLst>
            <a:outerShdw sx="100000" sy="100000" kx="0" ky="0" algn="bl" rotWithShape="0" blurRad="50800" dist="25400" dir="8100000">
              <a:srgbClr val="000000">
                <a:alpha val="10000"/>
              </a:srgbClr>
            </a:outerShdw>
          </a:effectLst>
        </p:spPr>
      </p:sp>
      <p:sp>
        <p:nvSpPr>
          <p:cNvPr id="25" name="Shape 23"/>
          <p:cNvSpPr/>
          <p:nvPr/>
        </p:nvSpPr>
        <p:spPr>
          <a:xfrm>
            <a:off x="548640" y="3886200"/>
            <a:ext cx="54864" cy="777240"/>
          </a:xfrm>
          <a:prstGeom prst="rect">
            <a:avLst/>
          </a:prstGeom>
          <a:solidFill>
            <a:srgbClr val="0D9488"/>
          </a:solidFill>
          <a:ln/>
        </p:spPr>
      </p:sp>
      <p:sp>
        <p:nvSpPr>
          <p:cNvPr id="26" name="Text 24"/>
          <p:cNvSpPr/>
          <p:nvPr/>
        </p:nvSpPr>
        <p:spPr>
          <a:xfrm>
            <a:off x="777240" y="3886200"/>
            <a:ext cx="3749040" cy="777240"/>
          </a:xfrm>
          <a:prstGeom prst="rect">
            <a:avLst/>
          </a:prstGeom>
          <a:noFill/>
          <a:ln/>
        </p:spPr>
        <p:txBody>
          <a:bodyPr wrap="square" lIns="0" tIns="0" rIns="0" bIns="0"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Is there a human-in-the-loop for verification?</a:t>
            </a:r>
            <a:endParaRPr lang="en-US" sz="1200" dirty="0"/>
          </a:p>
        </p:txBody>
      </p:sp>
      <p:sp>
        <p:nvSpPr>
          <p:cNvPr id="27" name="Shape 25"/>
          <p:cNvSpPr/>
          <p:nvPr/>
        </p:nvSpPr>
        <p:spPr>
          <a:xfrm>
            <a:off x="5029200" y="3886200"/>
            <a:ext cx="3749040" cy="347472"/>
          </a:xfrm>
          <a:prstGeom prst="rect">
            <a:avLst/>
          </a:prstGeom>
          <a:solidFill>
            <a:srgbClr val="FEF2F2"/>
          </a:solidFill>
          <a:ln/>
        </p:spPr>
      </p:sp>
      <p:sp>
        <p:nvSpPr>
          <p:cNvPr id="28" name="Text 26"/>
          <p:cNvSpPr/>
          <p:nvPr/>
        </p:nvSpPr>
        <p:spPr>
          <a:xfrm>
            <a:off x="5120640" y="3886200"/>
            <a:ext cx="3566160" cy="347472"/>
          </a:xfrm>
          <a:prstGeom prst="rect">
            <a:avLst/>
          </a:prstGeom>
          <a:noFill/>
          <a:ln/>
        </p:spPr>
        <p:txBody>
          <a:bodyPr wrap="square" lIns="0" tIns="0" rIns="0" bIns="0" rtlCol="0" anchor="ctr"/>
          <a:lstStyle/>
          <a:p>
            <a:pPr indent="0" marL="0">
              <a:buNone/>
            </a:pPr>
            <a:r>
              <a:rPr lang="en-US" sz="1000" b="1" dirty="0">
                <a:solidFill>
                  <a:srgbClr val="EF4444"/>
                </a:solidFill>
                <a:latin typeface="Calibri" pitchFamily="34" charset="0"/>
                <a:ea typeface="Calibri" pitchFamily="34" charset="-122"/>
                <a:cs typeface="Calibri" pitchFamily="34" charset="-120"/>
              </a:rPr>
              <a:t>NO → Increase Human-in-the-Loop</a:t>
            </a:r>
            <a:endParaRPr lang="en-US" sz="1000" dirty="0"/>
          </a:p>
        </p:txBody>
      </p:sp>
      <p:sp>
        <p:nvSpPr>
          <p:cNvPr id="29" name="Shape 27"/>
          <p:cNvSpPr/>
          <p:nvPr/>
        </p:nvSpPr>
        <p:spPr>
          <a:xfrm>
            <a:off x="5029200" y="4270248"/>
            <a:ext cx="3749040" cy="393192"/>
          </a:xfrm>
          <a:prstGeom prst="rect">
            <a:avLst/>
          </a:prstGeom>
          <a:solidFill>
            <a:srgbClr val="0D9488"/>
          </a:solidFill>
          <a:ln/>
        </p:spPr>
      </p:sp>
      <p:sp>
        <p:nvSpPr>
          <p:cNvPr id="30" name="Text 28"/>
          <p:cNvSpPr/>
          <p:nvPr/>
        </p:nvSpPr>
        <p:spPr>
          <a:xfrm>
            <a:off x="5120640" y="4270248"/>
            <a:ext cx="3566160" cy="39319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YES →  BUILD AN AGENT</a:t>
            </a:r>
            <a:endParaRPr lang="en-US" sz="1200" dirty="0"/>
          </a:p>
        </p:txBody>
      </p:sp>
      <p:sp>
        <p:nvSpPr>
          <p:cNvPr id="31" name="Text 29"/>
          <p:cNvSpPr/>
          <p:nvPr/>
        </p:nvSpPr>
        <p:spPr>
          <a:xfrm>
            <a:off x="8229600" y="4754880"/>
            <a:ext cx="64008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18 / 23</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indent="0" marL="0">
              <a:buNone/>
            </a:pPr>
            <a:r>
              <a:rPr lang="en-US" sz="3000" b="1" dirty="0">
                <a:solidFill>
                  <a:srgbClr val="1A2332"/>
                </a:solidFill>
                <a:latin typeface="Calibri" pitchFamily="34" charset="0"/>
                <a:ea typeface="Calibri" pitchFamily="34" charset="-122"/>
                <a:cs typeface="Calibri" pitchFamily="34" charset="-120"/>
              </a:rPr>
              <a:t>The Anatomy of a Simple Agent</a:t>
            </a:r>
            <a:endParaRPr lang="en-US" sz="3000" dirty="0"/>
          </a:p>
        </p:txBody>
      </p:sp>
      <p:sp>
        <p:nvSpPr>
          <p:cNvPr id="3" name="Shape 1"/>
          <p:cNvSpPr/>
          <p:nvPr/>
        </p:nvSpPr>
        <p:spPr>
          <a:xfrm>
            <a:off x="2926080" y="1097280"/>
            <a:ext cx="3200400" cy="1188720"/>
          </a:xfrm>
          <a:prstGeom prst="rect">
            <a:avLst/>
          </a:prstGeom>
          <a:solidFill>
            <a:srgbClr val="F1F5F9"/>
          </a:solidFill>
          <a:ln/>
          <a:effectLst>
            <a:outerShdw sx="100000" sy="100000" kx="0" ky="0" algn="bl" rotWithShape="0" blurRad="50800" dist="25400" dir="8100000">
              <a:srgbClr val="000000">
                <a:alpha val="10000"/>
              </a:srgbClr>
            </a:outerShdw>
          </a:effectLst>
        </p:spPr>
      </p:sp>
      <p:sp>
        <p:nvSpPr>
          <p:cNvPr id="4" name="Shape 2"/>
          <p:cNvSpPr/>
          <p:nvPr/>
        </p:nvSpPr>
        <p:spPr>
          <a:xfrm>
            <a:off x="3063240" y="1234440"/>
            <a:ext cx="457200" cy="457200"/>
          </a:xfrm>
          <a:prstGeom prst="ellipse">
            <a:avLst/>
          </a:prstGeom>
          <a:solidFill>
            <a:srgbClr val="0D9488"/>
          </a:solidFill>
          <a:ln/>
        </p:spPr>
      </p:sp>
      <p:pic>
        <p:nvPicPr>
          <p:cNvPr id="5" name="Image 0" descr="preencoded.png">    </p:cNvPr>
          <p:cNvPicPr>
            <a:picLocks noChangeAspect="1"/>
          </p:cNvPicPr>
          <p:nvPr/>
        </p:nvPicPr>
        <p:blipFill>
          <a:blip r:embed="rId1"/>
          <a:stretch>
            <a:fillRect/>
          </a:stretch>
        </p:blipFill>
        <p:spPr>
          <a:xfrm>
            <a:off x="3172968" y="1344168"/>
            <a:ext cx="228600" cy="228600"/>
          </a:xfrm>
          <a:prstGeom prst="rect">
            <a:avLst/>
          </a:prstGeom>
        </p:spPr>
      </p:pic>
      <p:sp>
        <p:nvSpPr>
          <p:cNvPr id="6" name="Text 3"/>
          <p:cNvSpPr/>
          <p:nvPr/>
        </p:nvSpPr>
        <p:spPr>
          <a:xfrm>
            <a:off x="3657600" y="1234440"/>
            <a:ext cx="2286000" cy="274320"/>
          </a:xfrm>
          <a:prstGeom prst="rect">
            <a:avLst/>
          </a:prstGeom>
          <a:noFill/>
          <a:ln/>
        </p:spPr>
        <p:txBody>
          <a:bodyPr wrap="square" lIns="0" tIns="0" rIns="0" bIns="0" rtlCol="0" anchor="ctr"/>
          <a:lstStyle/>
          <a:p>
            <a:pPr indent="0" marL="0">
              <a:buNone/>
            </a:pPr>
            <a:r>
              <a:rPr lang="en-US" sz="1300" b="1" dirty="0">
                <a:solidFill>
                  <a:srgbClr val="1A2332"/>
                </a:solidFill>
                <a:latin typeface="Calibri" pitchFamily="34" charset="0"/>
                <a:ea typeface="Calibri" pitchFamily="34" charset="-122"/>
                <a:cs typeface="Calibri" pitchFamily="34" charset="-120"/>
              </a:rPr>
              <a:t>1. The Environment</a:t>
            </a:r>
            <a:endParaRPr lang="en-US" sz="1300" dirty="0"/>
          </a:p>
        </p:txBody>
      </p:sp>
      <p:sp>
        <p:nvSpPr>
          <p:cNvPr id="7" name="Text 4"/>
          <p:cNvSpPr/>
          <p:nvPr/>
        </p:nvSpPr>
        <p:spPr>
          <a:xfrm>
            <a:off x="3063240" y="1645920"/>
            <a:ext cx="2926080" cy="54864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The system the agent operates in (e.g., local codebase, cloud infrastructure).</a:t>
            </a:r>
            <a:endParaRPr lang="en-US" sz="1050" dirty="0"/>
          </a:p>
        </p:txBody>
      </p:sp>
      <p:sp>
        <p:nvSpPr>
          <p:cNvPr id="8" name="Shape 5"/>
          <p:cNvSpPr/>
          <p:nvPr/>
        </p:nvSpPr>
        <p:spPr>
          <a:xfrm>
            <a:off x="5486400" y="2560320"/>
            <a:ext cx="3200400" cy="1188720"/>
          </a:xfrm>
          <a:prstGeom prst="rect">
            <a:avLst/>
          </a:prstGeom>
          <a:solidFill>
            <a:srgbClr val="F1F5F9"/>
          </a:solidFill>
          <a:ln/>
          <a:effectLst>
            <a:outerShdw sx="100000" sy="100000" kx="0" ky="0" algn="bl" rotWithShape="0" blurRad="50800" dist="25400" dir="8100000">
              <a:srgbClr val="000000">
                <a:alpha val="10000"/>
              </a:srgbClr>
            </a:outerShdw>
          </a:effectLst>
        </p:spPr>
      </p:sp>
      <p:sp>
        <p:nvSpPr>
          <p:cNvPr id="9" name="Shape 6"/>
          <p:cNvSpPr/>
          <p:nvPr/>
        </p:nvSpPr>
        <p:spPr>
          <a:xfrm>
            <a:off x="5623560" y="2697480"/>
            <a:ext cx="457200" cy="457200"/>
          </a:xfrm>
          <a:prstGeom prst="ellipse">
            <a:avLst/>
          </a:prstGeom>
          <a:solidFill>
            <a:srgbClr val="0D9488"/>
          </a:solidFill>
          <a:ln/>
        </p:spPr>
      </p:sp>
      <p:pic>
        <p:nvPicPr>
          <p:cNvPr id="10" name="Image 1" descr="preencoded.png">    </p:cNvPr>
          <p:cNvPicPr>
            <a:picLocks noChangeAspect="1"/>
          </p:cNvPicPr>
          <p:nvPr/>
        </p:nvPicPr>
        <p:blipFill>
          <a:blip r:embed="rId2"/>
          <a:stretch>
            <a:fillRect/>
          </a:stretch>
        </p:blipFill>
        <p:spPr>
          <a:xfrm>
            <a:off x="5733288" y="2807208"/>
            <a:ext cx="228600" cy="228600"/>
          </a:xfrm>
          <a:prstGeom prst="rect">
            <a:avLst/>
          </a:prstGeom>
        </p:spPr>
      </p:pic>
      <p:sp>
        <p:nvSpPr>
          <p:cNvPr id="11" name="Text 7"/>
          <p:cNvSpPr/>
          <p:nvPr/>
        </p:nvSpPr>
        <p:spPr>
          <a:xfrm>
            <a:off x="6217920" y="2697480"/>
            <a:ext cx="2286000" cy="274320"/>
          </a:xfrm>
          <a:prstGeom prst="rect">
            <a:avLst/>
          </a:prstGeom>
          <a:noFill/>
          <a:ln/>
        </p:spPr>
        <p:txBody>
          <a:bodyPr wrap="square" lIns="0" tIns="0" rIns="0" bIns="0" rtlCol="0" anchor="ctr"/>
          <a:lstStyle/>
          <a:p>
            <a:pPr indent="0" marL="0">
              <a:buNone/>
            </a:pPr>
            <a:r>
              <a:rPr lang="en-US" sz="1300" b="1" dirty="0">
                <a:solidFill>
                  <a:srgbClr val="1A2332"/>
                </a:solidFill>
                <a:latin typeface="Calibri" pitchFamily="34" charset="0"/>
                <a:ea typeface="Calibri" pitchFamily="34" charset="-122"/>
                <a:cs typeface="Calibri" pitchFamily="34" charset="-120"/>
              </a:rPr>
              <a:t>2. The Tools</a:t>
            </a:r>
            <a:endParaRPr lang="en-US" sz="1300" dirty="0"/>
          </a:p>
        </p:txBody>
      </p:sp>
      <p:sp>
        <p:nvSpPr>
          <p:cNvPr id="12" name="Text 8"/>
          <p:cNvSpPr/>
          <p:nvPr/>
        </p:nvSpPr>
        <p:spPr>
          <a:xfrm>
            <a:off x="5623560" y="3108960"/>
            <a:ext cx="2926080" cy="54864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Interfaces for action and feedback (CLI / MCP).</a:t>
            </a:r>
            <a:endParaRPr lang="en-US" sz="1050" dirty="0"/>
          </a:p>
        </p:txBody>
      </p:sp>
      <p:sp>
        <p:nvSpPr>
          <p:cNvPr id="13" name="Shape 9"/>
          <p:cNvSpPr/>
          <p:nvPr/>
        </p:nvSpPr>
        <p:spPr>
          <a:xfrm>
            <a:off x="548640" y="2560320"/>
            <a:ext cx="3200400" cy="1188720"/>
          </a:xfrm>
          <a:prstGeom prst="rect">
            <a:avLst/>
          </a:prstGeom>
          <a:solidFill>
            <a:srgbClr val="F1F5F9"/>
          </a:solidFill>
          <a:ln/>
          <a:effectLst>
            <a:outerShdw sx="100000" sy="100000" kx="0" ky="0" algn="bl" rotWithShape="0" blurRad="50800" dist="25400" dir="8100000">
              <a:srgbClr val="000000">
                <a:alpha val="10000"/>
              </a:srgbClr>
            </a:outerShdw>
          </a:effectLst>
        </p:spPr>
      </p:sp>
      <p:sp>
        <p:nvSpPr>
          <p:cNvPr id="14" name="Shape 10"/>
          <p:cNvSpPr/>
          <p:nvPr/>
        </p:nvSpPr>
        <p:spPr>
          <a:xfrm>
            <a:off x="685800" y="2697480"/>
            <a:ext cx="457200" cy="457200"/>
          </a:xfrm>
          <a:prstGeom prst="ellipse">
            <a:avLst/>
          </a:prstGeom>
          <a:solidFill>
            <a:srgbClr val="0D9488"/>
          </a:solidFill>
          <a:ln/>
        </p:spPr>
      </p:sp>
      <p:pic>
        <p:nvPicPr>
          <p:cNvPr id="15" name="Image 2" descr="preencoded.png">    </p:cNvPr>
          <p:cNvPicPr>
            <a:picLocks noChangeAspect="1"/>
          </p:cNvPicPr>
          <p:nvPr/>
        </p:nvPicPr>
        <p:blipFill>
          <a:blip r:embed="rId3"/>
          <a:stretch>
            <a:fillRect/>
          </a:stretch>
        </p:blipFill>
        <p:spPr>
          <a:xfrm>
            <a:off x="795528" y="2807208"/>
            <a:ext cx="228600" cy="228600"/>
          </a:xfrm>
          <a:prstGeom prst="rect">
            <a:avLst/>
          </a:prstGeom>
        </p:spPr>
      </p:pic>
      <p:sp>
        <p:nvSpPr>
          <p:cNvPr id="16" name="Text 11"/>
          <p:cNvSpPr/>
          <p:nvPr/>
        </p:nvSpPr>
        <p:spPr>
          <a:xfrm>
            <a:off x="1280160" y="2697480"/>
            <a:ext cx="2286000" cy="274320"/>
          </a:xfrm>
          <a:prstGeom prst="rect">
            <a:avLst/>
          </a:prstGeom>
          <a:noFill/>
          <a:ln/>
        </p:spPr>
        <p:txBody>
          <a:bodyPr wrap="square" lIns="0" tIns="0" rIns="0" bIns="0" rtlCol="0" anchor="ctr"/>
          <a:lstStyle/>
          <a:p>
            <a:pPr indent="0" marL="0">
              <a:buNone/>
            </a:pPr>
            <a:r>
              <a:rPr lang="en-US" sz="1300" b="1" dirty="0">
                <a:solidFill>
                  <a:srgbClr val="1A2332"/>
                </a:solidFill>
                <a:latin typeface="Calibri" pitchFamily="34" charset="0"/>
                <a:ea typeface="Calibri" pitchFamily="34" charset="-122"/>
                <a:cs typeface="Calibri" pitchFamily="34" charset="-120"/>
              </a:rPr>
              <a:t>3. The System Prompt</a:t>
            </a:r>
            <a:endParaRPr lang="en-US" sz="1300" dirty="0"/>
          </a:p>
        </p:txBody>
      </p:sp>
      <p:sp>
        <p:nvSpPr>
          <p:cNvPr id="17" name="Text 12"/>
          <p:cNvSpPr/>
          <p:nvPr/>
        </p:nvSpPr>
        <p:spPr>
          <a:xfrm>
            <a:off x="685800" y="3108960"/>
            <a:ext cx="2926080" cy="54864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Strict definition of goals, constraints, and ideal behavior.</a:t>
            </a:r>
            <a:endParaRPr lang="en-US" sz="1050" dirty="0"/>
          </a:p>
        </p:txBody>
      </p:sp>
      <p:sp>
        <p:nvSpPr>
          <p:cNvPr id="18" name="Shape 13"/>
          <p:cNvSpPr/>
          <p:nvPr/>
        </p:nvSpPr>
        <p:spPr>
          <a:xfrm>
            <a:off x="3657600" y="2286000"/>
            <a:ext cx="914400" cy="274320"/>
          </a:xfrm>
          <a:prstGeom prst="line">
            <a:avLst/>
          </a:prstGeom>
          <a:noFill/>
          <a:ln w="25400">
            <a:solidFill>
              <a:srgbClr val="0D9488"/>
            </a:solidFill>
            <a:prstDash val="dash"/>
          </a:ln>
        </p:spPr>
      </p:sp>
      <p:sp>
        <p:nvSpPr>
          <p:cNvPr id="19" name="Shape 14"/>
          <p:cNvSpPr/>
          <p:nvPr/>
        </p:nvSpPr>
        <p:spPr>
          <a:xfrm>
            <a:off x="4754880" y="2286000"/>
            <a:ext cx="914400" cy="274320"/>
          </a:xfrm>
          <a:prstGeom prst="line">
            <a:avLst/>
          </a:prstGeom>
          <a:noFill/>
          <a:ln w="25400">
            <a:solidFill>
              <a:srgbClr val="0D9488"/>
            </a:solidFill>
            <a:prstDash val="dash"/>
          </a:ln>
        </p:spPr>
      </p:sp>
      <p:sp>
        <p:nvSpPr>
          <p:cNvPr id="20" name="Shape 15"/>
          <p:cNvSpPr/>
          <p:nvPr/>
        </p:nvSpPr>
        <p:spPr>
          <a:xfrm>
            <a:off x="548640" y="4023360"/>
            <a:ext cx="8229600" cy="777240"/>
          </a:xfrm>
          <a:prstGeom prst="rect">
            <a:avLst/>
          </a:prstGeom>
          <a:solidFill>
            <a:srgbClr val="F0FDFA"/>
          </a:solidFill>
          <a:ln/>
        </p:spPr>
      </p:sp>
      <p:sp>
        <p:nvSpPr>
          <p:cNvPr id="21" name="Shape 16"/>
          <p:cNvSpPr/>
          <p:nvPr/>
        </p:nvSpPr>
        <p:spPr>
          <a:xfrm>
            <a:off x="548640" y="4023360"/>
            <a:ext cx="54864" cy="777240"/>
          </a:xfrm>
          <a:prstGeom prst="rect">
            <a:avLst/>
          </a:prstGeom>
          <a:solidFill>
            <a:srgbClr val="0D9488"/>
          </a:solidFill>
          <a:ln/>
        </p:spPr>
      </p:sp>
      <p:sp>
        <p:nvSpPr>
          <p:cNvPr id="22" name="Text 17"/>
          <p:cNvSpPr/>
          <p:nvPr/>
        </p:nvSpPr>
        <p:spPr>
          <a:xfrm>
            <a:off x="777240" y="4023360"/>
            <a:ext cx="7772400" cy="777240"/>
          </a:xfrm>
          <a:prstGeom prst="rect">
            <a:avLst/>
          </a:prstGeom>
          <a:noFill/>
          <a:ln/>
        </p:spPr>
        <p:txBody>
          <a:bodyPr wrap="square" lIns="0" tIns="0" rIns="0" bIns="0" rtlCol="0" anchor="ctr"/>
          <a:lstStyle/>
          <a:p>
            <a:pPr indent="0" marL="0">
              <a:buNone/>
            </a:pPr>
            <a:r>
              <a:rPr lang="en-US" sz="1100" b="1" dirty="0">
                <a:solidFill>
                  <a:srgbClr val="1A2332"/>
                </a:solidFill>
                <a:latin typeface="Calibri" pitchFamily="34" charset="0"/>
                <a:ea typeface="Calibri" pitchFamily="34" charset="-122"/>
                <a:cs typeface="Calibri" pitchFamily="34" charset="-120"/>
              </a:rPr>
              <a:t>Keep it simple. Any upfront complexity kills iteration speed. A model calling tools in a loop using these three basic components yields the highest ROI. Optimize for caching and parallelization only after the core loop behaves correctly.</a:t>
            </a:r>
            <a:endParaRPr lang="en-US" sz="1100" dirty="0"/>
          </a:p>
        </p:txBody>
      </p:sp>
      <p:sp>
        <p:nvSpPr>
          <p:cNvPr id="23" name="Text 18"/>
          <p:cNvSpPr/>
          <p:nvPr/>
        </p:nvSpPr>
        <p:spPr>
          <a:xfrm>
            <a:off x="8229600" y="4754880"/>
            <a:ext cx="64008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19 / 23</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indent="0" marL="0">
              <a:buNone/>
            </a:pPr>
            <a:r>
              <a:rPr lang="en-US" sz="2800" b="1" dirty="0">
                <a:solidFill>
                  <a:srgbClr val="1A2332"/>
                </a:solidFill>
                <a:latin typeface="Calibri" pitchFamily="34" charset="0"/>
                <a:ea typeface="Calibri" pitchFamily="34" charset="-122"/>
                <a:cs typeface="Calibri" pitchFamily="34" charset="-120"/>
              </a:rPr>
              <a:t>The Empathy Principle: Think Like Your Agent</a:t>
            </a:r>
            <a:endParaRPr lang="en-US" sz="2800" dirty="0"/>
          </a:p>
        </p:txBody>
      </p:sp>
      <p:sp>
        <p:nvSpPr>
          <p:cNvPr id="3" name="Shape 1"/>
          <p:cNvSpPr/>
          <p:nvPr/>
        </p:nvSpPr>
        <p:spPr>
          <a:xfrm>
            <a:off x="548640" y="1051560"/>
            <a:ext cx="3931920" cy="2743200"/>
          </a:xfrm>
          <a:prstGeom prst="rect">
            <a:avLst/>
          </a:prstGeom>
          <a:solidFill>
            <a:srgbClr val="F1F5F9"/>
          </a:solidFill>
          <a:ln/>
          <a:effectLst>
            <a:outerShdw sx="100000" sy="100000" kx="0" ky="0" algn="bl" rotWithShape="0" blurRad="50800" dist="25400" dir="8100000">
              <a:srgbClr val="000000">
                <a:alpha val="10000"/>
              </a:srgbClr>
            </a:outerShdw>
          </a:effectLst>
        </p:spPr>
      </p:sp>
      <p:sp>
        <p:nvSpPr>
          <p:cNvPr id="4" name="Shape 2"/>
          <p:cNvSpPr/>
          <p:nvPr/>
        </p:nvSpPr>
        <p:spPr>
          <a:xfrm>
            <a:off x="548640" y="1051560"/>
            <a:ext cx="3931920" cy="411480"/>
          </a:xfrm>
          <a:prstGeom prst="rect">
            <a:avLst/>
          </a:prstGeom>
          <a:solidFill>
            <a:srgbClr val="1A2332"/>
          </a:solidFill>
          <a:ln/>
        </p:spPr>
      </p:sp>
      <p:sp>
        <p:nvSpPr>
          <p:cNvPr id="5" name="Text 3"/>
          <p:cNvSpPr/>
          <p:nvPr/>
        </p:nvSpPr>
        <p:spPr>
          <a:xfrm>
            <a:off x="685800" y="1051560"/>
            <a:ext cx="3657600" cy="41148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Reality</a:t>
            </a:r>
            <a:endParaRPr lang="en-US" sz="1400" dirty="0"/>
          </a:p>
        </p:txBody>
      </p:sp>
      <p:sp>
        <p:nvSpPr>
          <p:cNvPr id="6" name="Text 4"/>
          <p:cNvSpPr/>
          <p:nvPr/>
        </p:nvSpPr>
        <p:spPr>
          <a:xfrm>
            <a:off x="731520" y="1645920"/>
            <a:ext cx="3566160" cy="1828800"/>
          </a:xfrm>
          <a:prstGeom prst="rect">
            <a:avLst/>
          </a:prstGeom>
          <a:noFill/>
          <a:ln/>
        </p:spPr>
        <p:txBody>
          <a:bodyPr wrap="square" rtlCol="0" anchor="ctr"/>
          <a:lstStyle/>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The agent is operating entirely in the dark, relying only on what's in its current context window</a:t>
            </a:r>
            <a:endParaRPr lang="en-US" sz="1100" dirty="0"/>
          </a:p>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It has zero implicit knowledge of your project beyond what you provide</a:t>
            </a:r>
            <a:endParaRPr lang="en-US" sz="1100" dirty="0"/>
          </a:p>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Every token counts — wasted tokens explicitly loaded reduce reasoning quality</a:t>
            </a:r>
            <a:endParaRPr lang="en-US" sz="1100" dirty="0"/>
          </a:p>
        </p:txBody>
      </p:sp>
      <p:sp>
        <p:nvSpPr>
          <p:cNvPr id="7" name="Shape 5"/>
          <p:cNvSpPr/>
          <p:nvPr/>
        </p:nvSpPr>
        <p:spPr>
          <a:xfrm>
            <a:off x="4846320" y="1051560"/>
            <a:ext cx="3931920" cy="2743200"/>
          </a:xfrm>
          <a:prstGeom prst="rect">
            <a:avLst/>
          </a:prstGeom>
          <a:solidFill>
            <a:srgbClr val="F0FDFA"/>
          </a:solidFill>
          <a:ln/>
          <a:effectLst>
            <a:outerShdw sx="100000" sy="100000" kx="0" ky="0" algn="bl" rotWithShape="0" blurRad="50800" dist="25400" dir="8100000">
              <a:srgbClr val="000000">
                <a:alpha val="10000"/>
              </a:srgbClr>
            </a:outerShdw>
          </a:effectLst>
        </p:spPr>
      </p:sp>
      <p:sp>
        <p:nvSpPr>
          <p:cNvPr id="8" name="Shape 6"/>
          <p:cNvSpPr/>
          <p:nvPr/>
        </p:nvSpPr>
        <p:spPr>
          <a:xfrm>
            <a:off x="4846320" y="1051560"/>
            <a:ext cx="3931920" cy="411480"/>
          </a:xfrm>
          <a:prstGeom prst="rect">
            <a:avLst/>
          </a:prstGeom>
          <a:solidFill>
            <a:srgbClr val="0D9488"/>
          </a:solidFill>
          <a:ln/>
        </p:spPr>
      </p:sp>
      <p:sp>
        <p:nvSpPr>
          <p:cNvPr id="9" name="Text 7"/>
          <p:cNvSpPr/>
          <p:nvPr/>
        </p:nvSpPr>
        <p:spPr>
          <a:xfrm>
            <a:off x="4983480" y="1051560"/>
            <a:ext cx="3657600" cy="41148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Winnable Test</a:t>
            </a:r>
            <a:endParaRPr lang="en-US" sz="1400" dirty="0"/>
          </a:p>
        </p:txBody>
      </p:sp>
      <p:sp>
        <p:nvSpPr>
          <p:cNvPr id="10" name="Text 8"/>
          <p:cNvSpPr/>
          <p:nvPr/>
        </p:nvSpPr>
        <p:spPr>
          <a:xfrm>
            <a:off x="5029200" y="1645920"/>
            <a:ext cx="3566160" cy="1828800"/>
          </a:xfrm>
          <a:prstGeom prst="rect">
            <a:avLst/>
          </a:prstGeom>
          <a:noFill/>
          <a:ln/>
        </p:spPr>
        <p:txBody>
          <a:bodyPr wrap="square" rtlCol="0" anchor="ctr"/>
          <a:lstStyle/>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Executing a tool without feedback is the equivalent of clicking a mouse, closing your eyes, and hoping it happened on screen</a:t>
            </a:r>
            <a:endParaRPr lang="en-US" sz="1100" dirty="0"/>
          </a:p>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Always ensure the agent can verify its own work</a:t>
            </a:r>
            <a:endParaRPr lang="en-US" sz="1100" dirty="0"/>
          </a:p>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Provide exact specs, limitations, and verification criteria</a:t>
            </a:r>
            <a:endParaRPr lang="en-US" sz="1100" dirty="0"/>
          </a:p>
        </p:txBody>
      </p:sp>
      <p:sp>
        <p:nvSpPr>
          <p:cNvPr id="11" name="Shape 9"/>
          <p:cNvSpPr/>
          <p:nvPr/>
        </p:nvSpPr>
        <p:spPr>
          <a:xfrm>
            <a:off x="548640" y="4023360"/>
            <a:ext cx="8229600" cy="777240"/>
          </a:xfrm>
          <a:prstGeom prst="rect">
            <a:avLst/>
          </a:prstGeom>
          <a:solidFill>
            <a:srgbClr val="1A2332"/>
          </a:solidFill>
          <a:ln/>
        </p:spPr>
      </p:sp>
      <p:pic>
        <p:nvPicPr>
          <p:cNvPr id="12" name="Image 0" descr="preencoded.png">    </p:cNvPr>
          <p:cNvPicPr>
            <a:picLocks noChangeAspect="1"/>
          </p:cNvPicPr>
          <p:nvPr/>
        </p:nvPicPr>
        <p:blipFill>
          <a:blip r:embed="rId1"/>
          <a:stretch>
            <a:fillRect/>
          </a:stretch>
        </p:blipFill>
        <p:spPr>
          <a:xfrm>
            <a:off x="777240" y="4160520"/>
            <a:ext cx="274320" cy="274320"/>
          </a:xfrm>
          <a:prstGeom prst="rect">
            <a:avLst/>
          </a:prstGeom>
        </p:spPr>
      </p:pic>
      <p:sp>
        <p:nvSpPr>
          <p:cNvPr id="13" name="Text 10"/>
          <p:cNvSpPr/>
          <p:nvPr/>
        </p:nvSpPr>
        <p:spPr>
          <a:xfrm>
            <a:off x="1188720" y="4023360"/>
            <a:ext cx="7315200" cy="7772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THE GOLDEN RULE: If a human engineer could not solve the problem using only the exact text provided in the prompt, neither can the AI. You must provide the exact specs, limitations, and verifications it needs to succeed.</a:t>
            </a:r>
            <a:endParaRPr lang="en-US" sz="1100" dirty="0"/>
          </a:p>
        </p:txBody>
      </p:sp>
      <p:sp>
        <p:nvSpPr>
          <p:cNvPr id="14" name="Text 11"/>
          <p:cNvSpPr/>
          <p:nvPr/>
        </p:nvSpPr>
        <p:spPr>
          <a:xfrm>
            <a:off x="8229600" y="4754880"/>
            <a:ext cx="64008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20 / 23</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indent="0" marL="0">
              <a:buNone/>
            </a:pPr>
            <a:r>
              <a:rPr lang="en-US" sz="3000" b="1" dirty="0">
                <a:solidFill>
                  <a:srgbClr val="1A2332"/>
                </a:solidFill>
                <a:latin typeface="Calibri" pitchFamily="34" charset="0"/>
                <a:ea typeface="Calibri" pitchFamily="34" charset="-122"/>
                <a:cs typeface="Calibri" pitchFamily="34" charset="-120"/>
              </a:rPr>
              <a:t>Common Anti-Patterns to Avoid</a:t>
            </a:r>
            <a:endParaRPr lang="en-US" sz="3000" dirty="0"/>
          </a:p>
        </p:txBody>
      </p:sp>
      <p:sp>
        <p:nvSpPr>
          <p:cNvPr id="3" name="Shape 1"/>
          <p:cNvSpPr/>
          <p:nvPr/>
        </p:nvSpPr>
        <p:spPr>
          <a:xfrm>
            <a:off x="548640" y="1005840"/>
            <a:ext cx="3931920" cy="1097280"/>
          </a:xfrm>
          <a:prstGeom prst="rect">
            <a:avLst/>
          </a:prstGeom>
          <a:solidFill>
            <a:srgbClr val="FEF2F2"/>
          </a:solidFill>
          <a:ln/>
          <a:effectLst>
            <a:outerShdw sx="100000" sy="100000" kx="0" ky="0" algn="bl" rotWithShape="0" blurRad="50800" dist="25400" dir="8100000">
              <a:srgbClr val="000000">
                <a:alpha val="10000"/>
              </a:srgbClr>
            </a:outerShdw>
          </a:effectLst>
        </p:spPr>
      </p:sp>
      <p:sp>
        <p:nvSpPr>
          <p:cNvPr id="4" name="Shape 2"/>
          <p:cNvSpPr/>
          <p:nvPr/>
        </p:nvSpPr>
        <p:spPr>
          <a:xfrm>
            <a:off x="548640" y="1005840"/>
            <a:ext cx="54864" cy="1097280"/>
          </a:xfrm>
          <a:prstGeom prst="rect">
            <a:avLst/>
          </a:prstGeom>
          <a:solidFill>
            <a:srgbClr val="EF4444"/>
          </a:solidFill>
          <a:ln/>
        </p:spPr>
      </p:sp>
      <p:pic>
        <p:nvPicPr>
          <p:cNvPr id="5" name="Image 0" descr="preencoded.png">    </p:cNvPr>
          <p:cNvPicPr>
            <a:picLocks noChangeAspect="1"/>
          </p:cNvPicPr>
          <p:nvPr/>
        </p:nvPicPr>
        <p:blipFill>
          <a:blip r:embed="rId1"/>
          <a:stretch>
            <a:fillRect/>
          </a:stretch>
        </p:blipFill>
        <p:spPr>
          <a:xfrm>
            <a:off x="731520" y="1115568"/>
            <a:ext cx="201168" cy="201168"/>
          </a:xfrm>
          <a:prstGeom prst="rect">
            <a:avLst/>
          </a:prstGeom>
        </p:spPr>
      </p:pic>
      <p:sp>
        <p:nvSpPr>
          <p:cNvPr id="6" name="Text 3"/>
          <p:cNvSpPr/>
          <p:nvPr/>
        </p:nvSpPr>
        <p:spPr>
          <a:xfrm>
            <a:off x="1051560" y="1097280"/>
            <a:ext cx="3200400" cy="228600"/>
          </a:xfrm>
          <a:prstGeom prst="rect">
            <a:avLst/>
          </a:prstGeom>
          <a:noFill/>
          <a:ln/>
        </p:spPr>
        <p:txBody>
          <a:bodyPr wrap="square" lIns="0" tIns="0" rIns="0" bIns="0" rtlCol="0" anchor="ctr"/>
          <a:lstStyle/>
          <a:p>
            <a:pPr indent="0" marL="0">
              <a:buNone/>
            </a:pPr>
            <a:r>
              <a:rPr lang="en-US" sz="1250" b="1" dirty="0">
                <a:solidFill>
                  <a:srgbClr val="EF4444"/>
                </a:solidFill>
                <a:latin typeface="Calibri" pitchFamily="34" charset="0"/>
                <a:ea typeface="Calibri" pitchFamily="34" charset="-122"/>
                <a:cs typeface="Calibri" pitchFamily="34" charset="-120"/>
              </a:rPr>
              <a:t>Prompt-and-Pray</a:t>
            </a:r>
            <a:endParaRPr lang="en-US" sz="1250" dirty="0"/>
          </a:p>
        </p:txBody>
      </p:sp>
      <p:sp>
        <p:nvSpPr>
          <p:cNvPr id="7" name="Text 4"/>
          <p:cNvSpPr/>
          <p:nvPr/>
        </p:nvSpPr>
        <p:spPr>
          <a:xfrm>
            <a:off x="731520" y="1389888"/>
            <a:ext cx="3566160" cy="64008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Throwing a vague prompt at the agent and hoping for the best. Always be specific with constraints and expected output.</a:t>
            </a:r>
            <a:endParaRPr lang="en-US" sz="1000" dirty="0"/>
          </a:p>
        </p:txBody>
      </p:sp>
      <p:sp>
        <p:nvSpPr>
          <p:cNvPr id="8" name="Shape 5"/>
          <p:cNvSpPr/>
          <p:nvPr/>
        </p:nvSpPr>
        <p:spPr>
          <a:xfrm>
            <a:off x="4846320" y="1005840"/>
            <a:ext cx="3931920" cy="1097280"/>
          </a:xfrm>
          <a:prstGeom prst="rect">
            <a:avLst/>
          </a:prstGeom>
          <a:solidFill>
            <a:srgbClr val="FEF2F2"/>
          </a:solidFill>
          <a:ln/>
          <a:effectLst>
            <a:outerShdw sx="100000" sy="100000" kx="0" ky="0" algn="bl" rotWithShape="0" blurRad="50800" dist="25400" dir="8100000">
              <a:srgbClr val="000000">
                <a:alpha val="10000"/>
              </a:srgbClr>
            </a:outerShdw>
          </a:effectLst>
        </p:spPr>
      </p:sp>
      <p:sp>
        <p:nvSpPr>
          <p:cNvPr id="9" name="Shape 6"/>
          <p:cNvSpPr/>
          <p:nvPr/>
        </p:nvSpPr>
        <p:spPr>
          <a:xfrm>
            <a:off x="4846320" y="1005840"/>
            <a:ext cx="54864" cy="1097280"/>
          </a:xfrm>
          <a:prstGeom prst="rect">
            <a:avLst/>
          </a:prstGeom>
          <a:solidFill>
            <a:srgbClr val="EF4444"/>
          </a:solidFill>
          <a:ln/>
        </p:spPr>
      </p:sp>
      <p:pic>
        <p:nvPicPr>
          <p:cNvPr id="10" name="Image 1" descr="preencoded.png">    </p:cNvPr>
          <p:cNvPicPr>
            <a:picLocks noChangeAspect="1"/>
          </p:cNvPicPr>
          <p:nvPr/>
        </p:nvPicPr>
        <p:blipFill>
          <a:blip r:embed="rId2"/>
          <a:stretch>
            <a:fillRect/>
          </a:stretch>
        </p:blipFill>
        <p:spPr>
          <a:xfrm>
            <a:off x="5029200" y="1115568"/>
            <a:ext cx="201168" cy="201168"/>
          </a:xfrm>
          <a:prstGeom prst="rect">
            <a:avLst/>
          </a:prstGeom>
        </p:spPr>
      </p:pic>
      <p:sp>
        <p:nvSpPr>
          <p:cNvPr id="11" name="Text 7"/>
          <p:cNvSpPr/>
          <p:nvPr/>
        </p:nvSpPr>
        <p:spPr>
          <a:xfrm>
            <a:off x="5349240" y="1097280"/>
            <a:ext cx="3200400" cy="228600"/>
          </a:xfrm>
          <a:prstGeom prst="rect">
            <a:avLst/>
          </a:prstGeom>
          <a:noFill/>
          <a:ln/>
        </p:spPr>
        <p:txBody>
          <a:bodyPr wrap="square" lIns="0" tIns="0" rIns="0" bIns="0" rtlCol="0" anchor="ctr"/>
          <a:lstStyle/>
          <a:p>
            <a:pPr indent="0" marL="0">
              <a:buNone/>
            </a:pPr>
            <a:r>
              <a:rPr lang="en-US" sz="1250" b="1" dirty="0">
                <a:solidFill>
                  <a:srgbClr val="EF4444"/>
                </a:solidFill>
                <a:latin typeface="Calibri" pitchFamily="34" charset="0"/>
                <a:ea typeface="Calibri" pitchFamily="34" charset="-122"/>
                <a:cs typeface="Calibri" pitchFamily="34" charset="-120"/>
              </a:rPr>
              <a:t>Context Dumping</a:t>
            </a:r>
            <a:endParaRPr lang="en-US" sz="1250" dirty="0"/>
          </a:p>
        </p:txBody>
      </p:sp>
      <p:sp>
        <p:nvSpPr>
          <p:cNvPr id="12" name="Text 8"/>
          <p:cNvSpPr/>
          <p:nvPr/>
        </p:nvSpPr>
        <p:spPr>
          <a:xfrm>
            <a:off x="5029200" y="1389888"/>
            <a:ext cx="3566160" cy="64008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Loading the entire codebase into context. Only provide the files the agent actually needs for the specific task.</a:t>
            </a:r>
            <a:endParaRPr lang="en-US" sz="1000" dirty="0"/>
          </a:p>
        </p:txBody>
      </p:sp>
      <p:sp>
        <p:nvSpPr>
          <p:cNvPr id="13" name="Shape 9"/>
          <p:cNvSpPr/>
          <p:nvPr/>
        </p:nvSpPr>
        <p:spPr>
          <a:xfrm>
            <a:off x="548640" y="2286000"/>
            <a:ext cx="3931920" cy="1097280"/>
          </a:xfrm>
          <a:prstGeom prst="rect">
            <a:avLst/>
          </a:prstGeom>
          <a:solidFill>
            <a:srgbClr val="FEF2F2"/>
          </a:solidFill>
          <a:ln/>
          <a:effectLst>
            <a:outerShdw sx="100000" sy="100000" kx="0" ky="0" algn="bl" rotWithShape="0" blurRad="50800" dist="25400" dir="8100000">
              <a:srgbClr val="000000">
                <a:alpha val="10000"/>
              </a:srgbClr>
            </a:outerShdw>
          </a:effectLst>
        </p:spPr>
      </p:sp>
      <p:sp>
        <p:nvSpPr>
          <p:cNvPr id="14" name="Shape 10"/>
          <p:cNvSpPr/>
          <p:nvPr/>
        </p:nvSpPr>
        <p:spPr>
          <a:xfrm>
            <a:off x="548640" y="2286000"/>
            <a:ext cx="54864" cy="1097280"/>
          </a:xfrm>
          <a:prstGeom prst="rect">
            <a:avLst/>
          </a:prstGeom>
          <a:solidFill>
            <a:srgbClr val="EF4444"/>
          </a:solidFill>
          <a:ln/>
        </p:spPr>
      </p:sp>
      <p:pic>
        <p:nvPicPr>
          <p:cNvPr id="15" name="Image 2" descr="preencoded.png">    </p:cNvPr>
          <p:cNvPicPr>
            <a:picLocks noChangeAspect="1"/>
          </p:cNvPicPr>
          <p:nvPr/>
        </p:nvPicPr>
        <p:blipFill>
          <a:blip r:embed="rId3"/>
          <a:stretch>
            <a:fillRect/>
          </a:stretch>
        </p:blipFill>
        <p:spPr>
          <a:xfrm>
            <a:off x="731520" y="2395728"/>
            <a:ext cx="201168" cy="201168"/>
          </a:xfrm>
          <a:prstGeom prst="rect">
            <a:avLst/>
          </a:prstGeom>
        </p:spPr>
      </p:pic>
      <p:sp>
        <p:nvSpPr>
          <p:cNvPr id="16" name="Text 11"/>
          <p:cNvSpPr/>
          <p:nvPr/>
        </p:nvSpPr>
        <p:spPr>
          <a:xfrm>
            <a:off x="1051560" y="2377440"/>
            <a:ext cx="3200400" cy="228600"/>
          </a:xfrm>
          <a:prstGeom prst="rect">
            <a:avLst/>
          </a:prstGeom>
          <a:noFill/>
          <a:ln/>
        </p:spPr>
        <p:txBody>
          <a:bodyPr wrap="square" lIns="0" tIns="0" rIns="0" bIns="0" rtlCol="0" anchor="ctr"/>
          <a:lstStyle/>
          <a:p>
            <a:pPr indent="0" marL="0">
              <a:buNone/>
            </a:pPr>
            <a:r>
              <a:rPr lang="en-US" sz="1250" b="1" dirty="0">
                <a:solidFill>
                  <a:srgbClr val="EF4444"/>
                </a:solidFill>
                <a:latin typeface="Calibri" pitchFamily="34" charset="0"/>
                <a:ea typeface="Calibri" pitchFamily="34" charset="-122"/>
                <a:cs typeface="Calibri" pitchFamily="34" charset="-120"/>
              </a:rPr>
              <a:t>Endless Sessions</a:t>
            </a:r>
            <a:endParaRPr lang="en-US" sz="1250" dirty="0"/>
          </a:p>
        </p:txBody>
      </p:sp>
      <p:sp>
        <p:nvSpPr>
          <p:cNvPr id="17" name="Text 12"/>
          <p:cNvSpPr/>
          <p:nvPr/>
        </p:nvSpPr>
        <p:spPr>
          <a:xfrm>
            <a:off x="731520" y="2670048"/>
            <a:ext cx="3566160" cy="64008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Never starting fresh conversations. When context degrades, summarize and start a new session — don't fight the drift.</a:t>
            </a:r>
            <a:endParaRPr lang="en-US" sz="1000" dirty="0"/>
          </a:p>
        </p:txBody>
      </p:sp>
      <p:sp>
        <p:nvSpPr>
          <p:cNvPr id="18" name="Shape 13"/>
          <p:cNvSpPr/>
          <p:nvPr/>
        </p:nvSpPr>
        <p:spPr>
          <a:xfrm>
            <a:off x="4846320" y="2286000"/>
            <a:ext cx="3931920" cy="1097280"/>
          </a:xfrm>
          <a:prstGeom prst="rect">
            <a:avLst/>
          </a:prstGeom>
          <a:solidFill>
            <a:srgbClr val="FEF2F2"/>
          </a:solidFill>
          <a:ln/>
          <a:effectLst>
            <a:outerShdw sx="100000" sy="100000" kx="0" ky="0" algn="bl" rotWithShape="0" blurRad="50800" dist="25400" dir="8100000">
              <a:srgbClr val="000000">
                <a:alpha val="10000"/>
              </a:srgbClr>
            </a:outerShdw>
          </a:effectLst>
        </p:spPr>
      </p:sp>
      <p:sp>
        <p:nvSpPr>
          <p:cNvPr id="19" name="Shape 14"/>
          <p:cNvSpPr/>
          <p:nvPr/>
        </p:nvSpPr>
        <p:spPr>
          <a:xfrm>
            <a:off x="4846320" y="2286000"/>
            <a:ext cx="54864" cy="1097280"/>
          </a:xfrm>
          <a:prstGeom prst="rect">
            <a:avLst/>
          </a:prstGeom>
          <a:solidFill>
            <a:srgbClr val="EF4444"/>
          </a:solidFill>
          <a:ln/>
        </p:spPr>
      </p:sp>
      <p:pic>
        <p:nvPicPr>
          <p:cNvPr id="20" name="Image 3" descr="preencoded.png">    </p:cNvPr>
          <p:cNvPicPr>
            <a:picLocks noChangeAspect="1"/>
          </p:cNvPicPr>
          <p:nvPr/>
        </p:nvPicPr>
        <p:blipFill>
          <a:blip r:embed="rId4"/>
          <a:stretch>
            <a:fillRect/>
          </a:stretch>
        </p:blipFill>
        <p:spPr>
          <a:xfrm>
            <a:off x="5029200" y="2395728"/>
            <a:ext cx="201168" cy="201168"/>
          </a:xfrm>
          <a:prstGeom prst="rect">
            <a:avLst/>
          </a:prstGeom>
        </p:spPr>
      </p:pic>
      <p:sp>
        <p:nvSpPr>
          <p:cNvPr id="21" name="Text 15"/>
          <p:cNvSpPr/>
          <p:nvPr/>
        </p:nvSpPr>
        <p:spPr>
          <a:xfrm>
            <a:off x="5349240" y="2377440"/>
            <a:ext cx="3200400" cy="228600"/>
          </a:xfrm>
          <a:prstGeom prst="rect">
            <a:avLst/>
          </a:prstGeom>
          <a:noFill/>
          <a:ln/>
        </p:spPr>
        <p:txBody>
          <a:bodyPr wrap="square" lIns="0" tIns="0" rIns="0" bIns="0" rtlCol="0" anchor="ctr"/>
          <a:lstStyle/>
          <a:p>
            <a:pPr indent="0" marL="0">
              <a:buNone/>
            </a:pPr>
            <a:r>
              <a:rPr lang="en-US" sz="1250" b="1" dirty="0">
                <a:solidFill>
                  <a:srgbClr val="EF4444"/>
                </a:solidFill>
                <a:latin typeface="Calibri" pitchFamily="34" charset="0"/>
                <a:ea typeface="Calibri" pitchFamily="34" charset="-122"/>
                <a:cs typeface="Calibri" pitchFamily="34" charset="-120"/>
              </a:rPr>
              <a:t>Skipping Review</a:t>
            </a:r>
            <a:endParaRPr lang="en-US" sz="1250" dirty="0"/>
          </a:p>
        </p:txBody>
      </p:sp>
      <p:sp>
        <p:nvSpPr>
          <p:cNvPr id="22" name="Text 16"/>
          <p:cNvSpPr/>
          <p:nvPr/>
        </p:nvSpPr>
        <p:spPr>
          <a:xfrm>
            <a:off x="5029200" y="2670048"/>
            <a:ext cx="3566160" cy="64008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Blindly accepting agent output without human verification. Always review commits, especially for architectural decisions.</a:t>
            </a:r>
            <a:endParaRPr lang="en-US" sz="1000" dirty="0"/>
          </a:p>
        </p:txBody>
      </p:sp>
      <p:sp>
        <p:nvSpPr>
          <p:cNvPr id="23" name="Shape 17"/>
          <p:cNvSpPr/>
          <p:nvPr/>
        </p:nvSpPr>
        <p:spPr>
          <a:xfrm>
            <a:off x="548640" y="3566160"/>
            <a:ext cx="3931920" cy="1097280"/>
          </a:xfrm>
          <a:prstGeom prst="rect">
            <a:avLst/>
          </a:prstGeom>
          <a:solidFill>
            <a:srgbClr val="FEF2F2"/>
          </a:solidFill>
          <a:ln/>
          <a:effectLst>
            <a:outerShdw sx="100000" sy="100000" kx="0" ky="0" algn="bl" rotWithShape="0" blurRad="50800" dist="25400" dir="8100000">
              <a:srgbClr val="000000">
                <a:alpha val="10000"/>
              </a:srgbClr>
            </a:outerShdw>
          </a:effectLst>
        </p:spPr>
      </p:sp>
      <p:sp>
        <p:nvSpPr>
          <p:cNvPr id="24" name="Shape 18"/>
          <p:cNvSpPr/>
          <p:nvPr/>
        </p:nvSpPr>
        <p:spPr>
          <a:xfrm>
            <a:off x="548640" y="3566160"/>
            <a:ext cx="54864" cy="1097280"/>
          </a:xfrm>
          <a:prstGeom prst="rect">
            <a:avLst/>
          </a:prstGeom>
          <a:solidFill>
            <a:srgbClr val="EF4444"/>
          </a:solidFill>
          <a:ln/>
        </p:spPr>
      </p:sp>
      <p:pic>
        <p:nvPicPr>
          <p:cNvPr id="25" name="Image 4" descr="preencoded.png">    </p:cNvPr>
          <p:cNvPicPr>
            <a:picLocks noChangeAspect="1"/>
          </p:cNvPicPr>
          <p:nvPr/>
        </p:nvPicPr>
        <p:blipFill>
          <a:blip r:embed="rId5"/>
          <a:stretch>
            <a:fillRect/>
          </a:stretch>
        </p:blipFill>
        <p:spPr>
          <a:xfrm>
            <a:off x="731520" y="3675888"/>
            <a:ext cx="201168" cy="201168"/>
          </a:xfrm>
          <a:prstGeom prst="rect">
            <a:avLst/>
          </a:prstGeom>
        </p:spPr>
      </p:pic>
      <p:sp>
        <p:nvSpPr>
          <p:cNvPr id="26" name="Text 19"/>
          <p:cNvSpPr/>
          <p:nvPr/>
        </p:nvSpPr>
        <p:spPr>
          <a:xfrm>
            <a:off x="1051560" y="3657600"/>
            <a:ext cx="3200400" cy="228600"/>
          </a:xfrm>
          <a:prstGeom prst="rect">
            <a:avLst/>
          </a:prstGeom>
          <a:noFill/>
          <a:ln/>
        </p:spPr>
        <p:txBody>
          <a:bodyPr wrap="square" lIns="0" tIns="0" rIns="0" bIns="0" rtlCol="0" anchor="ctr"/>
          <a:lstStyle/>
          <a:p>
            <a:pPr indent="0" marL="0">
              <a:buNone/>
            </a:pPr>
            <a:r>
              <a:rPr lang="en-US" sz="1250" b="1" dirty="0">
                <a:solidFill>
                  <a:srgbClr val="EF4444"/>
                </a:solidFill>
                <a:latin typeface="Calibri" pitchFamily="34" charset="0"/>
                <a:ea typeface="Calibri" pitchFamily="34" charset="-122"/>
                <a:cs typeface="Calibri" pitchFamily="34" charset="-120"/>
              </a:rPr>
              <a:t>Over-Engineering Agents</a:t>
            </a:r>
            <a:endParaRPr lang="en-US" sz="1250" dirty="0"/>
          </a:p>
        </p:txBody>
      </p:sp>
      <p:sp>
        <p:nvSpPr>
          <p:cNvPr id="27" name="Text 20"/>
          <p:cNvSpPr/>
          <p:nvPr/>
        </p:nvSpPr>
        <p:spPr>
          <a:xfrm>
            <a:off x="731520" y="3950208"/>
            <a:ext cx="3566160" cy="64008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Building complex multi-agent systems before the single-agent loop works. Start simple, optimize later.</a:t>
            </a:r>
            <a:endParaRPr lang="en-US" sz="1000" dirty="0"/>
          </a:p>
        </p:txBody>
      </p:sp>
      <p:sp>
        <p:nvSpPr>
          <p:cNvPr id="28" name="Shape 21"/>
          <p:cNvSpPr/>
          <p:nvPr/>
        </p:nvSpPr>
        <p:spPr>
          <a:xfrm>
            <a:off x="4846320" y="3566160"/>
            <a:ext cx="3931920" cy="1097280"/>
          </a:xfrm>
          <a:prstGeom prst="rect">
            <a:avLst/>
          </a:prstGeom>
          <a:solidFill>
            <a:srgbClr val="FEF2F2"/>
          </a:solidFill>
          <a:ln/>
          <a:effectLst>
            <a:outerShdw sx="100000" sy="100000" kx="0" ky="0" algn="bl" rotWithShape="0" blurRad="50800" dist="25400" dir="8100000">
              <a:srgbClr val="000000">
                <a:alpha val="10000"/>
              </a:srgbClr>
            </a:outerShdw>
          </a:effectLst>
        </p:spPr>
      </p:sp>
      <p:sp>
        <p:nvSpPr>
          <p:cNvPr id="29" name="Shape 22"/>
          <p:cNvSpPr/>
          <p:nvPr/>
        </p:nvSpPr>
        <p:spPr>
          <a:xfrm>
            <a:off x="4846320" y="3566160"/>
            <a:ext cx="54864" cy="1097280"/>
          </a:xfrm>
          <a:prstGeom prst="rect">
            <a:avLst/>
          </a:prstGeom>
          <a:solidFill>
            <a:srgbClr val="EF4444"/>
          </a:solidFill>
          <a:ln/>
        </p:spPr>
      </p:sp>
      <p:pic>
        <p:nvPicPr>
          <p:cNvPr id="30" name="Image 5" descr="preencoded.png">    </p:cNvPr>
          <p:cNvPicPr>
            <a:picLocks noChangeAspect="1"/>
          </p:cNvPicPr>
          <p:nvPr/>
        </p:nvPicPr>
        <p:blipFill>
          <a:blip r:embed="rId6"/>
          <a:stretch>
            <a:fillRect/>
          </a:stretch>
        </p:blipFill>
        <p:spPr>
          <a:xfrm>
            <a:off x="5029200" y="3675888"/>
            <a:ext cx="201168" cy="201168"/>
          </a:xfrm>
          <a:prstGeom prst="rect">
            <a:avLst/>
          </a:prstGeom>
        </p:spPr>
      </p:pic>
      <p:sp>
        <p:nvSpPr>
          <p:cNvPr id="31" name="Text 23"/>
          <p:cNvSpPr/>
          <p:nvPr/>
        </p:nvSpPr>
        <p:spPr>
          <a:xfrm>
            <a:off x="5349240" y="3657600"/>
            <a:ext cx="3200400" cy="228600"/>
          </a:xfrm>
          <a:prstGeom prst="rect">
            <a:avLst/>
          </a:prstGeom>
          <a:noFill/>
          <a:ln/>
        </p:spPr>
        <p:txBody>
          <a:bodyPr wrap="square" lIns="0" tIns="0" rIns="0" bIns="0" rtlCol="0" anchor="ctr"/>
          <a:lstStyle/>
          <a:p>
            <a:pPr indent="0" marL="0">
              <a:buNone/>
            </a:pPr>
            <a:r>
              <a:rPr lang="en-US" sz="1250" b="1" dirty="0">
                <a:solidFill>
                  <a:srgbClr val="EF4444"/>
                </a:solidFill>
                <a:latin typeface="Calibri" pitchFamily="34" charset="0"/>
                <a:ea typeface="Calibri" pitchFamily="34" charset="-122"/>
                <a:cs typeface="Calibri" pitchFamily="34" charset="-120"/>
              </a:rPr>
              <a:t>Ignoring the Plan</a:t>
            </a:r>
            <a:endParaRPr lang="en-US" sz="1250" dirty="0"/>
          </a:p>
        </p:txBody>
      </p:sp>
      <p:sp>
        <p:nvSpPr>
          <p:cNvPr id="32" name="Text 24"/>
          <p:cNvSpPr/>
          <p:nvPr/>
        </p:nvSpPr>
        <p:spPr>
          <a:xfrm>
            <a:off x="5029200" y="3950208"/>
            <a:ext cx="3566160" cy="64008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Jumping straight to implementation without the Research → Plan phases. This is the most common and costly mistake.</a:t>
            </a:r>
            <a:endParaRPr lang="en-US" sz="1000" dirty="0"/>
          </a:p>
        </p:txBody>
      </p:sp>
      <p:sp>
        <p:nvSpPr>
          <p:cNvPr id="33" name="Text 25"/>
          <p:cNvSpPr/>
          <p:nvPr/>
        </p:nvSpPr>
        <p:spPr>
          <a:xfrm>
            <a:off x="8229600" y="4754880"/>
            <a:ext cx="64008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21 / 23</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indent="0" marL="0">
              <a:buNone/>
            </a:pPr>
            <a:r>
              <a:rPr lang="en-US" sz="3200" b="1" dirty="0">
                <a:solidFill>
                  <a:srgbClr val="1A2332"/>
                </a:solidFill>
                <a:latin typeface="Calibri" pitchFamily="34" charset="0"/>
                <a:ea typeface="Calibri" pitchFamily="34" charset="-122"/>
                <a:cs typeface="Calibri" pitchFamily="34" charset="-120"/>
              </a:rPr>
              <a:t>Key Takeaways</a:t>
            </a:r>
            <a:endParaRPr lang="en-US" sz="3200" dirty="0"/>
          </a:p>
        </p:txBody>
      </p:sp>
      <p:sp>
        <p:nvSpPr>
          <p:cNvPr id="3" name="Shape 1"/>
          <p:cNvSpPr/>
          <p:nvPr/>
        </p:nvSpPr>
        <p:spPr>
          <a:xfrm>
            <a:off x="640080" y="1051560"/>
            <a:ext cx="384048" cy="384048"/>
          </a:xfrm>
          <a:prstGeom prst="ellipse">
            <a:avLst/>
          </a:prstGeom>
          <a:solidFill>
            <a:srgbClr val="0D9488"/>
          </a:solidFill>
          <a:ln/>
        </p:spPr>
      </p:sp>
      <p:sp>
        <p:nvSpPr>
          <p:cNvPr id="4" name="Text 2"/>
          <p:cNvSpPr/>
          <p:nvPr/>
        </p:nvSpPr>
        <p:spPr>
          <a:xfrm>
            <a:off x="640080" y="1051560"/>
            <a:ext cx="384048" cy="38404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p:nvPr/>
        </p:nvSpPr>
        <p:spPr>
          <a:xfrm>
            <a:off x="1188720" y="1005840"/>
            <a:ext cx="7315200" cy="502920"/>
          </a:xfrm>
          <a:prstGeom prst="rect">
            <a:avLst/>
          </a:prstGeom>
          <a:noFill/>
          <a:ln/>
        </p:spPr>
        <p:txBody>
          <a:bodyPr wrap="square" lIns="0" tIns="0" rIns="0" bIns="0" rtlCol="0" anchor="ctr"/>
          <a:lstStyle/>
          <a:p>
            <a:pPr indent="0" marL="0">
              <a:buNone/>
            </a:pPr>
            <a:r>
              <a:rPr lang="en-US" sz="1350" dirty="0">
                <a:solidFill>
                  <a:srgbClr val="334155"/>
                </a:solidFill>
                <a:latin typeface="Calibri" pitchFamily="34" charset="0"/>
                <a:ea typeface="Calibri" pitchFamily="34" charset="-122"/>
                <a:cs typeface="Calibri" pitchFamily="34" charset="-120"/>
              </a:rPr>
              <a:t>Treat your AI as a junior developer — powerful but lacking judgment and business context</a:t>
            </a:r>
            <a:endParaRPr lang="en-US" sz="1350" dirty="0"/>
          </a:p>
        </p:txBody>
      </p:sp>
      <p:sp>
        <p:nvSpPr>
          <p:cNvPr id="6" name="Shape 4"/>
          <p:cNvSpPr/>
          <p:nvPr/>
        </p:nvSpPr>
        <p:spPr>
          <a:xfrm>
            <a:off x="640080" y="1691640"/>
            <a:ext cx="384048" cy="384048"/>
          </a:xfrm>
          <a:prstGeom prst="ellipse">
            <a:avLst/>
          </a:prstGeom>
          <a:solidFill>
            <a:srgbClr val="0D9488"/>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p:nvPr/>
        </p:nvSpPr>
        <p:spPr>
          <a:xfrm>
            <a:off x="1188720" y="1645920"/>
            <a:ext cx="7315200" cy="502920"/>
          </a:xfrm>
          <a:prstGeom prst="rect">
            <a:avLst/>
          </a:prstGeom>
          <a:noFill/>
          <a:ln/>
        </p:spPr>
        <p:txBody>
          <a:bodyPr wrap="square" lIns="0" tIns="0" rIns="0" bIns="0" rtlCol="0" anchor="ctr"/>
          <a:lstStyle/>
          <a:p>
            <a:pPr indent="0" marL="0">
              <a:buNone/>
            </a:pPr>
            <a:r>
              <a:rPr lang="en-US" sz="1350" dirty="0">
                <a:solidFill>
                  <a:srgbClr val="334155"/>
                </a:solidFill>
                <a:latin typeface="Calibri" pitchFamily="34" charset="0"/>
                <a:ea typeface="Calibri" pitchFamily="34" charset="-122"/>
                <a:cs typeface="Calibri" pitchFamily="34" charset="-120"/>
              </a:rPr>
              <a:t>Context is your most precious resource — persist, select, compress, and isolate</a:t>
            </a:r>
            <a:endParaRPr lang="en-US" sz="1350" dirty="0"/>
          </a:p>
        </p:txBody>
      </p:sp>
      <p:sp>
        <p:nvSpPr>
          <p:cNvPr id="9" name="Shape 7"/>
          <p:cNvSpPr/>
          <p:nvPr/>
        </p:nvSpPr>
        <p:spPr>
          <a:xfrm>
            <a:off x="640080" y="2331720"/>
            <a:ext cx="384048" cy="384048"/>
          </a:xfrm>
          <a:prstGeom prst="ellipse">
            <a:avLst/>
          </a:prstGeom>
          <a:solidFill>
            <a:srgbClr val="0D9488"/>
          </a:solidFill>
          <a:ln/>
        </p:spPr>
      </p:sp>
      <p:sp>
        <p:nvSpPr>
          <p:cNvPr id="10" name="Text 8"/>
          <p:cNvSpPr/>
          <p:nvPr/>
        </p:nvSpPr>
        <p:spPr>
          <a:xfrm>
            <a:off x="640080" y="2331720"/>
            <a:ext cx="384048" cy="38404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9"/>
          <p:cNvSpPr/>
          <p:nvPr/>
        </p:nvSpPr>
        <p:spPr>
          <a:xfrm>
            <a:off x="1188720" y="2286000"/>
            <a:ext cx="7315200" cy="502920"/>
          </a:xfrm>
          <a:prstGeom prst="rect">
            <a:avLst/>
          </a:prstGeom>
          <a:noFill/>
          <a:ln/>
        </p:spPr>
        <p:txBody>
          <a:bodyPr wrap="square" lIns="0" tIns="0" rIns="0" bIns="0" rtlCol="0" anchor="ctr"/>
          <a:lstStyle/>
          <a:p>
            <a:pPr indent="0" marL="0">
              <a:buNone/>
            </a:pPr>
            <a:r>
              <a:rPr lang="en-US" sz="1350" dirty="0">
                <a:solidFill>
                  <a:srgbClr val="334155"/>
                </a:solidFill>
                <a:latin typeface="Calibri" pitchFamily="34" charset="0"/>
                <a:ea typeface="Calibri" pitchFamily="34" charset="-122"/>
                <a:cs typeface="Calibri" pitchFamily="34" charset="-120"/>
              </a:rPr>
              <a:t>Always follow Research → Plan → Implement — never skip to coding</a:t>
            </a:r>
            <a:endParaRPr lang="en-US" sz="1350" dirty="0"/>
          </a:p>
        </p:txBody>
      </p:sp>
      <p:sp>
        <p:nvSpPr>
          <p:cNvPr id="12" name="Shape 10"/>
          <p:cNvSpPr/>
          <p:nvPr/>
        </p:nvSpPr>
        <p:spPr>
          <a:xfrm>
            <a:off x="640080" y="2971800"/>
            <a:ext cx="384048" cy="384048"/>
          </a:xfrm>
          <a:prstGeom prst="ellipse">
            <a:avLst/>
          </a:prstGeom>
          <a:solidFill>
            <a:srgbClr val="0D9488"/>
          </a:solidFill>
          <a:ln/>
        </p:spPr>
      </p:sp>
      <p:sp>
        <p:nvSpPr>
          <p:cNvPr id="13" name="Text 11"/>
          <p:cNvSpPr/>
          <p:nvPr/>
        </p:nvSpPr>
        <p:spPr>
          <a:xfrm>
            <a:off x="640080" y="2971800"/>
            <a:ext cx="384048" cy="38404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4" name="Text 12"/>
          <p:cNvSpPr/>
          <p:nvPr/>
        </p:nvSpPr>
        <p:spPr>
          <a:xfrm>
            <a:off x="1188720" y="2926080"/>
            <a:ext cx="7315200" cy="502920"/>
          </a:xfrm>
          <a:prstGeom prst="rect">
            <a:avLst/>
          </a:prstGeom>
          <a:noFill/>
          <a:ln/>
        </p:spPr>
        <p:txBody>
          <a:bodyPr wrap="square" lIns="0" tIns="0" rIns="0" bIns="0" rtlCol="0" anchor="ctr"/>
          <a:lstStyle/>
          <a:p>
            <a:pPr indent="0" marL="0">
              <a:buNone/>
            </a:pPr>
            <a:r>
              <a:rPr lang="en-US" sz="1350" dirty="0">
                <a:solidFill>
                  <a:srgbClr val="334155"/>
                </a:solidFill>
                <a:latin typeface="Calibri" pitchFamily="34" charset="0"/>
                <a:ea typeface="Calibri" pitchFamily="34" charset="-122"/>
                <a:cs typeface="Calibri" pitchFamily="34" charset="-120"/>
              </a:rPr>
              <a:t>Choose CLI for speed and composability; MCP for abstraction and governance</a:t>
            </a:r>
            <a:endParaRPr lang="en-US" sz="1350" dirty="0"/>
          </a:p>
        </p:txBody>
      </p:sp>
      <p:sp>
        <p:nvSpPr>
          <p:cNvPr id="15" name="Shape 13"/>
          <p:cNvSpPr/>
          <p:nvPr/>
        </p:nvSpPr>
        <p:spPr>
          <a:xfrm>
            <a:off x="640080" y="3611880"/>
            <a:ext cx="384048" cy="384048"/>
          </a:xfrm>
          <a:prstGeom prst="ellipse">
            <a:avLst/>
          </a:prstGeom>
          <a:solidFill>
            <a:srgbClr val="0D9488"/>
          </a:solidFill>
          <a:ln/>
        </p:spPr>
      </p:sp>
      <p:sp>
        <p:nvSpPr>
          <p:cNvPr id="16" name="Text 14"/>
          <p:cNvSpPr/>
          <p:nvPr/>
        </p:nvSpPr>
        <p:spPr>
          <a:xfrm>
            <a:off x="640080" y="3611880"/>
            <a:ext cx="384048" cy="38404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7" name="Text 15"/>
          <p:cNvSpPr/>
          <p:nvPr/>
        </p:nvSpPr>
        <p:spPr>
          <a:xfrm>
            <a:off x="1188720" y="3566160"/>
            <a:ext cx="7315200" cy="502920"/>
          </a:xfrm>
          <a:prstGeom prst="rect">
            <a:avLst/>
          </a:prstGeom>
          <a:noFill/>
          <a:ln/>
        </p:spPr>
        <p:txBody>
          <a:bodyPr wrap="square" lIns="0" tIns="0" rIns="0" bIns="0" rtlCol="0" anchor="ctr"/>
          <a:lstStyle/>
          <a:p>
            <a:pPr indent="0" marL="0">
              <a:buNone/>
            </a:pPr>
            <a:r>
              <a:rPr lang="en-US" sz="1350" dirty="0">
                <a:solidFill>
                  <a:srgbClr val="334155"/>
                </a:solidFill>
                <a:latin typeface="Calibri" pitchFamily="34" charset="0"/>
                <a:ea typeface="Calibri" pitchFamily="34" charset="-122"/>
                <a:cs typeface="Calibri" pitchFamily="34" charset="-120"/>
              </a:rPr>
              <a:t>Think like your agent — if you couldn't solve it with the same info, neither can it</a:t>
            </a:r>
            <a:endParaRPr lang="en-US" sz="1350" dirty="0"/>
          </a:p>
        </p:txBody>
      </p:sp>
      <p:sp>
        <p:nvSpPr>
          <p:cNvPr id="18" name="Shape 16"/>
          <p:cNvSpPr/>
          <p:nvPr/>
        </p:nvSpPr>
        <p:spPr>
          <a:xfrm>
            <a:off x="640080" y="4251960"/>
            <a:ext cx="384048" cy="384048"/>
          </a:xfrm>
          <a:prstGeom prst="ellipse">
            <a:avLst/>
          </a:prstGeom>
          <a:solidFill>
            <a:srgbClr val="0D9488"/>
          </a:solidFill>
          <a:ln/>
        </p:spPr>
      </p:sp>
      <p:sp>
        <p:nvSpPr>
          <p:cNvPr id="19" name="Text 17"/>
          <p:cNvSpPr/>
          <p:nvPr/>
        </p:nvSpPr>
        <p:spPr>
          <a:xfrm>
            <a:off x="640080" y="4251960"/>
            <a:ext cx="384048" cy="38404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20" name="Text 18"/>
          <p:cNvSpPr/>
          <p:nvPr/>
        </p:nvSpPr>
        <p:spPr>
          <a:xfrm>
            <a:off x="1188720" y="4206240"/>
            <a:ext cx="7315200" cy="502920"/>
          </a:xfrm>
          <a:prstGeom prst="rect">
            <a:avLst/>
          </a:prstGeom>
          <a:noFill/>
          <a:ln/>
        </p:spPr>
        <p:txBody>
          <a:bodyPr wrap="square" lIns="0" tIns="0" rIns="0" bIns="0" rtlCol="0" anchor="ctr"/>
          <a:lstStyle/>
          <a:p>
            <a:pPr indent="0" marL="0">
              <a:buNone/>
            </a:pPr>
            <a:r>
              <a:rPr lang="en-US" sz="1350" dirty="0">
                <a:solidFill>
                  <a:srgbClr val="334155"/>
                </a:solidFill>
                <a:latin typeface="Calibri" pitchFamily="34" charset="0"/>
                <a:ea typeface="Calibri" pitchFamily="34" charset="-122"/>
                <a:cs typeface="Calibri" pitchFamily="34" charset="-120"/>
              </a:rPr>
              <a:t>Start with the simplest possible agent loop and optimize only after it works</a:t>
            </a:r>
            <a:endParaRPr lang="en-US" sz="1350" dirty="0"/>
          </a:p>
        </p:txBody>
      </p:sp>
      <p:sp>
        <p:nvSpPr>
          <p:cNvPr id="21" name="Text 19"/>
          <p:cNvSpPr/>
          <p:nvPr/>
        </p:nvSpPr>
        <p:spPr>
          <a:xfrm>
            <a:off x="8229600" y="4754880"/>
            <a:ext cx="64008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22 / 23</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0F766E">
              <a:alpha val="85000"/>
            </a:srgbClr>
          </a:solidFill>
          <a:ln/>
        </p:spPr>
      </p:sp>
      <p:pic>
        <p:nvPicPr>
          <p:cNvPr id="3" name="Image 0" descr="preencoded.png">    </p:cNvPr>
          <p:cNvPicPr>
            <a:picLocks noChangeAspect="1"/>
          </p:cNvPicPr>
          <p:nvPr/>
        </p:nvPicPr>
        <p:blipFill>
          <a:blip r:embed="rId1"/>
          <a:stretch>
            <a:fillRect/>
          </a:stretch>
        </p:blipFill>
        <p:spPr>
          <a:xfrm>
            <a:off x="3931920" y="914400"/>
            <a:ext cx="914400" cy="914400"/>
          </a:xfrm>
          <a:prstGeom prst="rect">
            <a:avLst/>
          </a:prstGeom>
        </p:spPr>
      </p:pic>
      <p:sp>
        <p:nvSpPr>
          <p:cNvPr id="4" name="Text 1"/>
          <p:cNvSpPr/>
          <p:nvPr/>
        </p:nvSpPr>
        <p:spPr>
          <a:xfrm>
            <a:off x="914400" y="2011680"/>
            <a:ext cx="7315200" cy="731520"/>
          </a:xfrm>
          <a:prstGeom prst="rect">
            <a:avLst/>
          </a:prstGeom>
          <a:noFill/>
          <a:ln/>
        </p:spPr>
        <p:txBody>
          <a:bodyPr wrap="square" lIns="0" tIns="0" rIns="0" bIns="0" rtlCol="0" anchor="ctr"/>
          <a:lstStyle/>
          <a:p>
            <a:pPr algn="ctr" indent="0" marL="0">
              <a:buNone/>
            </a:pPr>
            <a:r>
              <a:rPr lang="en-US" sz="4400" b="1" dirty="0">
                <a:solidFill>
                  <a:srgbClr val="FFFFFF"/>
                </a:solidFill>
                <a:latin typeface="Calibri" pitchFamily="34" charset="0"/>
                <a:ea typeface="Calibri" pitchFamily="34" charset="-122"/>
                <a:cs typeface="Calibri" pitchFamily="34" charset="-120"/>
              </a:rPr>
              <a:t>Thank You</a:t>
            </a:r>
            <a:endParaRPr lang="en-US" sz="4400" dirty="0"/>
          </a:p>
        </p:txBody>
      </p:sp>
      <p:sp>
        <p:nvSpPr>
          <p:cNvPr id="5" name="Text 2"/>
          <p:cNvSpPr/>
          <p:nvPr/>
        </p:nvSpPr>
        <p:spPr>
          <a:xfrm>
            <a:off x="914400" y="2743200"/>
            <a:ext cx="7315200" cy="457200"/>
          </a:xfrm>
          <a:prstGeom prst="rect">
            <a:avLst/>
          </a:prstGeom>
          <a:noFill/>
          <a:ln/>
        </p:spPr>
        <p:txBody>
          <a:bodyPr wrap="square" lIns="0" tIns="0" rIns="0" bIns="0" rtlCol="0" anchor="ctr"/>
          <a:lstStyle/>
          <a:p>
            <a:pPr algn="ctr" indent="0" marL="0">
              <a:buNone/>
            </a:pPr>
            <a:r>
              <a:rPr lang="en-US" sz="2000" dirty="0">
                <a:solidFill>
                  <a:srgbClr val="2DD4BF"/>
                </a:solidFill>
                <a:latin typeface="Calibri" pitchFamily="34" charset="0"/>
                <a:ea typeface="Calibri" pitchFamily="34" charset="-122"/>
                <a:cs typeface="Calibri" pitchFamily="34" charset="-120"/>
              </a:rPr>
              <a:t>Questions &amp; Discussion</a:t>
            </a:r>
            <a:endParaRPr lang="en-US" sz="2000" dirty="0"/>
          </a:p>
        </p:txBody>
      </p:sp>
      <p:sp>
        <p:nvSpPr>
          <p:cNvPr id="6" name="Shape 3"/>
          <p:cNvSpPr/>
          <p:nvPr/>
        </p:nvSpPr>
        <p:spPr>
          <a:xfrm>
            <a:off x="2286000" y="3474720"/>
            <a:ext cx="4572000" cy="502920"/>
          </a:xfrm>
          <a:prstGeom prst="rect">
            <a:avLst/>
          </a:prstGeom>
          <a:solidFill>
            <a:srgbClr val="0F766E">
              <a:alpha val="70000"/>
            </a:srgbClr>
          </a:solidFill>
          <a:ln/>
        </p:spPr>
      </p:sp>
      <p:sp>
        <p:nvSpPr>
          <p:cNvPr id="7" name="Text 4"/>
          <p:cNvSpPr/>
          <p:nvPr/>
        </p:nvSpPr>
        <p:spPr>
          <a:xfrm>
            <a:off x="2286000" y="3474720"/>
            <a:ext cx="4572000" cy="502920"/>
          </a:xfrm>
          <a:prstGeom prst="rect">
            <a:avLst/>
          </a:prstGeom>
          <a:noFill/>
          <a:ln/>
        </p:spPr>
        <p:txBody>
          <a:bodyPr wrap="square" lIns="0" tIns="0" rIns="0" bIns="0" rtlCol="0" anchor="ctr"/>
          <a:lstStyle/>
          <a:p>
            <a:pPr algn="ctr" indent="0" marL="0">
              <a:buNone/>
            </a:pPr>
            <a:r>
              <a:rPr lang="en-US" sz="1300" i="1" dirty="0">
                <a:solidFill>
                  <a:srgbClr val="2DD4BF"/>
                </a:solidFill>
                <a:latin typeface="Calibri" pitchFamily="34" charset="0"/>
                <a:ea typeface="Calibri" pitchFamily="34" charset="-122"/>
                <a:cs typeface="Calibri" pitchFamily="34" charset="-120"/>
              </a:rPr>
              <a:t>"The machine does the typing. You do the thinking."</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Builder's Playbook for Agentic Engineering</dc:title>
  <dc:subject>PptxGenJS Presentation</dc:subject>
  <dc:creator>Agentic Engineering Training</dc:creator>
  <cp:lastModifiedBy>Agentic Engineering Training</cp:lastModifiedBy>
  <cp:revision>1</cp:revision>
  <dcterms:created xsi:type="dcterms:W3CDTF">2026-05-13T21:14:56Z</dcterms:created>
  <dcterms:modified xsi:type="dcterms:W3CDTF">2026-05-13T21:14:56Z</dcterms:modified>
</cp:coreProperties>
</file>