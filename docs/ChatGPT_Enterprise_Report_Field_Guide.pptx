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007A6E">
              <a:alpha val="25000"/>
            </a:srgbClr>
          </a:solidFill>
          <a:ln w="12700">
            <a:solidFill>
              <a:srgbClr val="007A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2560320" cy="256032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Field Guide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every data point in your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Report &amp; GPT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4114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Engagement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THESE TWO REPORTS?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31520"/>
            <a:ext cx="3931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Engagement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user, per period.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WHO is using ChatGPT,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and with which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3566160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user_role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786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25496"/>
            <a:ext cx="3566160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254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72384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user_stat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3566160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9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created_or_invited_date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first_day / last_day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13048"/>
            <a:ext cx="3566160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13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59936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99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tool_messages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306824"/>
            <a:ext cx="3566160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068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project_created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73152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731520"/>
            <a:ext cx="39319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731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GPT Engagement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371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GPT, per period.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custom GPTs 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used and by how many people.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2331720"/>
            <a:ext cx="3566160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3317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578608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5786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period_start / period_end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2825496"/>
            <a:ext cx="3566160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8254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account_id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072384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gpt_id / gpt_name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3319272"/>
            <a:ext cx="3566160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3192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config_type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83480" y="3566160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66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gpt_created_public_id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83480" y="3813048"/>
            <a:ext cx="3566160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8130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is_active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4059936"/>
            <a:ext cx="35661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0599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first_day / last_day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83480" y="4306824"/>
            <a:ext cx="3566160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43068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 / unique_users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  ·  Identity &amp; Status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8580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58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7772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role in the workspace — Member, Admin, or Owner. Controls what they can see and do. Most users will be Members; only a few are Admins.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822960"/>
            <a:ext cx="1828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3736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6080" y="182880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or business unit the user belongs to (e.g. Engineering, Sales, Marketing). Use this to compare adoption rates across departments.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1874520"/>
            <a:ext cx="1828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889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8892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28803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Sub-teams or functional groups within a department. Useful for more granular analysis — e.g. comparing Frontend vs. Backend within Engineering.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926080"/>
            <a:ext cx="1828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user_stat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0" y="39319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status: Active (using the product), Inactive (hasn't used it recently), or Pending (invited but never logged in). Key for tracking who needs follow-up.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3977640"/>
            <a:ext cx="18288" cy="5943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  ·  Date &amp; Activity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7406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984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created_or_invited_date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was added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2984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12984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message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12984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Time-to-first-use (onboarding speed KPI)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48840"/>
            <a:ext cx="64008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created_or_invited_date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262432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EF0F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24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22402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this user was invited or created in the workspace. Compare to first_day to measure how long it takes users to get started — a key onboarding KPI.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286000"/>
            <a:ext cx="18288" cy="5029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63240"/>
            <a:ext cx="64008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first_day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53872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538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3154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date the user sent a message. A short gap from created_or_invited_date means smooth onboarding. A long gap signals a user who was invited but slow to engage.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3200400"/>
            <a:ext cx="18288" cy="5029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977640"/>
            <a:ext cx="64008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445312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0" y="40690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date the user was active. If this date is many weeks ago, the user may have disengaged. Flag these users for check-ins or additional training.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4114800"/>
            <a:ext cx="18288" cy="5029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  ·  Message &amp; Engagement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26060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user-initiated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ChatGPT or any GPT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640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640080"/>
            <a:ext cx="260604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749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tool_messages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115568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15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Depth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417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DALL·E, Data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— NOT in messages 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640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64008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749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project_created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1115568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155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417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ongoing 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created by the user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240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Important:  tool_messages and project_created do NOT add up to messages. They are tracked separately. Total messages is your standalone primary metric.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34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283464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user hits send — to the main ChatGPT model or a custom GPT. This is your single best measure of overall engagement. Sort by this column to find power users.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31720" y="2926080"/>
            <a:ext cx="18288" cy="4389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47872"/>
            <a:ext cx="8412480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478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tool_messages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3547872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usage of advanced tools: Canvas (document editing), DALL·E (image generation), Data Analysis (CSV/chart work), Deep Research, web search, and connectors. High tool_messages = sophisticated, workflow-embedded usage.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3639312"/>
            <a:ext cx="18288" cy="4389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6110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project_created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423160" y="4261104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are organized ChatGPT workspaces for ongoing tasks (like a running project folder). Users who create projects are embedding ChatGPT deeply into their work — a strong signal of sustained adoption.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31720" y="4352544"/>
            <a:ext cx="18288" cy="4389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  ·  Identity &amp; Configuration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49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4241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frequency — 'weekly' or 'monthly'. Tells you the time grain of each row so you know whether numbers represent 7 days or 30 days of activity.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period_start / period_end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start and end dates this row covers. Always use these as your X-axis when building trend charts across multiple exports.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5292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organization's unique ChatGPT Enterprise workspace ID. Mainly useful when merging multiple CSV exports together to avoid duplication.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5020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41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342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unique identifier for each Custom GPT. Use this as your primary key when joining data across time periods — GPT names can change, but the ID stays the same.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65836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65836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749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04241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human-readable display name of the GPT (e.g. 'HR Policy Bot', 'Code Review Assistant'). This is the label you'll use in dashboards and reports.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5564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75564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config_type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13969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tier of the GPT: 'base' (just instructions), 'retrieval' (searches documents), 'actions' (calls external APIs), or 'retrieval+actions' (both). Higher config = more complex, more powerful GPT.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5292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52928"/>
            <a:ext cx="64008" cy="9875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gpt_created_public_id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2369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public-facing ID assigned when the GPT was published or shared. Useful when referencing a GPT in external links or shared access contexts.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  ·  Activity &amp; Engagement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64008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 is_active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06984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EF0F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69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true/false — whether the GPT is currently enabled in the workspace. ALWAYS filter to is_active = true before analysis to exclude retired GPTs from your metrics.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749040" cy="1371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19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Filter first: is_active = true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65836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65836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31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first_day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06984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69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37760" y="129844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date this GPT ever received a message. Use this to measure how quickly a newly created GPT gains adoption after being published.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828800"/>
            <a:ext cx="3749040" cy="13716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819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KPI: Days from created to first message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12140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12140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last_day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53288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32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8640" y="27614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date this GPT received a message. If is_active = true but last_day is 30+ days ago, this is a 'stale GPT' — still enabled but nobody is using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3749040" cy="13716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826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Flag: last_day &gt; 30 days ago = stale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12140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2140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53288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532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⭐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37760" y="27614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 sent to this GPT in the period. This is your primary volume KPI for GPT performance. Sort descending to find your most-used GPTs.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291840"/>
            <a:ext cx="3749040" cy="1371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2826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Primary volume KPI for GPT performance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58444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58444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unique_users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399592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6FA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995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⭐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48640" y="42245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users who messaged this GPT in the period. High unique_users = broad adoption across the org. Low = niche or single-team use case.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754880"/>
            <a:ext cx="3749040" cy="13716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7457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High = broad adoption | Low = niche use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358444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584448"/>
            <a:ext cx="64008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gpt_creator_email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3995928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EEF0F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995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37760" y="42245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of the person who built this GPT. Use to identify top builders, attribute GPT performance to creators, and reach out for feedback or to spotlight champions.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4754880"/>
            <a:ext cx="3749040" cy="1371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47457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Find your top GPT builders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  ·  What You Can Calculate from These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64008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3152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31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÷ unique_users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Msgs per 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1155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14081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engagement per GPT. High value = power users relying heavily on it. Low = casual testers.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65836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65836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73152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731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active_users ÷ seats_enabled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1155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37760" y="14081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your org actively using ChatGPT. Your headline executive KPI.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12140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121408"/>
            <a:ext cx="64008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19456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last_day − first_day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Lifespan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257860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287121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user or GPT has been in active use. Tracks whether engagement is sustained over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12140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2140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19456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tool_messages ÷ messages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Engagement 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257860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37760" y="287121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usage involving advanced tools. Higher = deeper, more complex workflows embedded in daily work.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58444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584448"/>
            <a:ext cx="64008" cy="13533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65760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is_active=true AND last_day &gt;30d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GPT Flag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383280" y="404164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48640" y="43342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 still enabled but unused for 30+ days. Targets for retirement or promotion to revive usage.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3584448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584448"/>
            <a:ext cx="64008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3657600"/>
            <a:ext cx="3749040" cy="292608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≥75/wk AND tool_msgs ≥3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3776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 Flag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72400" y="404164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937760" y="433425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official definition of power users. Identify champions to spotlight and learn from.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THESE REPORTS  ·  Practical Action Guide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74980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749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76809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768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active_users ÷ seats_enabled each month. Sort user_stat to find Pending and Inactive users who need follow-up.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64008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74980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68112" y="749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Power Users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76809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768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37760" y="11430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messages ≥ 75/wk AND tool_messages ≥ 3 types. These are your champions — interview them and share their use cases org-wide.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0312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21284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Top GPTs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23113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messages descending. Then check unique_users — a GPT with both high messages AND high unique_users is a scalable, org-wide use case.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21284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Stale GPTs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223113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231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37760" y="26060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is_active = true, then sort last_day ascending. GPTs with no activity in 30+ days should be retired or promoted with targeted comms.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56616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67588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Comparison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91840" y="369417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8640" y="4069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department. Compare average messages and tool_messages % per dept. Low adoption depts need training; high adoption depts have learnable patterns.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566160"/>
            <a:ext cx="41148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675888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68112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Insights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80960" y="3694176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3694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Report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37760" y="4069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gpt_creator_email. Find who is building the most-used GPTs. Spotlight them, learn their approach, and use them to mentor others.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07A6E">
              <a:alpha val="20000"/>
            </a:srgbClr>
          </a:solidFill>
          <a:ln w="12700">
            <a:solidFill>
              <a:srgbClr val="007A6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is your single most important field — it's the true total of all user activity in both reports.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4708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847088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tool_messages does NOT roll up into messages. Track it separately to measure advanced feature depth.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97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59736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unique_users in the GPT Report tells you reach — combine with messages to see both volume AND breadth.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72384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723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72384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first_day &amp; last_day together — gaps reveal onboarding problems and disengaged users or GPTs.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850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68503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filter is_active = true before analyzing GPT data to remove retired/decommissioned GPTs.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53035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9768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(75+ msgs/wk, 3+ tools) are your champions — find, spotlight, and learn from them.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Enterprise Reports – Field Guide</dc:title>
  <dc:subject>PptxGenJS Presentation</dc:subject>
  <dc:creator>PptxGenJS</dc:creator>
  <cp:lastModifiedBy>PptxGenJS</cp:lastModifiedBy>
  <cp:revision>1</cp:revision>
  <dcterms:created xsi:type="dcterms:W3CDTF">2026-02-23T19:12:48Z</dcterms:created>
  <dcterms:modified xsi:type="dcterms:W3CDTF">2026-02-23T19:12:48Z</dcterms:modified>
</cp:coreProperties>
</file>