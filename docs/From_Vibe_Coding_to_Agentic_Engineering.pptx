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733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1097280"/>
            <a:ext cx="54864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109728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Vibe Coding to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Engineering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1005840" y="2880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customize GitHub Copilot &amp; leverage OpenAI Codex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production-grade development workflows</a:t>
            </a:r>
            <a:endParaRPr lang="en-US" sz="16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0"/>
            <a:ext cx="640080" cy="64008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Workshop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Prompting Treadmill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chat-based AI coding doesn't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Inefficiency Loop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expectations every time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misses context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coding style, ignores architecture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output manually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09728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formatting, naming, structure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on next file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09728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starts again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Agentic System</a:t>
            </a:r>
            <a:endParaRPr lang="en-US" sz="16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behavior once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486400" y="2240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persistent context &amp; rules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65176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8640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auto-applied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548640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inherits standards</a:t>
            </a:r>
            <a:endParaRPr lang="en-US" sz="11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291840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8640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output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54864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style, docs — automatic</a:t>
            </a:r>
            <a:endParaRPr lang="en-US" sz="11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931920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48640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team</a:t>
            </a:r>
            <a:endParaRPr lang="en-US" sz="1300" dirty="0"/>
          </a:p>
        </p:txBody>
      </p:sp>
      <p:sp>
        <p:nvSpPr>
          <p:cNvPr id="31" name="Text 21"/>
          <p:cNvSpPr/>
          <p:nvPr/>
        </p:nvSpPr>
        <p:spPr>
          <a:xfrm>
            <a:off x="54864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for every developer</a:t>
            </a:r>
            <a:endParaRPr lang="en-US" sz="11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6517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6128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023360" y="10515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vibe coding fails at scale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69164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0136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 of Copilot Customization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023360" y="1691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Prompts, Agents, Skills, Hooks — with examples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2331720"/>
            <a:ext cx="54864" cy="5486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44144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Decision Framework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023360" y="2331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 — resolving overlaps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297180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08152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023360" y="2971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real customized workflow end-to-end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48640" y="3611880"/>
            <a:ext cx="54864" cy="54864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2160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 Overview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023360" y="3611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agents, CLI, Skills, Automations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548640" y="425196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361688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3444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Today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4023360" y="4251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30-minute setup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Pillars of Copilot Customization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Copilot from a generic assistant into a context-aware partner tailored to your exact team standards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3108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1554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Rules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3246120"/>
            <a:ext cx="10058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guardrails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94560" y="1371600"/>
            <a:ext cx="1554480" cy="3108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94560" y="1371600"/>
            <a:ext cx="15544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1"/>
          <p:cNvSpPr/>
          <p:nvPr/>
        </p:nvSpPr>
        <p:spPr>
          <a:xfrm>
            <a:off x="2651760" y="16916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7830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19456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468880" y="3246120"/>
            <a:ext cx="10058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19456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via /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931920" y="1371600"/>
            <a:ext cx="1554480" cy="3108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931920" y="1371600"/>
            <a:ext cx="15544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18"/>
          <p:cNvSpPr/>
          <p:nvPr/>
        </p:nvSpPr>
        <p:spPr>
          <a:xfrm>
            <a:off x="4389120" y="16916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78308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93192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93192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Personas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206240" y="3246120"/>
            <a:ext cx="10058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93192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via @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669280" y="1371600"/>
            <a:ext cx="1554480" cy="3108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669280" y="1371600"/>
            <a:ext cx="155448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Shape 25"/>
          <p:cNvSpPr/>
          <p:nvPr/>
        </p:nvSpPr>
        <p:spPr>
          <a:xfrm>
            <a:off x="6126480" y="169164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78308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66928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566928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Capabilities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943600" y="3246120"/>
            <a:ext cx="10058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66928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Auto-loaded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7406640" y="1371600"/>
            <a:ext cx="1554480" cy="3108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406640" y="1371600"/>
            <a:ext cx="155448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8" name="Shape 32"/>
          <p:cNvSpPr/>
          <p:nvPr/>
        </p:nvSpPr>
        <p:spPr>
          <a:xfrm>
            <a:off x="7863840" y="1691640"/>
            <a:ext cx="640080" cy="640080"/>
          </a:xfrm>
          <a:prstGeom prst="ellipse">
            <a:avLst/>
          </a:prstGeom>
          <a:solidFill>
            <a:srgbClr val="EC4899"/>
          </a:solidFill>
          <a:ln/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1783080"/>
            <a:ext cx="457200" cy="4572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40664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740664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Triggers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7680960" y="3246120"/>
            <a:ext cx="10058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406640" y="33832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1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0240" y="2651760"/>
            <a:ext cx="182880" cy="182880"/>
          </a:xfrm>
          <a:prstGeom prst="rect">
            <a:avLst/>
          </a:prstGeom>
        </p:spPr>
      </p:pic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2651760"/>
            <a:ext cx="182880" cy="182880"/>
          </a:xfrm>
          <a:prstGeom prst="rect">
            <a:avLst/>
          </a:prstGeom>
        </p:spPr>
      </p:pic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2651760"/>
            <a:ext cx="182880" cy="182880"/>
          </a:xfrm>
          <a:prstGeom prst="rect">
            <a:avLst/>
          </a:prstGeom>
        </p:spPr>
      </p:pic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2651760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Instructions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PERSISTENT RULEBOOK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29184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files (.md) applied automatically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User-level or Workspace-level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silently evaluates all code against rules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.github/copilot-instructions.md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supports AGENTS.md format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/init or /create-instructions to generate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234440"/>
            <a:ext cx="3931920" cy="329184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copilot-instructions.md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Standards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Architecture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functional React components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Apply SOLID principles to all code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Follow repository pattern for data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Accessibility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All UI must meet WCAG 2.1 AA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Include aria-labels on inputs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Naming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camelCase for variables/functions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PascalCase for components/classes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Instructions Example: Full 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.github/copilot-instructions.md FOR A REACT + NODE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379476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.github/copilot-instructions.md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Team Coding Standards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Language &amp; Framework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TypeScript strict mode for all files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React 18+ with functional components only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Next.js App Router (no Pages Router)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Tailwind CSS for styling (no inline styles)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Architecture Rules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Feature-based folder structure: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src/features/{name}/components/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src/features/{name}/hooks/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src/features/{name}/utils/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All API calls go through src/lib/api/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Zod for runtime validation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any types — use unknown + guards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Error Handling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Wrap async ops in try/catch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custom AppError class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log errors to monitoring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379476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1887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Achieves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37760" y="1600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 suggestion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TypeScript strict mode and functional components — no class components ever generated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22219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creation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follows your feature-based folder structure instead of dumping files in src/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84378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route through your centralized api/ layer with proper error handling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34655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any types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uses unknown with type guards instead, matching your team's lint rules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40873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uses Tailwind utility classes, never generates inline CSS or CSS modules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 FOR COMPLEX TASKS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manually via / command in chat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.prompt.md files in .github/prompts/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variables &amp; file references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multi-step workflows into one trigger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3931920" cy="164592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/simplify.prompt.md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1645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Simplify selected code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agent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 the current file for: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Dead code and unused imports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Complex if/else → ternary/helpers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Variable hoisting opportunities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each change.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EFF6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0584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Prompt Ideas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0080" y="3566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691640" y="35661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multi-step code review: check types, test coverage, security, performance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0080" y="3840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/test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691640" y="38404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unit tests for the current file using your team's testing framework &amp; conventions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40080" y="4114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/document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691640" y="41148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JSDoc comments, update README, and generate changelog entries for recent changes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" y="4389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/migrate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691640" y="43891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class components to hooks, or migrate from one library to another (e.g., Moment → date-fns)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Example: /review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MULTI-STEP CODE REVIEW PROMPT THAT CHECKS TYPES, SECURITY, TESTS &amp; PERFORMANCE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379476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.github/prompts/review.prompt.md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"Comprehensive code review"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agent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the selected code through these lenses: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1. Type Safety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Check for implicit any types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Verify null/undefined handling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Validate Zod schemas match interfaces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2. Security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Check for SQL injection vectors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Validate user input sanitization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Flag hardcoded secrets or API keys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3. Test Coverage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Identify untested branches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Suggest edge case test scenarios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Check mock completeness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4. Performance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Flag N+1 query patterns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Check for unnecessary re-renders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Identify missing memoization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 a severity rating (Critical /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/ Info) for each finding.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182880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any file in VS Code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Open Copilot Chat (Ctrl+Shift+I)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Type: /review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Copilot runs all 4 checks automatically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Get a prioritized findings report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063240"/>
            <a:ext cx="4023360" cy="178308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383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CRITICAL: Line 42 — SQL string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interpolation without parameterized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query. Use prisma.$queryRaw.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WARNING: Line 15 — userId param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typed as 'any'. Add Zod validation.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INFO: Line 78 — Component re-renders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on every parent update. Consider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wrapping in React.memo().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DEVELOPMENT PERSONAS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as .agent.md files in .github/agents/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via @ mention in Copilot chat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model preference, tool restrictions, handoffs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handoff chains: Plan → Implement → Review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023360" cy="219456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@security-reviewer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workspace expert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security-reviewer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['search/codebase']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['Claude Opus 4.5']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Security Review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for vulnerabilities,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 leaks, injection risks.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2560320"/>
            <a:ext cx="3931920" cy="219456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9748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@ArcadeAppBuilder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domain-specific agent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37760" y="3383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ArcadeAppBuilder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['terminal', 'editFiles']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['GPT-5.2']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Retro Game Builder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Retro 80s aesthetics, topography,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dark/light mode color palettes.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Example: Planner → Implementer Chain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HAND OFF TASKS TO OTHER AGENTS — CREATING A MULTI-STEP PIPELINE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379476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planner.agent.md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Plan before coding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Planner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'web/fetch'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'search/codebase'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'search/usages'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'Claude Opus 4.5'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'GPT-5.2'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handoffs: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label: Implement Plan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agent: implementer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prompt: &gt;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Implement the plan above.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send: false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Planning Mode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planning agent. Never write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directly. Instead: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Research the codebase for context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Ask clarifying questions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Draft a step-by-step plan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Get user approval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Hand off to @implementer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201168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implementer.agent.md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Execute implementation plans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Implementer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'terminal'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'editFiles'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'search/codebase'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['Claude Sonnet 4']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Implementation Mode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 plan exactly. For each step: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Write the code changes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 tests after each change</a:t>
            </a:r>
            <a:endParaRPr lang="en-US" sz="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Report any deviations from plan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3246120"/>
            <a:ext cx="4023360" cy="160020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Flow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3703320"/>
            <a:ext cx="118872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703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@Planner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3703320"/>
            <a:ext cx="9144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4380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63840" y="3703320"/>
            <a:ext cx="7772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3703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@Impl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4206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researches and drafts a plan. You approve it. Then the Implementer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it step by step — each agent stays focused on its role.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TOOLKITS &amp; AUTOMATED ACTIONS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82880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4173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Triggered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adds a 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asks for a task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96596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37560" y="1280160"/>
            <a:ext cx="2651760" cy="182880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41732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33756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2377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runs scripts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workspace files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965960"/>
            <a:ext cx="228600" cy="228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17920" y="1280160"/>
            <a:ext cx="2651760" cy="182880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23760" y="14173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72237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21792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Deployed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217920" y="2377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reaches into workspace,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docs automatically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4008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Folder Structure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" y="3749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.github/skills/update-readme/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SKILL.md          # When &amp; how to use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instructions.md    # Detailed behavior rules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scripts/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update.ts      # Executable script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937760" y="3703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folders containing instructions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scripts. They give your agents the ability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perform domain-specific workflows and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operations — sharable across agents.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Example: update-readme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THAT AUTOMATICALLY DOCUMENTS NEW FEATURES IN YOUR README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182880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update-readme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use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 after any new feature is added,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function is renamed, or an API endpoint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changes.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What it does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Scans recent git diff for changes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Identifies new exports / endpoints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Updates README.md feature table</a:t>
            </a:r>
            <a:endParaRPr lang="en-US" sz="9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Adds usage examples for new APIs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4160520" cy="178308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scripts/update.ts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execSync } from 'child_process';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readFileSync, writeFileSync } from 'fs';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diff = execSync('git diff HEAD~1')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.toString();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readme = readFileSync('README.md',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'utf-8');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Parse new exports from diff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newExports = diff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.match(/\+export (function|const) (\w+)/g)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?.map(m =&gt; m.split(' ').pop()) || [];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Insert into features table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updated = insertFeatures(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readme, newExports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writeFileSync('README.md', updated);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379476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In Practice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15544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 a feature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8105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new API endpoint: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/api/users/:id/orders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30368" y="1993392"/>
            <a:ext cx="0" cy="3200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37744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2377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detects the skill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26334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new export matches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SKILL.md trigger conditions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30368" y="2816352"/>
            <a:ext cx="0" cy="3200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32004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runs automatically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3456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update.ts parses the git diff,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new endpoint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30368" y="3639312"/>
            <a:ext cx="0" cy="3200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402336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7784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updated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4279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table gains a new row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usage example and types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AUTOMATION AT LIFECYCLE EVENTS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280160" cy="914400"/>
          </a:xfrm>
          <a:prstGeom prst="rect">
            <a:avLst/>
          </a:prstGeom>
          <a:solidFill>
            <a:srgbClr val="64748B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37360" y="1280160"/>
            <a:ext cx="1280160" cy="914400"/>
          </a:xfrm>
          <a:prstGeom prst="rect">
            <a:avLst/>
          </a:prstGeom>
          <a:solidFill>
            <a:srgbClr val="64748B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1280160" cy="914400"/>
          </a:xfrm>
          <a:prstGeom prst="rect">
            <a:avLst/>
          </a:prstGeom>
          <a:solidFill>
            <a:srgbClr val="3B82F6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1280160" cy="914400"/>
          </a:xfrm>
          <a:prstGeom prst="rect">
            <a:avLst/>
          </a:prstGeom>
          <a:solidFill>
            <a:srgbClr val="EC4899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post_tool_use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Fires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1280160" cy="914400"/>
          </a:xfrm>
          <a:prstGeom prst="rect">
            <a:avLst/>
          </a:prstGeom>
          <a:solidFill>
            <a:srgbClr val="F97316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1417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89520" y="1280160"/>
            <a:ext cx="1280160" cy="914400"/>
          </a:xfrm>
          <a:prstGeom prst="rect">
            <a:avLst/>
          </a:prstGeom>
          <a:solidFill>
            <a:srgbClr val="10B981"/>
          </a:solidFill>
          <a:ln/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2801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Hook Events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5029200" cy="204825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sessionStart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agent session begins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preToolUse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 tool executes (can block!)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postToolUse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 tool completes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userPromptSubmitted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user sends a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agentStop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agent finishes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errorOccurred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any error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760720" y="2468880"/>
            <a:ext cx="3017520" cy="256032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94360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Auto-Format Hook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28803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.github/hooks/format.json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[{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"event": "postToolUse",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 {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"bash": "npx prettier --write"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Auto-formats every file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agent modifies!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 Examples: Three Real Use Cases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RUN SHELL COMMANDS AUTOMATICALLY — NO HUMAN INTERVENTION NEEDED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379476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74320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on Save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format-hook.json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[{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"event": "postToolUse",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"steps": [{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"bash": "npx prettier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--write $FILE"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the agent edits a file, Prettier auto-formats it. No more manual formatting.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109728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743200" cy="379476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27432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Unsafe Operations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5544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security-gate.json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[{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"event": "preToolUse",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"steps": [{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"bash": "node scripts/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check-secrets.js"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Exit code 2 = BLOCK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tool from running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the agent can execute a tool. If it detects leaked secrets, it blocks the operation.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4343400"/>
            <a:ext cx="109728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051560"/>
            <a:ext cx="2606040" cy="3794760"/>
          </a:xfrm>
          <a:prstGeom prst="rect">
            <a:avLst/>
          </a:prstGeom>
          <a:solidFill>
            <a:srgbClr val="0F172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05156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188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Auto-Run Tests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15544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test-hook.json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[{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"event": "postToolUse",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"steps": [{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{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"bash": "npm test --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--related $FILE"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}]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Runs only the tests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related to changed files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3611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agent edit, the related test suite runs. Failures feed back to the agent.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4343400"/>
            <a:ext cx="10972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What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the overlaps between customization primitives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566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(Always 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coding standards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all interactions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(via /)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repeatable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tasks on demand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(via @)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Summon domain experts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specialized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(Auto-loaded)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AI with external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 and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(Lifecycle)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shell commands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lifecycle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5312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4389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Instructions = what Copilot always does.  Prompts = what you trigger.  Agents = who Copilot becomes.  Skills = what it can do.  Hooks = what runs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Study: Building the Repo Analyzer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pillars working in harmony — near-zero repetitive prompting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60020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16002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@ArcadeAppBuilder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325880" cy="32004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57400" y="1280160"/>
            <a:ext cx="160020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1280160"/>
            <a:ext cx="16002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5740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5740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+ WCAG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auto-enforced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3200400"/>
            <a:ext cx="1325880" cy="32004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94760" y="1280160"/>
            <a:ext cx="160020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94760" y="1280160"/>
            <a:ext cx="16002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9476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9476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/simplify removes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31920" y="3200400"/>
            <a:ext cx="1325880" cy="32004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0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File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9496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532120" y="1280160"/>
            <a:ext cx="160020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1280160"/>
            <a:ext cx="16002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3212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update-readme skill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changes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3200400"/>
            <a:ext cx="1325880" cy="320040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0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269480" y="1280160"/>
            <a:ext cx="160020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69480" y="1280160"/>
            <a:ext cx="1600200" cy="5029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>
          <a:xfrm>
            <a:off x="726948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6948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6948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post_tool_use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Prettier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0" y="3200400"/>
            <a:ext cx="1325880" cy="320040"/>
          </a:xfrm>
          <a:prstGeom prst="rect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3200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320040" cy="32004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097280" y="41148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developer only typed the feature request. The system handled architecture, style, documentation, and formatting autonomously.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the Five Pillars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MEMORY  •  MCP SERVERS  •  /CREATE SHORTCUT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554480"/>
            <a:ext cx="640080" cy="64008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645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Memory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GitHub-hosted memory that captures repository-specific insights across Copilot surfaces. Shared across coding agent, code review, and CLI.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2801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7472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connects Copilot to external services — databases, APIs, internal tools. Add via settings.json or .vscode/mcp.json.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28016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4"/>
          <p:cNvSpPr/>
          <p:nvPr/>
        </p:nvSpPr>
        <p:spPr>
          <a:xfrm>
            <a:off x="7086600" y="1554480"/>
            <a:ext cx="640080" cy="64008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645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/create Shortcut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09360" y="2743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/create in Copilot chat to instantly generate any customization file — instructions, prompts, agents, or skills. Zero boilerplate.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914400"/>
            <a:ext cx="54864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914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00584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Cloud-Native Coding Agent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coding agent that runs tasks independently in cloud sandboxes,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multi-step engineering work, and produces verifiable pull requests.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3200400"/>
            <a:ext cx="228600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2M+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3200400"/>
            <a:ext cx="228600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56616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Surfaces: App,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IDE, Web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200400"/>
            <a:ext cx="228600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GPT-5.4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12648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(March 2026)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Codex: Key Capabilities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Sandboxes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runs in an isolated environment preloaded with your repo. No local resources consumed.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40233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058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Plugins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Codex with bundled instructions, scripts, and 90+ plugins (Jira, CircleCI, GitLab, etc.).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286000"/>
            <a:ext cx="54864" cy="109728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4688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8872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works unprompted — issue triage, CI monitoring, PR landing. Scheduled and triggered.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286000"/>
            <a:ext cx="40233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28600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4688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preferences, corrections, and context from previous sessions across projects.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" y="356616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7490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Output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18872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terminal logs, test results, and citations. Every action traceable before merging.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754880" y="3566160"/>
            <a:ext cx="402336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754880" y="3566160"/>
            <a:ext cx="54864" cy="109728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74904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8640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Parallel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548640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manages multiple agents on isolated worktrees. Explore different paths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vs. OpenAI Codex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tools, not competitors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657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Codex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coding assistance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your 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task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cloud sandboxes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Code, JetBrains, Xcode,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app, CLI,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web, IDE extension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completions, chat,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task → review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merge 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Instructions, Prompts,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Agents, Skills, Hooks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AGENTS.md, Skills,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Plugins, Automations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in your editor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sandbox per 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(isolated container)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pair-programming,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review, refactoring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tasks, bug fixes,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scaffolding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 in 30 Minutes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AGENTIC WORKFLOW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Customizations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Chat: Open Customizations from the VS Code Command Palette (Ctrl+Shift+P).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4114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560320"/>
            <a:ext cx="5029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Instructions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/create-instructions or manually create .github/copilot-instructions.md with your team standards.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114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794760"/>
            <a:ext cx="5029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Prompt File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.github/prompts/simplify.prompt.md — your first reusable code cleanup template.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325880"/>
            <a:ext cx="5029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 Agent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.github/agents/reviewer.agent.md with security review focus and restricted tool set.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423160"/>
            <a:ext cx="4114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2560320"/>
            <a:ext cx="5029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778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Hook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.github/hooks/format.json with a postToolUse event that runs your formatter automatically.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657600"/>
            <a:ext cx="41148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3794760"/>
            <a:ext cx="5029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Pipeline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7784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@reviewer on a file, then /simplify, and watch the hook auto-format. Zero manual effort.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731520" y="105156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1051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repeating context — engineer it once with Custom Instructions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1645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complex tasks into reusable Prompt Files (/) and specialized Agents (@)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3172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71600" y="2240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capabilities with Skills and enforce standards with Hooks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31520" y="283464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for real-time pair programming, Codex for async background tasks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731520" y="342900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044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3429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files are code — commit them to your repo and share with your team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71600" y="4023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small: one instruction file → one prompt → one hook. Iterate from there.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4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VS Code  →  Ctrl+Shift+P  →  Chat: Open Customizations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Copilot Customization Docs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937760" y="1005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code.visualstudio.com/docs/copilot/customization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Awesome GitHub Copilot Customizations Repo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937760" y="1600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github.com/microsoft/awesome-copilot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Agents Documentation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937760" y="2194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code.visualstudio.com/docs/copilot/concepts/agents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803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 Product Page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937760" y="2788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openai.com/codex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 CLI (Open Source)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493776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github.com/openai/codex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908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 Developer Docs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4937760" y="3977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developers.openai.com/codex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repeating yourself. Start engineering.  →  /create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3022</Words>
  <Application>Microsoft Macintosh PowerPoint</Application>
  <PresentationFormat>On-screen Show (16:9)</PresentationFormat>
  <Paragraphs>646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Vibe Coding to Agentic Engineering</dc:title>
  <dc:subject>PptxGenJS Presentation</dc:subject>
  <dc:creator>Developer Advocacy</dc:creator>
  <cp:lastModifiedBy>SYED RAZA</cp:lastModifiedBy>
  <cp:revision>2</cp:revision>
  <dcterms:created xsi:type="dcterms:W3CDTF">2026-05-09T02:32:15Z</dcterms:created>
  <dcterms:modified xsi:type="dcterms:W3CDTF">2026-05-09T03:29:24Z</dcterms:modified>
</cp:coreProperties>
</file>