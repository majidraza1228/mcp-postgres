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everyone. GitHub Copilot just flipped to usage-based billing and now every token you burn costs real money. In this presentation we cover 10 practical ways to save tokens with before and after examples for every single tip. Tips range from one-time config changes that save money forever to daily habits that compound over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Output tokens cost five times more than input tokens under GitHub Copilot's new usage-based billing model. By adding just one instruction to your copilot.instructions.mmd file — 'code only, no explanation' — you can reduce output by 40 to 70% on every code task. Set it once and it saves on every single call forever.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Tip 1: Add 'code only, no explanation' to your copilot.instructions.mmd. This single tip alone can cut your monthly bill significantly.
Tip 3: The copilot instructions file is injected into EVERY single request. If your team has 10 developers each making 100 requests per day with a 60-line instructions file, you're paying for those 60 lines 1,000 times per day. Strip it to essentials and keep it under 20 lines.
Tip 4: Without file-specific scoping, all instruction rules load for every file type. Your Playwright test rules load when editing SQL. Your Python rules load when working on TypeScript. Use 'apply to' front matter to fix this.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Tip 5: GitHub Copilot automatically includes the content of nearby open files as context in your requests. If you have 15 tabs open — config files, old logs, database schemas, half-finished scripts — all of that is being sent as input tokens with every prompt whether you want it or not. Keep a maximum of 5 tabs open.
Tip 7: Stop pasting entire files into Copilot chat. A 500-line file is roughly 2,000 input tokens just for context — the vast majority completely irrelevant to your question. Use hash file references or highlight only the relevant block.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Tip 2: Developers often write prompts like they're composing a professional email — polite, detailed, with full context sentences. But the model doesn't need any of that ceremony. Switching to compressed directive prompts can reduce input tokens by 30 to 50%. Every unnecessary word in your prompt is money left on the table.
Tip 9: Every single message you send in a chat thread causes Copilot to resend the entire conversation history to the model. Your first message costs one unit. Your 10th costs roughly 10 units of context for the same amount of useful new content. Use Ctrl+L in VS Code to start a new chat — it is your zero-cost token reset button.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Tip 6: Under usage-based billing, different models have dramatically different costs per token. Using Claude Opus or GPT-5 for a simple variable rename is genuine, measurable waste. Think of models as having tiers — use the lightest model that can reliably do the job.
Tip 8: Agent mode is powerful but comes with significant token overhead. It loads tool definitions, workspace context, and replays the full conversation on every step. For a simple question like 'What does this function do?' you're potentially paying 10 times more than necessary. If your question fits in a single response, use Ask mode.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Tip 10: You cannot optimize what you don't measure. GitHub now shows real-time AI credit consumption for every user and every organization under the new usage-based billing model. Individual developers can track their credit burn versus their monthly allotment. Organization admins can set per-user budgets and block access once a limit is hit. If you've never looked at this page, open it right now — you might be surprised by what you find.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key distinction: the .github/copilot-instructions.md file is your GLOBAL instruction file — it is injected into every single request Copilot makes, regardless of context. This is why keeping it short is critical to saving tokens.
Skills (.github/skills/*.md) are modular, task-specific files that the agent loads ON DEMAND using a progressive disclosure strategy. The LLM reads a primary skill file, identifies keywords or patterns in the user prompt, and only then fetches the relevant supplementary file. This 'lazy loading' means you only pay for what's actually needed.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instruction file's token cost is a multiplier, not a flat fee. Every line you add gets charged on every single request by every team member forever. A 60-line file across 10 developers making 100 requests a day means you're paying for 60,000 lines of boilerplate daily.
The solution is progressive disclosure: keep the main instruction file under 20 lines of absolute essentials, and move specific domain knowledge into skill files that only load when triggered. Skills use a 'baby step' approach — the LLM reads a primary skill file, identifies keywords, and only fetches supplementary files when needed. You only pay for what's actually used.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GitHub Copilot supports 3 distinct instruction layers:
Layer 1 — copilot-instructions.md: ONE file, always loaded on every single request. Most expensive layer. Only put things here that apply globally to every file, every task, every developer.
Layer 2 — .github/instructions/*.instructions.md: Multiple files, each scoped with an 'applyTo' glob. Copilot automatically injects python.instructions.md when editing .py files, react.instructions.md when editing .tsx. You pay only for the rules relevant to the current file.
Layer 3 — .github/prompts/*.prompt.md (Skills): Most granular. Only fetched when the agent identifies a trigger keyword. Progressive disclosure — you only pay for what's actually needed for the current task.
The golden rule: every line you put in Layer 1 is charged on every request. Every line in Layer 2 is charged only when that file type is open. Every line in Layer 3 is charged only when explicitly invoked.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decision flow every time you're tempted to add a new rule anywhere.
Q1: Is it needed on every request for every file? → Layer 1. Keep this list very short: 'code only', language stack, maybe one or two universal conventions.
Q2: Is it specific to a file type or folder? → Layer 2 scoped instruction file. Create python.instructions.md for Python rules, react.instructions.md for React patterns, sql.instructions.md for query formatting.
Q3: Is it a complex workflow or rarely invoked? → Layer 3 skill/prompt file. These are your playbooks — PR review, security audit, deployment checklist.
If it doesn't clearly fit any of the three layers, skip it. Don't add it. Every line you add is a recurring token cost.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what instruction creep looks like in the real world. A file that started as 5 lines gets contributions from multiple team members, LLM-generated boilerplate, and rules for every language in the project — regardless of what file is being edited.
The fix: keep the main file under 20 lines of absolute universals. Move language-specific rules to scoped instruction files in the /instructions/ folder. The lean version shown here achieves an 87% token reduction for the same global rules.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table shows the real compounding effect of bad habits vs optimization for the exact same task — generating a debounce utility function.
Each factor multiplies the others. A verbose prompt in an Agent mode session with 12 open tabs and a 68-line instruction file doesn't just add the costs — it multiplies them. The optimized workflow achieves over 90% token reduction for identical output quality.
Key insight: no single tip gives you 90% — but combining all five hygiene habits does.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reference slide shows exactly where every file lives in your project and the key VS Code settings that control Copilot behavior.
Key settings to know:
- 'useInstructionFiles': must be true for .github/copilot-instructions.md and scoped instruction files to be picked up.
- 'selectedCompletionModel': lets you set a default lighter model for inline completions.
- 'github.copilot.enable': lets you disable Copilot entirely for certain file patterns (e.g., test files or generated files you don't want it touching).
- 'chat.promptFiles': must be true to enable skill/prompt files in .github/prompts/.
Share this slide with any developer setting up Copilot on a new project.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screenshot-and-keep cheat sheet. Share it with your team as a quick reference.
One-Time Setup: The things you configure once per repo that save money forever.
Every Session: The habits that need to become muscle memory.
Ongoing Hygiene: The periodic reviews that prevent cost drift.
The bottom strip summarizes the 5 core cost relationships every developer should internalize.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Your immediate action plan from the video:
Do these TODAY: Add the 'code only' instruction to your settings file. Trim that instructions file to under 20 lines. Close your unused editor tabs.
This WEEK: Add 'apply to' scoping. Switch to Ask mode for simple questions. Start using Ctrl+L for new tasks.
ONGOING: Check your usage dashboard weekly and audit your settings monthly. If you found this valuable, like and subscribe for more content from the QA Automation Alchemist channel.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Summary: Strategic token management is now a financial engineering discipline. The highest-impact changes are: (1) Control output first — it costs 5× more. (2) Keep your instruction file ruthlessly lean — it's a cost multiplier on every request. (3) Use skills for domain logic — they load only when triggered. (4) Terse prompts, fresh chats, right model for the task. Measure everything with the GitHub dashboard.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7315200" y="-731520"/>
            <a:ext cx="3200400" cy="3200400"/>
          </a:xfrm>
          <a:prstGeom prst="ellipse">
            <a:avLst/>
          </a:prstGeom>
          <a:solidFill>
            <a:srgbClr val="00C2CC">
              <a:alpha val="18000"/>
            </a:srgbClr>
          </a:solidFill>
          <a:ln w="12700">
            <a:solidFill>
              <a:srgbClr val="00C2CC">
                <a:alpha val="18000"/>
              </a:srgbClr>
            </a:solidFill>
            <a:prstDash val="solid"/>
          </a:ln>
        </p:spPr>
      </p:sp>
      <p:sp>
        <p:nvSpPr>
          <p:cNvPr id="3" name="Shape 1"/>
          <p:cNvSpPr/>
          <p:nvPr/>
        </p:nvSpPr>
        <p:spPr>
          <a:xfrm>
            <a:off x="-457200" y="3474720"/>
            <a:ext cx="2286000" cy="2286000"/>
          </a:xfrm>
          <a:prstGeom prst="ellipse">
            <a:avLst/>
          </a:prstGeom>
          <a:solidFill>
            <a:srgbClr val="008C94">
              <a:alpha val="22000"/>
            </a:srgbClr>
          </a:solidFill>
          <a:ln w="12700">
            <a:solidFill>
              <a:srgbClr val="008C94">
                <a:alpha val="22000"/>
              </a:srgbClr>
            </a:solidFill>
            <a:prstDash val="solid"/>
          </a:ln>
        </p:spPr>
      </p:sp>
      <p:sp>
        <p:nvSpPr>
          <p:cNvPr id="4" name="Shape 2"/>
          <p:cNvSpPr/>
          <p:nvPr/>
        </p:nvSpPr>
        <p:spPr>
          <a:xfrm>
            <a:off x="548640" y="914400"/>
            <a:ext cx="2377440" cy="347472"/>
          </a:xfrm>
          <a:prstGeom prst="roundRect">
            <a:avLst>
              <a:gd name="adj" fmla="val 21053"/>
            </a:avLst>
          </a:prstGeom>
          <a:solidFill>
            <a:srgbClr val="00C2CC"/>
          </a:solidFill>
          <a:ln w="12700">
            <a:solidFill>
              <a:srgbClr val="00C2CC"/>
            </a:solidFill>
            <a:prstDash val="solid"/>
          </a:ln>
        </p:spPr>
      </p:sp>
      <p:sp>
        <p:nvSpPr>
          <p:cNvPr id="5" name="Text 3"/>
          <p:cNvSpPr/>
          <p:nvPr/>
        </p:nvSpPr>
        <p:spPr>
          <a:xfrm>
            <a:off x="548640" y="914400"/>
            <a:ext cx="2377440" cy="347472"/>
          </a:xfrm>
          <a:prstGeom prst="rect">
            <a:avLst/>
          </a:prstGeom>
          <a:noFill/>
          <a:ln/>
        </p:spPr>
        <p:txBody>
          <a:bodyPr wrap="square" lIns="0" tIns="0" rIns="0" bIns="0" rtlCol="0" anchor="ctr"/>
          <a:lstStyle/>
          <a:p>
            <a:pPr algn="ctr" indent="0" marL="0">
              <a:buNone/>
            </a:pPr>
            <a:r>
              <a:rPr lang="en-US" sz="900" b="1" dirty="0">
                <a:solidFill>
                  <a:srgbClr val="0D1B2A"/>
                </a:solidFill>
              </a:rPr>
              <a:t>COST OPTIMIZATION</a:t>
            </a:r>
            <a:endParaRPr lang="en-US" sz="900" dirty="0"/>
          </a:p>
        </p:txBody>
      </p:sp>
      <p:sp>
        <p:nvSpPr>
          <p:cNvPr id="6" name="Text 4"/>
          <p:cNvSpPr/>
          <p:nvPr/>
        </p:nvSpPr>
        <p:spPr>
          <a:xfrm>
            <a:off x="548640" y="1417320"/>
            <a:ext cx="7772400" cy="1737360"/>
          </a:xfrm>
          <a:prstGeom prst="rect">
            <a:avLst/>
          </a:prstGeom>
          <a:noFill/>
          <a:ln/>
        </p:spPr>
        <p:txBody>
          <a:bodyPr wrap="square" rtlCol="0" anchor="ctr"/>
          <a:lstStyle/>
          <a:p>
            <a:pPr indent="0" marL="0">
              <a:buNone/>
            </a:pPr>
            <a:r>
              <a:rPr lang="en-US" sz="5200" b="1" spc="-100" kern="0" dirty="0">
                <a:solidFill>
                  <a:srgbClr val="FFFFFF"/>
                </a:solidFill>
                <a:latin typeface="Cambria" pitchFamily="34" charset="0"/>
                <a:ea typeface="Cambria" pitchFamily="34" charset="-122"/>
                <a:cs typeface="Cambria" pitchFamily="34" charset="-120"/>
              </a:rPr>
              <a:t>Strategic Token</a:t>
            </a:r>
            <a:endParaRPr lang="en-US" sz="5200" dirty="0"/>
          </a:p>
          <a:p>
            <a:pPr indent="0" marL="0">
              <a:buNone/>
            </a:pPr>
            <a:r>
              <a:rPr lang="en-US" sz="5200" b="1" spc="-100" kern="0" dirty="0">
                <a:solidFill>
                  <a:srgbClr val="FFFFFF"/>
                </a:solidFill>
                <a:latin typeface="Cambria" pitchFamily="34" charset="0"/>
                <a:ea typeface="Cambria" pitchFamily="34" charset="-122"/>
                <a:cs typeface="Cambria" pitchFamily="34" charset="-120"/>
              </a:rPr>
              <a:t>Optimization</a:t>
            </a:r>
            <a:endParaRPr lang="en-US" sz="5200" dirty="0"/>
          </a:p>
        </p:txBody>
      </p:sp>
      <p:sp>
        <p:nvSpPr>
          <p:cNvPr id="7" name="Text 5"/>
          <p:cNvSpPr/>
          <p:nvPr/>
        </p:nvSpPr>
        <p:spPr>
          <a:xfrm>
            <a:off x="548640" y="3200400"/>
            <a:ext cx="7772400" cy="548640"/>
          </a:xfrm>
          <a:prstGeom prst="rect">
            <a:avLst/>
          </a:prstGeom>
          <a:noFill/>
          <a:ln/>
        </p:spPr>
        <p:txBody>
          <a:bodyPr wrap="square" rtlCol="0" anchor="ctr"/>
          <a:lstStyle/>
          <a:p>
            <a:pPr indent="0" marL="0">
              <a:buNone/>
            </a:pPr>
            <a:r>
              <a:rPr lang="en-US" sz="2000" dirty="0">
                <a:solidFill>
                  <a:srgbClr val="00C2CC"/>
                </a:solidFill>
                <a:latin typeface="Calibri" pitchFamily="34" charset="0"/>
                <a:ea typeface="Calibri" pitchFamily="34" charset="-122"/>
                <a:cs typeface="Calibri" pitchFamily="34" charset="-120"/>
              </a:rPr>
              <a:t>for GitHub Copilot Usage-Based Billing</a:t>
            </a:r>
            <a:endParaRPr lang="en-US" sz="2000" dirty="0"/>
          </a:p>
        </p:txBody>
      </p:sp>
      <p:sp>
        <p:nvSpPr>
          <p:cNvPr id="8" name="Shape 6"/>
          <p:cNvSpPr/>
          <p:nvPr/>
        </p:nvSpPr>
        <p:spPr>
          <a:xfrm>
            <a:off x="548640" y="3886200"/>
            <a:ext cx="8046720" cy="0"/>
          </a:xfrm>
          <a:prstGeom prst="line">
            <a:avLst/>
          </a:prstGeom>
          <a:noFill/>
          <a:ln w="19050">
            <a:solidFill>
              <a:srgbClr val="1A2E45"/>
            </a:solidFill>
            <a:prstDash val="solid"/>
          </a:ln>
        </p:spPr>
      </p:sp>
      <p:sp>
        <p:nvSpPr>
          <p:cNvPr id="9" name="Text 7"/>
          <p:cNvSpPr/>
          <p:nvPr/>
        </p:nvSpPr>
        <p:spPr>
          <a:xfrm>
            <a:off x="548640" y="3977640"/>
            <a:ext cx="8046720" cy="640080"/>
          </a:xfrm>
          <a:prstGeom prst="rect">
            <a:avLst/>
          </a:prstGeom>
          <a:noFill/>
          <a:ln/>
        </p:spPr>
        <p:txBody>
          <a:bodyPr wrap="square" rtlCol="0" anchor="ctr"/>
          <a:lstStyle/>
          <a:p>
            <a:pPr indent="0" marL="0">
              <a:buNone/>
            </a:pPr>
            <a:r>
              <a:rPr lang="en-US" sz="1300" i="1" dirty="0">
                <a:solidFill>
                  <a:srgbClr val="8EAFC7"/>
                </a:solidFill>
                <a:latin typeface="Calibri" pitchFamily="34" charset="0"/>
                <a:ea typeface="Calibri" pitchFamily="34" charset="-122"/>
                <a:cs typeface="Calibri" pitchFamily="34" charset="-120"/>
              </a:rPr>
              <a:t>10 High-Impact Strategies to Reduce Token Costs While Maintaining Code Quality</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EFF6F7"/>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D1B2A"/>
          </a:solidFill>
          <a:ln w="12700">
            <a:solidFill>
              <a:srgbClr val="0D1B2A"/>
            </a:solidFill>
            <a:prstDash val="solid"/>
          </a:ln>
        </p:spPr>
      </p:sp>
      <p:sp>
        <p:nvSpPr>
          <p:cNvPr id="3" name="Text 1"/>
          <p:cNvSpPr/>
          <p:nvPr/>
        </p:nvSpPr>
        <p:spPr>
          <a:xfrm>
            <a:off x="457200" y="0"/>
            <a:ext cx="8229600" cy="822960"/>
          </a:xfrm>
          <a:prstGeom prst="rect">
            <a:avLst/>
          </a:prstGeom>
          <a:noFill/>
          <a:ln/>
        </p:spPr>
        <p:txBody>
          <a:bodyPr wrap="square" lIns="0" tIns="0" rIns="0" bIns="0" rtlCol="0" anchor="ctr"/>
          <a:lstStyle/>
          <a:p>
            <a:pPr indent="0" marL="0">
              <a:buNone/>
            </a:pPr>
            <a:r>
              <a:rPr lang="en-US" sz="2200" b="1" dirty="0">
                <a:solidFill>
                  <a:srgbClr val="FFFFFF"/>
                </a:solidFill>
                <a:latin typeface="Cambria" pitchFamily="34" charset="0"/>
                <a:ea typeface="Cambria" pitchFamily="34" charset="-122"/>
                <a:cs typeface="Cambria" pitchFamily="34" charset="-120"/>
              </a:rPr>
              <a:t>EXECUTIVE SUMMARY</a:t>
            </a:r>
            <a:endParaRPr lang="en-US" sz="2200" dirty="0"/>
          </a:p>
        </p:txBody>
      </p:sp>
      <p:sp>
        <p:nvSpPr>
          <p:cNvPr id="4" name="Shape 2"/>
          <p:cNvSpPr/>
          <p:nvPr/>
        </p:nvSpPr>
        <p:spPr>
          <a:xfrm>
            <a:off x="365760" y="960120"/>
            <a:ext cx="2606040" cy="1600200"/>
          </a:xfrm>
          <a:prstGeom prst="roundRect">
            <a:avLst>
              <a:gd name="adj" fmla="val 5714"/>
            </a:avLst>
          </a:prstGeom>
          <a:solidFill>
            <a:srgbClr val="FFFFFF"/>
          </a:solidFill>
          <a:ln w="12700">
            <a:solidFill>
              <a:srgbClr val="E2E8F0"/>
            </a:solidFill>
            <a:prstDash val="solid"/>
          </a:ln>
          <a:effectLst>
            <a:outerShdw sx="100000" sy="100000" kx="0" ky="0" algn="bl" rotWithShape="0" blurRad="101600" dist="38100" dir="2700000">
              <a:srgbClr val="000000">
                <a:alpha val="12000"/>
              </a:srgbClr>
            </a:outerShdw>
          </a:effectLst>
        </p:spPr>
      </p:sp>
      <p:sp>
        <p:nvSpPr>
          <p:cNvPr id="5" name="Text 3"/>
          <p:cNvSpPr/>
          <p:nvPr/>
        </p:nvSpPr>
        <p:spPr>
          <a:xfrm>
            <a:off x="365760" y="1051560"/>
            <a:ext cx="2606040" cy="777240"/>
          </a:xfrm>
          <a:prstGeom prst="rect">
            <a:avLst/>
          </a:prstGeom>
          <a:noFill/>
          <a:ln/>
        </p:spPr>
        <p:txBody>
          <a:bodyPr wrap="square" lIns="0" tIns="0" rIns="0" bIns="0" rtlCol="0" anchor="ctr"/>
          <a:lstStyle/>
          <a:p>
            <a:pPr algn="ctr" indent="0" marL="0">
              <a:buNone/>
            </a:pPr>
            <a:r>
              <a:rPr lang="en-US" sz="4400" b="1" dirty="0">
                <a:solidFill>
                  <a:srgbClr val="EF4444"/>
                </a:solidFill>
                <a:latin typeface="Cambria" pitchFamily="34" charset="0"/>
                <a:ea typeface="Cambria" pitchFamily="34" charset="-122"/>
                <a:cs typeface="Cambria" pitchFamily="34" charset="-120"/>
              </a:rPr>
              <a:t>5×</a:t>
            </a:r>
            <a:endParaRPr lang="en-US" sz="4400" dirty="0"/>
          </a:p>
        </p:txBody>
      </p:sp>
      <p:sp>
        <p:nvSpPr>
          <p:cNvPr id="6" name="Text 4"/>
          <p:cNvSpPr/>
          <p:nvPr/>
        </p:nvSpPr>
        <p:spPr>
          <a:xfrm>
            <a:off x="365760" y="1828800"/>
            <a:ext cx="2606040" cy="640080"/>
          </a:xfrm>
          <a:prstGeom prst="rect">
            <a:avLst/>
          </a:prstGeom>
          <a:noFill/>
          <a:ln/>
        </p:spPr>
        <p:txBody>
          <a:bodyPr wrap="square" lIns="0" tIns="0" rIns="0" bIns="0" rtlCol="0" anchor="ctr"/>
          <a:lstStyle/>
          <a:p>
            <a:pPr algn="ctr" indent="0" marL="0">
              <a:buNone/>
            </a:pPr>
            <a:r>
              <a:rPr lang="en-US" sz="1100" dirty="0">
                <a:solidFill>
                  <a:srgbClr val="64748B"/>
                </a:solidFill>
                <a:latin typeface="Calibri" pitchFamily="34" charset="0"/>
                <a:ea typeface="Calibri" pitchFamily="34" charset="-122"/>
                <a:cs typeface="Calibri" pitchFamily="34" charset="-120"/>
              </a:rPr>
              <a:t>Output tokens cost</a:t>
            </a:r>
            <a:endParaRPr lang="en-US" sz="1100" dirty="0"/>
          </a:p>
          <a:p>
            <a:pPr algn="ctr" indent="0" marL="0">
              <a:buNone/>
            </a:pPr>
            <a:r>
              <a:rPr lang="en-US" sz="1100" dirty="0">
                <a:solidFill>
                  <a:srgbClr val="64748B"/>
                </a:solidFill>
                <a:latin typeface="Calibri" pitchFamily="34" charset="0"/>
                <a:ea typeface="Calibri" pitchFamily="34" charset="-122"/>
                <a:cs typeface="Calibri" pitchFamily="34" charset="-120"/>
              </a:rPr>
              <a:t>more than input tokens</a:t>
            </a:r>
            <a:endParaRPr lang="en-US" sz="1100" dirty="0"/>
          </a:p>
        </p:txBody>
      </p:sp>
      <p:sp>
        <p:nvSpPr>
          <p:cNvPr id="7" name="Shape 5"/>
          <p:cNvSpPr/>
          <p:nvPr/>
        </p:nvSpPr>
        <p:spPr>
          <a:xfrm>
            <a:off x="3200400" y="960120"/>
            <a:ext cx="2606040" cy="1600200"/>
          </a:xfrm>
          <a:prstGeom prst="roundRect">
            <a:avLst>
              <a:gd name="adj" fmla="val 5714"/>
            </a:avLst>
          </a:prstGeom>
          <a:solidFill>
            <a:srgbClr val="FFFFFF"/>
          </a:solidFill>
          <a:ln w="12700">
            <a:solidFill>
              <a:srgbClr val="E2E8F0"/>
            </a:solidFill>
            <a:prstDash val="solid"/>
          </a:ln>
          <a:effectLst>
            <a:outerShdw sx="100000" sy="100000" kx="0" ky="0" algn="bl" rotWithShape="0" blurRad="101600" dist="38100" dir="2700000">
              <a:srgbClr val="000000">
                <a:alpha val="12000"/>
              </a:srgbClr>
            </a:outerShdw>
          </a:effectLst>
        </p:spPr>
      </p:sp>
      <p:sp>
        <p:nvSpPr>
          <p:cNvPr id="8" name="Text 6"/>
          <p:cNvSpPr/>
          <p:nvPr/>
        </p:nvSpPr>
        <p:spPr>
          <a:xfrm>
            <a:off x="3200400" y="1051560"/>
            <a:ext cx="2606040" cy="777240"/>
          </a:xfrm>
          <a:prstGeom prst="rect">
            <a:avLst/>
          </a:prstGeom>
          <a:noFill/>
          <a:ln/>
        </p:spPr>
        <p:txBody>
          <a:bodyPr wrap="square" lIns="0" tIns="0" rIns="0" bIns="0" rtlCol="0" anchor="ctr"/>
          <a:lstStyle/>
          <a:p>
            <a:pPr algn="ctr" indent="0" marL="0">
              <a:buNone/>
            </a:pPr>
            <a:r>
              <a:rPr lang="en-US" sz="4400" b="1" dirty="0">
                <a:solidFill>
                  <a:srgbClr val="008C94"/>
                </a:solidFill>
                <a:latin typeface="Cambria" pitchFamily="34" charset="0"/>
                <a:ea typeface="Cambria" pitchFamily="34" charset="-122"/>
                <a:cs typeface="Cambria" pitchFamily="34" charset="-120"/>
              </a:rPr>
              <a:t>70%</a:t>
            </a:r>
            <a:endParaRPr lang="en-US" sz="4400" dirty="0"/>
          </a:p>
        </p:txBody>
      </p:sp>
      <p:sp>
        <p:nvSpPr>
          <p:cNvPr id="9" name="Text 7"/>
          <p:cNvSpPr/>
          <p:nvPr/>
        </p:nvSpPr>
        <p:spPr>
          <a:xfrm>
            <a:off x="3200400" y="1828800"/>
            <a:ext cx="2606040" cy="640080"/>
          </a:xfrm>
          <a:prstGeom prst="rect">
            <a:avLst/>
          </a:prstGeom>
          <a:noFill/>
          <a:ln/>
        </p:spPr>
        <p:txBody>
          <a:bodyPr wrap="square" lIns="0" tIns="0" rIns="0" bIns="0" rtlCol="0" anchor="ctr"/>
          <a:lstStyle/>
          <a:p>
            <a:pPr algn="ctr" indent="0" marL="0">
              <a:buNone/>
            </a:pPr>
            <a:r>
              <a:rPr lang="en-US" sz="1100" dirty="0">
                <a:solidFill>
                  <a:srgbClr val="64748B"/>
                </a:solidFill>
                <a:latin typeface="Calibri" pitchFamily="34" charset="0"/>
                <a:ea typeface="Calibri" pitchFamily="34" charset="-122"/>
                <a:cs typeface="Calibri" pitchFamily="34" charset="-120"/>
              </a:rPr>
              <a:t>Max output reduction</a:t>
            </a:r>
            <a:endParaRPr lang="en-US" sz="1100" dirty="0"/>
          </a:p>
          <a:p>
            <a:pPr algn="ctr" indent="0" marL="0">
              <a:buNone/>
            </a:pPr>
            <a:r>
              <a:rPr lang="en-US" sz="1100" dirty="0">
                <a:solidFill>
                  <a:srgbClr val="64748B"/>
                </a:solidFill>
                <a:latin typeface="Calibri" pitchFamily="34" charset="0"/>
                <a:ea typeface="Calibri" pitchFamily="34" charset="-122"/>
                <a:cs typeface="Calibri" pitchFamily="34" charset="-120"/>
              </a:rPr>
              <a:t>with 'Code Only' directive</a:t>
            </a:r>
            <a:endParaRPr lang="en-US" sz="1100" dirty="0"/>
          </a:p>
        </p:txBody>
      </p:sp>
      <p:sp>
        <p:nvSpPr>
          <p:cNvPr id="10" name="Shape 8"/>
          <p:cNvSpPr/>
          <p:nvPr/>
        </p:nvSpPr>
        <p:spPr>
          <a:xfrm>
            <a:off x="6035040" y="960120"/>
            <a:ext cx="2606040" cy="1600200"/>
          </a:xfrm>
          <a:prstGeom prst="roundRect">
            <a:avLst>
              <a:gd name="adj" fmla="val 5714"/>
            </a:avLst>
          </a:prstGeom>
          <a:solidFill>
            <a:srgbClr val="FFFFFF"/>
          </a:solidFill>
          <a:ln w="12700">
            <a:solidFill>
              <a:srgbClr val="E2E8F0"/>
            </a:solidFill>
            <a:prstDash val="solid"/>
          </a:ln>
          <a:effectLst>
            <a:outerShdw sx="100000" sy="100000" kx="0" ky="0" algn="bl" rotWithShape="0" blurRad="101600" dist="38100" dir="2700000">
              <a:srgbClr val="000000">
                <a:alpha val="12000"/>
              </a:srgbClr>
            </a:outerShdw>
          </a:effectLst>
        </p:spPr>
      </p:sp>
      <p:sp>
        <p:nvSpPr>
          <p:cNvPr id="11" name="Text 9"/>
          <p:cNvSpPr/>
          <p:nvPr/>
        </p:nvSpPr>
        <p:spPr>
          <a:xfrm>
            <a:off x="6035040" y="1051560"/>
            <a:ext cx="2606040" cy="777240"/>
          </a:xfrm>
          <a:prstGeom prst="rect">
            <a:avLst/>
          </a:prstGeom>
          <a:noFill/>
          <a:ln/>
        </p:spPr>
        <p:txBody>
          <a:bodyPr wrap="square" lIns="0" tIns="0" rIns="0" bIns="0" rtlCol="0" anchor="ctr"/>
          <a:lstStyle/>
          <a:p>
            <a:pPr algn="ctr" indent="0" marL="0">
              <a:buNone/>
            </a:pPr>
            <a:r>
              <a:rPr lang="en-US" sz="4400" b="1" dirty="0">
                <a:solidFill>
                  <a:srgbClr val="F59E0B"/>
                </a:solidFill>
                <a:latin typeface="Cambria" pitchFamily="34" charset="0"/>
                <a:ea typeface="Cambria" pitchFamily="34" charset="-122"/>
                <a:cs typeface="Cambria" pitchFamily="34" charset="-120"/>
              </a:rPr>
              <a:t>50%</a:t>
            </a:r>
            <a:endParaRPr lang="en-US" sz="4400" dirty="0"/>
          </a:p>
        </p:txBody>
      </p:sp>
      <p:sp>
        <p:nvSpPr>
          <p:cNvPr id="12" name="Text 10"/>
          <p:cNvSpPr/>
          <p:nvPr/>
        </p:nvSpPr>
        <p:spPr>
          <a:xfrm>
            <a:off x="6035040" y="1828800"/>
            <a:ext cx="2606040" cy="640080"/>
          </a:xfrm>
          <a:prstGeom prst="rect">
            <a:avLst/>
          </a:prstGeom>
          <a:noFill/>
          <a:ln/>
        </p:spPr>
        <p:txBody>
          <a:bodyPr wrap="square" lIns="0" tIns="0" rIns="0" bIns="0" rtlCol="0" anchor="ctr"/>
          <a:lstStyle/>
          <a:p>
            <a:pPr algn="ctr" indent="0" marL="0">
              <a:buNone/>
            </a:pPr>
            <a:r>
              <a:rPr lang="en-US" sz="1100" dirty="0">
                <a:solidFill>
                  <a:srgbClr val="64748B"/>
                </a:solidFill>
                <a:latin typeface="Calibri" pitchFamily="34" charset="0"/>
                <a:ea typeface="Calibri" pitchFamily="34" charset="-122"/>
                <a:cs typeface="Calibri" pitchFamily="34" charset="-120"/>
              </a:rPr>
              <a:t>Max input reduction</a:t>
            </a:r>
            <a:endParaRPr lang="en-US" sz="1100" dirty="0"/>
          </a:p>
          <a:p>
            <a:pPr algn="ctr" indent="0" marL="0">
              <a:buNone/>
            </a:pPr>
            <a:r>
              <a:rPr lang="en-US" sz="1100" dirty="0">
                <a:solidFill>
                  <a:srgbClr val="64748B"/>
                </a:solidFill>
                <a:latin typeface="Calibri" pitchFamily="34" charset="0"/>
                <a:ea typeface="Calibri" pitchFamily="34" charset="-122"/>
                <a:cs typeface="Calibri" pitchFamily="34" charset="-120"/>
              </a:rPr>
              <a:t>with terse prompting</a:t>
            </a:r>
            <a:endParaRPr lang="en-US" sz="1100" dirty="0"/>
          </a:p>
        </p:txBody>
      </p:sp>
      <p:sp>
        <p:nvSpPr>
          <p:cNvPr id="13" name="Text 11"/>
          <p:cNvSpPr/>
          <p:nvPr/>
        </p:nvSpPr>
        <p:spPr>
          <a:xfrm>
            <a:off x="457200" y="2697480"/>
            <a:ext cx="8229600" cy="365760"/>
          </a:xfrm>
          <a:prstGeom prst="rect">
            <a:avLst/>
          </a:prstGeom>
          <a:noFill/>
          <a:ln/>
        </p:spPr>
        <p:txBody>
          <a:bodyPr wrap="square" rtlCol="0" anchor="ctr"/>
          <a:lstStyle/>
          <a:p>
            <a:pPr indent="0" marL="0">
              <a:buNone/>
            </a:pPr>
            <a:r>
              <a:rPr lang="en-US" sz="1500" b="1" dirty="0">
                <a:solidFill>
                  <a:srgbClr val="0D1B2A"/>
                </a:solidFill>
                <a:latin typeface="Cambria" pitchFamily="34" charset="0"/>
                <a:ea typeface="Cambria" pitchFamily="34" charset="-122"/>
                <a:cs typeface="Cambria" pitchFamily="34" charset="-120"/>
              </a:rPr>
              <a:t>The Critical Insight</a:t>
            </a:r>
            <a:endParaRPr lang="en-US" sz="1500" dirty="0"/>
          </a:p>
        </p:txBody>
      </p:sp>
      <p:sp>
        <p:nvSpPr>
          <p:cNvPr id="14" name="Text 12"/>
          <p:cNvSpPr/>
          <p:nvPr/>
        </p:nvSpPr>
        <p:spPr>
          <a:xfrm>
            <a:off x="457200" y="3063240"/>
            <a:ext cx="8229600" cy="822960"/>
          </a:xfrm>
          <a:prstGeom prst="rect">
            <a:avLst/>
          </a:prstGeom>
          <a:noFill/>
          <a:ln/>
        </p:spPr>
        <p:txBody>
          <a:bodyPr wrap="square" rtlCol="0" anchor="ctr"/>
          <a:lstStyle/>
          <a:p>
            <a:pPr indent="0" marL="0">
              <a:buNone/>
            </a:pPr>
            <a:r>
              <a:rPr lang="en-US" sz="1300" dirty="0">
                <a:solidFill>
                  <a:srgbClr val="64748B"/>
                </a:solidFill>
                <a:latin typeface="Calibri" pitchFamily="34" charset="0"/>
                <a:ea typeface="Calibri" pitchFamily="34" charset="-122"/>
                <a:cs typeface="Calibri" pitchFamily="34" charset="-120"/>
              </a:rPr>
              <a:t>With GitHub Copilot's transition to usage-based billing, token management is now a financial imperative. Structural changes to instruction files, terse prompting, and targeted model routing are the highest-leverage levers available.</a:t>
            </a:r>
            <a:endParaRPr lang="en-US" sz="1300" dirty="0"/>
          </a:p>
        </p:txBody>
      </p:sp>
      <p:sp>
        <p:nvSpPr>
          <p:cNvPr id="15" name="Shape 13"/>
          <p:cNvSpPr/>
          <p:nvPr/>
        </p:nvSpPr>
        <p:spPr>
          <a:xfrm>
            <a:off x="457200" y="3931920"/>
            <a:ext cx="8229600" cy="640080"/>
          </a:xfrm>
          <a:prstGeom prst="roundRect">
            <a:avLst>
              <a:gd name="adj" fmla="val 11429"/>
            </a:avLst>
          </a:prstGeom>
          <a:solidFill>
            <a:srgbClr val="00C2CC">
              <a:alpha val="12000"/>
            </a:srgbClr>
          </a:solidFill>
          <a:ln w="12700">
            <a:solidFill>
              <a:srgbClr val="00C2CC">
                <a:alpha val="40000"/>
              </a:srgbClr>
            </a:solidFill>
            <a:prstDash val="solid"/>
          </a:ln>
        </p:spPr>
      </p:sp>
      <p:sp>
        <p:nvSpPr>
          <p:cNvPr id="16" name="Text 14"/>
          <p:cNvSpPr/>
          <p:nvPr/>
        </p:nvSpPr>
        <p:spPr>
          <a:xfrm>
            <a:off x="457200" y="3931920"/>
            <a:ext cx="8229600" cy="640080"/>
          </a:xfrm>
          <a:prstGeom prst="rect">
            <a:avLst/>
          </a:prstGeom>
          <a:noFill/>
          <a:ln/>
        </p:spPr>
        <p:txBody>
          <a:bodyPr wrap="square" lIns="0" tIns="0" rIns="0" bIns="0" rtlCol="0" anchor="ctr"/>
          <a:lstStyle/>
          <a:p>
            <a:pPr algn="ctr" indent="0" marL="0">
              <a:buNone/>
            </a:pPr>
            <a:r>
              <a:rPr lang="en-US" sz="1200" b="1" dirty="0">
                <a:solidFill>
                  <a:srgbClr val="1A2E45"/>
                </a:solidFill>
                <a:latin typeface="Calibri" pitchFamily="34" charset="0"/>
                <a:ea typeface="Calibri" pitchFamily="34" charset="-122"/>
                <a:cs typeface="Calibri" pitchFamily="34" charset="-120"/>
              </a:rPr>
              <a:t>💡  Key Focus Areas: Output Control  ·  Context Management  ·  Terse Prompting  ·  Model Routing  ·  Governance</a:t>
            </a:r>
            <a:endParaRPr lang="en-US" sz="1200" dirty="0"/>
          </a:p>
        </p:txBody>
      </p:sp>
      <p:sp>
        <p:nvSpPr>
          <p:cNvPr id="17" name="Shape 15"/>
          <p:cNvSpPr/>
          <p:nvPr/>
        </p:nvSpPr>
        <p:spPr>
          <a:xfrm>
            <a:off x="0" y="4887468"/>
            <a:ext cx="1143000" cy="256032"/>
          </a:xfrm>
          <a:prstGeom prst="rect">
            <a:avLst/>
          </a:prstGeom>
          <a:solidFill>
            <a:srgbClr val="00C2CC"/>
          </a:solidFill>
          <a:ln w="12700">
            <a:solidFill>
              <a:srgbClr val="00C2CC"/>
            </a:solidFill>
            <a:prstDash val="solid"/>
          </a:ln>
        </p:spPr>
      </p:sp>
      <p:sp>
        <p:nvSpPr>
          <p:cNvPr id="18" name="Text 16"/>
          <p:cNvSpPr/>
          <p:nvPr/>
        </p:nvSpPr>
        <p:spPr>
          <a:xfrm>
            <a:off x="0" y="4887468"/>
            <a:ext cx="1143000" cy="256032"/>
          </a:xfrm>
          <a:prstGeom prst="rect">
            <a:avLst/>
          </a:prstGeom>
          <a:noFill/>
          <a:ln/>
        </p:spPr>
        <p:txBody>
          <a:bodyPr wrap="square" lIns="0" tIns="0" rIns="0" bIns="0" rtlCol="0" anchor="ctr"/>
          <a:lstStyle/>
          <a:p>
            <a:pPr algn="ctr" indent="0" marL="0">
              <a:buNone/>
            </a:pPr>
            <a:r>
              <a:rPr lang="en-US" sz="750" b="1" dirty="0">
                <a:solidFill>
                  <a:srgbClr val="0D1B2A"/>
                </a:solidFill>
                <a:latin typeface="Calibri" pitchFamily="34" charset="0"/>
                <a:ea typeface="Calibri" pitchFamily="34" charset="-122"/>
                <a:cs typeface="Calibri" pitchFamily="34" charset="-120"/>
              </a:rPr>
              <a:t>Overview</a:t>
            </a:r>
            <a:endParaRPr lang="en-US" sz="750" dirty="0"/>
          </a:p>
        </p:txBody>
      </p:sp>
      <p:sp>
        <p:nvSpPr>
          <p:cNvPr id="19" name="Shape 17"/>
          <p:cNvSpPr/>
          <p:nvPr/>
        </p:nvSpPr>
        <p:spPr>
          <a:xfrm>
            <a:off x="1143000" y="4887468"/>
            <a:ext cx="1143000" cy="256032"/>
          </a:xfrm>
          <a:prstGeom prst="rect">
            <a:avLst/>
          </a:prstGeom>
          <a:solidFill>
            <a:srgbClr val="1A2E45"/>
          </a:solidFill>
          <a:ln w="12700">
            <a:solidFill>
              <a:srgbClr val="1A2E45"/>
            </a:solidFill>
            <a:prstDash val="solid"/>
          </a:ln>
        </p:spPr>
      </p:sp>
      <p:sp>
        <p:nvSpPr>
          <p:cNvPr id="20" name="Text 18"/>
          <p:cNvSpPr/>
          <p:nvPr/>
        </p:nvSpPr>
        <p:spPr>
          <a:xfrm>
            <a:off x="1143000" y="4887468"/>
            <a:ext cx="1143000" cy="256032"/>
          </a:xfrm>
          <a:prstGeom prst="rect">
            <a:avLst/>
          </a:prstGeom>
          <a:noFill/>
          <a:ln/>
        </p:spPr>
        <p:txBody>
          <a:bodyPr wrap="square" lIns="0" tIns="0" rIns="0" bIns="0" rtlCol="0" anchor="ctr"/>
          <a:lstStyle/>
          <a:p>
            <a:pPr algn="ctr" indent="0" marL="0">
              <a:buNone/>
            </a:pPr>
            <a:r>
              <a:rPr lang="en-US" sz="750" dirty="0">
                <a:solidFill>
                  <a:srgbClr val="3A5068"/>
                </a:solidFill>
                <a:latin typeface="Calibri" pitchFamily="34" charset="0"/>
                <a:ea typeface="Calibri" pitchFamily="34" charset="-122"/>
                <a:cs typeface="Calibri" pitchFamily="34" charset="-120"/>
              </a:rPr>
              <a:t>Output Control</a:t>
            </a:r>
            <a:endParaRPr lang="en-US" sz="750" dirty="0"/>
          </a:p>
        </p:txBody>
      </p:sp>
      <p:sp>
        <p:nvSpPr>
          <p:cNvPr id="21" name="Shape 19"/>
          <p:cNvSpPr/>
          <p:nvPr/>
        </p:nvSpPr>
        <p:spPr>
          <a:xfrm>
            <a:off x="2286000" y="4887468"/>
            <a:ext cx="1143000" cy="256032"/>
          </a:xfrm>
          <a:prstGeom prst="rect">
            <a:avLst/>
          </a:prstGeom>
          <a:solidFill>
            <a:srgbClr val="1A2E45"/>
          </a:solidFill>
          <a:ln w="12700">
            <a:solidFill>
              <a:srgbClr val="1A2E45"/>
            </a:solidFill>
            <a:prstDash val="solid"/>
          </a:ln>
        </p:spPr>
      </p:sp>
      <p:sp>
        <p:nvSpPr>
          <p:cNvPr id="22" name="Text 20"/>
          <p:cNvSpPr/>
          <p:nvPr/>
        </p:nvSpPr>
        <p:spPr>
          <a:xfrm>
            <a:off x="2286000" y="4887468"/>
            <a:ext cx="1143000" cy="256032"/>
          </a:xfrm>
          <a:prstGeom prst="rect">
            <a:avLst/>
          </a:prstGeom>
          <a:noFill/>
          <a:ln/>
        </p:spPr>
        <p:txBody>
          <a:bodyPr wrap="square" lIns="0" tIns="0" rIns="0" bIns="0" rtlCol="0" anchor="ctr"/>
          <a:lstStyle/>
          <a:p>
            <a:pPr algn="ctr" indent="0" marL="0">
              <a:buNone/>
            </a:pPr>
            <a:r>
              <a:rPr lang="en-US" sz="750" dirty="0">
                <a:solidFill>
                  <a:srgbClr val="3A5068"/>
                </a:solidFill>
                <a:latin typeface="Calibri" pitchFamily="34" charset="0"/>
                <a:ea typeface="Calibri" pitchFamily="34" charset="-122"/>
                <a:cs typeface="Calibri" pitchFamily="34" charset="-120"/>
              </a:rPr>
              <a:t>Context &amp; Prompting</a:t>
            </a:r>
            <a:endParaRPr lang="en-US" sz="750" dirty="0"/>
          </a:p>
        </p:txBody>
      </p:sp>
      <p:sp>
        <p:nvSpPr>
          <p:cNvPr id="23" name="Shape 21"/>
          <p:cNvSpPr/>
          <p:nvPr/>
        </p:nvSpPr>
        <p:spPr>
          <a:xfrm>
            <a:off x="3429000" y="4887468"/>
            <a:ext cx="1143000" cy="256032"/>
          </a:xfrm>
          <a:prstGeom prst="rect">
            <a:avLst/>
          </a:prstGeom>
          <a:solidFill>
            <a:srgbClr val="1A2E45"/>
          </a:solidFill>
          <a:ln w="12700">
            <a:solidFill>
              <a:srgbClr val="1A2E45"/>
            </a:solidFill>
            <a:prstDash val="solid"/>
          </a:ln>
        </p:spPr>
      </p:sp>
      <p:sp>
        <p:nvSpPr>
          <p:cNvPr id="24" name="Text 22"/>
          <p:cNvSpPr/>
          <p:nvPr/>
        </p:nvSpPr>
        <p:spPr>
          <a:xfrm>
            <a:off x="3429000" y="4887468"/>
            <a:ext cx="1143000" cy="256032"/>
          </a:xfrm>
          <a:prstGeom prst="rect">
            <a:avLst/>
          </a:prstGeom>
          <a:noFill/>
          <a:ln/>
        </p:spPr>
        <p:txBody>
          <a:bodyPr wrap="square" lIns="0" tIns="0" rIns="0" bIns="0" rtlCol="0" anchor="ctr"/>
          <a:lstStyle/>
          <a:p>
            <a:pPr algn="ctr" indent="0" marL="0">
              <a:buNone/>
            </a:pPr>
            <a:r>
              <a:rPr lang="en-US" sz="750" dirty="0">
                <a:solidFill>
                  <a:srgbClr val="3A5068"/>
                </a:solidFill>
                <a:latin typeface="Calibri" pitchFamily="34" charset="0"/>
                <a:ea typeface="Calibri" pitchFamily="34" charset="-122"/>
                <a:cs typeface="Calibri" pitchFamily="34" charset="-120"/>
              </a:rPr>
              <a:t>Models &amp; Modes</a:t>
            </a:r>
            <a:endParaRPr lang="en-US" sz="750" dirty="0"/>
          </a:p>
        </p:txBody>
      </p:sp>
      <p:sp>
        <p:nvSpPr>
          <p:cNvPr id="25" name="Shape 23"/>
          <p:cNvSpPr/>
          <p:nvPr/>
        </p:nvSpPr>
        <p:spPr>
          <a:xfrm>
            <a:off x="4572000" y="4887468"/>
            <a:ext cx="1143000" cy="256032"/>
          </a:xfrm>
          <a:prstGeom prst="rect">
            <a:avLst/>
          </a:prstGeom>
          <a:solidFill>
            <a:srgbClr val="1A2E45"/>
          </a:solidFill>
          <a:ln w="12700">
            <a:solidFill>
              <a:srgbClr val="1A2E45"/>
            </a:solidFill>
            <a:prstDash val="solid"/>
          </a:ln>
        </p:spPr>
      </p:sp>
      <p:sp>
        <p:nvSpPr>
          <p:cNvPr id="26" name="Text 24"/>
          <p:cNvSpPr/>
          <p:nvPr/>
        </p:nvSpPr>
        <p:spPr>
          <a:xfrm>
            <a:off x="4572000" y="4887468"/>
            <a:ext cx="1143000" cy="256032"/>
          </a:xfrm>
          <a:prstGeom prst="rect">
            <a:avLst/>
          </a:prstGeom>
          <a:noFill/>
          <a:ln/>
        </p:spPr>
        <p:txBody>
          <a:bodyPr wrap="square" lIns="0" tIns="0" rIns="0" bIns="0" rtlCol="0" anchor="ctr"/>
          <a:lstStyle/>
          <a:p>
            <a:pPr algn="ctr" indent="0" marL="0">
              <a:buNone/>
            </a:pPr>
            <a:r>
              <a:rPr lang="en-US" sz="750" dirty="0">
                <a:solidFill>
                  <a:srgbClr val="3A5068"/>
                </a:solidFill>
                <a:latin typeface="Calibri" pitchFamily="34" charset="0"/>
                <a:ea typeface="Calibri" pitchFamily="34" charset="-122"/>
                <a:cs typeface="Calibri" pitchFamily="34" charset="-120"/>
              </a:rPr>
              <a:t>Governance</a:t>
            </a:r>
            <a:endParaRPr lang="en-US" sz="750" dirty="0"/>
          </a:p>
        </p:txBody>
      </p:sp>
      <p:sp>
        <p:nvSpPr>
          <p:cNvPr id="27" name="Shape 25"/>
          <p:cNvSpPr/>
          <p:nvPr/>
        </p:nvSpPr>
        <p:spPr>
          <a:xfrm>
            <a:off x="5715000" y="4887468"/>
            <a:ext cx="1143000" cy="256032"/>
          </a:xfrm>
          <a:prstGeom prst="rect">
            <a:avLst/>
          </a:prstGeom>
          <a:solidFill>
            <a:srgbClr val="1A2E45"/>
          </a:solidFill>
          <a:ln w="12700">
            <a:solidFill>
              <a:srgbClr val="1A2E45"/>
            </a:solidFill>
            <a:prstDash val="solid"/>
          </a:ln>
        </p:spPr>
      </p:sp>
      <p:sp>
        <p:nvSpPr>
          <p:cNvPr id="28" name="Text 26"/>
          <p:cNvSpPr/>
          <p:nvPr/>
        </p:nvSpPr>
        <p:spPr>
          <a:xfrm>
            <a:off x="5715000" y="4887468"/>
            <a:ext cx="1143000" cy="256032"/>
          </a:xfrm>
          <a:prstGeom prst="rect">
            <a:avLst/>
          </a:prstGeom>
          <a:noFill/>
          <a:ln/>
        </p:spPr>
        <p:txBody>
          <a:bodyPr wrap="square" lIns="0" tIns="0" rIns="0" bIns="0" rtlCol="0" anchor="ctr"/>
          <a:lstStyle/>
          <a:p>
            <a:pPr algn="ctr" indent="0" marL="0">
              <a:buNone/>
            </a:pPr>
            <a:r>
              <a:rPr lang="en-US" sz="750" dirty="0">
                <a:solidFill>
                  <a:srgbClr val="3A5068"/>
                </a:solidFill>
                <a:latin typeface="Calibri" pitchFamily="34" charset="0"/>
                <a:ea typeface="Calibri" pitchFamily="34" charset="-122"/>
                <a:cs typeface="Calibri" pitchFamily="34" charset="-120"/>
              </a:rPr>
              <a:t>Architecture</a:t>
            </a:r>
            <a:endParaRPr lang="en-US" sz="750" dirty="0"/>
          </a:p>
        </p:txBody>
      </p:sp>
      <p:sp>
        <p:nvSpPr>
          <p:cNvPr id="29" name="Shape 27"/>
          <p:cNvSpPr/>
          <p:nvPr/>
        </p:nvSpPr>
        <p:spPr>
          <a:xfrm>
            <a:off x="6858000" y="4887468"/>
            <a:ext cx="1143000" cy="256032"/>
          </a:xfrm>
          <a:prstGeom prst="rect">
            <a:avLst/>
          </a:prstGeom>
          <a:solidFill>
            <a:srgbClr val="1A2E45"/>
          </a:solidFill>
          <a:ln w="12700">
            <a:solidFill>
              <a:srgbClr val="1A2E45"/>
            </a:solidFill>
            <a:prstDash val="solid"/>
          </a:ln>
        </p:spPr>
      </p:sp>
      <p:sp>
        <p:nvSpPr>
          <p:cNvPr id="30" name="Text 28"/>
          <p:cNvSpPr/>
          <p:nvPr/>
        </p:nvSpPr>
        <p:spPr>
          <a:xfrm>
            <a:off x="6858000" y="4887468"/>
            <a:ext cx="1143000" cy="256032"/>
          </a:xfrm>
          <a:prstGeom prst="rect">
            <a:avLst/>
          </a:prstGeom>
          <a:noFill/>
          <a:ln/>
        </p:spPr>
        <p:txBody>
          <a:bodyPr wrap="square" lIns="0" tIns="0" rIns="0" bIns="0" rtlCol="0" anchor="ctr"/>
          <a:lstStyle/>
          <a:p>
            <a:pPr algn="ctr" indent="0" marL="0">
              <a:buNone/>
            </a:pPr>
            <a:r>
              <a:rPr lang="en-US" sz="750" dirty="0">
                <a:solidFill>
                  <a:srgbClr val="3A5068"/>
                </a:solidFill>
                <a:latin typeface="Calibri" pitchFamily="34" charset="0"/>
                <a:ea typeface="Calibri" pitchFamily="34" charset="-122"/>
                <a:cs typeface="Calibri" pitchFamily="34" charset="-120"/>
              </a:rPr>
              <a:t>Best Practices</a:t>
            </a:r>
            <a:endParaRPr lang="en-US" sz="750" dirty="0"/>
          </a:p>
        </p:txBody>
      </p:sp>
      <p:sp>
        <p:nvSpPr>
          <p:cNvPr id="31" name="Shape 29"/>
          <p:cNvSpPr/>
          <p:nvPr/>
        </p:nvSpPr>
        <p:spPr>
          <a:xfrm>
            <a:off x="8001000" y="4887468"/>
            <a:ext cx="1143000" cy="256032"/>
          </a:xfrm>
          <a:prstGeom prst="rect">
            <a:avLst/>
          </a:prstGeom>
          <a:solidFill>
            <a:srgbClr val="1A2E45"/>
          </a:solidFill>
          <a:ln w="12700">
            <a:solidFill>
              <a:srgbClr val="1A2E45"/>
            </a:solidFill>
            <a:prstDash val="solid"/>
          </a:ln>
        </p:spPr>
      </p:sp>
      <p:sp>
        <p:nvSpPr>
          <p:cNvPr id="32" name="Text 30"/>
          <p:cNvSpPr/>
          <p:nvPr/>
        </p:nvSpPr>
        <p:spPr>
          <a:xfrm>
            <a:off x="8001000" y="4887468"/>
            <a:ext cx="1143000" cy="256032"/>
          </a:xfrm>
          <a:prstGeom prst="rect">
            <a:avLst/>
          </a:prstGeom>
          <a:noFill/>
          <a:ln/>
        </p:spPr>
        <p:txBody>
          <a:bodyPr wrap="square" lIns="0" tIns="0" rIns="0" bIns="0" rtlCol="0" anchor="ctr"/>
          <a:lstStyle/>
          <a:p>
            <a:pPr algn="ctr" indent="0" marL="0">
              <a:buNone/>
            </a:pPr>
            <a:r>
              <a:rPr lang="en-US" sz="750" dirty="0">
                <a:solidFill>
                  <a:srgbClr val="3A5068"/>
                </a:solidFill>
                <a:latin typeface="Calibri" pitchFamily="34" charset="0"/>
                <a:ea typeface="Calibri" pitchFamily="34" charset="-122"/>
                <a:cs typeface="Calibri" pitchFamily="34" charset="-120"/>
              </a:rPr>
              <a:t>Reference</a:t>
            </a:r>
            <a:endParaRPr lang="en-US" sz="7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1A2E45"/>
          </a:solidFill>
          <a:ln w="12700">
            <a:solidFill>
              <a:srgbClr val="1A2E45"/>
            </a:solidFill>
            <a:prstDash val="solid"/>
          </a:ln>
        </p:spPr>
      </p:sp>
      <p:sp>
        <p:nvSpPr>
          <p:cNvPr id="3" name="Text 1"/>
          <p:cNvSpPr/>
          <p:nvPr/>
        </p:nvSpPr>
        <p:spPr>
          <a:xfrm>
            <a:off x="457200" y="0"/>
            <a:ext cx="8229600" cy="822960"/>
          </a:xfrm>
          <a:prstGeom prst="rect">
            <a:avLst/>
          </a:prstGeom>
          <a:noFill/>
          <a:ln/>
        </p:spPr>
        <p:txBody>
          <a:bodyPr wrap="square" lIns="0" tIns="0" rIns="0" bIns="0" rtlCol="0" anchor="ctr"/>
          <a:lstStyle/>
          <a:p>
            <a:pPr indent="0" marL="0">
              <a:buNone/>
            </a:pPr>
            <a:r>
              <a:rPr lang="en-US" sz="2000" b="1" dirty="0">
                <a:solidFill>
                  <a:srgbClr val="FFFFFF"/>
                </a:solidFill>
                <a:latin typeface="Cambria" pitchFamily="34" charset="0"/>
                <a:ea typeface="Cambria" pitchFamily="34" charset="-122"/>
                <a:cs typeface="Cambria" pitchFamily="34" charset="-120"/>
              </a:rPr>
              <a:t>01  ·  High-Impact Output Control</a:t>
            </a:r>
            <a:endParaRPr lang="en-US" sz="2000" dirty="0"/>
          </a:p>
        </p:txBody>
      </p:sp>
      <p:sp>
        <p:nvSpPr>
          <p:cNvPr id="4" name="Text 2"/>
          <p:cNvSpPr/>
          <p:nvPr/>
        </p:nvSpPr>
        <p:spPr>
          <a:xfrm>
            <a:off x="457200" y="822960"/>
            <a:ext cx="8229600" cy="365760"/>
          </a:xfrm>
          <a:prstGeom prst="rect">
            <a:avLst/>
          </a:prstGeom>
          <a:noFill/>
          <a:ln/>
        </p:spPr>
        <p:txBody>
          <a:bodyPr wrap="square" rtlCol="0" anchor="ctr"/>
          <a:lstStyle/>
          <a:p>
            <a:pPr indent="0" marL="0">
              <a:buNone/>
            </a:pPr>
            <a:r>
              <a:rPr lang="en-US" sz="1200" i="1" dirty="0">
                <a:solidFill>
                  <a:srgbClr val="008C94"/>
                </a:solidFill>
                <a:latin typeface="Calibri" pitchFamily="34" charset="0"/>
                <a:ea typeface="Calibri" pitchFamily="34" charset="-122"/>
                <a:cs typeface="Calibri" pitchFamily="34" charset="-120"/>
              </a:rPr>
              <a:t>Output tokens are 5× more expensive — control them first</a:t>
            </a:r>
            <a:endParaRPr lang="en-US" sz="1200" dirty="0"/>
          </a:p>
        </p:txBody>
      </p:sp>
      <p:sp>
        <p:nvSpPr>
          <p:cNvPr id="5" name="Shape 3"/>
          <p:cNvSpPr/>
          <p:nvPr/>
        </p:nvSpPr>
        <p:spPr>
          <a:xfrm>
            <a:off x="365760" y="1280160"/>
            <a:ext cx="8412480" cy="1051560"/>
          </a:xfrm>
          <a:prstGeom prst="roundRect">
            <a:avLst>
              <a:gd name="adj" fmla="val 6957"/>
            </a:avLst>
          </a:prstGeom>
          <a:solidFill>
            <a:srgbClr val="EFF6F7"/>
          </a:solidFill>
          <a:ln w="12700">
            <a:solidFill>
              <a:srgbClr val="E2E8F0"/>
            </a:solidFill>
            <a:prstDash val="solid"/>
          </a:ln>
          <a:effectLst>
            <a:outerShdw sx="100000" sy="100000" kx="0" ky="0" algn="bl" rotWithShape="0" blurRad="101600" dist="38100" dir="2700000">
              <a:srgbClr val="000000">
                <a:alpha val="12000"/>
              </a:srgbClr>
            </a:outerShdw>
          </a:effectLst>
        </p:spPr>
      </p:sp>
      <p:sp>
        <p:nvSpPr>
          <p:cNvPr id="6" name="Shape 4"/>
          <p:cNvSpPr/>
          <p:nvPr/>
        </p:nvSpPr>
        <p:spPr>
          <a:xfrm>
            <a:off x="365760" y="1280160"/>
            <a:ext cx="256032" cy="1051560"/>
          </a:xfrm>
          <a:prstGeom prst="roundRect">
            <a:avLst>
              <a:gd name="adj" fmla="val 17857"/>
            </a:avLst>
          </a:prstGeom>
          <a:solidFill>
            <a:srgbClr val="EF4444"/>
          </a:solidFill>
          <a:ln w="12700">
            <a:solidFill>
              <a:srgbClr val="EF4444"/>
            </a:solidFill>
            <a:prstDash val="solid"/>
          </a:ln>
        </p:spPr>
      </p:sp>
      <p:sp>
        <p:nvSpPr>
          <p:cNvPr id="7" name="Text 5"/>
          <p:cNvSpPr/>
          <p:nvPr/>
        </p:nvSpPr>
        <p:spPr>
          <a:xfrm>
            <a:off x="777240" y="1371600"/>
            <a:ext cx="5303520" cy="365760"/>
          </a:xfrm>
          <a:prstGeom prst="rect">
            <a:avLst/>
          </a:prstGeom>
          <a:noFill/>
          <a:ln/>
        </p:spPr>
        <p:txBody>
          <a:bodyPr wrap="square" lIns="0" tIns="0" rIns="0" bIns="0" rtlCol="0" anchor="ctr"/>
          <a:lstStyle/>
          <a:p>
            <a:pPr indent="0" marL="0">
              <a:buNone/>
            </a:pPr>
            <a:r>
              <a:rPr lang="en-US" sz="1500" b="1" dirty="0">
                <a:solidFill>
                  <a:srgbClr val="0D1B2A"/>
                </a:solidFill>
                <a:latin typeface="Cambria" pitchFamily="34" charset="0"/>
                <a:ea typeface="Cambria" pitchFamily="34" charset="-122"/>
                <a:cs typeface="Cambria" pitchFamily="34" charset="-120"/>
              </a:rPr>
              <a:t>"Code Only" Directive</a:t>
            </a:r>
            <a:endParaRPr lang="en-US" sz="1500" dirty="0"/>
          </a:p>
        </p:txBody>
      </p:sp>
      <p:sp>
        <p:nvSpPr>
          <p:cNvPr id="8" name="Text 6"/>
          <p:cNvSpPr/>
          <p:nvPr/>
        </p:nvSpPr>
        <p:spPr>
          <a:xfrm>
            <a:off x="777240" y="1719072"/>
            <a:ext cx="5303520" cy="502920"/>
          </a:xfrm>
          <a:prstGeom prst="rect">
            <a:avLst/>
          </a:prstGeom>
          <a:noFill/>
          <a:ln/>
        </p:spPr>
        <p:txBody>
          <a:bodyPr wrap="square" lIns="0" tIns="0" rIns="0" bIns="0" rtlCol="0" anchor="ctr"/>
          <a:lstStyle/>
          <a:p>
            <a:pPr indent="0" marL="0">
              <a:buNone/>
            </a:pPr>
            <a:r>
              <a:rPr lang="en-US" sz="1200" dirty="0">
                <a:solidFill>
                  <a:srgbClr val="64748B"/>
                </a:solidFill>
                <a:latin typeface="Calibri" pitchFamily="34" charset="0"/>
                <a:ea typeface="Calibri" pitchFamily="34" charset="-122"/>
                <a:cs typeface="Calibri" pitchFamily="34" charset="-120"/>
              </a:rPr>
              <a:t>Add "code only, no explanation" to copilot.instructions.mmd. One-time change with permanent savings.</a:t>
            </a:r>
            <a:endParaRPr lang="en-US" sz="1200" dirty="0"/>
          </a:p>
        </p:txBody>
      </p:sp>
      <p:sp>
        <p:nvSpPr>
          <p:cNvPr id="9" name="Shape 7"/>
          <p:cNvSpPr/>
          <p:nvPr/>
        </p:nvSpPr>
        <p:spPr>
          <a:xfrm>
            <a:off x="6217920" y="1554480"/>
            <a:ext cx="2377440" cy="384048"/>
          </a:xfrm>
          <a:prstGeom prst="roundRect">
            <a:avLst>
              <a:gd name="adj" fmla="val 14286"/>
            </a:avLst>
          </a:prstGeom>
          <a:solidFill>
            <a:srgbClr val="EF4444">
              <a:alpha val="15000"/>
            </a:srgbClr>
          </a:solidFill>
          <a:ln w="12700">
            <a:solidFill>
              <a:srgbClr val="EF4444"/>
            </a:solidFill>
            <a:prstDash val="solid"/>
          </a:ln>
        </p:spPr>
      </p:sp>
      <p:sp>
        <p:nvSpPr>
          <p:cNvPr id="10" name="Text 8"/>
          <p:cNvSpPr/>
          <p:nvPr/>
        </p:nvSpPr>
        <p:spPr>
          <a:xfrm>
            <a:off x="6217920" y="1554480"/>
            <a:ext cx="2377440" cy="384048"/>
          </a:xfrm>
          <a:prstGeom prst="rect">
            <a:avLst/>
          </a:prstGeom>
          <a:noFill/>
          <a:ln/>
        </p:spPr>
        <p:txBody>
          <a:bodyPr wrap="square" lIns="0" tIns="0" rIns="0" bIns="0" rtlCol="0" anchor="ctr"/>
          <a:lstStyle/>
          <a:p>
            <a:pPr algn="ctr" indent="0" marL="0">
              <a:buNone/>
            </a:pPr>
            <a:r>
              <a:rPr lang="en-US" sz="1100" b="1" dirty="0">
                <a:solidFill>
                  <a:srgbClr val="EF4444"/>
                </a:solidFill>
                <a:latin typeface="Calibri" pitchFamily="34" charset="0"/>
                <a:ea typeface="Calibri" pitchFamily="34" charset="-122"/>
                <a:cs typeface="Calibri" pitchFamily="34" charset="-120"/>
              </a:rPr>
              <a:t>40–70% output reduction</a:t>
            </a:r>
            <a:endParaRPr lang="en-US" sz="1100" dirty="0"/>
          </a:p>
        </p:txBody>
      </p:sp>
      <p:sp>
        <p:nvSpPr>
          <p:cNvPr id="11" name="Shape 9"/>
          <p:cNvSpPr/>
          <p:nvPr/>
        </p:nvSpPr>
        <p:spPr>
          <a:xfrm>
            <a:off x="365760" y="2468880"/>
            <a:ext cx="8412480" cy="1051560"/>
          </a:xfrm>
          <a:prstGeom prst="roundRect">
            <a:avLst>
              <a:gd name="adj" fmla="val 6957"/>
            </a:avLst>
          </a:prstGeom>
          <a:solidFill>
            <a:srgbClr val="EFF6F7"/>
          </a:solidFill>
          <a:ln w="12700">
            <a:solidFill>
              <a:srgbClr val="E2E8F0"/>
            </a:solidFill>
            <a:prstDash val="solid"/>
          </a:ln>
          <a:effectLst>
            <a:outerShdw sx="100000" sy="100000" kx="0" ky="0" algn="bl" rotWithShape="0" blurRad="101600" dist="38100" dir="2700000">
              <a:srgbClr val="000000">
                <a:alpha val="12000"/>
              </a:srgbClr>
            </a:outerShdw>
          </a:effectLst>
        </p:spPr>
      </p:sp>
      <p:sp>
        <p:nvSpPr>
          <p:cNvPr id="12" name="Shape 10"/>
          <p:cNvSpPr/>
          <p:nvPr/>
        </p:nvSpPr>
        <p:spPr>
          <a:xfrm>
            <a:off x="365760" y="2468880"/>
            <a:ext cx="256032" cy="1051560"/>
          </a:xfrm>
          <a:prstGeom prst="roundRect">
            <a:avLst>
              <a:gd name="adj" fmla="val 17857"/>
            </a:avLst>
          </a:prstGeom>
          <a:solidFill>
            <a:srgbClr val="008C94"/>
          </a:solidFill>
          <a:ln w="12700">
            <a:solidFill>
              <a:srgbClr val="008C94"/>
            </a:solidFill>
            <a:prstDash val="solid"/>
          </a:ln>
        </p:spPr>
      </p:sp>
      <p:sp>
        <p:nvSpPr>
          <p:cNvPr id="13" name="Text 11"/>
          <p:cNvSpPr/>
          <p:nvPr/>
        </p:nvSpPr>
        <p:spPr>
          <a:xfrm>
            <a:off x="777240" y="2560320"/>
            <a:ext cx="5303520" cy="365760"/>
          </a:xfrm>
          <a:prstGeom prst="rect">
            <a:avLst/>
          </a:prstGeom>
          <a:noFill/>
          <a:ln/>
        </p:spPr>
        <p:txBody>
          <a:bodyPr wrap="square" lIns="0" tIns="0" rIns="0" bIns="0" rtlCol="0" anchor="ctr"/>
          <a:lstStyle/>
          <a:p>
            <a:pPr indent="0" marL="0">
              <a:buNone/>
            </a:pPr>
            <a:r>
              <a:rPr lang="en-US" sz="1500" b="1" dirty="0">
                <a:solidFill>
                  <a:srgbClr val="0D1B2A"/>
                </a:solidFill>
                <a:latin typeface="Cambria" pitchFamily="34" charset="0"/>
                <a:ea typeface="Cambria" pitchFamily="34" charset="-122"/>
                <a:cs typeface="Cambria" pitchFamily="34" charset="-120"/>
              </a:rPr>
              <a:t>Instruction File Auditing</a:t>
            </a:r>
            <a:endParaRPr lang="en-US" sz="1500" dirty="0"/>
          </a:p>
        </p:txBody>
      </p:sp>
      <p:sp>
        <p:nvSpPr>
          <p:cNvPr id="14" name="Text 12"/>
          <p:cNvSpPr/>
          <p:nvPr/>
        </p:nvSpPr>
        <p:spPr>
          <a:xfrm>
            <a:off x="777240" y="2907792"/>
            <a:ext cx="5303520" cy="502920"/>
          </a:xfrm>
          <a:prstGeom prst="rect">
            <a:avLst/>
          </a:prstGeom>
          <a:noFill/>
          <a:ln/>
        </p:spPr>
        <p:txBody>
          <a:bodyPr wrap="square" lIns="0" tIns="0" rIns="0" bIns="0" rtlCol="0" anchor="ctr"/>
          <a:lstStyle/>
          <a:p>
            <a:pPr indent="0" marL="0">
              <a:buNone/>
            </a:pPr>
            <a:r>
              <a:rPr lang="en-US" sz="1200" dirty="0">
                <a:solidFill>
                  <a:srgbClr val="64748B"/>
                </a:solidFill>
                <a:latin typeface="Calibri" pitchFamily="34" charset="0"/>
                <a:ea typeface="Calibri" pitchFamily="34" charset="-122"/>
                <a:cs typeface="Calibri" pitchFamily="34" charset="-120"/>
              </a:rPr>
              <a:t>Strip .instructions.mmd to essentials only — stack rules and format. Keep under 20 lines.</a:t>
            </a:r>
            <a:endParaRPr lang="en-US" sz="1200" dirty="0"/>
          </a:p>
        </p:txBody>
      </p:sp>
      <p:sp>
        <p:nvSpPr>
          <p:cNvPr id="15" name="Shape 13"/>
          <p:cNvSpPr/>
          <p:nvPr/>
        </p:nvSpPr>
        <p:spPr>
          <a:xfrm>
            <a:off x="6217920" y="2743200"/>
            <a:ext cx="2377440" cy="384048"/>
          </a:xfrm>
          <a:prstGeom prst="roundRect">
            <a:avLst>
              <a:gd name="adj" fmla="val 14286"/>
            </a:avLst>
          </a:prstGeom>
          <a:solidFill>
            <a:srgbClr val="008C94">
              <a:alpha val="15000"/>
            </a:srgbClr>
          </a:solidFill>
          <a:ln w="12700">
            <a:solidFill>
              <a:srgbClr val="008C94"/>
            </a:solidFill>
            <a:prstDash val="solid"/>
          </a:ln>
        </p:spPr>
      </p:sp>
      <p:sp>
        <p:nvSpPr>
          <p:cNvPr id="16" name="Text 14"/>
          <p:cNvSpPr/>
          <p:nvPr/>
        </p:nvSpPr>
        <p:spPr>
          <a:xfrm>
            <a:off x="6217920" y="2743200"/>
            <a:ext cx="2377440" cy="384048"/>
          </a:xfrm>
          <a:prstGeom prst="rect">
            <a:avLst/>
          </a:prstGeom>
          <a:noFill/>
          <a:ln/>
        </p:spPr>
        <p:txBody>
          <a:bodyPr wrap="square" lIns="0" tIns="0" rIns="0" bIns="0" rtlCol="0" anchor="ctr"/>
          <a:lstStyle/>
          <a:p>
            <a:pPr algn="ctr" indent="0" marL="0">
              <a:buNone/>
            </a:pPr>
            <a:r>
              <a:rPr lang="en-US" sz="1100" b="1" dirty="0">
                <a:solidFill>
                  <a:srgbClr val="008C94"/>
                </a:solidFill>
                <a:latin typeface="Calibri" pitchFamily="34" charset="0"/>
                <a:ea typeface="Calibri" pitchFamily="34" charset="-122"/>
                <a:cs typeface="Calibri" pitchFamily="34" charset="-120"/>
              </a:rPr>
              <a:t>Per-request savings</a:t>
            </a:r>
            <a:endParaRPr lang="en-US" sz="1100" dirty="0"/>
          </a:p>
        </p:txBody>
      </p:sp>
      <p:sp>
        <p:nvSpPr>
          <p:cNvPr id="17" name="Shape 15"/>
          <p:cNvSpPr/>
          <p:nvPr/>
        </p:nvSpPr>
        <p:spPr>
          <a:xfrm>
            <a:off x="365760" y="3657600"/>
            <a:ext cx="8412480" cy="1051560"/>
          </a:xfrm>
          <a:prstGeom prst="roundRect">
            <a:avLst>
              <a:gd name="adj" fmla="val 6957"/>
            </a:avLst>
          </a:prstGeom>
          <a:solidFill>
            <a:srgbClr val="EFF6F7"/>
          </a:solidFill>
          <a:ln w="12700">
            <a:solidFill>
              <a:srgbClr val="E2E8F0"/>
            </a:solidFill>
            <a:prstDash val="solid"/>
          </a:ln>
          <a:effectLst>
            <a:outerShdw sx="100000" sy="100000" kx="0" ky="0" algn="bl" rotWithShape="0" blurRad="101600" dist="38100" dir="2700000">
              <a:srgbClr val="000000">
                <a:alpha val="12000"/>
              </a:srgbClr>
            </a:outerShdw>
          </a:effectLst>
        </p:spPr>
      </p:sp>
      <p:sp>
        <p:nvSpPr>
          <p:cNvPr id="18" name="Shape 16"/>
          <p:cNvSpPr/>
          <p:nvPr/>
        </p:nvSpPr>
        <p:spPr>
          <a:xfrm>
            <a:off x="365760" y="3657600"/>
            <a:ext cx="256032" cy="1051560"/>
          </a:xfrm>
          <a:prstGeom prst="roundRect">
            <a:avLst>
              <a:gd name="adj" fmla="val 17857"/>
            </a:avLst>
          </a:prstGeom>
          <a:solidFill>
            <a:srgbClr val="F59E0B"/>
          </a:solidFill>
          <a:ln w="12700">
            <a:solidFill>
              <a:srgbClr val="F59E0B"/>
            </a:solidFill>
            <a:prstDash val="solid"/>
          </a:ln>
        </p:spPr>
      </p:sp>
      <p:sp>
        <p:nvSpPr>
          <p:cNvPr id="19" name="Text 17"/>
          <p:cNvSpPr/>
          <p:nvPr/>
        </p:nvSpPr>
        <p:spPr>
          <a:xfrm>
            <a:off x="777240" y="3749040"/>
            <a:ext cx="5303520" cy="365760"/>
          </a:xfrm>
          <a:prstGeom prst="rect">
            <a:avLst/>
          </a:prstGeom>
          <a:noFill/>
          <a:ln/>
        </p:spPr>
        <p:txBody>
          <a:bodyPr wrap="square" lIns="0" tIns="0" rIns="0" bIns="0" rtlCol="0" anchor="ctr"/>
          <a:lstStyle/>
          <a:p>
            <a:pPr indent="0" marL="0">
              <a:buNone/>
            </a:pPr>
            <a:r>
              <a:rPr lang="en-US" sz="1500" b="1" dirty="0">
                <a:solidFill>
                  <a:srgbClr val="0D1B2A"/>
                </a:solidFill>
                <a:latin typeface="Cambria" pitchFamily="34" charset="0"/>
                <a:ea typeface="Cambria" pitchFamily="34" charset="-122"/>
                <a:cs typeface="Cambria" pitchFamily="34" charset="-120"/>
              </a:rPr>
              <a:t>Context Scoping with 'apply to'</a:t>
            </a:r>
            <a:endParaRPr lang="en-US" sz="1500" dirty="0"/>
          </a:p>
        </p:txBody>
      </p:sp>
      <p:sp>
        <p:nvSpPr>
          <p:cNvPr id="20" name="Text 18"/>
          <p:cNvSpPr/>
          <p:nvPr/>
        </p:nvSpPr>
        <p:spPr>
          <a:xfrm>
            <a:off x="777240" y="4096512"/>
            <a:ext cx="5303520" cy="502920"/>
          </a:xfrm>
          <a:prstGeom prst="rect">
            <a:avLst/>
          </a:prstGeom>
          <a:noFill/>
          <a:ln/>
        </p:spPr>
        <p:txBody>
          <a:bodyPr wrap="square" lIns="0" tIns="0" rIns="0" bIns="0" rtlCol="0" anchor="ctr"/>
          <a:lstStyle/>
          <a:p>
            <a:pPr indent="0" marL="0">
              <a:buNone/>
            </a:pPr>
            <a:r>
              <a:rPr lang="en-US" sz="1200" dirty="0">
                <a:solidFill>
                  <a:srgbClr val="64748B"/>
                </a:solidFill>
                <a:latin typeface="Calibri" pitchFamily="34" charset="0"/>
                <a:ea typeface="Calibri" pitchFamily="34" charset="-122"/>
                <a:cs typeface="Calibri" pitchFamily="34" charset="-120"/>
              </a:rPr>
              <a:t>Use apply to front matter so language-specific rules (Python, SQL) only load when relevant.</a:t>
            </a:r>
            <a:endParaRPr lang="en-US" sz="1200" dirty="0"/>
          </a:p>
        </p:txBody>
      </p:sp>
      <p:sp>
        <p:nvSpPr>
          <p:cNvPr id="21" name="Shape 19"/>
          <p:cNvSpPr/>
          <p:nvPr/>
        </p:nvSpPr>
        <p:spPr>
          <a:xfrm>
            <a:off x="6217920" y="3931920"/>
            <a:ext cx="2377440" cy="384048"/>
          </a:xfrm>
          <a:prstGeom prst="roundRect">
            <a:avLst>
              <a:gd name="adj" fmla="val 14286"/>
            </a:avLst>
          </a:prstGeom>
          <a:solidFill>
            <a:srgbClr val="F59E0B">
              <a:alpha val="15000"/>
            </a:srgbClr>
          </a:solidFill>
          <a:ln w="12700">
            <a:solidFill>
              <a:srgbClr val="F59E0B"/>
            </a:solidFill>
            <a:prstDash val="solid"/>
          </a:ln>
        </p:spPr>
      </p:sp>
      <p:sp>
        <p:nvSpPr>
          <p:cNvPr id="22" name="Text 20"/>
          <p:cNvSpPr/>
          <p:nvPr/>
        </p:nvSpPr>
        <p:spPr>
          <a:xfrm>
            <a:off x="6217920" y="3931920"/>
            <a:ext cx="2377440" cy="384048"/>
          </a:xfrm>
          <a:prstGeom prst="rect">
            <a:avLst/>
          </a:prstGeom>
          <a:noFill/>
          <a:ln/>
        </p:spPr>
        <p:txBody>
          <a:bodyPr wrap="square" lIns="0" tIns="0" rIns="0" bIns="0" rtlCol="0" anchor="ctr"/>
          <a:lstStyle/>
          <a:p>
            <a:pPr algn="ctr" indent="0" marL="0">
              <a:buNone/>
            </a:pPr>
            <a:r>
              <a:rPr lang="en-US" sz="1100" b="1" dirty="0">
                <a:solidFill>
                  <a:srgbClr val="F59E0B"/>
                </a:solidFill>
                <a:latin typeface="Calibri" pitchFamily="34" charset="0"/>
                <a:ea typeface="Calibri" pitchFamily="34" charset="-122"/>
                <a:cs typeface="Calibri" pitchFamily="34" charset="-120"/>
              </a:rPr>
              <a:t>Reduced prompt size</a:t>
            </a:r>
            <a:endParaRPr lang="en-US" sz="1100" dirty="0"/>
          </a:p>
        </p:txBody>
      </p:sp>
      <p:sp>
        <p:nvSpPr>
          <p:cNvPr id="23" name="Shape 21"/>
          <p:cNvSpPr/>
          <p:nvPr/>
        </p:nvSpPr>
        <p:spPr>
          <a:xfrm>
            <a:off x="0" y="4887468"/>
            <a:ext cx="1143000" cy="256032"/>
          </a:xfrm>
          <a:prstGeom prst="rect">
            <a:avLst/>
          </a:prstGeom>
          <a:solidFill>
            <a:srgbClr val="1A2E45"/>
          </a:solidFill>
          <a:ln w="12700">
            <a:solidFill>
              <a:srgbClr val="1A2E45"/>
            </a:solidFill>
            <a:prstDash val="solid"/>
          </a:ln>
        </p:spPr>
      </p:sp>
      <p:sp>
        <p:nvSpPr>
          <p:cNvPr id="24" name="Text 22"/>
          <p:cNvSpPr/>
          <p:nvPr/>
        </p:nvSpPr>
        <p:spPr>
          <a:xfrm>
            <a:off x="0" y="4887468"/>
            <a:ext cx="1143000" cy="256032"/>
          </a:xfrm>
          <a:prstGeom prst="rect">
            <a:avLst/>
          </a:prstGeom>
          <a:noFill/>
          <a:ln/>
        </p:spPr>
        <p:txBody>
          <a:bodyPr wrap="square" lIns="0" tIns="0" rIns="0" bIns="0" rtlCol="0" anchor="ctr"/>
          <a:lstStyle/>
          <a:p>
            <a:pPr algn="ctr" indent="0" marL="0">
              <a:buNone/>
            </a:pPr>
            <a:r>
              <a:rPr lang="en-US" sz="750" dirty="0">
                <a:solidFill>
                  <a:srgbClr val="3A5068"/>
                </a:solidFill>
                <a:latin typeface="Calibri" pitchFamily="34" charset="0"/>
                <a:ea typeface="Calibri" pitchFamily="34" charset="-122"/>
                <a:cs typeface="Calibri" pitchFamily="34" charset="-120"/>
              </a:rPr>
              <a:t>Overview</a:t>
            </a:r>
            <a:endParaRPr lang="en-US" sz="750" dirty="0"/>
          </a:p>
        </p:txBody>
      </p:sp>
      <p:sp>
        <p:nvSpPr>
          <p:cNvPr id="25" name="Shape 23"/>
          <p:cNvSpPr/>
          <p:nvPr/>
        </p:nvSpPr>
        <p:spPr>
          <a:xfrm>
            <a:off x="1143000" y="4887468"/>
            <a:ext cx="1143000" cy="256032"/>
          </a:xfrm>
          <a:prstGeom prst="rect">
            <a:avLst/>
          </a:prstGeom>
          <a:solidFill>
            <a:srgbClr val="EF4444"/>
          </a:solidFill>
          <a:ln w="12700">
            <a:solidFill>
              <a:srgbClr val="EF4444"/>
            </a:solidFill>
            <a:prstDash val="solid"/>
          </a:ln>
        </p:spPr>
      </p:sp>
      <p:sp>
        <p:nvSpPr>
          <p:cNvPr id="26" name="Text 24"/>
          <p:cNvSpPr/>
          <p:nvPr/>
        </p:nvSpPr>
        <p:spPr>
          <a:xfrm>
            <a:off x="1143000" y="4887468"/>
            <a:ext cx="1143000" cy="256032"/>
          </a:xfrm>
          <a:prstGeom prst="rect">
            <a:avLst/>
          </a:prstGeom>
          <a:noFill/>
          <a:ln/>
        </p:spPr>
        <p:txBody>
          <a:bodyPr wrap="square" lIns="0" tIns="0" rIns="0" bIns="0" rtlCol="0" anchor="ctr"/>
          <a:lstStyle/>
          <a:p>
            <a:pPr algn="ctr" indent="0" marL="0">
              <a:buNone/>
            </a:pPr>
            <a:r>
              <a:rPr lang="en-US" sz="750" b="1" dirty="0">
                <a:solidFill>
                  <a:srgbClr val="0D1B2A"/>
                </a:solidFill>
                <a:latin typeface="Calibri" pitchFamily="34" charset="0"/>
                <a:ea typeface="Calibri" pitchFamily="34" charset="-122"/>
                <a:cs typeface="Calibri" pitchFamily="34" charset="-120"/>
              </a:rPr>
              <a:t>Output Control</a:t>
            </a:r>
            <a:endParaRPr lang="en-US" sz="750" dirty="0"/>
          </a:p>
        </p:txBody>
      </p:sp>
      <p:sp>
        <p:nvSpPr>
          <p:cNvPr id="27" name="Shape 25"/>
          <p:cNvSpPr/>
          <p:nvPr/>
        </p:nvSpPr>
        <p:spPr>
          <a:xfrm>
            <a:off x="2286000" y="4887468"/>
            <a:ext cx="1143000" cy="256032"/>
          </a:xfrm>
          <a:prstGeom prst="rect">
            <a:avLst/>
          </a:prstGeom>
          <a:solidFill>
            <a:srgbClr val="1A2E45"/>
          </a:solidFill>
          <a:ln w="12700">
            <a:solidFill>
              <a:srgbClr val="1A2E45"/>
            </a:solidFill>
            <a:prstDash val="solid"/>
          </a:ln>
        </p:spPr>
      </p:sp>
      <p:sp>
        <p:nvSpPr>
          <p:cNvPr id="28" name="Text 26"/>
          <p:cNvSpPr/>
          <p:nvPr/>
        </p:nvSpPr>
        <p:spPr>
          <a:xfrm>
            <a:off x="2286000" y="4887468"/>
            <a:ext cx="1143000" cy="256032"/>
          </a:xfrm>
          <a:prstGeom prst="rect">
            <a:avLst/>
          </a:prstGeom>
          <a:noFill/>
          <a:ln/>
        </p:spPr>
        <p:txBody>
          <a:bodyPr wrap="square" lIns="0" tIns="0" rIns="0" bIns="0" rtlCol="0" anchor="ctr"/>
          <a:lstStyle/>
          <a:p>
            <a:pPr algn="ctr" indent="0" marL="0">
              <a:buNone/>
            </a:pPr>
            <a:r>
              <a:rPr lang="en-US" sz="750" dirty="0">
                <a:solidFill>
                  <a:srgbClr val="3A5068"/>
                </a:solidFill>
                <a:latin typeface="Calibri" pitchFamily="34" charset="0"/>
                <a:ea typeface="Calibri" pitchFamily="34" charset="-122"/>
                <a:cs typeface="Calibri" pitchFamily="34" charset="-120"/>
              </a:rPr>
              <a:t>Context &amp; Prompting</a:t>
            </a:r>
            <a:endParaRPr lang="en-US" sz="750" dirty="0"/>
          </a:p>
        </p:txBody>
      </p:sp>
      <p:sp>
        <p:nvSpPr>
          <p:cNvPr id="29" name="Shape 27"/>
          <p:cNvSpPr/>
          <p:nvPr/>
        </p:nvSpPr>
        <p:spPr>
          <a:xfrm>
            <a:off x="3429000" y="4887468"/>
            <a:ext cx="1143000" cy="256032"/>
          </a:xfrm>
          <a:prstGeom prst="rect">
            <a:avLst/>
          </a:prstGeom>
          <a:solidFill>
            <a:srgbClr val="1A2E45"/>
          </a:solidFill>
          <a:ln w="12700">
            <a:solidFill>
              <a:srgbClr val="1A2E45"/>
            </a:solidFill>
            <a:prstDash val="solid"/>
          </a:ln>
        </p:spPr>
      </p:sp>
      <p:sp>
        <p:nvSpPr>
          <p:cNvPr id="30" name="Text 28"/>
          <p:cNvSpPr/>
          <p:nvPr/>
        </p:nvSpPr>
        <p:spPr>
          <a:xfrm>
            <a:off x="3429000" y="4887468"/>
            <a:ext cx="1143000" cy="256032"/>
          </a:xfrm>
          <a:prstGeom prst="rect">
            <a:avLst/>
          </a:prstGeom>
          <a:noFill/>
          <a:ln/>
        </p:spPr>
        <p:txBody>
          <a:bodyPr wrap="square" lIns="0" tIns="0" rIns="0" bIns="0" rtlCol="0" anchor="ctr"/>
          <a:lstStyle/>
          <a:p>
            <a:pPr algn="ctr" indent="0" marL="0">
              <a:buNone/>
            </a:pPr>
            <a:r>
              <a:rPr lang="en-US" sz="750" dirty="0">
                <a:solidFill>
                  <a:srgbClr val="3A5068"/>
                </a:solidFill>
                <a:latin typeface="Calibri" pitchFamily="34" charset="0"/>
                <a:ea typeface="Calibri" pitchFamily="34" charset="-122"/>
                <a:cs typeface="Calibri" pitchFamily="34" charset="-120"/>
              </a:rPr>
              <a:t>Models &amp; Modes</a:t>
            </a:r>
            <a:endParaRPr lang="en-US" sz="750" dirty="0"/>
          </a:p>
        </p:txBody>
      </p:sp>
      <p:sp>
        <p:nvSpPr>
          <p:cNvPr id="31" name="Shape 29"/>
          <p:cNvSpPr/>
          <p:nvPr/>
        </p:nvSpPr>
        <p:spPr>
          <a:xfrm>
            <a:off x="4572000" y="4887468"/>
            <a:ext cx="1143000" cy="256032"/>
          </a:xfrm>
          <a:prstGeom prst="rect">
            <a:avLst/>
          </a:prstGeom>
          <a:solidFill>
            <a:srgbClr val="1A2E45"/>
          </a:solidFill>
          <a:ln w="12700">
            <a:solidFill>
              <a:srgbClr val="1A2E45"/>
            </a:solidFill>
            <a:prstDash val="solid"/>
          </a:ln>
        </p:spPr>
      </p:sp>
      <p:sp>
        <p:nvSpPr>
          <p:cNvPr id="32" name="Text 30"/>
          <p:cNvSpPr/>
          <p:nvPr/>
        </p:nvSpPr>
        <p:spPr>
          <a:xfrm>
            <a:off x="4572000" y="4887468"/>
            <a:ext cx="1143000" cy="256032"/>
          </a:xfrm>
          <a:prstGeom prst="rect">
            <a:avLst/>
          </a:prstGeom>
          <a:noFill/>
          <a:ln/>
        </p:spPr>
        <p:txBody>
          <a:bodyPr wrap="square" lIns="0" tIns="0" rIns="0" bIns="0" rtlCol="0" anchor="ctr"/>
          <a:lstStyle/>
          <a:p>
            <a:pPr algn="ctr" indent="0" marL="0">
              <a:buNone/>
            </a:pPr>
            <a:r>
              <a:rPr lang="en-US" sz="750" dirty="0">
                <a:solidFill>
                  <a:srgbClr val="3A5068"/>
                </a:solidFill>
                <a:latin typeface="Calibri" pitchFamily="34" charset="0"/>
                <a:ea typeface="Calibri" pitchFamily="34" charset="-122"/>
                <a:cs typeface="Calibri" pitchFamily="34" charset="-120"/>
              </a:rPr>
              <a:t>Governance</a:t>
            </a:r>
            <a:endParaRPr lang="en-US" sz="750" dirty="0"/>
          </a:p>
        </p:txBody>
      </p:sp>
      <p:sp>
        <p:nvSpPr>
          <p:cNvPr id="33" name="Shape 31"/>
          <p:cNvSpPr/>
          <p:nvPr/>
        </p:nvSpPr>
        <p:spPr>
          <a:xfrm>
            <a:off x="5715000" y="4887468"/>
            <a:ext cx="1143000" cy="256032"/>
          </a:xfrm>
          <a:prstGeom prst="rect">
            <a:avLst/>
          </a:prstGeom>
          <a:solidFill>
            <a:srgbClr val="1A2E45"/>
          </a:solidFill>
          <a:ln w="12700">
            <a:solidFill>
              <a:srgbClr val="1A2E45"/>
            </a:solidFill>
            <a:prstDash val="solid"/>
          </a:ln>
        </p:spPr>
      </p:sp>
      <p:sp>
        <p:nvSpPr>
          <p:cNvPr id="34" name="Text 32"/>
          <p:cNvSpPr/>
          <p:nvPr/>
        </p:nvSpPr>
        <p:spPr>
          <a:xfrm>
            <a:off x="5715000" y="4887468"/>
            <a:ext cx="1143000" cy="256032"/>
          </a:xfrm>
          <a:prstGeom prst="rect">
            <a:avLst/>
          </a:prstGeom>
          <a:noFill/>
          <a:ln/>
        </p:spPr>
        <p:txBody>
          <a:bodyPr wrap="square" lIns="0" tIns="0" rIns="0" bIns="0" rtlCol="0" anchor="ctr"/>
          <a:lstStyle/>
          <a:p>
            <a:pPr algn="ctr" indent="0" marL="0">
              <a:buNone/>
            </a:pPr>
            <a:r>
              <a:rPr lang="en-US" sz="750" dirty="0">
                <a:solidFill>
                  <a:srgbClr val="3A5068"/>
                </a:solidFill>
                <a:latin typeface="Calibri" pitchFamily="34" charset="0"/>
                <a:ea typeface="Calibri" pitchFamily="34" charset="-122"/>
                <a:cs typeface="Calibri" pitchFamily="34" charset="-120"/>
              </a:rPr>
              <a:t>Architecture</a:t>
            </a:r>
            <a:endParaRPr lang="en-US" sz="750" dirty="0"/>
          </a:p>
        </p:txBody>
      </p:sp>
      <p:sp>
        <p:nvSpPr>
          <p:cNvPr id="35" name="Shape 33"/>
          <p:cNvSpPr/>
          <p:nvPr/>
        </p:nvSpPr>
        <p:spPr>
          <a:xfrm>
            <a:off x="6858000" y="4887468"/>
            <a:ext cx="1143000" cy="256032"/>
          </a:xfrm>
          <a:prstGeom prst="rect">
            <a:avLst/>
          </a:prstGeom>
          <a:solidFill>
            <a:srgbClr val="1A2E45"/>
          </a:solidFill>
          <a:ln w="12700">
            <a:solidFill>
              <a:srgbClr val="1A2E45"/>
            </a:solidFill>
            <a:prstDash val="solid"/>
          </a:ln>
        </p:spPr>
      </p:sp>
      <p:sp>
        <p:nvSpPr>
          <p:cNvPr id="36" name="Text 34"/>
          <p:cNvSpPr/>
          <p:nvPr/>
        </p:nvSpPr>
        <p:spPr>
          <a:xfrm>
            <a:off x="6858000" y="4887468"/>
            <a:ext cx="1143000" cy="256032"/>
          </a:xfrm>
          <a:prstGeom prst="rect">
            <a:avLst/>
          </a:prstGeom>
          <a:noFill/>
          <a:ln/>
        </p:spPr>
        <p:txBody>
          <a:bodyPr wrap="square" lIns="0" tIns="0" rIns="0" bIns="0" rtlCol="0" anchor="ctr"/>
          <a:lstStyle/>
          <a:p>
            <a:pPr algn="ctr" indent="0" marL="0">
              <a:buNone/>
            </a:pPr>
            <a:r>
              <a:rPr lang="en-US" sz="750" dirty="0">
                <a:solidFill>
                  <a:srgbClr val="3A5068"/>
                </a:solidFill>
                <a:latin typeface="Calibri" pitchFamily="34" charset="0"/>
                <a:ea typeface="Calibri" pitchFamily="34" charset="-122"/>
                <a:cs typeface="Calibri" pitchFamily="34" charset="-120"/>
              </a:rPr>
              <a:t>Best Practices</a:t>
            </a:r>
            <a:endParaRPr lang="en-US" sz="750" dirty="0"/>
          </a:p>
        </p:txBody>
      </p:sp>
      <p:sp>
        <p:nvSpPr>
          <p:cNvPr id="37" name="Shape 35"/>
          <p:cNvSpPr/>
          <p:nvPr/>
        </p:nvSpPr>
        <p:spPr>
          <a:xfrm>
            <a:off x="8001000" y="4887468"/>
            <a:ext cx="1143000" cy="256032"/>
          </a:xfrm>
          <a:prstGeom prst="rect">
            <a:avLst/>
          </a:prstGeom>
          <a:solidFill>
            <a:srgbClr val="1A2E45"/>
          </a:solidFill>
          <a:ln w="12700">
            <a:solidFill>
              <a:srgbClr val="1A2E45"/>
            </a:solidFill>
            <a:prstDash val="solid"/>
          </a:ln>
        </p:spPr>
      </p:sp>
      <p:sp>
        <p:nvSpPr>
          <p:cNvPr id="38" name="Text 36"/>
          <p:cNvSpPr/>
          <p:nvPr/>
        </p:nvSpPr>
        <p:spPr>
          <a:xfrm>
            <a:off x="8001000" y="4887468"/>
            <a:ext cx="1143000" cy="256032"/>
          </a:xfrm>
          <a:prstGeom prst="rect">
            <a:avLst/>
          </a:prstGeom>
          <a:noFill/>
          <a:ln/>
        </p:spPr>
        <p:txBody>
          <a:bodyPr wrap="square" lIns="0" tIns="0" rIns="0" bIns="0" rtlCol="0" anchor="ctr"/>
          <a:lstStyle/>
          <a:p>
            <a:pPr algn="ctr" indent="0" marL="0">
              <a:buNone/>
            </a:pPr>
            <a:r>
              <a:rPr lang="en-US" sz="750" dirty="0">
                <a:solidFill>
                  <a:srgbClr val="3A5068"/>
                </a:solidFill>
                <a:latin typeface="Calibri" pitchFamily="34" charset="0"/>
                <a:ea typeface="Calibri" pitchFamily="34" charset="-122"/>
                <a:cs typeface="Calibri" pitchFamily="34" charset="-120"/>
              </a:rPr>
              <a:t>Reference</a:t>
            </a:r>
            <a:endParaRPr lang="en-US" sz="7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08C94"/>
          </a:solidFill>
          <a:ln w="12700">
            <a:solidFill>
              <a:srgbClr val="008C94"/>
            </a:solidFill>
            <a:prstDash val="solid"/>
          </a:ln>
        </p:spPr>
      </p:sp>
      <p:sp>
        <p:nvSpPr>
          <p:cNvPr id="3" name="Text 1"/>
          <p:cNvSpPr/>
          <p:nvPr/>
        </p:nvSpPr>
        <p:spPr>
          <a:xfrm>
            <a:off x="457200" y="0"/>
            <a:ext cx="8229600" cy="822960"/>
          </a:xfrm>
          <a:prstGeom prst="rect">
            <a:avLst/>
          </a:prstGeom>
          <a:noFill/>
          <a:ln/>
        </p:spPr>
        <p:txBody>
          <a:bodyPr wrap="square" lIns="0" tIns="0" rIns="0" bIns="0" rtlCol="0" anchor="ctr"/>
          <a:lstStyle/>
          <a:p>
            <a:pPr indent="0" marL="0">
              <a:buNone/>
            </a:pPr>
            <a:r>
              <a:rPr lang="en-US" sz="2000" b="1" dirty="0">
                <a:solidFill>
                  <a:srgbClr val="FFFFFF"/>
                </a:solidFill>
                <a:latin typeface="Cambria" pitchFamily="34" charset="0"/>
                <a:ea typeface="Cambria" pitchFamily="34" charset="-122"/>
                <a:cs typeface="Cambria" pitchFamily="34" charset="-120"/>
              </a:rPr>
              <a:t>02  ·  Context &amp; Workspace Management</a:t>
            </a:r>
            <a:endParaRPr lang="en-US" sz="2000" dirty="0"/>
          </a:p>
        </p:txBody>
      </p:sp>
      <p:sp>
        <p:nvSpPr>
          <p:cNvPr id="4" name="Text 2"/>
          <p:cNvSpPr/>
          <p:nvPr/>
        </p:nvSpPr>
        <p:spPr>
          <a:xfrm>
            <a:off x="457200" y="868680"/>
            <a:ext cx="8229600" cy="365760"/>
          </a:xfrm>
          <a:prstGeom prst="rect">
            <a:avLst/>
          </a:prstGeom>
          <a:noFill/>
          <a:ln/>
        </p:spPr>
        <p:txBody>
          <a:bodyPr wrap="square" rtlCol="0" anchor="ctr"/>
          <a:lstStyle/>
          <a:p>
            <a:pPr indent="0" marL="0">
              <a:buNone/>
            </a:pPr>
            <a:r>
              <a:rPr lang="en-US" sz="1200" i="1" dirty="0">
                <a:solidFill>
                  <a:srgbClr val="00C2CC"/>
                </a:solidFill>
                <a:latin typeface="Calibri" pitchFamily="34" charset="0"/>
                <a:ea typeface="Calibri" pitchFamily="34" charset="-122"/>
                <a:cs typeface="Calibri" pitchFamily="34" charset="-120"/>
              </a:rPr>
              <a:t>Unmanaged workspaces cause 'token bloat' — Copilot silently adds everything nearby</a:t>
            </a:r>
            <a:endParaRPr lang="en-US" sz="1200" dirty="0"/>
          </a:p>
        </p:txBody>
      </p:sp>
      <p:sp>
        <p:nvSpPr>
          <p:cNvPr id="5" name="Shape 3"/>
          <p:cNvSpPr/>
          <p:nvPr/>
        </p:nvSpPr>
        <p:spPr>
          <a:xfrm>
            <a:off x="365760" y="1325880"/>
            <a:ext cx="4160520" cy="3383280"/>
          </a:xfrm>
          <a:prstGeom prst="roundRect">
            <a:avLst>
              <a:gd name="adj" fmla="val 3243"/>
            </a:avLst>
          </a:prstGeom>
          <a:solidFill>
            <a:srgbClr val="1A2E45"/>
          </a:solidFill>
          <a:ln w="12700">
            <a:solidFill>
              <a:srgbClr val="00C2CC">
                <a:alpha val="40000"/>
              </a:srgbClr>
            </a:solidFill>
            <a:prstDash val="solid"/>
          </a:ln>
          <a:effectLst>
            <a:outerShdw sx="100000" sy="100000" kx="0" ky="0" algn="bl" rotWithShape="0" blurRad="101600" dist="38100" dir="2700000">
              <a:srgbClr val="000000">
                <a:alpha val="12000"/>
              </a:srgbClr>
            </a:outerShdw>
          </a:effectLst>
        </p:spPr>
      </p:sp>
      <p:sp>
        <p:nvSpPr>
          <p:cNvPr id="6" name="Shape 4"/>
          <p:cNvSpPr/>
          <p:nvPr/>
        </p:nvSpPr>
        <p:spPr>
          <a:xfrm>
            <a:off x="548640" y="1508760"/>
            <a:ext cx="3794760" cy="457200"/>
          </a:xfrm>
          <a:prstGeom prst="roundRect">
            <a:avLst>
              <a:gd name="adj" fmla="val 14000"/>
            </a:avLst>
          </a:prstGeom>
          <a:solidFill>
            <a:srgbClr val="00C2CC">
              <a:alpha val="20000"/>
            </a:srgbClr>
          </a:solidFill>
          <a:ln w="12700">
            <a:solidFill>
              <a:srgbClr val="00C2CC">
                <a:alpha val="50000"/>
              </a:srgbClr>
            </a:solidFill>
            <a:prstDash val="solid"/>
          </a:ln>
        </p:spPr>
      </p:sp>
      <p:sp>
        <p:nvSpPr>
          <p:cNvPr id="7" name="Text 5"/>
          <p:cNvSpPr/>
          <p:nvPr/>
        </p:nvSpPr>
        <p:spPr>
          <a:xfrm>
            <a:off x="548640" y="1508760"/>
            <a:ext cx="3794760" cy="457200"/>
          </a:xfrm>
          <a:prstGeom prst="rect">
            <a:avLst/>
          </a:prstGeom>
          <a:noFill/>
          <a:ln/>
        </p:spPr>
        <p:txBody>
          <a:bodyPr wrap="square" lIns="0" tIns="0" rIns="0" bIns="0" rtlCol="0" anchor="ctr"/>
          <a:lstStyle/>
          <a:p>
            <a:pPr algn="ctr" indent="0" marL="0">
              <a:buNone/>
            </a:pPr>
            <a:r>
              <a:rPr lang="en-US" sz="1400" b="1" dirty="0">
                <a:solidFill>
                  <a:srgbClr val="00C2CC"/>
                </a:solidFill>
                <a:latin typeface="Calibri" pitchFamily="34" charset="0"/>
                <a:ea typeface="Calibri" pitchFamily="34" charset="-122"/>
                <a:cs typeface="Calibri" pitchFamily="34" charset="-120"/>
              </a:rPr>
              <a:t>Max 5 open tabs</a:t>
            </a:r>
            <a:endParaRPr lang="en-US" sz="1400" dirty="0"/>
          </a:p>
        </p:txBody>
      </p:sp>
      <p:sp>
        <p:nvSpPr>
          <p:cNvPr id="8" name="Text 6"/>
          <p:cNvSpPr/>
          <p:nvPr/>
        </p:nvSpPr>
        <p:spPr>
          <a:xfrm>
            <a:off x="548640" y="2057400"/>
            <a:ext cx="3794760" cy="457200"/>
          </a:xfrm>
          <a:prstGeom prst="rect">
            <a:avLst/>
          </a:prstGeom>
          <a:noFill/>
          <a:ln/>
        </p:spPr>
        <p:txBody>
          <a:bodyPr wrap="square" lIns="0" tIns="0" rIns="0" bIns="0" rtlCol="0" anchor="ctr"/>
          <a:lstStyle/>
          <a:p>
            <a:pPr indent="0" marL="0">
              <a:buNone/>
            </a:pPr>
            <a:r>
              <a:rPr lang="en-US" sz="1600" b="1" dirty="0">
                <a:solidFill>
                  <a:srgbClr val="FFFFFF"/>
                </a:solidFill>
                <a:latin typeface="Cambria" pitchFamily="34" charset="0"/>
                <a:ea typeface="Cambria" pitchFamily="34" charset="-122"/>
                <a:cs typeface="Cambria" pitchFamily="34" charset="-120"/>
              </a:rPr>
              <a:t>Active Tab Management</a:t>
            </a:r>
            <a:endParaRPr lang="en-US" sz="1600" dirty="0"/>
          </a:p>
        </p:txBody>
      </p:sp>
      <p:sp>
        <p:nvSpPr>
          <p:cNvPr id="9" name="Text 7"/>
          <p:cNvSpPr/>
          <p:nvPr/>
        </p:nvSpPr>
        <p:spPr>
          <a:xfrm>
            <a:off x="548640" y="2560320"/>
            <a:ext cx="3794760" cy="1188720"/>
          </a:xfrm>
          <a:prstGeom prst="rect">
            <a:avLst/>
          </a:prstGeom>
          <a:noFill/>
          <a:ln/>
        </p:spPr>
        <p:txBody>
          <a:bodyPr wrap="square" lIns="0" tIns="0" rIns="0" bIns="0" rtlCol="0" anchor="ctr"/>
          <a:lstStyle/>
          <a:p>
            <a:pPr indent="0" marL="0">
              <a:buNone/>
            </a:pPr>
            <a:r>
              <a:rPr lang="en-US" sz="1200" dirty="0">
                <a:solidFill>
                  <a:srgbClr val="8EAFC7"/>
                </a:solidFill>
                <a:latin typeface="Calibri" pitchFamily="34" charset="0"/>
                <a:ea typeface="Calibri" pitchFamily="34" charset="-122"/>
                <a:cs typeface="Calibri" pitchFamily="34" charset="-120"/>
              </a:rPr>
              <a:t>Copilot injects open file contents as context. Logs, schemas, and unrelated scripts silently inflate input tokens every request.</a:t>
            </a:r>
            <a:endParaRPr lang="en-US" sz="1200" dirty="0"/>
          </a:p>
        </p:txBody>
      </p:sp>
      <p:sp>
        <p:nvSpPr>
          <p:cNvPr id="10" name="Shape 8"/>
          <p:cNvSpPr/>
          <p:nvPr/>
        </p:nvSpPr>
        <p:spPr>
          <a:xfrm>
            <a:off x="548640" y="3840480"/>
            <a:ext cx="3794760" cy="658368"/>
          </a:xfrm>
          <a:prstGeom prst="roundRect">
            <a:avLst>
              <a:gd name="adj" fmla="val 9722"/>
            </a:avLst>
          </a:prstGeom>
          <a:solidFill>
            <a:srgbClr val="F59E0B">
              <a:alpha val="12000"/>
            </a:srgbClr>
          </a:solidFill>
          <a:ln w="12700">
            <a:solidFill>
              <a:srgbClr val="F59E0B">
                <a:alpha val="40000"/>
              </a:srgbClr>
            </a:solidFill>
            <a:prstDash val="solid"/>
          </a:ln>
        </p:spPr>
      </p:sp>
      <p:sp>
        <p:nvSpPr>
          <p:cNvPr id="11" name="Text 9"/>
          <p:cNvSpPr/>
          <p:nvPr/>
        </p:nvSpPr>
        <p:spPr>
          <a:xfrm>
            <a:off x="548640" y="3840480"/>
            <a:ext cx="3794760" cy="658368"/>
          </a:xfrm>
          <a:prstGeom prst="rect">
            <a:avLst/>
          </a:prstGeom>
          <a:noFill/>
          <a:ln/>
        </p:spPr>
        <p:txBody>
          <a:bodyPr wrap="square" lIns="76200" tIns="76200" rIns="76200" bIns="76200" rtlCol="0" anchor="ctr"/>
          <a:lstStyle/>
          <a:p>
            <a:pPr indent="0" marL="0">
              <a:buNone/>
            </a:pPr>
            <a:r>
              <a:rPr lang="en-US" sz="1100" dirty="0">
                <a:solidFill>
                  <a:srgbClr val="F59E0B"/>
                </a:solidFill>
                <a:latin typeface="Calibri" pitchFamily="34" charset="0"/>
                <a:ea typeface="Calibri" pitchFamily="34" charset="-122"/>
                <a:cs typeface="Calibri" pitchFamily="34" charset="-120"/>
              </a:rPr>
              <a:t>💡 Close unused tabs before every Copilot session</a:t>
            </a:r>
            <a:endParaRPr lang="en-US" sz="1100" dirty="0"/>
          </a:p>
        </p:txBody>
      </p:sp>
      <p:sp>
        <p:nvSpPr>
          <p:cNvPr id="12" name="Shape 10"/>
          <p:cNvSpPr/>
          <p:nvPr/>
        </p:nvSpPr>
        <p:spPr>
          <a:xfrm>
            <a:off x="4846320" y="1325880"/>
            <a:ext cx="4160520" cy="3383280"/>
          </a:xfrm>
          <a:prstGeom prst="roundRect">
            <a:avLst>
              <a:gd name="adj" fmla="val 3243"/>
            </a:avLst>
          </a:prstGeom>
          <a:solidFill>
            <a:srgbClr val="1A2E45"/>
          </a:solidFill>
          <a:ln w="12700">
            <a:solidFill>
              <a:srgbClr val="00C2CC">
                <a:alpha val="40000"/>
              </a:srgbClr>
            </a:solidFill>
            <a:prstDash val="solid"/>
          </a:ln>
          <a:effectLst>
            <a:outerShdw sx="100000" sy="100000" kx="0" ky="0" algn="bl" rotWithShape="0" blurRad="101600" dist="38100" dir="2700000">
              <a:srgbClr val="000000">
                <a:alpha val="12000"/>
              </a:srgbClr>
            </a:outerShdw>
          </a:effectLst>
        </p:spPr>
      </p:sp>
      <p:sp>
        <p:nvSpPr>
          <p:cNvPr id="13" name="Shape 11"/>
          <p:cNvSpPr/>
          <p:nvPr/>
        </p:nvSpPr>
        <p:spPr>
          <a:xfrm>
            <a:off x="5029200" y="1508760"/>
            <a:ext cx="3794760" cy="457200"/>
          </a:xfrm>
          <a:prstGeom prst="roundRect">
            <a:avLst>
              <a:gd name="adj" fmla="val 14000"/>
            </a:avLst>
          </a:prstGeom>
          <a:solidFill>
            <a:srgbClr val="00C2CC">
              <a:alpha val="20000"/>
            </a:srgbClr>
          </a:solidFill>
          <a:ln w="12700">
            <a:solidFill>
              <a:srgbClr val="00C2CC">
                <a:alpha val="50000"/>
              </a:srgbClr>
            </a:solidFill>
            <a:prstDash val="solid"/>
          </a:ln>
        </p:spPr>
      </p:sp>
      <p:sp>
        <p:nvSpPr>
          <p:cNvPr id="14" name="Text 12"/>
          <p:cNvSpPr/>
          <p:nvPr/>
        </p:nvSpPr>
        <p:spPr>
          <a:xfrm>
            <a:off x="5029200" y="1508760"/>
            <a:ext cx="3794760" cy="457200"/>
          </a:xfrm>
          <a:prstGeom prst="rect">
            <a:avLst/>
          </a:prstGeom>
          <a:noFill/>
          <a:ln/>
        </p:spPr>
        <p:txBody>
          <a:bodyPr wrap="square" lIns="0" tIns="0" rIns="0" bIns="0" rtlCol="0" anchor="ctr"/>
          <a:lstStyle/>
          <a:p>
            <a:pPr algn="ctr" indent="0" marL="0">
              <a:buNone/>
            </a:pPr>
            <a:r>
              <a:rPr lang="en-US" sz="1400" b="1" dirty="0">
                <a:solidFill>
                  <a:srgbClr val="00C2CC"/>
                </a:solidFill>
                <a:latin typeface="Calibri" pitchFamily="34" charset="0"/>
                <a:ea typeface="Calibri" pitchFamily="34" charset="-122"/>
                <a:cs typeface="Calibri" pitchFamily="34" charset="-120"/>
              </a:rPr>
              <a:t>Highlight, don't paste</a:t>
            </a:r>
            <a:endParaRPr lang="en-US" sz="1400" dirty="0"/>
          </a:p>
        </p:txBody>
      </p:sp>
      <p:sp>
        <p:nvSpPr>
          <p:cNvPr id="15" name="Text 13"/>
          <p:cNvSpPr/>
          <p:nvPr/>
        </p:nvSpPr>
        <p:spPr>
          <a:xfrm>
            <a:off x="5029200" y="2057400"/>
            <a:ext cx="3794760" cy="457200"/>
          </a:xfrm>
          <a:prstGeom prst="rect">
            <a:avLst/>
          </a:prstGeom>
          <a:noFill/>
          <a:ln/>
        </p:spPr>
        <p:txBody>
          <a:bodyPr wrap="square" lIns="0" tIns="0" rIns="0" bIns="0" rtlCol="0" anchor="ctr"/>
          <a:lstStyle/>
          <a:p>
            <a:pPr indent="0" marL="0">
              <a:buNone/>
            </a:pPr>
            <a:r>
              <a:rPr lang="en-US" sz="1600" b="1" dirty="0">
                <a:solidFill>
                  <a:srgbClr val="FFFFFF"/>
                </a:solidFill>
                <a:latin typeface="Cambria" pitchFamily="34" charset="0"/>
                <a:ea typeface="Cambria" pitchFamily="34" charset="-122"/>
                <a:cs typeface="Cambria" pitchFamily="34" charset="-120"/>
              </a:rPr>
              <a:t>Targeted Context Sharing</a:t>
            </a:r>
            <a:endParaRPr lang="en-US" sz="1600" dirty="0"/>
          </a:p>
        </p:txBody>
      </p:sp>
      <p:sp>
        <p:nvSpPr>
          <p:cNvPr id="16" name="Text 14"/>
          <p:cNvSpPr/>
          <p:nvPr/>
        </p:nvSpPr>
        <p:spPr>
          <a:xfrm>
            <a:off x="5029200" y="2560320"/>
            <a:ext cx="3794760" cy="1188720"/>
          </a:xfrm>
          <a:prstGeom prst="rect">
            <a:avLst/>
          </a:prstGeom>
          <a:noFill/>
          <a:ln/>
        </p:spPr>
        <p:txBody>
          <a:bodyPr wrap="square" lIns="0" tIns="0" rIns="0" bIns="0" rtlCol="0" anchor="ctr"/>
          <a:lstStyle/>
          <a:p>
            <a:pPr indent="0" marL="0">
              <a:buNone/>
            </a:pPr>
            <a:r>
              <a:rPr lang="en-US" sz="1200" dirty="0">
                <a:solidFill>
                  <a:srgbClr val="8EAFC7"/>
                </a:solidFill>
                <a:latin typeface="Calibri" pitchFamily="34" charset="0"/>
                <a:ea typeface="Calibri" pitchFamily="34" charset="-122"/>
                <a:cs typeface="Calibri" pitchFamily="34" charset="-120"/>
              </a:rPr>
              <a:t>A 500-line file = ~2,000 input tokens. Use #file references or highlight only the relevant code block for inline requests.</a:t>
            </a:r>
            <a:endParaRPr lang="en-US" sz="1200" dirty="0"/>
          </a:p>
        </p:txBody>
      </p:sp>
      <p:sp>
        <p:nvSpPr>
          <p:cNvPr id="17" name="Shape 15"/>
          <p:cNvSpPr/>
          <p:nvPr/>
        </p:nvSpPr>
        <p:spPr>
          <a:xfrm>
            <a:off x="5029200" y="3840480"/>
            <a:ext cx="3794760" cy="658368"/>
          </a:xfrm>
          <a:prstGeom prst="roundRect">
            <a:avLst>
              <a:gd name="adj" fmla="val 9722"/>
            </a:avLst>
          </a:prstGeom>
          <a:solidFill>
            <a:srgbClr val="F59E0B">
              <a:alpha val="12000"/>
            </a:srgbClr>
          </a:solidFill>
          <a:ln w="12700">
            <a:solidFill>
              <a:srgbClr val="F59E0B">
                <a:alpha val="40000"/>
              </a:srgbClr>
            </a:solidFill>
            <a:prstDash val="solid"/>
          </a:ln>
        </p:spPr>
      </p:sp>
      <p:sp>
        <p:nvSpPr>
          <p:cNvPr id="18" name="Text 16"/>
          <p:cNvSpPr/>
          <p:nvPr/>
        </p:nvSpPr>
        <p:spPr>
          <a:xfrm>
            <a:off x="5029200" y="3840480"/>
            <a:ext cx="3794760" cy="658368"/>
          </a:xfrm>
          <a:prstGeom prst="rect">
            <a:avLst/>
          </a:prstGeom>
          <a:noFill/>
          <a:ln/>
        </p:spPr>
        <p:txBody>
          <a:bodyPr wrap="square" lIns="76200" tIns="76200" rIns="76200" bIns="76200" rtlCol="0" anchor="ctr"/>
          <a:lstStyle/>
          <a:p>
            <a:pPr indent="0" marL="0">
              <a:buNone/>
            </a:pPr>
            <a:r>
              <a:rPr lang="en-US" sz="1100" dirty="0">
                <a:solidFill>
                  <a:srgbClr val="F59E0B"/>
                </a:solidFill>
                <a:latin typeface="Calibri" pitchFamily="34" charset="0"/>
                <a:ea typeface="Calibri" pitchFamily="34" charset="-122"/>
                <a:cs typeface="Calibri" pitchFamily="34" charset="-120"/>
              </a:rPr>
              <a:t>💡 500 lines = ~2,000 tokens — use #file or select only what matters</a:t>
            </a:r>
            <a:endParaRPr lang="en-US" sz="1100" dirty="0"/>
          </a:p>
        </p:txBody>
      </p:sp>
      <p:sp>
        <p:nvSpPr>
          <p:cNvPr id="19" name="Shape 17"/>
          <p:cNvSpPr/>
          <p:nvPr/>
        </p:nvSpPr>
        <p:spPr>
          <a:xfrm>
            <a:off x="0" y="4887468"/>
            <a:ext cx="1143000" cy="256032"/>
          </a:xfrm>
          <a:prstGeom prst="rect">
            <a:avLst/>
          </a:prstGeom>
          <a:solidFill>
            <a:srgbClr val="1A2E45"/>
          </a:solidFill>
          <a:ln w="12700">
            <a:solidFill>
              <a:srgbClr val="1A2E45"/>
            </a:solidFill>
            <a:prstDash val="solid"/>
          </a:ln>
        </p:spPr>
      </p:sp>
      <p:sp>
        <p:nvSpPr>
          <p:cNvPr id="20" name="Text 18"/>
          <p:cNvSpPr/>
          <p:nvPr/>
        </p:nvSpPr>
        <p:spPr>
          <a:xfrm>
            <a:off x="0" y="4887468"/>
            <a:ext cx="1143000" cy="256032"/>
          </a:xfrm>
          <a:prstGeom prst="rect">
            <a:avLst/>
          </a:prstGeom>
          <a:noFill/>
          <a:ln/>
        </p:spPr>
        <p:txBody>
          <a:bodyPr wrap="square" lIns="0" tIns="0" rIns="0" bIns="0" rtlCol="0" anchor="ctr"/>
          <a:lstStyle/>
          <a:p>
            <a:pPr algn="ctr" indent="0" marL="0">
              <a:buNone/>
            </a:pPr>
            <a:r>
              <a:rPr lang="en-US" sz="750" dirty="0">
                <a:solidFill>
                  <a:srgbClr val="3A5068"/>
                </a:solidFill>
                <a:latin typeface="Calibri" pitchFamily="34" charset="0"/>
                <a:ea typeface="Calibri" pitchFamily="34" charset="-122"/>
                <a:cs typeface="Calibri" pitchFamily="34" charset="-120"/>
              </a:rPr>
              <a:t>Overview</a:t>
            </a:r>
            <a:endParaRPr lang="en-US" sz="750" dirty="0"/>
          </a:p>
        </p:txBody>
      </p:sp>
      <p:sp>
        <p:nvSpPr>
          <p:cNvPr id="21" name="Shape 19"/>
          <p:cNvSpPr/>
          <p:nvPr/>
        </p:nvSpPr>
        <p:spPr>
          <a:xfrm>
            <a:off x="1143000" y="4887468"/>
            <a:ext cx="1143000" cy="256032"/>
          </a:xfrm>
          <a:prstGeom prst="rect">
            <a:avLst/>
          </a:prstGeom>
          <a:solidFill>
            <a:srgbClr val="1A2E45"/>
          </a:solidFill>
          <a:ln w="12700">
            <a:solidFill>
              <a:srgbClr val="1A2E45"/>
            </a:solidFill>
            <a:prstDash val="solid"/>
          </a:ln>
        </p:spPr>
      </p:sp>
      <p:sp>
        <p:nvSpPr>
          <p:cNvPr id="22" name="Text 20"/>
          <p:cNvSpPr/>
          <p:nvPr/>
        </p:nvSpPr>
        <p:spPr>
          <a:xfrm>
            <a:off x="1143000" y="4887468"/>
            <a:ext cx="1143000" cy="256032"/>
          </a:xfrm>
          <a:prstGeom prst="rect">
            <a:avLst/>
          </a:prstGeom>
          <a:noFill/>
          <a:ln/>
        </p:spPr>
        <p:txBody>
          <a:bodyPr wrap="square" lIns="0" tIns="0" rIns="0" bIns="0" rtlCol="0" anchor="ctr"/>
          <a:lstStyle/>
          <a:p>
            <a:pPr algn="ctr" indent="0" marL="0">
              <a:buNone/>
            </a:pPr>
            <a:r>
              <a:rPr lang="en-US" sz="750" dirty="0">
                <a:solidFill>
                  <a:srgbClr val="3A5068"/>
                </a:solidFill>
                <a:latin typeface="Calibri" pitchFamily="34" charset="0"/>
                <a:ea typeface="Calibri" pitchFamily="34" charset="-122"/>
                <a:cs typeface="Calibri" pitchFamily="34" charset="-120"/>
              </a:rPr>
              <a:t>Output Control</a:t>
            </a:r>
            <a:endParaRPr lang="en-US" sz="750" dirty="0"/>
          </a:p>
        </p:txBody>
      </p:sp>
      <p:sp>
        <p:nvSpPr>
          <p:cNvPr id="23" name="Shape 21"/>
          <p:cNvSpPr/>
          <p:nvPr/>
        </p:nvSpPr>
        <p:spPr>
          <a:xfrm>
            <a:off x="2286000" y="4887468"/>
            <a:ext cx="1143000" cy="256032"/>
          </a:xfrm>
          <a:prstGeom prst="rect">
            <a:avLst/>
          </a:prstGeom>
          <a:solidFill>
            <a:srgbClr val="F59E0B"/>
          </a:solidFill>
          <a:ln w="12700">
            <a:solidFill>
              <a:srgbClr val="F59E0B"/>
            </a:solidFill>
            <a:prstDash val="solid"/>
          </a:ln>
        </p:spPr>
      </p:sp>
      <p:sp>
        <p:nvSpPr>
          <p:cNvPr id="24" name="Text 22"/>
          <p:cNvSpPr/>
          <p:nvPr/>
        </p:nvSpPr>
        <p:spPr>
          <a:xfrm>
            <a:off x="2286000" y="4887468"/>
            <a:ext cx="1143000" cy="256032"/>
          </a:xfrm>
          <a:prstGeom prst="rect">
            <a:avLst/>
          </a:prstGeom>
          <a:noFill/>
          <a:ln/>
        </p:spPr>
        <p:txBody>
          <a:bodyPr wrap="square" lIns="0" tIns="0" rIns="0" bIns="0" rtlCol="0" anchor="ctr"/>
          <a:lstStyle/>
          <a:p>
            <a:pPr algn="ctr" indent="0" marL="0">
              <a:buNone/>
            </a:pPr>
            <a:r>
              <a:rPr lang="en-US" sz="750" b="1" dirty="0">
                <a:solidFill>
                  <a:srgbClr val="0D1B2A"/>
                </a:solidFill>
                <a:latin typeface="Calibri" pitchFamily="34" charset="0"/>
                <a:ea typeface="Calibri" pitchFamily="34" charset="-122"/>
                <a:cs typeface="Calibri" pitchFamily="34" charset="-120"/>
              </a:rPr>
              <a:t>Context &amp; Prompting</a:t>
            </a:r>
            <a:endParaRPr lang="en-US" sz="750" dirty="0"/>
          </a:p>
        </p:txBody>
      </p:sp>
      <p:sp>
        <p:nvSpPr>
          <p:cNvPr id="25" name="Shape 23"/>
          <p:cNvSpPr/>
          <p:nvPr/>
        </p:nvSpPr>
        <p:spPr>
          <a:xfrm>
            <a:off x="3429000" y="4887468"/>
            <a:ext cx="1143000" cy="256032"/>
          </a:xfrm>
          <a:prstGeom prst="rect">
            <a:avLst/>
          </a:prstGeom>
          <a:solidFill>
            <a:srgbClr val="1A2E45"/>
          </a:solidFill>
          <a:ln w="12700">
            <a:solidFill>
              <a:srgbClr val="1A2E45"/>
            </a:solidFill>
            <a:prstDash val="solid"/>
          </a:ln>
        </p:spPr>
      </p:sp>
      <p:sp>
        <p:nvSpPr>
          <p:cNvPr id="26" name="Text 24"/>
          <p:cNvSpPr/>
          <p:nvPr/>
        </p:nvSpPr>
        <p:spPr>
          <a:xfrm>
            <a:off x="3429000" y="4887468"/>
            <a:ext cx="1143000" cy="256032"/>
          </a:xfrm>
          <a:prstGeom prst="rect">
            <a:avLst/>
          </a:prstGeom>
          <a:noFill/>
          <a:ln/>
        </p:spPr>
        <p:txBody>
          <a:bodyPr wrap="square" lIns="0" tIns="0" rIns="0" bIns="0" rtlCol="0" anchor="ctr"/>
          <a:lstStyle/>
          <a:p>
            <a:pPr algn="ctr" indent="0" marL="0">
              <a:buNone/>
            </a:pPr>
            <a:r>
              <a:rPr lang="en-US" sz="750" dirty="0">
                <a:solidFill>
                  <a:srgbClr val="3A5068"/>
                </a:solidFill>
                <a:latin typeface="Calibri" pitchFamily="34" charset="0"/>
                <a:ea typeface="Calibri" pitchFamily="34" charset="-122"/>
                <a:cs typeface="Calibri" pitchFamily="34" charset="-120"/>
              </a:rPr>
              <a:t>Models &amp; Modes</a:t>
            </a:r>
            <a:endParaRPr lang="en-US" sz="750" dirty="0"/>
          </a:p>
        </p:txBody>
      </p:sp>
      <p:sp>
        <p:nvSpPr>
          <p:cNvPr id="27" name="Shape 25"/>
          <p:cNvSpPr/>
          <p:nvPr/>
        </p:nvSpPr>
        <p:spPr>
          <a:xfrm>
            <a:off x="4572000" y="4887468"/>
            <a:ext cx="1143000" cy="256032"/>
          </a:xfrm>
          <a:prstGeom prst="rect">
            <a:avLst/>
          </a:prstGeom>
          <a:solidFill>
            <a:srgbClr val="1A2E45"/>
          </a:solidFill>
          <a:ln w="12700">
            <a:solidFill>
              <a:srgbClr val="1A2E45"/>
            </a:solidFill>
            <a:prstDash val="solid"/>
          </a:ln>
        </p:spPr>
      </p:sp>
      <p:sp>
        <p:nvSpPr>
          <p:cNvPr id="28" name="Text 26"/>
          <p:cNvSpPr/>
          <p:nvPr/>
        </p:nvSpPr>
        <p:spPr>
          <a:xfrm>
            <a:off x="4572000" y="4887468"/>
            <a:ext cx="1143000" cy="256032"/>
          </a:xfrm>
          <a:prstGeom prst="rect">
            <a:avLst/>
          </a:prstGeom>
          <a:noFill/>
          <a:ln/>
        </p:spPr>
        <p:txBody>
          <a:bodyPr wrap="square" lIns="0" tIns="0" rIns="0" bIns="0" rtlCol="0" anchor="ctr"/>
          <a:lstStyle/>
          <a:p>
            <a:pPr algn="ctr" indent="0" marL="0">
              <a:buNone/>
            </a:pPr>
            <a:r>
              <a:rPr lang="en-US" sz="750" dirty="0">
                <a:solidFill>
                  <a:srgbClr val="3A5068"/>
                </a:solidFill>
                <a:latin typeface="Calibri" pitchFamily="34" charset="0"/>
                <a:ea typeface="Calibri" pitchFamily="34" charset="-122"/>
                <a:cs typeface="Calibri" pitchFamily="34" charset="-120"/>
              </a:rPr>
              <a:t>Governance</a:t>
            </a:r>
            <a:endParaRPr lang="en-US" sz="750" dirty="0"/>
          </a:p>
        </p:txBody>
      </p:sp>
      <p:sp>
        <p:nvSpPr>
          <p:cNvPr id="29" name="Shape 27"/>
          <p:cNvSpPr/>
          <p:nvPr/>
        </p:nvSpPr>
        <p:spPr>
          <a:xfrm>
            <a:off x="5715000" y="4887468"/>
            <a:ext cx="1143000" cy="256032"/>
          </a:xfrm>
          <a:prstGeom prst="rect">
            <a:avLst/>
          </a:prstGeom>
          <a:solidFill>
            <a:srgbClr val="1A2E45"/>
          </a:solidFill>
          <a:ln w="12700">
            <a:solidFill>
              <a:srgbClr val="1A2E45"/>
            </a:solidFill>
            <a:prstDash val="solid"/>
          </a:ln>
        </p:spPr>
      </p:sp>
      <p:sp>
        <p:nvSpPr>
          <p:cNvPr id="30" name="Text 28"/>
          <p:cNvSpPr/>
          <p:nvPr/>
        </p:nvSpPr>
        <p:spPr>
          <a:xfrm>
            <a:off x="5715000" y="4887468"/>
            <a:ext cx="1143000" cy="256032"/>
          </a:xfrm>
          <a:prstGeom prst="rect">
            <a:avLst/>
          </a:prstGeom>
          <a:noFill/>
          <a:ln/>
        </p:spPr>
        <p:txBody>
          <a:bodyPr wrap="square" lIns="0" tIns="0" rIns="0" bIns="0" rtlCol="0" anchor="ctr"/>
          <a:lstStyle/>
          <a:p>
            <a:pPr algn="ctr" indent="0" marL="0">
              <a:buNone/>
            </a:pPr>
            <a:r>
              <a:rPr lang="en-US" sz="750" dirty="0">
                <a:solidFill>
                  <a:srgbClr val="3A5068"/>
                </a:solidFill>
                <a:latin typeface="Calibri" pitchFamily="34" charset="0"/>
                <a:ea typeface="Calibri" pitchFamily="34" charset="-122"/>
                <a:cs typeface="Calibri" pitchFamily="34" charset="-120"/>
              </a:rPr>
              <a:t>Architecture</a:t>
            </a:r>
            <a:endParaRPr lang="en-US" sz="750" dirty="0"/>
          </a:p>
        </p:txBody>
      </p:sp>
      <p:sp>
        <p:nvSpPr>
          <p:cNvPr id="31" name="Shape 29"/>
          <p:cNvSpPr/>
          <p:nvPr/>
        </p:nvSpPr>
        <p:spPr>
          <a:xfrm>
            <a:off x="6858000" y="4887468"/>
            <a:ext cx="1143000" cy="256032"/>
          </a:xfrm>
          <a:prstGeom prst="rect">
            <a:avLst/>
          </a:prstGeom>
          <a:solidFill>
            <a:srgbClr val="1A2E45"/>
          </a:solidFill>
          <a:ln w="12700">
            <a:solidFill>
              <a:srgbClr val="1A2E45"/>
            </a:solidFill>
            <a:prstDash val="solid"/>
          </a:ln>
        </p:spPr>
      </p:sp>
      <p:sp>
        <p:nvSpPr>
          <p:cNvPr id="32" name="Text 30"/>
          <p:cNvSpPr/>
          <p:nvPr/>
        </p:nvSpPr>
        <p:spPr>
          <a:xfrm>
            <a:off x="6858000" y="4887468"/>
            <a:ext cx="1143000" cy="256032"/>
          </a:xfrm>
          <a:prstGeom prst="rect">
            <a:avLst/>
          </a:prstGeom>
          <a:noFill/>
          <a:ln/>
        </p:spPr>
        <p:txBody>
          <a:bodyPr wrap="square" lIns="0" tIns="0" rIns="0" bIns="0" rtlCol="0" anchor="ctr"/>
          <a:lstStyle/>
          <a:p>
            <a:pPr algn="ctr" indent="0" marL="0">
              <a:buNone/>
            </a:pPr>
            <a:r>
              <a:rPr lang="en-US" sz="750" dirty="0">
                <a:solidFill>
                  <a:srgbClr val="3A5068"/>
                </a:solidFill>
                <a:latin typeface="Calibri" pitchFamily="34" charset="0"/>
                <a:ea typeface="Calibri" pitchFamily="34" charset="-122"/>
                <a:cs typeface="Calibri" pitchFamily="34" charset="-120"/>
              </a:rPr>
              <a:t>Best Practices</a:t>
            </a:r>
            <a:endParaRPr lang="en-US" sz="750" dirty="0"/>
          </a:p>
        </p:txBody>
      </p:sp>
      <p:sp>
        <p:nvSpPr>
          <p:cNvPr id="33" name="Shape 31"/>
          <p:cNvSpPr/>
          <p:nvPr/>
        </p:nvSpPr>
        <p:spPr>
          <a:xfrm>
            <a:off x="8001000" y="4887468"/>
            <a:ext cx="1143000" cy="256032"/>
          </a:xfrm>
          <a:prstGeom prst="rect">
            <a:avLst/>
          </a:prstGeom>
          <a:solidFill>
            <a:srgbClr val="1A2E45"/>
          </a:solidFill>
          <a:ln w="12700">
            <a:solidFill>
              <a:srgbClr val="1A2E45"/>
            </a:solidFill>
            <a:prstDash val="solid"/>
          </a:ln>
        </p:spPr>
      </p:sp>
      <p:sp>
        <p:nvSpPr>
          <p:cNvPr id="34" name="Text 32"/>
          <p:cNvSpPr/>
          <p:nvPr/>
        </p:nvSpPr>
        <p:spPr>
          <a:xfrm>
            <a:off x="8001000" y="4887468"/>
            <a:ext cx="1143000" cy="256032"/>
          </a:xfrm>
          <a:prstGeom prst="rect">
            <a:avLst/>
          </a:prstGeom>
          <a:noFill/>
          <a:ln/>
        </p:spPr>
        <p:txBody>
          <a:bodyPr wrap="square" lIns="0" tIns="0" rIns="0" bIns="0" rtlCol="0" anchor="ctr"/>
          <a:lstStyle/>
          <a:p>
            <a:pPr algn="ctr" indent="0" marL="0">
              <a:buNone/>
            </a:pPr>
            <a:r>
              <a:rPr lang="en-US" sz="750" dirty="0">
                <a:solidFill>
                  <a:srgbClr val="3A5068"/>
                </a:solidFill>
                <a:latin typeface="Calibri" pitchFamily="34" charset="0"/>
                <a:ea typeface="Calibri" pitchFamily="34" charset="-122"/>
                <a:cs typeface="Calibri" pitchFamily="34" charset="-120"/>
              </a:rPr>
              <a:t>Reference</a:t>
            </a:r>
            <a:endParaRPr lang="en-US" sz="7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D1B2A"/>
          </a:solidFill>
          <a:ln w="12700">
            <a:solidFill>
              <a:srgbClr val="0D1B2A"/>
            </a:solidFill>
            <a:prstDash val="solid"/>
          </a:ln>
        </p:spPr>
      </p:sp>
      <p:sp>
        <p:nvSpPr>
          <p:cNvPr id="3" name="Text 1"/>
          <p:cNvSpPr/>
          <p:nvPr/>
        </p:nvSpPr>
        <p:spPr>
          <a:xfrm>
            <a:off x="457200" y="0"/>
            <a:ext cx="8229600" cy="822960"/>
          </a:xfrm>
          <a:prstGeom prst="rect">
            <a:avLst/>
          </a:prstGeom>
          <a:noFill/>
          <a:ln/>
        </p:spPr>
        <p:txBody>
          <a:bodyPr wrap="square" lIns="0" tIns="0" rIns="0" bIns="0" rtlCol="0" anchor="ctr"/>
          <a:lstStyle/>
          <a:p>
            <a:pPr indent="0" marL="0">
              <a:buNone/>
            </a:pPr>
            <a:r>
              <a:rPr lang="en-US" sz="2000" b="1" dirty="0">
                <a:solidFill>
                  <a:srgbClr val="FFFFFF"/>
                </a:solidFill>
                <a:latin typeface="Cambria" pitchFamily="34" charset="0"/>
                <a:ea typeface="Cambria" pitchFamily="34" charset="-122"/>
                <a:cs typeface="Cambria" pitchFamily="34" charset="-120"/>
              </a:rPr>
              <a:t>03  ·  Advanced Prompting Techniques</a:t>
            </a:r>
            <a:endParaRPr lang="en-US" sz="2000" dirty="0"/>
          </a:p>
        </p:txBody>
      </p:sp>
      <p:sp>
        <p:nvSpPr>
          <p:cNvPr id="4" name="Text 2"/>
          <p:cNvSpPr/>
          <p:nvPr/>
        </p:nvSpPr>
        <p:spPr>
          <a:xfrm>
            <a:off x="457200" y="914400"/>
            <a:ext cx="8229600" cy="411480"/>
          </a:xfrm>
          <a:prstGeom prst="rect">
            <a:avLst/>
          </a:prstGeom>
          <a:noFill/>
          <a:ln/>
        </p:spPr>
        <p:txBody>
          <a:bodyPr wrap="square" rtlCol="0" anchor="ctr"/>
          <a:lstStyle/>
          <a:p>
            <a:pPr indent="0" marL="0">
              <a:buNone/>
            </a:pPr>
            <a:r>
              <a:rPr lang="en-US" sz="1600" b="1" dirty="0">
                <a:solidFill>
                  <a:srgbClr val="0D1B2A"/>
                </a:solidFill>
                <a:latin typeface="Cambria" pitchFamily="34" charset="0"/>
                <a:ea typeface="Cambria" pitchFamily="34" charset="-122"/>
                <a:cs typeface="Cambria" pitchFamily="34" charset="-120"/>
              </a:rPr>
              <a:t>Terse Prompting ('Caveman Speak')</a:t>
            </a:r>
            <a:endParaRPr lang="en-US" sz="1600" dirty="0"/>
          </a:p>
        </p:txBody>
      </p:sp>
      <p:sp>
        <p:nvSpPr>
          <p:cNvPr id="5" name="Shape 3"/>
          <p:cNvSpPr/>
          <p:nvPr/>
        </p:nvSpPr>
        <p:spPr>
          <a:xfrm>
            <a:off x="365760" y="1371600"/>
            <a:ext cx="3931920" cy="1828800"/>
          </a:xfrm>
          <a:prstGeom prst="roundRect">
            <a:avLst>
              <a:gd name="adj" fmla="val 4000"/>
            </a:avLst>
          </a:prstGeom>
          <a:solidFill>
            <a:srgbClr val="FEF2F2"/>
          </a:solidFill>
          <a:ln w="12700">
            <a:solidFill>
              <a:srgbClr val="EF4444">
                <a:alpha val="40000"/>
              </a:srgbClr>
            </a:solidFill>
            <a:prstDash val="solid"/>
          </a:ln>
        </p:spPr>
      </p:sp>
      <p:sp>
        <p:nvSpPr>
          <p:cNvPr id="6" name="Text 4"/>
          <p:cNvSpPr/>
          <p:nvPr/>
        </p:nvSpPr>
        <p:spPr>
          <a:xfrm>
            <a:off x="365760" y="1371600"/>
            <a:ext cx="3931920" cy="411480"/>
          </a:xfrm>
          <a:prstGeom prst="rect">
            <a:avLst/>
          </a:prstGeom>
          <a:noFill/>
          <a:ln/>
        </p:spPr>
        <p:txBody>
          <a:bodyPr wrap="square" lIns="0" tIns="0" rIns="0" bIns="0" rtlCol="0" anchor="ctr"/>
          <a:lstStyle/>
          <a:p>
            <a:pPr algn="ctr" indent="0" marL="0">
              <a:buNone/>
            </a:pPr>
            <a:r>
              <a:rPr lang="en-US" sz="1200" b="1" dirty="0">
                <a:solidFill>
                  <a:srgbClr val="EF4444"/>
                </a:solidFill>
                <a:latin typeface="Calibri" pitchFamily="34" charset="0"/>
                <a:ea typeface="Calibri" pitchFamily="34" charset="-122"/>
                <a:cs typeface="Calibri" pitchFamily="34" charset="-120"/>
              </a:rPr>
              <a:t>❌  Verbose (High Cost)</a:t>
            </a:r>
            <a:endParaRPr lang="en-US" sz="1200" dirty="0"/>
          </a:p>
        </p:txBody>
      </p:sp>
      <p:sp>
        <p:nvSpPr>
          <p:cNvPr id="7" name="Text 5"/>
          <p:cNvSpPr/>
          <p:nvPr/>
        </p:nvSpPr>
        <p:spPr>
          <a:xfrm>
            <a:off x="457200" y="1810512"/>
            <a:ext cx="3749040" cy="1234440"/>
          </a:xfrm>
          <a:prstGeom prst="rect">
            <a:avLst/>
          </a:prstGeom>
          <a:noFill/>
          <a:ln/>
        </p:spPr>
        <p:txBody>
          <a:bodyPr wrap="square" rtlCol="0" anchor="ctr"/>
          <a:lstStyle/>
          <a:p>
            <a:pPr indent="0" marL="0">
              <a:buNone/>
            </a:pPr>
            <a:r>
              <a:rPr lang="en-US" sz="1200" i="1" dirty="0">
                <a:solidFill>
                  <a:srgbClr val="64748B"/>
                </a:solidFill>
                <a:latin typeface="Calibri" pitchFamily="34" charset="0"/>
                <a:ea typeface="Calibri" pitchFamily="34" charset="-122"/>
                <a:cs typeface="Calibri" pitchFamily="34" charset="-120"/>
              </a:rPr>
              <a:t>"Could you please help me write a function that takes a list of user objects and returns only those where the account is active? Thank you!"</a:t>
            </a:r>
            <a:endParaRPr lang="en-US" sz="1200" dirty="0"/>
          </a:p>
        </p:txBody>
      </p:sp>
      <p:sp>
        <p:nvSpPr>
          <p:cNvPr id="8" name="Text 6"/>
          <p:cNvSpPr/>
          <p:nvPr/>
        </p:nvSpPr>
        <p:spPr>
          <a:xfrm>
            <a:off x="4370832" y="2103120"/>
            <a:ext cx="457200" cy="365760"/>
          </a:xfrm>
          <a:prstGeom prst="rect">
            <a:avLst/>
          </a:prstGeom>
          <a:noFill/>
          <a:ln/>
        </p:spPr>
        <p:txBody>
          <a:bodyPr wrap="square" rtlCol="0" anchor="ctr"/>
          <a:lstStyle/>
          <a:p>
            <a:pPr algn="ctr" indent="0" marL="0">
              <a:buNone/>
            </a:pPr>
            <a:r>
              <a:rPr lang="en-US" sz="1800" dirty="0">
                <a:solidFill>
                  <a:srgbClr val="008C94"/>
                </a:solidFill>
              </a:rPr>
              <a:t>→</a:t>
            </a:r>
            <a:endParaRPr lang="en-US" sz="1800" dirty="0"/>
          </a:p>
        </p:txBody>
      </p:sp>
      <p:sp>
        <p:nvSpPr>
          <p:cNvPr id="9" name="Text 7"/>
          <p:cNvSpPr/>
          <p:nvPr/>
        </p:nvSpPr>
        <p:spPr>
          <a:xfrm>
            <a:off x="4315968" y="2423160"/>
            <a:ext cx="548640" cy="685800"/>
          </a:xfrm>
          <a:prstGeom prst="rect">
            <a:avLst/>
          </a:prstGeom>
          <a:noFill/>
          <a:ln/>
        </p:spPr>
        <p:txBody>
          <a:bodyPr wrap="square" rtlCol="0" anchor="ctr"/>
          <a:lstStyle/>
          <a:p>
            <a:pPr algn="ctr" indent="0" marL="0">
              <a:buNone/>
            </a:pPr>
            <a:r>
              <a:rPr lang="en-US" sz="900" b="1" dirty="0">
                <a:solidFill>
                  <a:srgbClr val="008C94"/>
                </a:solidFill>
                <a:latin typeface="Calibri" pitchFamily="34" charset="0"/>
                <a:ea typeface="Calibri" pitchFamily="34" charset="-122"/>
                <a:cs typeface="Calibri" pitchFamily="34" charset="-120"/>
              </a:rPr>
              <a:t>30–50%</a:t>
            </a:r>
            <a:endParaRPr lang="en-US" sz="900" dirty="0"/>
          </a:p>
          <a:p>
            <a:pPr algn="ctr" indent="0" marL="0">
              <a:buNone/>
            </a:pPr>
            <a:r>
              <a:rPr lang="en-US" sz="900" b="1" dirty="0">
                <a:solidFill>
                  <a:srgbClr val="008C94"/>
                </a:solidFill>
                <a:latin typeface="Calibri" pitchFamily="34" charset="0"/>
                <a:ea typeface="Calibri" pitchFamily="34" charset="-122"/>
                <a:cs typeface="Calibri" pitchFamily="34" charset="-120"/>
              </a:rPr>
              <a:t>fewer</a:t>
            </a:r>
            <a:endParaRPr lang="en-US" sz="900" dirty="0"/>
          </a:p>
          <a:p>
            <a:pPr algn="ctr" indent="0" marL="0">
              <a:buNone/>
            </a:pPr>
            <a:r>
              <a:rPr lang="en-US" sz="900" b="1" dirty="0">
                <a:solidFill>
                  <a:srgbClr val="008C94"/>
                </a:solidFill>
                <a:latin typeface="Calibri" pitchFamily="34" charset="0"/>
                <a:ea typeface="Calibri" pitchFamily="34" charset="-122"/>
                <a:cs typeface="Calibri" pitchFamily="34" charset="-120"/>
              </a:rPr>
              <a:t>tokens</a:t>
            </a:r>
            <a:endParaRPr lang="en-US" sz="900" dirty="0"/>
          </a:p>
        </p:txBody>
      </p:sp>
      <p:sp>
        <p:nvSpPr>
          <p:cNvPr id="10" name="Shape 8"/>
          <p:cNvSpPr/>
          <p:nvPr/>
        </p:nvSpPr>
        <p:spPr>
          <a:xfrm>
            <a:off x="4892040" y="1371600"/>
            <a:ext cx="3886200" cy="1828800"/>
          </a:xfrm>
          <a:prstGeom prst="roundRect">
            <a:avLst>
              <a:gd name="adj" fmla="val 4000"/>
            </a:avLst>
          </a:prstGeom>
          <a:solidFill>
            <a:srgbClr val="F0FDF4"/>
          </a:solidFill>
          <a:ln w="12700">
            <a:solidFill>
              <a:srgbClr val="10B981">
                <a:alpha val="40000"/>
              </a:srgbClr>
            </a:solidFill>
            <a:prstDash val="solid"/>
          </a:ln>
        </p:spPr>
      </p:sp>
      <p:sp>
        <p:nvSpPr>
          <p:cNvPr id="11" name="Text 9"/>
          <p:cNvSpPr/>
          <p:nvPr/>
        </p:nvSpPr>
        <p:spPr>
          <a:xfrm>
            <a:off x="4892040" y="1371600"/>
            <a:ext cx="3886200" cy="411480"/>
          </a:xfrm>
          <a:prstGeom prst="rect">
            <a:avLst/>
          </a:prstGeom>
          <a:noFill/>
          <a:ln/>
        </p:spPr>
        <p:txBody>
          <a:bodyPr wrap="square" lIns="0" tIns="0" rIns="0" bIns="0" rtlCol="0" anchor="ctr"/>
          <a:lstStyle/>
          <a:p>
            <a:pPr algn="ctr" indent="0" marL="0">
              <a:buNone/>
            </a:pPr>
            <a:r>
              <a:rPr lang="en-US" sz="1200" b="1" dirty="0">
                <a:solidFill>
                  <a:srgbClr val="10B981"/>
                </a:solidFill>
                <a:latin typeface="Calibri" pitchFamily="34" charset="0"/>
                <a:ea typeface="Calibri" pitchFamily="34" charset="-122"/>
                <a:cs typeface="Calibri" pitchFamily="34" charset="-120"/>
              </a:rPr>
              <a:t>✅  Terse (Low Cost)</a:t>
            </a:r>
            <a:endParaRPr lang="en-US" sz="1200" dirty="0"/>
          </a:p>
        </p:txBody>
      </p:sp>
      <p:sp>
        <p:nvSpPr>
          <p:cNvPr id="12" name="Text 10"/>
          <p:cNvSpPr/>
          <p:nvPr/>
        </p:nvSpPr>
        <p:spPr>
          <a:xfrm>
            <a:off x="4983480" y="1874520"/>
            <a:ext cx="3703320" cy="1188720"/>
          </a:xfrm>
          <a:prstGeom prst="rect">
            <a:avLst/>
          </a:prstGeom>
          <a:noFill/>
          <a:ln/>
        </p:spPr>
        <p:txBody>
          <a:bodyPr wrap="square" rtlCol="0" anchor="ctr"/>
          <a:lstStyle/>
          <a:p>
            <a:pPr indent="0" marL="0">
              <a:buNone/>
            </a:pPr>
            <a:r>
              <a:rPr lang="en-US" sz="1400" i="1" dirty="0">
                <a:solidFill>
                  <a:srgbClr val="64748B"/>
                </a:solidFill>
                <a:latin typeface="Calibri" pitchFamily="34" charset="0"/>
                <a:ea typeface="Calibri" pitchFamily="34" charset="-122"/>
                <a:cs typeface="Calibri" pitchFamily="34" charset="-120"/>
              </a:rPr>
              <a:t>"fn filter active users from list"</a:t>
            </a:r>
            <a:endParaRPr lang="en-US" sz="1400" dirty="0"/>
          </a:p>
        </p:txBody>
      </p:sp>
      <p:sp>
        <p:nvSpPr>
          <p:cNvPr id="13" name="Shape 11"/>
          <p:cNvSpPr/>
          <p:nvPr/>
        </p:nvSpPr>
        <p:spPr>
          <a:xfrm>
            <a:off x="365760" y="3337560"/>
            <a:ext cx="8412480" cy="1417320"/>
          </a:xfrm>
          <a:prstGeom prst="roundRect">
            <a:avLst>
              <a:gd name="adj" fmla="val 5161"/>
            </a:avLst>
          </a:prstGeom>
          <a:solidFill>
            <a:srgbClr val="EFF6F7"/>
          </a:solidFill>
          <a:ln w="12700">
            <a:solidFill>
              <a:srgbClr val="E2E8F0"/>
            </a:solidFill>
            <a:prstDash val="solid"/>
          </a:ln>
          <a:effectLst>
            <a:outerShdw sx="100000" sy="100000" kx="0" ky="0" algn="bl" rotWithShape="0" blurRad="101600" dist="38100" dir="2700000">
              <a:srgbClr val="000000">
                <a:alpha val="12000"/>
              </a:srgbClr>
            </a:outerShdw>
          </a:effectLst>
        </p:spPr>
      </p:sp>
      <p:sp>
        <p:nvSpPr>
          <p:cNvPr id="14" name="Text 12"/>
          <p:cNvSpPr/>
          <p:nvPr/>
        </p:nvSpPr>
        <p:spPr>
          <a:xfrm>
            <a:off x="594360" y="3429000"/>
            <a:ext cx="5486400" cy="384048"/>
          </a:xfrm>
          <a:prstGeom prst="rect">
            <a:avLst/>
          </a:prstGeom>
          <a:noFill/>
          <a:ln/>
        </p:spPr>
        <p:txBody>
          <a:bodyPr wrap="square" lIns="0" tIns="0" rIns="0" bIns="0" rtlCol="0" anchor="ctr"/>
          <a:lstStyle/>
          <a:p>
            <a:pPr indent="0" marL="0">
              <a:buNone/>
            </a:pPr>
            <a:r>
              <a:rPr lang="en-US" sz="1500" b="1" dirty="0">
                <a:solidFill>
                  <a:srgbClr val="0D1B2A"/>
                </a:solidFill>
                <a:latin typeface="Cambria" pitchFamily="34" charset="0"/>
                <a:ea typeface="Cambria" pitchFamily="34" charset="-122"/>
                <a:cs typeface="Cambria" pitchFamily="34" charset="-120"/>
              </a:rPr>
              <a:t>Fresh Conversations = Zero-Cost Token Reset</a:t>
            </a:r>
            <a:endParaRPr lang="en-US" sz="1500" dirty="0"/>
          </a:p>
        </p:txBody>
      </p:sp>
      <p:sp>
        <p:nvSpPr>
          <p:cNvPr id="15" name="Text 13"/>
          <p:cNvSpPr/>
          <p:nvPr/>
        </p:nvSpPr>
        <p:spPr>
          <a:xfrm>
            <a:off x="594360" y="3822192"/>
            <a:ext cx="6583680" cy="777240"/>
          </a:xfrm>
          <a:prstGeom prst="rect">
            <a:avLst/>
          </a:prstGeom>
          <a:noFill/>
          <a:ln/>
        </p:spPr>
        <p:txBody>
          <a:bodyPr wrap="square" lIns="0" tIns="0" rIns="0" bIns="0" rtlCol="0" anchor="ctr"/>
          <a:lstStyle/>
          <a:p>
            <a:pPr indent="0" marL="0">
              <a:buNone/>
            </a:pPr>
            <a:r>
              <a:rPr lang="en-US" sz="1200" dirty="0">
                <a:solidFill>
                  <a:srgbClr val="64748B"/>
                </a:solidFill>
                <a:latin typeface="Calibri" pitchFamily="34" charset="0"/>
                <a:ea typeface="Calibri" pitchFamily="34" charset="-122"/>
                <a:cs typeface="Calibri" pitchFamily="34" charset="-120"/>
              </a:rPr>
              <a:t>Copilot resends the ENTIRE thread history with every new message. Message 10 costs ~10× more than message 1.</a:t>
            </a:r>
            <a:endParaRPr lang="en-US" sz="1200" dirty="0"/>
          </a:p>
          <a:p>
            <a:pPr indent="0" marL="0">
              <a:buNone/>
            </a:pPr>
            <a:r>
              <a:rPr lang="en-US" sz="1200" dirty="0">
                <a:solidFill>
                  <a:srgbClr val="64748B"/>
                </a:solidFill>
                <a:latin typeface="Calibri" pitchFamily="34" charset="0"/>
                <a:ea typeface="Calibri" pitchFamily="34" charset="-122"/>
                <a:cs typeface="Calibri" pitchFamily="34" charset="-120"/>
              </a:rPr>
              <a:t>Use  Cmd/Ctrl + L  in VS Code to start a new chat for every new task.</a:t>
            </a:r>
            <a:endParaRPr lang="en-US" sz="1200" dirty="0"/>
          </a:p>
        </p:txBody>
      </p:sp>
      <p:sp>
        <p:nvSpPr>
          <p:cNvPr id="16" name="Shape 14"/>
          <p:cNvSpPr/>
          <p:nvPr/>
        </p:nvSpPr>
        <p:spPr>
          <a:xfrm>
            <a:off x="7269480" y="3429000"/>
            <a:ext cx="1371600" cy="1097280"/>
          </a:xfrm>
          <a:prstGeom prst="roundRect">
            <a:avLst>
              <a:gd name="adj" fmla="val 6667"/>
            </a:avLst>
          </a:prstGeom>
          <a:solidFill>
            <a:srgbClr val="0D1B2A"/>
          </a:solidFill>
          <a:ln w="12700">
            <a:solidFill>
              <a:srgbClr val="0D1B2A"/>
            </a:solidFill>
            <a:prstDash val="solid"/>
          </a:ln>
        </p:spPr>
      </p:sp>
      <p:sp>
        <p:nvSpPr>
          <p:cNvPr id="17" name="Text 15"/>
          <p:cNvSpPr/>
          <p:nvPr/>
        </p:nvSpPr>
        <p:spPr>
          <a:xfrm>
            <a:off x="7269480" y="3429000"/>
            <a:ext cx="1371600" cy="1097280"/>
          </a:xfrm>
          <a:prstGeom prst="rect">
            <a:avLst/>
          </a:prstGeom>
          <a:noFill/>
          <a:ln/>
        </p:spPr>
        <p:txBody>
          <a:bodyPr wrap="square" lIns="0" tIns="0" rIns="0" bIns="0" rtlCol="0" anchor="ctr"/>
          <a:lstStyle/>
          <a:p>
            <a:pPr algn="ctr" indent="0" marL="0">
              <a:buNone/>
            </a:pPr>
            <a:r>
              <a:rPr lang="en-US" sz="1300" b="1" dirty="0">
                <a:solidFill>
                  <a:srgbClr val="00C2CC"/>
                </a:solidFill>
                <a:latin typeface="Cambria" pitchFamily="34" charset="0"/>
                <a:ea typeface="Cambria" pitchFamily="34" charset="-122"/>
                <a:cs typeface="Cambria" pitchFamily="34" charset="-120"/>
              </a:rPr>
              <a:t>10×</a:t>
            </a:r>
            <a:endParaRPr lang="en-US" sz="1300" dirty="0"/>
          </a:p>
          <a:p>
            <a:pPr algn="ctr" indent="0" marL="0">
              <a:buNone/>
            </a:pPr>
            <a:r>
              <a:rPr lang="en-US" sz="1300" b="1" dirty="0">
                <a:solidFill>
                  <a:srgbClr val="00C2CC"/>
                </a:solidFill>
                <a:latin typeface="Cambria" pitchFamily="34" charset="0"/>
                <a:ea typeface="Cambria" pitchFamily="34" charset="-122"/>
                <a:cs typeface="Cambria" pitchFamily="34" charset="-120"/>
              </a:rPr>
              <a:t>cost at</a:t>
            </a:r>
            <a:endParaRPr lang="en-US" sz="1300" dirty="0"/>
          </a:p>
          <a:p>
            <a:pPr algn="ctr" indent="0" marL="0">
              <a:buNone/>
            </a:pPr>
            <a:r>
              <a:rPr lang="en-US" sz="1300" b="1" dirty="0">
                <a:solidFill>
                  <a:srgbClr val="00C2CC"/>
                </a:solidFill>
                <a:latin typeface="Cambria" pitchFamily="34" charset="0"/>
                <a:ea typeface="Cambria" pitchFamily="34" charset="-122"/>
                <a:cs typeface="Cambria" pitchFamily="34" charset="-120"/>
              </a:rPr>
              <a:t>msg 10</a:t>
            </a:r>
            <a:endParaRPr lang="en-US" sz="1300" dirty="0"/>
          </a:p>
        </p:txBody>
      </p:sp>
      <p:sp>
        <p:nvSpPr>
          <p:cNvPr id="18" name="Shape 16"/>
          <p:cNvSpPr/>
          <p:nvPr/>
        </p:nvSpPr>
        <p:spPr>
          <a:xfrm>
            <a:off x="0" y="4887468"/>
            <a:ext cx="1143000" cy="256032"/>
          </a:xfrm>
          <a:prstGeom prst="rect">
            <a:avLst/>
          </a:prstGeom>
          <a:solidFill>
            <a:srgbClr val="1A2E45"/>
          </a:solidFill>
          <a:ln w="12700">
            <a:solidFill>
              <a:srgbClr val="1A2E45"/>
            </a:solidFill>
            <a:prstDash val="solid"/>
          </a:ln>
        </p:spPr>
      </p:sp>
      <p:sp>
        <p:nvSpPr>
          <p:cNvPr id="19" name="Text 17"/>
          <p:cNvSpPr/>
          <p:nvPr/>
        </p:nvSpPr>
        <p:spPr>
          <a:xfrm>
            <a:off x="0" y="4887468"/>
            <a:ext cx="1143000" cy="256032"/>
          </a:xfrm>
          <a:prstGeom prst="rect">
            <a:avLst/>
          </a:prstGeom>
          <a:noFill/>
          <a:ln/>
        </p:spPr>
        <p:txBody>
          <a:bodyPr wrap="square" lIns="0" tIns="0" rIns="0" bIns="0" rtlCol="0" anchor="ctr"/>
          <a:lstStyle/>
          <a:p>
            <a:pPr algn="ctr" indent="0" marL="0">
              <a:buNone/>
            </a:pPr>
            <a:r>
              <a:rPr lang="en-US" sz="750" dirty="0">
                <a:solidFill>
                  <a:srgbClr val="3A5068"/>
                </a:solidFill>
                <a:latin typeface="Calibri" pitchFamily="34" charset="0"/>
                <a:ea typeface="Calibri" pitchFamily="34" charset="-122"/>
                <a:cs typeface="Calibri" pitchFamily="34" charset="-120"/>
              </a:rPr>
              <a:t>Overview</a:t>
            </a:r>
            <a:endParaRPr lang="en-US" sz="750" dirty="0"/>
          </a:p>
        </p:txBody>
      </p:sp>
      <p:sp>
        <p:nvSpPr>
          <p:cNvPr id="20" name="Shape 18"/>
          <p:cNvSpPr/>
          <p:nvPr/>
        </p:nvSpPr>
        <p:spPr>
          <a:xfrm>
            <a:off x="1143000" y="4887468"/>
            <a:ext cx="1143000" cy="256032"/>
          </a:xfrm>
          <a:prstGeom prst="rect">
            <a:avLst/>
          </a:prstGeom>
          <a:solidFill>
            <a:srgbClr val="1A2E45"/>
          </a:solidFill>
          <a:ln w="12700">
            <a:solidFill>
              <a:srgbClr val="1A2E45"/>
            </a:solidFill>
            <a:prstDash val="solid"/>
          </a:ln>
        </p:spPr>
      </p:sp>
      <p:sp>
        <p:nvSpPr>
          <p:cNvPr id="21" name="Text 19"/>
          <p:cNvSpPr/>
          <p:nvPr/>
        </p:nvSpPr>
        <p:spPr>
          <a:xfrm>
            <a:off x="1143000" y="4887468"/>
            <a:ext cx="1143000" cy="256032"/>
          </a:xfrm>
          <a:prstGeom prst="rect">
            <a:avLst/>
          </a:prstGeom>
          <a:noFill/>
          <a:ln/>
        </p:spPr>
        <p:txBody>
          <a:bodyPr wrap="square" lIns="0" tIns="0" rIns="0" bIns="0" rtlCol="0" anchor="ctr"/>
          <a:lstStyle/>
          <a:p>
            <a:pPr algn="ctr" indent="0" marL="0">
              <a:buNone/>
            </a:pPr>
            <a:r>
              <a:rPr lang="en-US" sz="750" dirty="0">
                <a:solidFill>
                  <a:srgbClr val="3A5068"/>
                </a:solidFill>
                <a:latin typeface="Calibri" pitchFamily="34" charset="0"/>
                <a:ea typeface="Calibri" pitchFamily="34" charset="-122"/>
                <a:cs typeface="Calibri" pitchFamily="34" charset="-120"/>
              </a:rPr>
              <a:t>Output Control</a:t>
            </a:r>
            <a:endParaRPr lang="en-US" sz="750" dirty="0"/>
          </a:p>
        </p:txBody>
      </p:sp>
      <p:sp>
        <p:nvSpPr>
          <p:cNvPr id="22" name="Shape 20"/>
          <p:cNvSpPr/>
          <p:nvPr/>
        </p:nvSpPr>
        <p:spPr>
          <a:xfrm>
            <a:off x="2286000" y="4887468"/>
            <a:ext cx="1143000" cy="256032"/>
          </a:xfrm>
          <a:prstGeom prst="rect">
            <a:avLst/>
          </a:prstGeom>
          <a:solidFill>
            <a:srgbClr val="F59E0B"/>
          </a:solidFill>
          <a:ln w="12700">
            <a:solidFill>
              <a:srgbClr val="F59E0B"/>
            </a:solidFill>
            <a:prstDash val="solid"/>
          </a:ln>
        </p:spPr>
      </p:sp>
      <p:sp>
        <p:nvSpPr>
          <p:cNvPr id="23" name="Text 21"/>
          <p:cNvSpPr/>
          <p:nvPr/>
        </p:nvSpPr>
        <p:spPr>
          <a:xfrm>
            <a:off x="2286000" y="4887468"/>
            <a:ext cx="1143000" cy="256032"/>
          </a:xfrm>
          <a:prstGeom prst="rect">
            <a:avLst/>
          </a:prstGeom>
          <a:noFill/>
          <a:ln/>
        </p:spPr>
        <p:txBody>
          <a:bodyPr wrap="square" lIns="0" tIns="0" rIns="0" bIns="0" rtlCol="0" anchor="ctr"/>
          <a:lstStyle/>
          <a:p>
            <a:pPr algn="ctr" indent="0" marL="0">
              <a:buNone/>
            </a:pPr>
            <a:r>
              <a:rPr lang="en-US" sz="750" b="1" dirty="0">
                <a:solidFill>
                  <a:srgbClr val="0D1B2A"/>
                </a:solidFill>
                <a:latin typeface="Calibri" pitchFamily="34" charset="0"/>
                <a:ea typeface="Calibri" pitchFamily="34" charset="-122"/>
                <a:cs typeface="Calibri" pitchFamily="34" charset="-120"/>
              </a:rPr>
              <a:t>Context &amp; Prompting</a:t>
            </a:r>
            <a:endParaRPr lang="en-US" sz="750" dirty="0"/>
          </a:p>
        </p:txBody>
      </p:sp>
      <p:sp>
        <p:nvSpPr>
          <p:cNvPr id="24" name="Shape 22"/>
          <p:cNvSpPr/>
          <p:nvPr/>
        </p:nvSpPr>
        <p:spPr>
          <a:xfrm>
            <a:off x="3429000" y="4887468"/>
            <a:ext cx="1143000" cy="256032"/>
          </a:xfrm>
          <a:prstGeom prst="rect">
            <a:avLst/>
          </a:prstGeom>
          <a:solidFill>
            <a:srgbClr val="1A2E45"/>
          </a:solidFill>
          <a:ln w="12700">
            <a:solidFill>
              <a:srgbClr val="1A2E45"/>
            </a:solidFill>
            <a:prstDash val="solid"/>
          </a:ln>
        </p:spPr>
      </p:sp>
      <p:sp>
        <p:nvSpPr>
          <p:cNvPr id="25" name="Text 23"/>
          <p:cNvSpPr/>
          <p:nvPr/>
        </p:nvSpPr>
        <p:spPr>
          <a:xfrm>
            <a:off x="3429000" y="4887468"/>
            <a:ext cx="1143000" cy="256032"/>
          </a:xfrm>
          <a:prstGeom prst="rect">
            <a:avLst/>
          </a:prstGeom>
          <a:noFill/>
          <a:ln/>
        </p:spPr>
        <p:txBody>
          <a:bodyPr wrap="square" lIns="0" tIns="0" rIns="0" bIns="0" rtlCol="0" anchor="ctr"/>
          <a:lstStyle/>
          <a:p>
            <a:pPr algn="ctr" indent="0" marL="0">
              <a:buNone/>
            </a:pPr>
            <a:r>
              <a:rPr lang="en-US" sz="750" dirty="0">
                <a:solidFill>
                  <a:srgbClr val="3A5068"/>
                </a:solidFill>
                <a:latin typeface="Calibri" pitchFamily="34" charset="0"/>
                <a:ea typeface="Calibri" pitchFamily="34" charset="-122"/>
                <a:cs typeface="Calibri" pitchFamily="34" charset="-120"/>
              </a:rPr>
              <a:t>Models &amp; Modes</a:t>
            </a:r>
            <a:endParaRPr lang="en-US" sz="750" dirty="0"/>
          </a:p>
        </p:txBody>
      </p:sp>
      <p:sp>
        <p:nvSpPr>
          <p:cNvPr id="26" name="Shape 24"/>
          <p:cNvSpPr/>
          <p:nvPr/>
        </p:nvSpPr>
        <p:spPr>
          <a:xfrm>
            <a:off x="4572000" y="4887468"/>
            <a:ext cx="1143000" cy="256032"/>
          </a:xfrm>
          <a:prstGeom prst="rect">
            <a:avLst/>
          </a:prstGeom>
          <a:solidFill>
            <a:srgbClr val="1A2E45"/>
          </a:solidFill>
          <a:ln w="12700">
            <a:solidFill>
              <a:srgbClr val="1A2E45"/>
            </a:solidFill>
            <a:prstDash val="solid"/>
          </a:ln>
        </p:spPr>
      </p:sp>
      <p:sp>
        <p:nvSpPr>
          <p:cNvPr id="27" name="Text 25"/>
          <p:cNvSpPr/>
          <p:nvPr/>
        </p:nvSpPr>
        <p:spPr>
          <a:xfrm>
            <a:off x="4572000" y="4887468"/>
            <a:ext cx="1143000" cy="256032"/>
          </a:xfrm>
          <a:prstGeom prst="rect">
            <a:avLst/>
          </a:prstGeom>
          <a:noFill/>
          <a:ln/>
        </p:spPr>
        <p:txBody>
          <a:bodyPr wrap="square" lIns="0" tIns="0" rIns="0" bIns="0" rtlCol="0" anchor="ctr"/>
          <a:lstStyle/>
          <a:p>
            <a:pPr algn="ctr" indent="0" marL="0">
              <a:buNone/>
            </a:pPr>
            <a:r>
              <a:rPr lang="en-US" sz="750" dirty="0">
                <a:solidFill>
                  <a:srgbClr val="3A5068"/>
                </a:solidFill>
                <a:latin typeface="Calibri" pitchFamily="34" charset="0"/>
                <a:ea typeface="Calibri" pitchFamily="34" charset="-122"/>
                <a:cs typeface="Calibri" pitchFamily="34" charset="-120"/>
              </a:rPr>
              <a:t>Governance</a:t>
            </a:r>
            <a:endParaRPr lang="en-US" sz="750" dirty="0"/>
          </a:p>
        </p:txBody>
      </p:sp>
      <p:sp>
        <p:nvSpPr>
          <p:cNvPr id="28" name="Shape 26"/>
          <p:cNvSpPr/>
          <p:nvPr/>
        </p:nvSpPr>
        <p:spPr>
          <a:xfrm>
            <a:off x="5715000" y="4887468"/>
            <a:ext cx="1143000" cy="256032"/>
          </a:xfrm>
          <a:prstGeom prst="rect">
            <a:avLst/>
          </a:prstGeom>
          <a:solidFill>
            <a:srgbClr val="1A2E45"/>
          </a:solidFill>
          <a:ln w="12700">
            <a:solidFill>
              <a:srgbClr val="1A2E45"/>
            </a:solidFill>
            <a:prstDash val="solid"/>
          </a:ln>
        </p:spPr>
      </p:sp>
      <p:sp>
        <p:nvSpPr>
          <p:cNvPr id="29" name="Text 27"/>
          <p:cNvSpPr/>
          <p:nvPr/>
        </p:nvSpPr>
        <p:spPr>
          <a:xfrm>
            <a:off x="5715000" y="4887468"/>
            <a:ext cx="1143000" cy="256032"/>
          </a:xfrm>
          <a:prstGeom prst="rect">
            <a:avLst/>
          </a:prstGeom>
          <a:noFill/>
          <a:ln/>
        </p:spPr>
        <p:txBody>
          <a:bodyPr wrap="square" lIns="0" tIns="0" rIns="0" bIns="0" rtlCol="0" anchor="ctr"/>
          <a:lstStyle/>
          <a:p>
            <a:pPr algn="ctr" indent="0" marL="0">
              <a:buNone/>
            </a:pPr>
            <a:r>
              <a:rPr lang="en-US" sz="750" dirty="0">
                <a:solidFill>
                  <a:srgbClr val="3A5068"/>
                </a:solidFill>
                <a:latin typeface="Calibri" pitchFamily="34" charset="0"/>
                <a:ea typeface="Calibri" pitchFamily="34" charset="-122"/>
                <a:cs typeface="Calibri" pitchFamily="34" charset="-120"/>
              </a:rPr>
              <a:t>Architecture</a:t>
            </a:r>
            <a:endParaRPr lang="en-US" sz="750" dirty="0"/>
          </a:p>
        </p:txBody>
      </p:sp>
      <p:sp>
        <p:nvSpPr>
          <p:cNvPr id="30" name="Shape 28"/>
          <p:cNvSpPr/>
          <p:nvPr/>
        </p:nvSpPr>
        <p:spPr>
          <a:xfrm>
            <a:off x="6858000" y="4887468"/>
            <a:ext cx="1143000" cy="256032"/>
          </a:xfrm>
          <a:prstGeom prst="rect">
            <a:avLst/>
          </a:prstGeom>
          <a:solidFill>
            <a:srgbClr val="1A2E45"/>
          </a:solidFill>
          <a:ln w="12700">
            <a:solidFill>
              <a:srgbClr val="1A2E45"/>
            </a:solidFill>
            <a:prstDash val="solid"/>
          </a:ln>
        </p:spPr>
      </p:sp>
      <p:sp>
        <p:nvSpPr>
          <p:cNvPr id="31" name="Text 29"/>
          <p:cNvSpPr/>
          <p:nvPr/>
        </p:nvSpPr>
        <p:spPr>
          <a:xfrm>
            <a:off x="6858000" y="4887468"/>
            <a:ext cx="1143000" cy="256032"/>
          </a:xfrm>
          <a:prstGeom prst="rect">
            <a:avLst/>
          </a:prstGeom>
          <a:noFill/>
          <a:ln/>
        </p:spPr>
        <p:txBody>
          <a:bodyPr wrap="square" lIns="0" tIns="0" rIns="0" bIns="0" rtlCol="0" anchor="ctr"/>
          <a:lstStyle/>
          <a:p>
            <a:pPr algn="ctr" indent="0" marL="0">
              <a:buNone/>
            </a:pPr>
            <a:r>
              <a:rPr lang="en-US" sz="750" dirty="0">
                <a:solidFill>
                  <a:srgbClr val="3A5068"/>
                </a:solidFill>
                <a:latin typeface="Calibri" pitchFamily="34" charset="0"/>
                <a:ea typeface="Calibri" pitchFamily="34" charset="-122"/>
                <a:cs typeface="Calibri" pitchFamily="34" charset="-120"/>
              </a:rPr>
              <a:t>Best Practices</a:t>
            </a:r>
            <a:endParaRPr lang="en-US" sz="750" dirty="0"/>
          </a:p>
        </p:txBody>
      </p:sp>
      <p:sp>
        <p:nvSpPr>
          <p:cNvPr id="32" name="Shape 30"/>
          <p:cNvSpPr/>
          <p:nvPr/>
        </p:nvSpPr>
        <p:spPr>
          <a:xfrm>
            <a:off x="8001000" y="4887468"/>
            <a:ext cx="1143000" cy="256032"/>
          </a:xfrm>
          <a:prstGeom prst="rect">
            <a:avLst/>
          </a:prstGeom>
          <a:solidFill>
            <a:srgbClr val="1A2E45"/>
          </a:solidFill>
          <a:ln w="12700">
            <a:solidFill>
              <a:srgbClr val="1A2E45"/>
            </a:solidFill>
            <a:prstDash val="solid"/>
          </a:ln>
        </p:spPr>
      </p:sp>
      <p:sp>
        <p:nvSpPr>
          <p:cNvPr id="33" name="Text 31"/>
          <p:cNvSpPr/>
          <p:nvPr/>
        </p:nvSpPr>
        <p:spPr>
          <a:xfrm>
            <a:off x="8001000" y="4887468"/>
            <a:ext cx="1143000" cy="256032"/>
          </a:xfrm>
          <a:prstGeom prst="rect">
            <a:avLst/>
          </a:prstGeom>
          <a:noFill/>
          <a:ln/>
        </p:spPr>
        <p:txBody>
          <a:bodyPr wrap="square" lIns="0" tIns="0" rIns="0" bIns="0" rtlCol="0" anchor="ctr"/>
          <a:lstStyle/>
          <a:p>
            <a:pPr algn="ctr" indent="0" marL="0">
              <a:buNone/>
            </a:pPr>
            <a:r>
              <a:rPr lang="en-US" sz="750" dirty="0">
                <a:solidFill>
                  <a:srgbClr val="3A5068"/>
                </a:solidFill>
                <a:latin typeface="Calibri" pitchFamily="34" charset="0"/>
                <a:ea typeface="Calibri" pitchFamily="34" charset="-122"/>
                <a:cs typeface="Calibri" pitchFamily="34" charset="-120"/>
              </a:rPr>
              <a:t>Reference</a:t>
            </a:r>
            <a:endParaRPr lang="en-US" sz="7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EFF6F7"/>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08C94"/>
          </a:solidFill>
          <a:ln w="12700">
            <a:solidFill>
              <a:srgbClr val="008C94"/>
            </a:solidFill>
            <a:prstDash val="solid"/>
          </a:ln>
        </p:spPr>
      </p:sp>
      <p:sp>
        <p:nvSpPr>
          <p:cNvPr id="3" name="Text 1"/>
          <p:cNvSpPr/>
          <p:nvPr/>
        </p:nvSpPr>
        <p:spPr>
          <a:xfrm>
            <a:off x="457200" y="0"/>
            <a:ext cx="8229600" cy="822960"/>
          </a:xfrm>
          <a:prstGeom prst="rect">
            <a:avLst/>
          </a:prstGeom>
          <a:noFill/>
          <a:ln/>
        </p:spPr>
        <p:txBody>
          <a:bodyPr wrap="square" lIns="0" tIns="0" rIns="0" bIns="0" rtlCol="0" anchor="ctr"/>
          <a:lstStyle/>
          <a:p>
            <a:pPr indent="0" marL="0">
              <a:buNone/>
            </a:pPr>
            <a:r>
              <a:rPr lang="en-US" sz="2000" b="1" dirty="0">
                <a:solidFill>
                  <a:srgbClr val="FFFFFF"/>
                </a:solidFill>
                <a:latin typeface="Cambria" pitchFamily="34" charset="0"/>
                <a:ea typeface="Cambria" pitchFamily="34" charset="-122"/>
                <a:cs typeface="Cambria" pitchFamily="34" charset="-120"/>
              </a:rPr>
              <a:t>04  ·  Model &amp; Mode Selection</a:t>
            </a:r>
            <a:endParaRPr lang="en-US" sz="2000" dirty="0"/>
          </a:p>
        </p:txBody>
      </p:sp>
      <p:sp>
        <p:nvSpPr>
          <p:cNvPr id="4" name="Text 2"/>
          <p:cNvSpPr/>
          <p:nvPr/>
        </p:nvSpPr>
        <p:spPr>
          <a:xfrm>
            <a:off x="457200" y="868680"/>
            <a:ext cx="8229600" cy="365760"/>
          </a:xfrm>
          <a:prstGeom prst="rect">
            <a:avLst/>
          </a:prstGeom>
          <a:noFill/>
          <a:ln/>
        </p:spPr>
        <p:txBody>
          <a:bodyPr wrap="square" rtlCol="0" anchor="ctr"/>
          <a:lstStyle/>
          <a:p>
            <a:pPr indent="0" marL="0">
              <a:buNone/>
            </a:pPr>
            <a:r>
              <a:rPr lang="en-US" sz="1200" i="1" dirty="0">
                <a:solidFill>
                  <a:srgbClr val="008C94"/>
                </a:solidFill>
                <a:latin typeface="Calibri" pitchFamily="34" charset="0"/>
                <a:ea typeface="Calibri" pitchFamily="34" charset="-122"/>
                <a:cs typeface="Calibri" pitchFamily="34" charset="-120"/>
              </a:rPr>
              <a:t>Match compute power to task complexity — don't use a supercomputer for a light bulb</a:t>
            </a:r>
            <a:endParaRPr lang="en-US" sz="1200" dirty="0"/>
          </a:p>
        </p:txBody>
      </p:sp>
      <p:sp>
        <p:nvSpPr>
          <p:cNvPr id="5" name="Shape 3"/>
          <p:cNvSpPr/>
          <p:nvPr/>
        </p:nvSpPr>
        <p:spPr>
          <a:xfrm>
            <a:off x="365760" y="1325880"/>
            <a:ext cx="2560320" cy="457200"/>
          </a:xfrm>
          <a:prstGeom prst="rect">
            <a:avLst/>
          </a:prstGeom>
          <a:solidFill>
            <a:srgbClr val="0D1B2A"/>
          </a:solidFill>
          <a:ln w="12700">
            <a:solidFill>
              <a:srgbClr val="0D1B2A"/>
            </a:solidFill>
            <a:prstDash val="solid"/>
          </a:ln>
        </p:spPr>
      </p:sp>
      <p:sp>
        <p:nvSpPr>
          <p:cNvPr id="6" name="Text 4"/>
          <p:cNvSpPr/>
          <p:nvPr/>
        </p:nvSpPr>
        <p:spPr>
          <a:xfrm>
            <a:off x="365760" y="1325880"/>
            <a:ext cx="2560320"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Task Type</a:t>
            </a:r>
            <a:endParaRPr lang="en-US" sz="1200" dirty="0"/>
          </a:p>
        </p:txBody>
      </p:sp>
      <p:sp>
        <p:nvSpPr>
          <p:cNvPr id="7" name="Shape 5"/>
          <p:cNvSpPr/>
          <p:nvPr/>
        </p:nvSpPr>
        <p:spPr>
          <a:xfrm>
            <a:off x="2971800" y="1325880"/>
            <a:ext cx="2194560" cy="457200"/>
          </a:xfrm>
          <a:prstGeom prst="rect">
            <a:avLst/>
          </a:prstGeom>
          <a:solidFill>
            <a:srgbClr val="0D1B2A"/>
          </a:solidFill>
          <a:ln w="12700">
            <a:solidFill>
              <a:srgbClr val="0D1B2A"/>
            </a:solidFill>
            <a:prstDash val="solid"/>
          </a:ln>
        </p:spPr>
      </p:sp>
      <p:sp>
        <p:nvSpPr>
          <p:cNvPr id="8" name="Text 6"/>
          <p:cNvSpPr/>
          <p:nvPr/>
        </p:nvSpPr>
        <p:spPr>
          <a:xfrm>
            <a:off x="2971800" y="1325880"/>
            <a:ext cx="2194560"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Recommended Model</a:t>
            </a:r>
            <a:endParaRPr lang="en-US" sz="1200" dirty="0"/>
          </a:p>
        </p:txBody>
      </p:sp>
      <p:sp>
        <p:nvSpPr>
          <p:cNvPr id="9" name="Shape 7"/>
          <p:cNvSpPr/>
          <p:nvPr/>
        </p:nvSpPr>
        <p:spPr>
          <a:xfrm>
            <a:off x="5212080" y="1325880"/>
            <a:ext cx="1280160" cy="457200"/>
          </a:xfrm>
          <a:prstGeom prst="rect">
            <a:avLst/>
          </a:prstGeom>
          <a:solidFill>
            <a:srgbClr val="0D1B2A"/>
          </a:solidFill>
          <a:ln w="12700">
            <a:solidFill>
              <a:srgbClr val="0D1B2A"/>
            </a:solidFill>
            <a:prstDash val="solid"/>
          </a:ln>
        </p:spPr>
      </p:sp>
      <p:sp>
        <p:nvSpPr>
          <p:cNvPr id="10" name="Text 8"/>
          <p:cNvSpPr/>
          <p:nvPr/>
        </p:nvSpPr>
        <p:spPr>
          <a:xfrm>
            <a:off x="5212080" y="1325880"/>
            <a:ext cx="1280160"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Mode</a:t>
            </a:r>
            <a:endParaRPr lang="en-US" sz="1200" dirty="0"/>
          </a:p>
        </p:txBody>
      </p:sp>
      <p:sp>
        <p:nvSpPr>
          <p:cNvPr id="11" name="Shape 9"/>
          <p:cNvSpPr/>
          <p:nvPr/>
        </p:nvSpPr>
        <p:spPr>
          <a:xfrm>
            <a:off x="6537960" y="1325880"/>
            <a:ext cx="2011680" cy="457200"/>
          </a:xfrm>
          <a:prstGeom prst="rect">
            <a:avLst/>
          </a:prstGeom>
          <a:solidFill>
            <a:srgbClr val="0D1B2A"/>
          </a:solidFill>
          <a:ln w="12700">
            <a:solidFill>
              <a:srgbClr val="0D1B2A"/>
            </a:solidFill>
            <a:prstDash val="solid"/>
          </a:ln>
        </p:spPr>
      </p:sp>
      <p:sp>
        <p:nvSpPr>
          <p:cNvPr id="12" name="Text 10"/>
          <p:cNvSpPr/>
          <p:nvPr/>
        </p:nvSpPr>
        <p:spPr>
          <a:xfrm>
            <a:off x="6537960" y="1325880"/>
            <a:ext cx="2011680"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Cost Impact</a:t>
            </a:r>
            <a:endParaRPr lang="en-US" sz="1200" dirty="0"/>
          </a:p>
        </p:txBody>
      </p:sp>
      <p:sp>
        <p:nvSpPr>
          <p:cNvPr id="13" name="Shape 11"/>
          <p:cNvSpPr/>
          <p:nvPr/>
        </p:nvSpPr>
        <p:spPr>
          <a:xfrm>
            <a:off x="365760" y="1810512"/>
            <a:ext cx="2560320" cy="530352"/>
          </a:xfrm>
          <a:prstGeom prst="rect">
            <a:avLst/>
          </a:prstGeom>
          <a:solidFill>
            <a:srgbClr val="FFFFFF"/>
          </a:solidFill>
          <a:ln w="12700">
            <a:solidFill>
              <a:srgbClr val="E2E8F0"/>
            </a:solidFill>
            <a:prstDash val="solid"/>
          </a:ln>
        </p:spPr>
      </p:sp>
      <p:sp>
        <p:nvSpPr>
          <p:cNvPr id="14" name="Text 12"/>
          <p:cNvSpPr/>
          <p:nvPr/>
        </p:nvSpPr>
        <p:spPr>
          <a:xfrm>
            <a:off x="365760" y="1810512"/>
            <a:ext cx="2560320" cy="530352"/>
          </a:xfrm>
          <a:prstGeom prst="rect">
            <a:avLst/>
          </a:prstGeom>
          <a:noFill/>
          <a:ln/>
        </p:spPr>
        <p:txBody>
          <a:bodyPr wrap="square" lIns="0" tIns="0" rIns="0" bIns="0" rtlCol="0" anchor="ctr"/>
          <a:lstStyle/>
          <a:p>
            <a:pPr algn="ctr" indent="0" marL="0">
              <a:buNone/>
            </a:pPr>
            <a:r>
              <a:rPr lang="en-US" sz="1150" dirty="0">
                <a:solidFill>
                  <a:srgbClr val="64748B"/>
                </a:solidFill>
                <a:latin typeface="Calibri" pitchFamily="34" charset="0"/>
                <a:ea typeface="Calibri" pitchFamily="34" charset="-122"/>
                <a:cs typeface="Calibri" pitchFamily="34" charset="-120"/>
              </a:rPr>
              <a:t>Variable renaming, Q&amp;A</a:t>
            </a:r>
            <a:endParaRPr lang="en-US" sz="1150" dirty="0"/>
          </a:p>
        </p:txBody>
      </p:sp>
      <p:sp>
        <p:nvSpPr>
          <p:cNvPr id="15" name="Shape 13"/>
          <p:cNvSpPr/>
          <p:nvPr/>
        </p:nvSpPr>
        <p:spPr>
          <a:xfrm>
            <a:off x="2971800" y="1810512"/>
            <a:ext cx="2194560" cy="530352"/>
          </a:xfrm>
          <a:prstGeom prst="rect">
            <a:avLst/>
          </a:prstGeom>
          <a:solidFill>
            <a:srgbClr val="FFFFFF"/>
          </a:solidFill>
          <a:ln w="12700">
            <a:solidFill>
              <a:srgbClr val="E2E8F0"/>
            </a:solidFill>
            <a:prstDash val="solid"/>
          </a:ln>
        </p:spPr>
      </p:sp>
      <p:sp>
        <p:nvSpPr>
          <p:cNvPr id="16" name="Text 14"/>
          <p:cNvSpPr/>
          <p:nvPr/>
        </p:nvSpPr>
        <p:spPr>
          <a:xfrm>
            <a:off x="2971800" y="1810512"/>
            <a:ext cx="2194560" cy="530352"/>
          </a:xfrm>
          <a:prstGeom prst="rect">
            <a:avLst/>
          </a:prstGeom>
          <a:noFill/>
          <a:ln/>
        </p:spPr>
        <p:txBody>
          <a:bodyPr wrap="square" lIns="0" tIns="0" rIns="0" bIns="0" rtlCol="0" anchor="ctr"/>
          <a:lstStyle/>
          <a:p>
            <a:pPr algn="ctr" indent="0" marL="0">
              <a:buNone/>
            </a:pPr>
            <a:r>
              <a:rPr lang="en-US" sz="1150" dirty="0">
                <a:solidFill>
                  <a:srgbClr val="64748B"/>
                </a:solidFill>
                <a:latin typeface="Calibri" pitchFamily="34" charset="0"/>
                <a:ea typeface="Calibri" pitchFamily="34" charset="-122"/>
                <a:cs typeface="Calibri" pitchFamily="34" charset="-120"/>
              </a:rPr>
              <a:t>Haiku / GPT-4o Mini</a:t>
            </a:r>
            <a:endParaRPr lang="en-US" sz="1150" dirty="0"/>
          </a:p>
        </p:txBody>
      </p:sp>
      <p:sp>
        <p:nvSpPr>
          <p:cNvPr id="17" name="Shape 15"/>
          <p:cNvSpPr/>
          <p:nvPr/>
        </p:nvSpPr>
        <p:spPr>
          <a:xfrm>
            <a:off x="5212080" y="1810512"/>
            <a:ext cx="1280160" cy="530352"/>
          </a:xfrm>
          <a:prstGeom prst="rect">
            <a:avLst/>
          </a:prstGeom>
          <a:solidFill>
            <a:srgbClr val="FFFFFF"/>
          </a:solidFill>
          <a:ln w="12700">
            <a:solidFill>
              <a:srgbClr val="E2E8F0"/>
            </a:solidFill>
            <a:prstDash val="solid"/>
          </a:ln>
        </p:spPr>
      </p:sp>
      <p:sp>
        <p:nvSpPr>
          <p:cNvPr id="18" name="Text 16"/>
          <p:cNvSpPr/>
          <p:nvPr/>
        </p:nvSpPr>
        <p:spPr>
          <a:xfrm>
            <a:off x="5212080" y="1810512"/>
            <a:ext cx="1280160" cy="530352"/>
          </a:xfrm>
          <a:prstGeom prst="rect">
            <a:avLst/>
          </a:prstGeom>
          <a:noFill/>
          <a:ln/>
        </p:spPr>
        <p:txBody>
          <a:bodyPr wrap="square" lIns="0" tIns="0" rIns="0" bIns="0" rtlCol="0" anchor="ctr"/>
          <a:lstStyle/>
          <a:p>
            <a:pPr algn="ctr" indent="0" marL="0">
              <a:buNone/>
            </a:pPr>
            <a:r>
              <a:rPr lang="en-US" sz="1150" dirty="0">
                <a:solidFill>
                  <a:srgbClr val="64748B"/>
                </a:solidFill>
                <a:latin typeface="Calibri" pitchFamily="34" charset="0"/>
                <a:ea typeface="Calibri" pitchFamily="34" charset="-122"/>
                <a:cs typeface="Calibri" pitchFamily="34" charset="-120"/>
              </a:rPr>
              <a:t>Ask</a:t>
            </a:r>
            <a:endParaRPr lang="en-US" sz="1150" dirty="0"/>
          </a:p>
        </p:txBody>
      </p:sp>
      <p:sp>
        <p:nvSpPr>
          <p:cNvPr id="19" name="Shape 17"/>
          <p:cNvSpPr/>
          <p:nvPr/>
        </p:nvSpPr>
        <p:spPr>
          <a:xfrm>
            <a:off x="6537960" y="1810512"/>
            <a:ext cx="2011680" cy="530352"/>
          </a:xfrm>
          <a:prstGeom prst="rect">
            <a:avLst/>
          </a:prstGeom>
          <a:solidFill>
            <a:srgbClr val="FFFFFF"/>
          </a:solidFill>
          <a:ln w="12700">
            <a:solidFill>
              <a:srgbClr val="E2E8F0"/>
            </a:solidFill>
            <a:prstDash val="solid"/>
          </a:ln>
        </p:spPr>
      </p:sp>
      <p:sp>
        <p:nvSpPr>
          <p:cNvPr id="20" name="Text 18"/>
          <p:cNvSpPr/>
          <p:nvPr/>
        </p:nvSpPr>
        <p:spPr>
          <a:xfrm>
            <a:off x="6537960" y="1810512"/>
            <a:ext cx="2011680" cy="530352"/>
          </a:xfrm>
          <a:prstGeom prst="rect">
            <a:avLst/>
          </a:prstGeom>
          <a:noFill/>
          <a:ln/>
        </p:spPr>
        <p:txBody>
          <a:bodyPr wrap="square" lIns="0" tIns="0" rIns="0" bIns="0" rtlCol="0" anchor="ctr"/>
          <a:lstStyle/>
          <a:p>
            <a:pPr algn="ctr" indent="0" marL="0">
              <a:buNone/>
            </a:pPr>
            <a:r>
              <a:rPr lang="en-US" sz="1150" b="1" dirty="0">
                <a:solidFill>
                  <a:srgbClr val="10B981"/>
                </a:solidFill>
                <a:latin typeface="Calibri" pitchFamily="34" charset="0"/>
                <a:ea typeface="Calibri" pitchFamily="34" charset="-122"/>
                <a:cs typeface="Calibri" pitchFamily="34" charset="-120"/>
              </a:rPr>
              <a:t>Low cost</a:t>
            </a:r>
            <a:endParaRPr lang="en-US" sz="1150" dirty="0"/>
          </a:p>
        </p:txBody>
      </p:sp>
      <p:sp>
        <p:nvSpPr>
          <p:cNvPr id="21" name="Shape 19"/>
          <p:cNvSpPr/>
          <p:nvPr/>
        </p:nvSpPr>
        <p:spPr>
          <a:xfrm>
            <a:off x="365760" y="2377440"/>
            <a:ext cx="2560320" cy="530352"/>
          </a:xfrm>
          <a:prstGeom prst="rect">
            <a:avLst/>
          </a:prstGeom>
          <a:solidFill>
            <a:srgbClr val="EFF6F7"/>
          </a:solidFill>
          <a:ln w="12700">
            <a:solidFill>
              <a:srgbClr val="E2E8F0"/>
            </a:solidFill>
            <a:prstDash val="solid"/>
          </a:ln>
        </p:spPr>
      </p:sp>
      <p:sp>
        <p:nvSpPr>
          <p:cNvPr id="22" name="Text 20"/>
          <p:cNvSpPr/>
          <p:nvPr/>
        </p:nvSpPr>
        <p:spPr>
          <a:xfrm>
            <a:off x="365760" y="2377440"/>
            <a:ext cx="2560320" cy="530352"/>
          </a:xfrm>
          <a:prstGeom prst="rect">
            <a:avLst/>
          </a:prstGeom>
          <a:noFill/>
          <a:ln/>
        </p:spPr>
        <p:txBody>
          <a:bodyPr wrap="square" lIns="0" tIns="0" rIns="0" bIns="0" rtlCol="0" anchor="ctr"/>
          <a:lstStyle/>
          <a:p>
            <a:pPr algn="ctr" indent="0" marL="0">
              <a:buNone/>
            </a:pPr>
            <a:r>
              <a:rPr lang="en-US" sz="1150" dirty="0">
                <a:solidFill>
                  <a:srgbClr val="64748B"/>
                </a:solidFill>
                <a:latin typeface="Calibri" pitchFamily="34" charset="0"/>
                <a:ea typeface="Calibri" pitchFamily="34" charset="-122"/>
                <a:cs typeface="Calibri" pitchFamily="34" charset="-120"/>
              </a:rPr>
              <a:t>Code generation, refactoring</a:t>
            </a:r>
            <a:endParaRPr lang="en-US" sz="1150" dirty="0"/>
          </a:p>
        </p:txBody>
      </p:sp>
      <p:sp>
        <p:nvSpPr>
          <p:cNvPr id="23" name="Shape 21"/>
          <p:cNvSpPr/>
          <p:nvPr/>
        </p:nvSpPr>
        <p:spPr>
          <a:xfrm>
            <a:off x="2971800" y="2377440"/>
            <a:ext cx="2194560" cy="530352"/>
          </a:xfrm>
          <a:prstGeom prst="rect">
            <a:avLst/>
          </a:prstGeom>
          <a:solidFill>
            <a:srgbClr val="EFF6F7"/>
          </a:solidFill>
          <a:ln w="12700">
            <a:solidFill>
              <a:srgbClr val="E2E8F0"/>
            </a:solidFill>
            <a:prstDash val="solid"/>
          </a:ln>
        </p:spPr>
      </p:sp>
      <p:sp>
        <p:nvSpPr>
          <p:cNvPr id="24" name="Text 22"/>
          <p:cNvSpPr/>
          <p:nvPr/>
        </p:nvSpPr>
        <p:spPr>
          <a:xfrm>
            <a:off x="2971800" y="2377440"/>
            <a:ext cx="2194560" cy="530352"/>
          </a:xfrm>
          <a:prstGeom prst="rect">
            <a:avLst/>
          </a:prstGeom>
          <a:noFill/>
          <a:ln/>
        </p:spPr>
        <p:txBody>
          <a:bodyPr wrap="square" lIns="0" tIns="0" rIns="0" bIns="0" rtlCol="0" anchor="ctr"/>
          <a:lstStyle/>
          <a:p>
            <a:pPr algn="ctr" indent="0" marL="0">
              <a:buNone/>
            </a:pPr>
            <a:r>
              <a:rPr lang="en-US" sz="1150" dirty="0">
                <a:solidFill>
                  <a:srgbClr val="64748B"/>
                </a:solidFill>
                <a:latin typeface="Calibri" pitchFamily="34" charset="0"/>
                <a:ea typeface="Calibri" pitchFamily="34" charset="-122"/>
                <a:cs typeface="Calibri" pitchFamily="34" charset="-120"/>
              </a:rPr>
              <a:t>GPT-4o / Claude Sonnet</a:t>
            </a:r>
            <a:endParaRPr lang="en-US" sz="1150" dirty="0"/>
          </a:p>
        </p:txBody>
      </p:sp>
      <p:sp>
        <p:nvSpPr>
          <p:cNvPr id="25" name="Shape 23"/>
          <p:cNvSpPr/>
          <p:nvPr/>
        </p:nvSpPr>
        <p:spPr>
          <a:xfrm>
            <a:off x="5212080" y="2377440"/>
            <a:ext cx="1280160" cy="530352"/>
          </a:xfrm>
          <a:prstGeom prst="rect">
            <a:avLst/>
          </a:prstGeom>
          <a:solidFill>
            <a:srgbClr val="EFF6F7"/>
          </a:solidFill>
          <a:ln w="12700">
            <a:solidFill>
              <a:srgbClr val="E2E8F0"/>
            </a:solidFill>
            <a:prstDash val="solid"/>
          </a:ln>
        </p:spPr>
      </p:sp>
      <p:sp>
        <p:nvSpPr>
          <p:cNvPr id="26" name="Text 24"/>
          <p:cNvSpPr/>
          <p:nvPr/>
        </p:nvSpPr>
        <p:spPr>
          <a:xfrm>
            <a:off x="5212080" y="2377440"/>
            <a:ext cx="1280160" cy="530352"/>
          </a:xfrm>
          <a:prstGeom prst="rect">
            <a:avLst/>
          </a:prstGeom>
          <a:noFill/>
          <a:ln/>
        </p:spPr>
        <p:txBody>
          <a:bodyPr wrap="square" lIns="0" tIns="0" rIns="0" bIns="0" rtlCol="0" anchor="ctr"/>
          <a:lstStyle/>
          <a:p>
            <a:pPr algn="ctr" indent="0" marL="0">
              <a:buNone/>
            </a:pPr>
            <a:r>
              <a:rPr lang="en-US" sz="1150" dirty="0">
                <a:solidFill>
                  <a:srgbClr val="64748B"/>
                </a:solidFill>
                <a:latin typeface="Calibri" pitchFamily="34" charset="0"/>
                <a:ea typeface="Calibri" pitchFamily="34" charset="-122"/>
                <a:cs typeface="Calibri" pitchFamily="34" charset="-120"/>
              </a:rPr>
              <a:t>Ask</a:t>
            </a:r>
            <a:endParaRPr lang="en-US" sz="1150" dirty="0"/>
          </a:p>
        </p:txBody>
      </p:sp>
      <p:sp>
        <p:nvSpPr>
          <p:cNvPr id="27" name="Shape 25"/>
          <p:cNvSpPr/>
          <p:nvPr/>
        </p:nvSpPr>
        <p:spPr>
          <a:xfrm>
            <a:off x="6537960" y="2377440"/>
            <a:ext cx="2011680" cy="530352"/>
          </a:xfrm>
          <a:prstGeom prst="rect">
            <a:avLst/>
          </a:prstGeom>
          <a:solidFill>
            <a:srgbClr val="EFF6F7"/>
          </a:solidFill>
          <a:ln w="12700">
            <a:solidFill>
              <a:srgbClr val="E2E8F0"/>
            </a:solidFill>
            <a:prstDash val="solid"/>
          </a:ln>
        </p:spPr>
      </p:sp>
      <p:sp>
        <p:nvSpPr>
          <p:cNvPr id="28" name="Text 26"/>
          <p:cNvSpPr/>
          <p:nvPr/>
        </p:nvSpPr>
        <p:spPr>
          <a:xfrm>
            <a:off x="6537960" y="2377440"/>
            <a:ext cx="2011680" cy="530352"/>
          </a:xfrm>
          <a:prstGeom prst="rect">
            <a:avLst/>
          </a:prstGeom>
          <a:noFill/>
          <a:ln/>
        </p:spPr>
        <p:txBody>
          <a:bodyPr wrap="square" lIns="0" tIns="0" rIns="0" bIns="0" rtlCol="0" anchor="ctr"/>
          <a:lstStyle/>
          <a:p>
            <a:pPr algn="ctr" indent="0" marL="0">
              <a:buNone/>
            </a:pPr>
            <a:r>
              <a:rPr lang="en-US" sz="1150" b="1" dirty="0">
                <a:solidFill>
                  <a:srgbClr val="F59E0B"/>
                </a:solidFill>
                <a:latin typeface="Calibri" pitchFamily="34" charset="0"/>
                <a:ea typeface="Calibri" pitchFamily="34" charset="-122"/>
                <a:cs typeface="Calibri" pitchFamily="34" charset="-120"/>
              </a:rPr>
              <a:t>Medium cost</a:t>
            </a:r>
            <a:endParaRPr lang="en-US" sz="1150" dirty="0"/>
          </a:p>
        </p:txBody>
      </p:sp>
      <p:sp>
        <p:nvSpPr>
          <p:cNvPr id="29" name="Shape 27"/>
          <p:cNvSpPr/>
          <p:nvPr/>
        </p:nvSpPr>
        <p:spPr>
          <a:xfrm>
            <a:off x="365760" y="2944368"/>
            <a:ext cx="2560320" cy="530352"/>
          </a:xfrm>
          <a:prstGeom prst="rect">
            <a:avLst/>
          </a:prstGeom>
          <a:solidFill>
            <a:srgbClr val="FFFFFF"/>
          </a:solidFill>
          <a:ln w="12700">
            <a:solidFill>
              <a:srgbClr val="E2E8F0"/>
            </a:solidFill>
            <a:prstDash val="solid"/>
          </a:ln>
        </p:spPr>
      </p:sp>
      <p:sp>
        <p:nvSpPr>
          <p:cNvPr id="30" name="Text 28"/>
          <p:cNvSpPr/>
          <p:nvPr/>
        </p:nvSpPr>
        <p:spPr>
          <a:xfrm>
            <a:off x="365760" y="2944368"/>
            <a:ext cx="2560320" cy="530352"/>
          </a:xfrm>
          <a:prstGeom prst="rect">
            <a:avLst/>
          </a:prstGeom>
          <a:noFill/>
          <a:ln/>
        </p:spPr>
        <p:txBody>
          <a:bodyPr wrap="square" lIns="0" tIns="0" rIns="0" bIns="0" rtlCol="0" anchor="ctr"/>
          <a:lstStyle/>
          <a:p>
            <a:pPr algn="ctr" indent="0" marL="0">
              <a:buNone/>
            </a:pPr>
            <a:r>
              <a:rPr lang="en-US" sz="1150" dirty="0">
                <a:solidFill>
                  <a:srgbClr val="64748B"/>
                </a:solidFill>
                <a:latin typeface="Calibri" pitchFamily="34" charset="0"/>
                <a:ea typeface="Calibri" pitchFamily="34" charset="-122"/>
                <a:cs typeface="Calibri" pitchFamily="34" charset="-120"/>
              </a:rPr>
              <a:t>Complex architecture, reasoning</a:t>
            </a:r>
            <a:endParaRPr lang="en-US" sz="1150" dirty="0"/>
          </a:p>
        </p:txBody>
      </p:sp>
      <p:sp>
        <p:nvSpPr>
          <p:cNvPr id="31" name="Shape 29"/>
          <p:cNvSpPr/>
          <p:nvPr/>
        </p:nvSpPr>
        <p:spPr>
          <a:xfrm>
            <a:off x="2971800" y="2944368"/>
            <a:ext cx="2194560" cy="530352"/>
          </a:xfrm>
          <a:prstGeom prst="rect">
            <a:avLst/>
          </a:prstGeom>
          <a:solidFill>
            <a:srgbClr val="FFFFFF"/>
          </a:solidFill>
          <a:ln w="12700">
            <a:solidFill>
              <a:srgbClr val="E2E8F0"/>
            </a:solidFill>
            <a:prstDash val="solid"/>
          </a:ln>
        </p:spPr>
      </p:sp>
      <p:sp>
        <p:nvSpPr>
          <p:cNvPr id="32" name="Text 30"/>
          <p:cNvSpPr/>
          <p:nvPr/>
        </p:nvSpPr>
        <p:spPr>
          <a:xfrm>
            <a:off x="2971800" y="2944368"/>
            <a:ext cx="2194560" cy="530352"/>
          </a:xfrm>
          <a:prstGeom prst="rect">
            <a:avLst/>
          </a:prstGeom>
          <a:noFill/>
          <a:ln/>
        </p:spPr>
        <p:txBody>
          <a:bodyPr wrap="square" lIns="0" tIns="0" rIns="0" bIns="0" rtlCol="0" anchor="ctr"/>
          <a:lstStyle/>
          <a:p>
            <a:pPr algn="ctr" indent="0" marL="0">
              <a:buNone/>
            </a:pPr>
            <a:r>
              <a:rPr lang="en-US" sz="1150" dirty="0">
                <a:solidFill>
                  <a:srgbClr val="64748B"/>
                </a:solidFill>
                <a:latin typeface="Calibri" pitchFamily="34" charset="0"/>
                <a:ea typeface="Calibri" pitchFamily="34" charset="-122"/>
                <a:cs typeface="Calibri" pitchFamily="34" charset="-120"/>
              </a:rPr>
              <a:t>Claude Opus / GPT-5</a:t>
            </a:r>
            <a:endParaRPr lang="en-US" sz="1150" dirty="0"/>
          </a:p>
        </p:txBody>
      </p:sp>
      <p:sp>
        <p:nvSpPr>
          <p:cNvPr id="33" name="Shape 31"/>
          <p:cNvSpPr/>
          <p:nvPr/>
        </p:nvSpPr>
        <p:spPr>
          <a:xfrm>
            <a:off x="5212080" y="2944368"/>
            <a:ext cx="1280160" cy="530352"/>
          </a:xfrm>
          <a:prstGeom prst="rect">
            <a:avLst/>
          </a:prstGeom>
          <a:solidFill>
            <a:srgbClr val="FFFFFF"/>
          </a:solidFill>
          <a:ln w="12700">
            <a:solidFill>
              <a:srgbClr val="E2E8F0"/>
            </a:solidFill>
            <a:prstDash val="solid"/>
          </a:ln>
        </p:spPr>
      </p:sp>
      <p:sp>
        <p:nvSpPr>
          <p:cNvPr id="34" name="Text 32"/>
          <p:cNvSpPr/>
          <p:nvPr/>
        </p:nvSpPr>
        <p:spPr>
          <a:xfrm>
            <a:off x="5212080" y="2944368"/>
            <a:ext cx="1280160" cy="530352"/>
          </a:xfrm>
          <a:prstGeom prst="rect">
            <a:avLst/>
          </a:prstGeom>
          <a:noFill/>
          <a:ln/>
        </p:spPr>
        <p:txBody>
          <a:bodyPr wrap="square" lIns="0" tIns="0" rIns="0" bIns="0" rtlCol="0" anchor="ctr"/>
          <a:lstStyle/>
          <a:p>
            <a:pPr algn="ctr" indent="0" marL="0">
              <a:buNone/>
            </a:pPr>
            <a:r>
              <a:rPr lang="en-US" sz="1150" dirty="0">
                <a:solidFill>
                  <a:srgbClr val="64748B"/>
                </a:solidFill>
                <a:latin typeface="Calibri" pitchFamily="34" charset="0"/>
                <a:ea typeface="Calibri" pitchFamily="34" charset="-122"/>
                <a:cs typeface="Calibri" pitchFamily="34" charset="-120"/>
              </a:rPr>
              <a:t>Ask</a:t>
            </a:r>
            <a:endParaRPr lang="en-US" sz="1150" dirty="0"/>
          </a:p>
        </p:txBody>
      </p:sp>
      <p:sp>
        <p:nvSpPr>
          <p:cNvPr id="35" name="Shape 33"/>
          <p:cNvSpPr/>
          <p:nvPr/>
        </p:nvSpPr>
        <p:spPr>
          <a:xfrm>
            <a:off x="6537960" y="2944368"/>
            <a:ext cx="2011680" cy="530352"/>
          </a:xfrm>
          <a:prstGeom prst="rect">
            <a:avLst/>
          </a:prstGeom>
          <a:solidFill>
            <a:srgbClr val="FFFFFF"/>
          </a:solidFill>
          <a:ln w="12700">
            <a:solidFill>
              <a:srgbClr val="E2E8F0"/>
            </a:solidFill>
            <a:prstDash val="solid"/>
          </a:ln>
        </p:spPr>
      </p:sp>
      <p:sp>
        <p:nvSpPr>
          <p:cNvPr id="36" name="Text 34"/>
          <p:cNvSpPr/>
          <p:nvPr/>
        </p:nvSpPr>
        <p:spPr>
          <a:xfrm>
            <a:off x="6537960" y="2944368"/>
            <a:ext cx="2011680" cy="530352"/>
          </a:xfrm>
          <a:prstGeom prst="rect">
            <a:avLst/>
          </a:prstGeom>
          <a:noFill/>
          <a:ln/>
        </p:spPr>
        <p:txBody>
          <a:bodyPr wrap="square" lIns="0" tIns="0" rIns="0" bIns="0" rtlCol="0" anchor="ctr"/>
          <a:lstStyle/>
          <a:p>
            <a:pPr algn="ctr" indent="0" marL="0">
              <a:buNone/>
            </a:pPr>
            <a:r>
              <a:rPr lang="en-US" sz="1150" b="1" dirty="0">
                <a:solidFill>
                  <a:srgbClr val="F59E0B"/>
                </a:solidFill>
                <a:latin typeface="Calibri" pitchFamily="34" charset="0"/>
                <a:ea typeface="Calibri" pitchFamily="34" charset="-122"/>
                <a:cs typeface="Calibri" pitchFamily="34" charset="-120"/>
              </a:rPr>
              <a:t>Higher — justified</a:t>
            </a:r>
            <a:endParaRPr lang="en-US" sz="1150" dirty="0"/>
          </a:p>
        </p:txBody>
      </p:sp>
      <p:sp>
        <p:nvSpPr>
          <p:cNvPr id="37" name="Shape 35"/>
          <p:cNvSpPr/>
          <p:nvPr/>
        </p:nvSpPr>
        <p:spPr>
          <a:xfrm>
            <a:off x="365760" y="3511296"/>
            <a:ext cx="2560320" cy="530352"/>
          </a:xfrm>
          <a:prstGeom prst="rect">
            <a:avLst/>
          </a:prstGeom>
          <a:solidFill>
            <a:srgbClr val="EFF6F7"/>
          </a:solidFill>
          <a:ln w="12700">
            <a:solidFill>
              <a:srgbClr val="E2E8F0"/>
            </a:solidFill>
            <a:prstDash val="solid"/>
          </a:ln>
        </p:spPr>
      </p:sp>
      <p:sp>
        <p:nvSpPr>
          <p:cNvPr id="38" name="Text 36"/>
          <p:cNvSpPr/>
          <p:nvPr/>
        </p:nvSpPr>
        <p:spPr>
          <a:xfrm>
            <a:off x="365760" y="3511296"/>
            <a:ext cx="2560320" cy="530352"/>
          </a:xfrm>
          <a:prstGeom prst="rect">
            <a:avLst/>
          </a:prstGeom>
          <a:noFill/>
          <a:ln/>
        </p:spPr>
        <p:txBody>
          <a:bodyPr wrap="square" lIns="0" tIns="0" rIns="0" bIns="0" rtlCol="0" anchor="ctr"/>
          <a:lstStyle/>
          <a:p>
            <a:pPr algn="ctr" indent="0" marL="0">
              <a:buNone/>
            </a:pPr>
            <a:r>
              <a:rPr lang="en-US" sz="1150" dirty="0">
                <a:solidFill>
                  <a:srgbClr val="64748B"/>
                </a:solidFill>
                <a:latin typeface="Calibri" pitchFamily="34" charset="0"/>
                <a:ea typeface="Calibri" pitchFamily="34" charset="-122"/>
                <a:cs typeface="Calibri" pitchFamily="34" charset="-120"/>
              </a:rPr>
              <a:t>Multi-step agentic workflows</a:t>
            </a:r>
            <a:endParaRPr lang="en-US" sz="1150" dirty="0"/>
          </a:p>
        </p:txBody>
      </p:sp>
      <p:sp>
        <p:nvSpPr>
          <p:cNvPr id="39" name="Shape 37"/>
          <p:cNvSpPr/>
          <p:nvPr/>
        </p:nvSpPr>
        <p:spPr>
          <a:xfrm>
            <a:off x="2971800" y="3511296"/>
            <a:ext cx="2194560" cy="530352"/>
          </a:xfrm>
          <a:prstGeom prst="rect">
            <a:avLst/>
          </a:prstGeom>
          <a:solidFill>
            <a:srgbClr val="EFF6F7"/>
          </a:solidFill>
          <a:ln w="12700">
            <a:solidFill>
              <a:srgbClr val="E2E8F0"/>
            </a:solidFill>
            <a:prstDash val="solid"/>
          </a:ln>
        </p:spPr>
      </p:sp>
      <p:sp>
        <p:nvSpPr>
          <p:cNvPr id="40" name="Text 38"/>
          <p:cNvSpPr/>
          <p:nvPr/>
        </p:nvSpPr>
        <p:spPr>
          <a:xfrm>
            <a:off x="2971800" y="3511296"/>
            <a:ext cx="2194560" cy="530352"/>
          </a:xfrm>
          <a:prstGeom prst="rect">
            <a:avLst/>
          </a:prstGeom>
          <a:noFill/>
          <a:ln/>
        </p:spPr>
        <p:txBody>
          <a:bodyPr wrap="square" lIns="0" tIns="0" rIns="0" bIns="0" rtlCol="0" anchor="ctr"/>
          <a:lstStyle/>
          <a:p>
            <a:pPr algn="ctr" indent="0" marL="0">
              <a:buNone/>
            </a:pPr>
            <a:r>
              <a:rPr lang="en-US" sz="1150" dirty="0">
                <a:solidFill>
                  <a:srgbClr val="64748B"/>
                </a:solidFill>
                <a:latin typeface="Calibri" pitchFamily="34" charset="0"/>
                <a:ea typeface="Calibri" pitchFamily="34" charset="-122"/>
                <a:cs typeface="Calibri" pitchFamily="34" charset="-120"/>
              </a:rPr>
              <a:t>Frontier model</a:t>
            </a:r>
            <a:endParaRPr lang="en-US" sz="1150" dirty="0"/>
          </a:p>
        </p:txBody>
      </p:sp>
      <p:sp>
        <p:nvSpPr>
          <p:cNvPr id="41" name="Shape 39"/>
          <p:cNvSpPr/>
          <p:nvPr/>
        </p:nvSpPr>
        <p:spPr>
          <a:xfrm>
            <a:off x="5212080" y="3511296"/>
            <a:ext cx="1280160" cy="530352"/>
          </a:xfrm>
          <a:prstGeom prst="rect">
            <a:avLst/>
          </a:prstGeom>
          <a:solidFill>
            <a:srgbClr val="EFF6F7"/>
          </a:solidFill>
          <a:ln w="12700">
            <a:solidFill>
              <a:srgbClr val="E2E8F0"/>
            </a:solidFill>
            <a:prstDash val="solid"/>
          </a:ln>
        </p:spPr>
      </p:sp>
      <p:sp>
        <p:nvSpPr>
          <p:cNvPr id="42" name="Text 40"/>
          <p:cNvSpPr/>
          <p:nvPr/>
        </p:nvSpPr>
        <p:spPr>
          <a:xfrm>
            <a:off x="5212080" y="3511296"/>
            <a:ext cx="1280160" cy="530352"/>
          </a:xfrm>
          <a:prstGeom prst="rect">
            <a:avLst/>
          </a:prstGeom>
          <a:noFill/>
          <a:ln/>
        </p:spPr>
        <p:txBody>
          <a:bodyPr wrap="square" lIns="0" tIns="0" rIns="0" bIns="0" rtlCol="0" anchor="ctr"/>
          <a:lstStyle/>
          <a:p>
            <a:pPr algn="ctr" indent="0" marL="0">
              <a:buNone/>
            </a:pPr>
            <a:r>
              <a:rPr lang="en-US" sz="1150" dirty="0">
                <a:solidFill>
                  <a:srgbClr val="64748B"/>
                </a:solidFill>
                <a:latin typeface="Calibri" pitchFamily="34" charset="0"/>
                <a:ea typeface="Calibri" pitchFamily="34" charset="-122"/>
                <a:cs typeface="Calibri" pitchFamily="34" charset="-120"/>
              </a:rPr>
              <a:t>Agent</a:t>
            </a:r>
            <a:endParaRPr lang="en-US" sz="1150" dirty="0"/>
          </a:p>
        </p:txBody>
      </p:sp>
      <p:sp>
        <p:nvSpPr>
          <p:cNvPr id="43" name="Shape 41"/>
          <p:cNvSpPr/>
          <p:nvPr/>
        </p:nvSpPr>
        <p:spPr>
          <a:xfrm>
            <a:off x="6537960" y="3511296"/>
            <a:ext cx="2011680" cy="530352"/>
          </a:xfrm>
          <a:prstGeom prst="rect">
            <a:avLst/>
          </a:prstGeom>
          <a:solidFill>
            <a:srgbClr val="EFF6F7"/>
          </a:solidFill>
          <a:ln w="12700">
            <a:solidFill>
              <a:srgbClr val="E2E8F0"/>
            </a:solidFill>
            <a:prstDash val="solid"/>
          </a:ln>
        </p:spPr>
      </p:sp>
      <p:sp>
        <p:nvSpPr>
          <p:cNvPr id="44" name="Text 42"/>
          <p:cNvSpPr/>
          <p:nvPr/>
        </p:nvSpPr>
        <p:spPr>
          <a:xfrm>
            <a:off x="6537960" y="3511296"/>
            <a:ext cx="2011680" cy="530352"/>
          </a:xfrm>
          <a:prstGeom prst="rect">
            <a:avLst/>
          </a:prstGeom>
          <a:noFill/>
          <a:ln/>
        </p:spPr>
        <p:txBody>
          <a:bodyPr wrap="square" lIns="0" tIns="0" rIns="0" bIns="0" rtlCol="0" anchor="ctr"/>
          <a:lstStyle/>
          <a:p>
            <a:pPr algn="ctr" indent="0" marL="0">
              <a:buNone/>
            </a:pPr>
            <a:r>
              <a:rPr lang="en-US" sz="1150" b="1" dirty="0">
                <a:solidFill>
                  <a:srgbClr val="EF4444"/>
                </a:solidFill>
                <a:latin typeface="Calibri" pitchFamily="34" charset="0"/>
                <a:ea typeface="Calibri" pitchFamily="34" charset="-122"/>
                <a:cs typeface="Calibri" pitchFamily="34" charset="-120"/>
              </a:rPr>
              <a:t>Highest — use sparingly</a:t>
            </a:r>
            <a:endParaRPr lang="en-US" sz="1150" dirty="0"/>
          </a:p>
        </p:txBody>
      </p:sp>
      <p:sp>
        <p:nvSpPr>
          <p:cNvPr id="45" name="Shape 43"/>
          <p:cNvSpPr/>
          <p:nvPr/>
        </p:nvSpPr>
        <p:spPr>
          <a:xfrm>
            <a:off x="365760" y="4160520"/>
            <a:ext cx="8412480" cy="640080"/>
          </a:xfrm>
          <a:prstGeom prst="roundRect">
            <a:avLst>
              <a:gd name="adj" fmla="val 11429"/>
            </a:avLst>
          </a:prstGeom>
          <a:solidFill>
            <a:srgbClr val="EF4444">
              <a:alpha val="12000"/>
            </a:srgbClr>
          </a:solidFill>
          <a:ln w="12700">
            <a:solidFill>
              <a:srgbClr val="EF4444">
                <a:alpha val="40000"/>
              </a:srgbClr>
            </a:solidFill>
            <a:prstDash val="solid"/>
          </a:ln>
        </p:spPr>
      </p:sp>
      <p:sp>
        <p:nvSpPr>
          <p:cNvPr id="46" name="Text 44"/>
          <p:cNvSpPr/>
          <p:nvPr/>
        </p:nvSpPr>
        <p:spPr>
          <a:xfrm>
            <a:off x="457200" y="4160520"/>
            <a:ext cx="8229600" cy="640080"/>
          </a:xfrm>
          <a:prstGeom prst="rect">
            <a:avLst/>
          </a:prstGeom>
          <a:noFill/>
          <a:ln/>
        </p:spPr>
        <p:txBody>
          <a:bodyPr wrap="square" lIns="0" tIns="0" rIns="0" bIns="0" rtlCol="0" anchor="ctr"/>
          <a:lstStyle/>
          <a:p>
            <a:pPr indent="0" marL="0">
              <a:buNone/>
            </a:pPr>
            <a:r>
              <a:rPr lang="en-US" sz="1200" b="1" dirty="0">
                <a:solidFill>
                  <a:srgbClr val="EF4444"/>
                </a:solidFill>
                <a:latin typeface="Calibri" pitchFamily="34" charset="0"/>
                <a:ea typeface="Calibri" pitchFamily="34" charset="-122"/>
                <a:cs typeface="Calibri" pitchFamily="34" charset="-120"/>
              </a:rPr>
              <a:t>⚠️  Agent Mode can cost 10× more than Ask Mode for the same simple query — always prefer Ask Mode for single-response tasks.</a:t>
            </a:r>
            <a:endParaRPr lang="en-US" sz="1200" dirty="0"/>
          </a:p>
        </p:txBody>
      </p:sp>
      <p:sp>
        <p:nvSpPr>
          <p:cNvPr id="47" name="Shape 45"/>
          <p:cNvSpPr/>
          <p:nvPr/>
        </p:nvSpPr>
        <p:spPr>
          <a:xfrm>
            <a:off x="0" y="4887468"/>
            <a:ext cx="1143000" cy="256032"/>
          </a:xfrm>
          <a:prstGeom prst="rect">
            <a:avLst/>
          </a:prstGeom>
          <a:solidFill>
            <a:srgbClr val="1A2E45"/>
          </a:solidFill>
          <a:ln w="12700">
            <a:solidFill>
              <a:srgbClr val="1A2E45"/>
            </a:solidFill>
            <a:prstDash val="solid"/>
          </a:ln>
        </p:spPr>
      </p:sp>
      <p:sp>
        <p:nvSpPr>
          <p:cNvPr id="48" name="Text 46"/>
          <p:cNvSpPr/>
          <p:nvPr/>
        </p:nvSpPr>
        <p:spPr>
          <a:xfrm>
            <a:off x="0" y="4887468"/>
            <a:ext cx="1143000" cy="256032"/>
          </a:xfrm>
          <a:prstGeom prst="rect">
            <a:avLst/>
          </a:prstGeom>
          <a:noFill/>
          <a:ln/>
        </p:spPr>
        <p:txBody>
          <a:bodyPr wrap="square" lIns="0" tIns="0" rIns="0" bIns="0" rtlCol="0" anchor="ctr"/>
          <a:lstStyle/>
          <a:p>
            <a:pPr algn="ctr" indent="0" marL="0">
              <a:buNone/>
            </a:pPr>
            <a:r>
              <a:rPr lang="en-US" sz="750" dirty="0">
                <a:solidFill>
                  <a:srgbClr val="3A5068"/>
                </a:solidFill>
                <a:latin typeface="Calibri" pitchFamily="34" charset="0"/>
                <a:ea typeface="Calibri" pitchFamily="34" charset="-122"/>
                <a:cs typeface="Calibri" pitchFamily="34" charset="-120"/>
              </a:rPr>
              <a:t>Overview</a:t>
            </a:r>
            <a:endParaRPr lang="en-US" sz="750" dirty="0"/>
          </a:p>
        </p:txBody>
      </p:sp>
      <p:sp>
        <p:nvSpPr>
          <p:cNvPr id="49" name="Shape 47"/>
          <p:cNvSpPr/>
          <p:nvPr/>
        </p:nvSpPr>
        <p:spPr>
          <a:xfrm>
            <a:off x="1143000" y="4887468"/>
            <a:ext cx="1143000" cy="256032"/>
          </a:xfrm>
          <a:prstGeom prst="rect">
            <a:avLst/>
          </a:prstGeom>
          <a:solidFill>
            <a:srgbClr val="1A2E45"/>
          </a:solidFill>
          <a:ln w="12700">
            <a:solidFill>
              <a:srgbClr val="1A2E45"/>
            </a:solidFill>
            <a:prstDash val="solid"/>
          </a:ln>
        </p:spPr>
      </p:sp>
      <p:sp>
        <p:nvSpPr>
          <p:cNvPr id="50" name="Text 48"/>
          <p:cNvSpPr/>
          <p:nvPr/>
        </p:nvSpPr>
        <p:spPr>
          <a:xfrm>
            <a:off x="1143000" y="4887468"/>
            <a:ext cx="1143000" cy="256032"/>
          </a:xfrm>
          <a:prstGeom prst="rect">
            <a:avLst/>
          </a:prstGeom>
          <a:noFill/>
          <a:ln/>
        </p:spPr>
        <p:txBody>
          <a:bodyPr wrap="square" lIns="0" tIns="0" rIns="0" bIns="0" rtlCol="0" anchor="ctr"/>
          <a:lstStyle/>
          <a:p>
            <a:pPr algn="ctr" indent="0" marL="0">
              <a:buNone/>
            </a:pPr>
            <a:r>
              <a:rPr lang="en-US" sz="750" dirty="0">
                <a:solidFill>
                  <a:srgbClr val="3A5068"/>
                </a:solidFill>
                <a:latin typeface="Calibri" pitchFamily="34" charset="0"/>
                <a:ea typeface="Calibri" pitchFamily="34" charset="-122"/>
                <a:cs typeface="Calibri" pitchFamily="34" charset="-120"/>
              </a:rPr>
              <a:t>Output Control</a:t>
            </a:r>
            <a:endParaRPr lang="en-US" sz="750" dirty="0"/>
          </a:p>
        </p:txBody>
      </p:sp>
      <p:sp>
        <p:nvSpPr>
          <p:cNvPr id="51" name="Shape 49"/>
          <p:cNvSpPr/>
          <p:nvPr/>
        </p:nvSpPr>
        <p:spPr>
          <a:xfrm>
            <a:off x="2286000" y="4887468"/>
            <a:ext cx="1143000" cy="256032"/>
          </a:xfrm>
          <a:prstGeom prst="rect">
            <a:avLst/>
          </a:prstGeom>
          <a:solidFill>
            <a:srgbClr val="1A2E45"/>
          </a:solidFill>
          <a:ln w="12700">
            <a:solidFill>
              <a:srgbClr val="1A2E45"/>
            </a:solidFill>
            <a:prstDash val="solid"/>
          </a:ln>
        </p:spPr>
      </p:sp>
      <p:sp>
        <p:nvSpPr>
          <p:cNvPr id="52" name="Text 50"/>
          <p:cNvSpPr/>
          <p:nvPr/>
        </p:nvSpPr>
        <p:spPr>
          <a:xfrm>
            <a:off x="2286000" y="4887468"/>
            <a:ext cx="1143000" cy="256032"/>
          </a:xfrm>
          <a:prstGeom prst="rect">
            <a:avLst/>
          </a:prstGeom>
          <a:noFill/>
          <a:ln/>
        </p:spPr>
        <p:txBody>
          <a:bodyPr wrap="square" lIns="0" tIns="0" rIns="0" bIns="0" rtlCol="0" anchor="ctr"/>
          <a:lstStyle/>
          <a:p>
            <a:pPr algn="ctr" indent="0" marL="0">
              <a:buNone/>
            </a:pPr>
            <a:r>
              <a:rPr lang="en-US" sz="750" dirty="0">
                <a:solidFill>
                  <a:srgbClr val="3A5068"/>
                </a:solidFill>
                <a:latin typeface="Calibri" pitchFamily="34" charset="0"/>
                <a:ea typeface="Calibri" pitchFamily="34" charset="-122"/>
                <a:cs typeface="Calibri" pitchFamily="34" charset="-120"/>
              </a:rPr>
              <a:t>Context &amp; Prompting</a:t>
            </a:r>
            <a:endParaRPr lang="en-US" sz="750" dirty="0"/>
          </a:p>
        </p:txBody>
      </p:sp>
      <p:sp>
        <p:nvSpPr>
          <p:cNvPr id="53" name="Shape 51"/>
          <p:cNvSpPr/>
          <p:nvPr/>
        </p:nvSpPr>
        <p:spPr>
          <a:xfrm>
            <a:off x="3429000" y="4887468"/>
            <a:ext cx="1143000" cy="256032"/>
          </a:xfrm>
          <a:prstGeom prst="rect">
            <a:avLst/>
          </a:prstGeom>
          <a:solidFill>
            <a:srgbClr val="3B82F6"/>
          </a:solidFill>
          <a:ln w="12700">
            <a:solidFill>
              <a:srgbClr val="3B82F6"/>
            </a:solidFill>
            <a:prstDash val="solid"/>
          </a:ln>
        </p:spPr>
      </p:sp>
      <p:sp>
        <p:nvSpPr>
          <p:cNvPr id="54" name="Text 52"/>
          <p:cNvSpPr/>
          <p:nvPr/>
        </p:nvSpPr>
        <p:spPr>
          <a:xfrm>
            <a:off x="3429000" y="4887468"/>
            <a:ext cx="1143000" cy="256032"/>
          </a:xfrm>
          <a:prstGeom prst="rect">
            <a:avLst/>
          </a:prstGeom>
          <a:noFill/>
          <a:ln/>
        </p:spPr>
        <p:txBody>
          <a:bodyPr wrap="square" lIns="0" tIns="0" rIns="0" bIns="0" rtlCol="0" anchor="ctr"/>
          <a:lstStyle/>
          <a:p>
            <a:pPr algn="ctr" indent="0" marL="0">
              <a:buNone/>
            </a:pPr>
            <a:r>
              <a:rPr lang="en-US" sz="750" b="1" dirty="0">
                <a:solidFill>
                  <a:srgbClr val="0D1B2A"/>
                </a:solidFill>
                <a:latin typeface="Calibri" pitchFamily="34" charset="0"/>
                <a:ea typeface="Calibri" pitchFamily="34" charset="-122"/>
                <a:cs typeface="Calibri" pitchFamily="34" charset="-120"/>
              </a:rPr>
              <a:t>Models &amp; Modes</a:t>
            </a:r>
            <a:endParaRPr lang="en-US" sz="750" dirty="0"/>
          </a:p>
        </p:txBody>
      </p:sp>
      <p:sp>
        <p:nvSpPr>
          <p:cNvPr id="55" name="Shape 53"/>
          <p:cNvSpPr/>
          <p:nvPr/>
        </p:nvSpPr>
        <p:spPr>
          <a:xfrm>
            <a:off x="4572000" y="4887468"/>
            <a:ext cx="1143000" cy="256032"/>
          </a:xfrm>
          <a:prstGeom prst="rect">
            <a:avLst/>
          </a:prstGeom>
          <a:solidFill>
            <a:srgbClr val="1A2E45"/>
          </a:solidFill>
          <a:ln w="12700">
            <a:solidFill>
              <a:srgbClr val="1A2E45"/>
            </a:solidFill>
            <a:prstDash val="solid"/>
          </a:ln>
        </p:spPr>
      </p:sp>
      <p:sp>
        <p:nvSpPr>
          <p:cNvPr id="56" name="Text 54"/>
          <p:cNvSpPr/>
          <p:nvPr/>
        </p:nvSpPr>
        <p:spPr>
          <a:xfrm>
            <a:off x="4572000" y="4887468"/>
            <a:ext cx="1143000" cy="256032"/>
          </a:xfrm>
          <a:prstGeom prst="rect">
            <a:avLst/>
          </a:prstGeom>
          <a:noFill/>
          <a:ln/>
        </p:spPr>
        <p:txBody>
          <a:bodyPr wrap="square" lIns="0" tIns="0" rIns="0" bIns="0" rtlCol="0" anchor="ctr"/>
          <a:lstStyle/>
          <a:p>
            <a:pPr algn="ctr" indent="0" marL="0">
              <a:buNone/>
            </a:pPr>
            <a:r>
              <a:rPr lang="en-US" sz="750" dirty="0">
                <a:solidFill>
                  <a:srgbClr val="3A5068"/>
                </a:solidFill>
                <a:latin typeface="Calibri" pitchFamily="34" charset="0"/>
                <a:ea typeface="Calibri" pitchFamily="34" charset="-122"/>
                <a:cs typeface="Calibri" pitchFamily="34" charset="-120"/>
              </a:rPr>
              <a:t>Governance</a:t>
            </a:r>
            <a:endParaRPr lang="en-US" sz="750" dirty="0"/>
          </a:p>
        </p:txBody>
      </p:sp>
      <p:sp>
        <p:nvSpPr>
          <p:cNvPr id="57" name="Shape 55"/>
          <p:cNvSpPr/>
          <p:nvPr/>
        </p:nvSpPr>
        <p:spPr>
          <a:xfrm>
            <a:off x="5715000" y="4887468"/>
            <a:ext cx="1143000" cy="256032"/>
          </a:xfrm>
          <a:prstGeom prst="rect">
            <a:avLst/>
          </a:prstGeom>
          <a:solidFill>
            <a:srgbClr val="1A2E45"/>
          </a:solidFill>
          <a:ln w="12700">
            <a:solidFill>
              <a:srgbClr val="1A2E45"/>
            </a:solidFill>
            <a:prstDash val="solid"/>
          </a:ln>
        </p:spPr>
      </p:sp>
      <p:sp>
        <p:nvSpPr>
          <p:cNvPr id="58" name="Text 56"/>
          <p:cNvSpPr/>
          <p:nvPr/>
        </p:nvSpPr>
        <p:spPr>
          <a:xfrm>
            <a:off x="5715000" y="4887468"/>
            <a:ext cx="1143000" cy="256032"/>
          </a:xfrm>
          <a:prstGeom prst="rect">
            <a:avLst/>
          </a:prstGeom>
          <a:noFill/>
          <a:ln/>
        </p:spPr>
        <p:txBody>
          <a:bodyPr wrap="square" lIns="0" tIns="0" rIns="0" bIns="0" rtlCol="0" anchor="ctr"/>
          <a:lstStyle/>
          <a:p>
            <a:pPr algn="ctr" indent="0" marL="0">
              <a:buNone/>
            </a:pPr>
            <a:r>
              <a:rPr lang="en-US" sz="750" dirty="0">
                <a:solidFill>
                  <a:srgbClr val="3A5068"/>
                </a:solidFill>
                <a:latin typeface="Calibri" pitchFamily="34" charset="0"/>
                <a:ea typeface="Calibri" pitchFamily="34" charset="-122"/>
                <a:cs typeface="Calibri" pitchFamily="34" charset="-120"/>
              </a:rPr>
              <a:t>Architecture</a:t>
            </a:r>
            <a:endParaRPr lang="en-US" sz="750" dirty="0"/>
          </a:p>
        </p:txBody>
      </p:sp>
      <p:sp>
        <p:nvSpPr>
          <p:cNvPr id="59" name="Shape 57"/>
          <p:cNvSpPr/>
          <p:nvPr/>
        </p:nvSpPr>
        <p:spPr>
          <a:xfrm>
            <a:off x="6858000" y="4887468"/>
            <a:ext cx="1143000" cy="256032"/>
          </a:xfrm>
          <a:prstGeom prst="rect">
            <a:avLst/>
          </a:prstGeom>
          <a:solidFill>
            <a:srgbClr val="1A2E45"/>
          </a:solidFill>
          <a:ln w="12700">
            <a:solidFill>
              <a:srgbClr val="1A2E45"/>
            </a:solidFill>
            <a:prstDash val="solid"/>
          </a:ln>
        </p:spPr>
      </p:sp>
      <p:sp>
        <p:nvSpPr>
          <p:cNvPr id="60" name="Text 58"/>
          <p:cNvSpPr/>
          <p:nvPr/>
        </p:nvSpPr>
        <p:spPr>
          <a:xfrm>
            <a:off x="6858000" y="4887468"/>
            <a:ext cx="1143000" cy="256032"/>
          </a:xfrm>
          <a:prstGeom prst="rect">
            <a:avLst/>
          </a:prstGeom>
          <a:noFill/>
          <a:ln/>
        </p:spPr>
        <p:txBody>
          <a:bodyPr wrap="square" lIns="0" tIns="0" rIns="0" bIns="0" rtlCol="0" anchor="ctr"/>
          <a:lstStyle/>
          <a:p>
            <a:pPr algn="ctr" indent="0" marL="0">
              <a:buNone/>
            </a:pPr>
            <a:r>
              <a:rPr lang="en-US" sz="750" dirty="0">
                <a:solidFill>
                  <a:srgbClr val="3A5068"/>
                </a:solidFill>
                <a:latin typeface="Calibri" pitchFamily="34" charset="0"/>
                <a:ea typeface="Calibri" pitchFamily="34" charset="-122"/>
                <a:cs typeface="Calibri" pitchFamily="34" charset="-120"/>
              </a:rPr>
              <a:t>Best Practices</a:t>
            </a:r>
            <a:endParaRPr lang="en-US" sz="750" dirty="0"/>
          </a:p>
        </p:txBody>
      </p:sp>
      <p:sp>
        <p:nvSpPr>
          <p:cNvPr id="61" name="Shape 59"/>
          <p:cNvSpPr/>
          <p:nvPr/>
        </p:nvSpPr>
        <p:spPr>
          <a:xfrm>
            <a:off x="8001000" y="4887468"/>
            <a:ext cx="1143000" cy="256032"/>
          </a:xfrm>
          <a:prstGeom prst="rect">
            <a:avLst/>
          </a:prstGeom>
          <a:solidFill>
            <a:srgbClr val="1A2E45"/>
          </a:solidFill>
          <a:ln w="12700">
            <a:solidFill>
              <a:srgbClr val="1A2E45"/>
            </a:solidFill>
            <a:prstDash val="solid"/>
          </a:ln>
        </p:spPr>
      </p:sp>
      <p:sp>
        <p:nvSpPr>
          <p:cNvPr id="62" name="Text 60"/>
          <p:cNvSpPr/>
          <p:nvPr/>
        </p:nvSpPr>
        <p:spPr>
          <a:xfrm>
            <a:off x="8001000" y="4887468"/>
            <a:ext cx="1143000" cy="256032"/>
          </a:xfrm>
          <a:prstGeom prst="rect">
            <a:avLst/>
          </a:prstGeom>
          <a:noFill/>
          <a:ln/>
        </p:spPr>
        <p:txBody>
          <a:bodyPr wrap="square" lIns="0" tIns="0" rIns="0" bIns="0" rtlCol="0" anchor="ctr"/>
          <a:lstStyle/>
          <a:p>
            <a:pPr algn="ctr" indent="0" marL="0">
              <a:buNone/>
            </a:pPr>
            <a:r>
              <a:rPr lang="en-US" sz="750" dirty="0">
                <a:solidFill>
                  <a:srgbClr val="3A5068"/>
                </a:solidFill>
                <a:latin typeface="Calibri" pitchFamily="34" charset="0"/>
                <a:ea typeface="Calibri" pitchFamily="34" charset="-122"/>
                <a:cs typeface="Calibri" pitchFamily="34" charset="-120"/>
              </a:rPr>
              <a:t>Reference</a:t>
            </a:r>
            <a:endParaRPr lang="en-US" sz="7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0C2CC"/>
          </a:solidFill>
          <a:ln w="12700">
            <a:solidFill>
              <a:srgbClr val="00C2CC"/>
            </a:solidFill>
            <a:prstDash val="solid"/>
          </a:ln>
        </p:spPr>
      </p:sp>
      <p:sp>
        <p:nvSpPr>
          <p:cNvPr id="3" name="Text 1"/>
          <p:cNvSpPr/>
          <p:nvPr/>
        </p:nvSpPr>
        <p:spPr>
          <a:xfrm>
            <a:off x="457200" y="0"/>
            <a:ext cx="8229600" cy="822960"/>
          </a:xfrm>
          <a:prstGeom prst="rect">
            <a:avLst/>
          </a:prstGeom>
          <a:noFill/>
          <a:ln/>
        </p:spPr>
        <p:txBody>
          <a:bodyPr wrap="square" lIns="0" tIns="0" rIns="0" bIns="0" rtlCol="0" anchor="ctr"/>
          <a:lstStyle/>
          <a:p>
            <a:pPr indent="0" marL="0">
              <a:buNone/>
            </a:pPr>
            <a:r>
              <a:rPr lang="en-US" sz="2000" b="1" dirty="0">
                <a:solidFill>
                  <a:srgbClr val="0D1B2A"/>
                </a:solidFill>
                <a:latin typeface="Cambria" pitchFamily="34" charset="0"/>
                <a:ea typeface="Cambria" pitchFamily="34" charset="-122"/>
                <a:cs typeface="Cambria" pitchFamily="34" charset="-120"/>
              </a:rPr>
              <a:t>05  ·  Monitoring &amp; Governance</a:t>
            </a:r>
            <a:endParaRPr lang="en-US" sz="2000" dirty="0"/>
          </a:p>
        </p:txBody>
      </p:sp>
      <p:sp>
        <p:nvSpPr>
          <p:cNvPr id="4" name="Shape 2"/>
          <p:cNvSpPr/>
          <p:nvPr/>
        </p:nvSpPr>
        <p:spPr>
          <a:xfrm>
            <a:off x="365760" y="960120"/>
            <a:ext cx="8412480" cy="1170432"/>
          </a:xfrm>
          <a:prstGeom prst="roundRect">
            <a:avLst>
              <a:gd name="adj" fmla="val 7813"/>
            </a:avLst>
          </a:prstGeom>
          <a:solidFill>
            <a:srgbClr val="1A2E45"/>
          </a:solidFill>
          <a:ln w="12700">
            <a:solidFill>
              <a:srgbClr val="00C2CC">
                <a:alpha val="25000"/>
              </a:srgbClr>
            </a:solidFill>
            <a:prstDash val="solid"/>
          </a:ln>
          <a:effectLst>
            <a:outerShdw sx="100000" sy="100000" kx="0" ky="0" algn="bl" rotWithShape="0" blurRad="101600" dist="38100" dir="2700000">
              <a:srgbClr val="000000">
                <a:alpha val="12000"/>
              </a:srgbClr>
            </a:outerShdw>
          </a:effectLst>
        </p:spPr>
      </p:sp>
      <p:sp>
        <p:nvSpPr>
          <p:cNvPr id="5" name="Text 3"/>
          <p:cNvSpPr/>
          <p:nvPr/>
        </p:nvSpPr>
        <p:spPr>
          <a:xfrm>
            <a:off x="502920" y="1234440"/>
            <a:ext cx="640080" cy="640080"/>
          </a:xfrm>
          <a:prstGeom prst="rect">
            <a:avLst/>
          </a:prstGeom>
          <a:noFill/>
          <a:ln/>
        </p:spPr>
        <p:txBody>
          <a:bodyPr wrap="square" lIns="0" tIns="0" rIns="0" bIns="0" rtlCol="0" anchor="ctr"/>
          <a:lstStyle/>
          <a:p>
            <a:pPr algn="ctr" indent="0" marL="0">
              <a:buNone/>
            </a:pPr>
            <a:r>
              <a:rPr lang="en-US" sz="2600" dirty="0">
                <a:solidFill>
                  <a:srgbClr val="000000"/>
                </a:solidFill>
              </a:rPr>
              <a:t>📊</a:t>
            </a:r>
            <a:endParaRPr lang="en-US" sz="2600" dirty="0"/>
          </a:p>
        </p:txBody>
      </p:sp>
      <p:sp>
        <p:nvSpPr>
          <p:cNvPr id="6" name="Text 4"/>
          <p:cNvSpPr/>
          <p:nvPr/>
        </p:nvSpPr>
        <p:spPr>
          <a:xfrm>
            <a:off x="1234440" y="1069848"/>
            <a:ext cx="7223760" cy="384048"/>
          </a:xfrm>
          <a:prstGeom prst="rect">
            <a:avLst/>
          </a:prstGeom>
          <a:noFill/>
          <a:ln/>
        </p:spPr>
        <p:txBody>
          <a:bodyPr wrap="square" lIns="0" tIns="0" rIns="0" bIns="0" rtlCol="0" anchor="ctr"/>
          <a:lstStyle/>
          <a:p>
            <a:pPr indent="0" marL="0">
              <a:buNone/>
            </a:pPr>
            <a:r>
              <a:rPr lang="en-US" sz="1500" b="1" dirty="0">
                <a:solidFill>
                  <a:srgbClr val="00C2CC"/>
                </a:solidFill>
                <a:latin typeface="Cambria" pitchFamily="34" charset="0"/>
                <a:ea typeface="Cambria" pitchFamily="34" charset="-122"/>
                <a:cs typeface="Cambria" pitchFamily="34" charset="-120"/>
              </a:rPr>
              <a:t>Usage Dashboards</a:t>
            </a:r>
            <a:endParaRPr lang="en-US" sz="1500" dirty="0"/>
          </a:p>
        </p:txBody>
      </p:sp>
      <p:sp>
        <p:nvSpPr>
          <p:cNvPr id="7" name="Text 5"/>
          <p:cNvSpPr/>
          <p:nvPr/>
        </p:nvSpPr>
        <p:spPr>
          <a:xfrm>
            <a:off x="1234440" y="1463040"/>
            <a:ext cx="7223760" cy="594360"/>
          </a:xfrm>
          <a:prstGeom prst="rect">
            <a:avLst/>
          </a:prstGeom>
          <a:noFill/>
          <a:ln/>
        </p:spPr>
        <p:txBody>
          <a:bodyPr wrap="square" lIns="0" tIns="0" rIns="0" bIns="0" rtlCol="0" anchor="ctr"/>
          <a:lstStyle/>
          <a:p>
            <a:pPr indent="0" marL="0">
              <a:buNone/>
            </a:pPr>
            <a:r>
              <a:rPr lang="en-US" sz="1200" dirty="0">
                <a:solidFill>
                  <a:srgbClr val="8EAFC7"/>
                </a:solidFill>
                <a:latin typeface="Calibri" pitchFamily="34" charset="0"/>
                <a:ea typeface="Calibri" pitchFamily="34" charset="-122"/>
                <a:cs typeface="Calibri" pitchFamily="34" charset="-120"/>
              </a:rPr>
              <a:t>GitHub provides real-time AI credit consumption data for individuals and organizations. Review weekly to catch unexpected spikes early.</a:t>
            </a:r>
            <a:endParaRPr lang="en-US" sz="1200" dirty="0"/>
          </a:p>
        </p:txBody>
      </p:sp>
      <p:sp>
        <p:nvSpPr>
          <p:cNvPr id="8" name="Shape 6"/>
          <p:cNvSpPr/>
          <p:nvPr/>
        </p:nvSpPr>
        <p:spPr>
          <a:xfrm>
            <a:off x="365760" y="2286000"/>
            <a:ext cx="8412480" cy="1170432"/>
          </a:xfrm>
          <a:prstGeom prst="roundRect">
            <a:avLst>
              <a:gd name="adj" fmla="val 7813"/>
            </a:avLst>
          </a:prstGeom>
          <a:solidFill>
            <a:srgbClr val="1A2E45"/>
          </a:solidFill>
          <a:ln w="12700">
            <a:solidFill>
              <a:srgbClr val="00C2CC">
                <a:alpha val="25000"/>
              </a:srgbClr>
            </a:solidFill>
            <a:prstDash val="solid"/>
          </a:ln>
          <a:effectLst>
            <a:outerShdw sx="100000" sy="100000" kx="0" ky="0" algn="bl" rotWithShape="0" blurRad="101600" dist="38100" dir="2700000">
              <a:srgbClr val="000000">
                <a:alpha val="12000"/>
              </a:srgbClr>
            </a:outerShdw>
          </a:effectLst>
        </p:spPr>
      </p:sp>
      <p:sp>
        <p:nvSpPr>
          <p:cNvPr id="9" name="Text 7"/>
          <p:cNvSpPr/>
          <p:nvPr/>
        </p:nvSpPr>
        <p:spPr>
          <a:xfrm>
            <a:off x="502920" y="2560320"/>
            <a:ext cx="640080" cy="640080"/>
          </a:xfrm>
          <a:prstGeom prst="rect">
            <a:avLst/>
          </a:prstGeom>
          <a:noFill/>
          <a:ln/>
        </p:spPr>
        <p:txBody>
          <a:bodyPr wrap="square" lIns="0" tIns="0" rIns="0" bIns="0" rtlCol="0" anchor="ctr"/>
          <a:lstStyle/>
          <a:p>
            <a:pPr algn="ctr" indent="0" marL="0">
              <a:buNone/>
            </a:pPr>
            <a:r>
              <a:rPr lang="en-US" sz="2600" dirty="0">
                <a:solidFill>
                  <a:srgbClr val="000000"/>
                </a:solidFill>
              </a:rPr>
              <a:t>💰</a:t>
            </a:r>
            <a:endParaRPr lang="en-US" sz="2600" dirty="0"/>
          </a:p>
        </p:txBody>
      </p:sp>
      <p:sp>
        <p:nvSpPr>
          <p:cNvPr id="10" name="Text 8"/>
          <p:cNvSpPr/>
          <p:nvPr/>
        </p:nvSpPr>
        <p:spPr>
          <a:xfrm>
            <a:off x="1234440" y="2395728"/>
            <a:ext cx="7223760" cy="384048"/>
          </a:xfrm>
          <a:prstGeom prst="rect">
            <a:avLst/>
          </a:prstGeom>
          <a:noFill/>
          <a:ln/>
        </p:spPr>
        <p:txBody>
          <a:bodyPr wrap="square" lIns="0" tIns="0" rIns="0" bIns="0" rtlCol="0" anchor="ctr"/>
          <a:lstStyle/>
          <a:p>
            <a:pPr indent="0" marL="0">
              <a:buNone/>
            </a:pPr>
            <a:r>
              <a:rPr lang="en-US" sz="1500" b="1" dirty="0">
                <a:solidFill>
                  <a:srgbClr val="00C2CC"/>
                </a:solidFill>
                <a:latin typeface="Cambria" pitchFamily="34" charset="0"/>
                <a:ea typeface="Cambria" pitchFamily="34" charset="-122"/>
                <a:cs typeface="Cambria" pitchFamily="34" charset="-120"/>
              </a:rPr>
              <a:t>Budget Limits</a:t>
            </a:r>
            <a:endParaRPr lang="en-US" sz="1500" dirty="0"/>
          </a:p>
        </p:txBody>
      </p:sp>
      <p:sp>
        <p:nvSpPr>
          <p:cNvPr id="11" name="Text 9"/>
          <p:cNvSpPr/>
          <p:nvPr/>
        </p:nvSpPr>
        <p:spPr>
          <a:xfrm>
            <a:off x="1234440" y="2788920"/>
            <a:ext cx="7223760" cy="594360"/>
          </a:xfrm>
          <a:prstGeom prst="rect">
            <a:avLst/>
          </a:prstGeom>
          <a:noFill/>
          <a:ln/>
        </p:spPr>
        <p:txBody>
          <a:bodyPr wrap="square" lIns="0" tIns="0" rIns="0" bIns="0" rtlCol="0" anchor="ctr"/>
          <a:lstStyle/>
          <a:p>
            <a:pPr indent="0" marL="0">
              <a:buNone/>
            </a:pPr>
            <a:r>
              <a:rPr lang="en-US" sz="1200" dirty="0">
                <a:solidFill>
                  <a:srgbClr val="8EAFC7"/>
                </a:solidFill>
                <a:latin typeface="Calibri" pitchFamily="34" charset="0"/>
                <a:ea typeface="Calibri" pitchFamily="34" charset="-122"/>
                <a:cs typeface="Calibri" pitchFamily="34" charset="-120"/>
              </a:rPr>
              <a:t>Org admins can set per-user budgets and block access once limits are reached — preventing surprise bill explosions at month end.</a:t>
            </a:r>
            <a:endParaRPr lang="en-US" sz="1200" dirty="0"/>
          </a:p>
        </p:txBody>
      </p:sp>
      <p:sp>
        <p:nvSpPr>
          <p:cNvPr id="12" name="Shape 10"/>
          <p:cNvSpPr/>
          <p:nvPr/>
        </p:nvSpPr>
        <p:spPr>
          <a:xfrm>
            <a:off x="365760" y="3611880"/>
            <a:ext cx="8412480" cy="1170432"/>
          </a:xfrm>
          <a:prstGeom prst="roundRect">
            <a:avLst>
              <a:gd name="adj" fmla="val 7813"/>
            </a:avLst>
          </a:prstGeom>
          <a:solidFill>
            <a:srgbClr val="1A2E45"/>
          </a:solidFill>
          <a:ln w="12700">
            <a:solidFill>
              <a:srgbClr val="00C2CC">
                <a:alpha val="25000"/>
              </a:srgbClr>
            </a:solidFill>
            <a:prstDash val="solid"/>
          </a:ln>
          <a:effectLst>
            <a:outerShdw sx="100000" sy="100000" kx="0" ky="0" algn="bl" rotWithShape="0" blurRad="101600" dist="38100" dir="2700000">
              <a:srgbClr val="000000">
                <a:alpha val="12000"/>
              </a:srgbClr>
            </a:outerShdw>
          </a:effectLst>
        </p:spPr>
      </p:sp>
      <p:sp>
        <p:nvSpPr>
          <p:cNvPr id="13" name="Text 11"/>
          <p:cNvSpPr/>
          <p:nvPr/>
        </p:nvSpPr>
        <p:spPr>
          <a:xfrm>
            <a:off x="502920" y="3886200"/>
            <a:ext cx="640080" cy="640080"/>
          </a:xfrm>
          <a:prstGeom prst="rect">
            <a:avLst/>
          </a:prstGeom>
          <a:noFill/>
          <a:ln/>
        </p:spPr>
        <p:txBody>
          <a:bodyPr wrap="square" lIns="0" tIns="0" rIns="0" bIns="0" rtlCol="0" anchor="ctr"/>
          <a:lstStyle/>
          <a:p>
            <a:pPr algn="ctr" indent="0" marL="0">
              <a:buNone/>
            </a:pPr>
            <a:r>
              <a:rPr lang="en-US" sz="2600" dirty="0">
                <a:solidFill>
                  <a:srgbClr val="000000"/>
                </a:solidFill>
              </a:rPr>
              <a:t>🔍</a:t>
            </a:r>
            <a:endParaRPr lang="en-US" sz="2600" dirty="0"/>
          </a:p>
        </p:txBody>
      </p:sp>
      <p:sp>
        <p:nvSpPr>
          <p:cNvPr id="14" name="Text 12"/>
          <p:cNvSpPr/>
          <p:nvPr/>
        </p:nvSpPr>
        <p:spPr>
          <a:xfrm>
            <a:off x="1234440" y="3721608"/>
            <a:ext cx="7223760" cy="384048"/>
          </a:xfrm>
          <a:prstGeom prst="rect">
            <a:avLst/>
          </a:prstGeom>
          <a:noFill/>
          <a:ln/>
        </p:spPr>
        <p:txBody>
          <a:bodyPr wrap="square" lIns="0" tIns="0" rIns="0" bIns="0" rtlCol="0" anchor="ctr"/>
          <a:lstStyle/>
          <a:p>
            <a:pPr indent="0" marL="0">
              <a:buNone/>
            </a:pPr>
            <a:r>
              <a:rPr lang="en-US" sz="1500" b="1" dirty="0">
                <a:solidFill>
                  <a:srgbClr val="00C2CC"/>
                </a:solidFill>
                <a:latin typeface="Cambria" pitchFamily="34" charset="0"/>
                <a:ea typeface="Cambria" pitchFamily="34" charset="-122"/>
                <a:cs typeface="Cambria" pitchFamily="34" charset="-120"/>
              </a:rPr>
              <a:t>Monthly Config Audits</a:t>
            </a:r>
            <a:endParaRPr lang="en-US" sz="1500" dirty="0"/>
          </a:p>
        </p:txBody>
      </p:sp>
      <p:sp>
        <p:nvSpPr>
          <p:cNvPr id="15" name="Text 13"/>
          <p:cNvSpPr/>
          <p:nvPr/>
        </p:nvSpPr>
        <p:spPr>
          <a:xfrm>
            <a:off x="1234440" y="4114800"/>
            <a:ext cx="7223760" cy="594360"/>
          </a:xfrm>
          <a:prstGeom prst="rect">
            <a:avLst/>
          </a:prstGeom>
          <a:noFill/>
          <a:ln/>
        </p:spPr>
        <p:txBody>
          <a:bodyPr wrap="square" lIns="0" tIns="0" rIns="0" bIns="0" rtlCol="0" anchor="ctr"/>
          <a:lstStyle/>
          <a:p>
            <a:pPr indent="0" marL="0">
              <a:buNone/>
            </a:pPr>
            <a:r>
              <a:rPr lang="en-US" sz="1200" dirty="0">
                <a:solidFill>
                  <a:srgbClr val="8EAFC7"/>
                </a:solidFill>
                <a:latin typeface="Calibri" pitchFamily="34" charset="0"/>
                <a:ea typeface="Calibri" pitchFamily="34" charset="-122"/>
                <a:cs typeface="Calibri" pitchFamily="34" charset="-120"/>
              </a:rPr>
              <a:t>Perform a monthly review of .instructions.mmd files to catch 'instruction creep' — accumulated boilerplate that silently inflates every request.</a:t>
            </a:r>
            <a:endParaRPr lang="en-US" sz="1200" dirty="0"/>
          </a:p>
        </p:txBody>
      </p:sp>
      <p:sp>
        <p:nvSpPr>
          <p:cNvPr id="16" name="Shape 14"/>
          <p:cNvSpPr/>
          <p:nvPr/>
        </p:nvSpPr>
        <p:spPr>
          <a:xfrm>
            <a:off x="365760" y="4663440"/>
            <a:ext cx="8412480" cy="320040"/>
          </a:xfrm>
          <a:prstGeom prst="roundRect">
            <a:avLst>
              <a:gd name="adj" fmla="val 17143"/>
            </a:avLst>
          </a:prstGeom>
          <a:solidFill>
            <a:srgbClr val="00C2CC">
              <a:alpha val="12000"/>
            </a:srgbClr>
          </a:solidFill>
          <a:ln w="12700">
            <a:solidFill>
              <a:srgbClr val="00C2CC">
                <a:alpha val="40000"/>
              </a:srgbClr>
            </a:solidFill>
            <a:prstDash val="solid"/>
          </a:ln>
        </p:spPr>
      </p:sp>
      <p:sp>
        <p:nvSpPr>
          <p:cNvPr id="17" name="Text 15"/>
          <p:cNvSpPr/>
          <p:nvPr/>
        </p:nvSpPr>
        <p:spPr>
          <a:xfrm>
            <a:off x="365760" y="4663440"/>
            <a:ext cx="8412480" cy="320040"/>
          </a:xfrm>
          <a:prstGeom prst="rect">
            <a:avLst/>
          </a:prstGeom>
          <a:noFill/>
          <a:ln/>
        </p:spPr>
        <p:txBody>
          <a:bodyPr wrap="square" lIns="0" tIns="0" rIns="0" bIns="0" rtlCol="0" anchor="ctr"/>
          <a:lstStyle/>
          <a:p>
            <a:pPr algn="ctr" indent="0" marL="0">
              <a:buNone/>
            </a:pPr>
            <a:r>
              <a:rPr lang="en-US" sz="1100" i="1" dirty="0">
                <a:solidFill>
                  <a:srgbClr val="00C2CC"/>
                </a:solidFill>
                <a:latin typeface="Calibri" pitchFamily="34" charset="0"/>
                <a:ea typeface="Calibri" pitchFamily="34" charset="-122"/>
                <a:cs typeface="Calibri" pitchFamily="34" charset="-120"/>
              </a:rPr>
              <a:t>Optimization is impossible without visibility — instrument first, then optimize.</a:t>
            </a:r>
            <a:endParaRPr lang="en-US" sz="1100" dirty="0"/>
          </a:p>
        </p:txBody>
      </p:sp>
      <p:sp>
        <p:nvSpPr>
          <p:cNvPr id="18" name="Shape 16"/>
          <p:cNvSpPr/>
          <p:nvPr/>
        </p:nvSpPr>
        <p:spPr>
          <a:xfrm>
            <a:off x="0" y="4887468"/>
            <a:ext cx="1143000" cy="256032"/>
          </a:xfrm>
          <a:prstGeom prst="rect">
            <a:avLst/>
          </a:prstGeom>
          <a:solidFill>
            <a:srgbClr val="1A2E45"/>
          </a:solidFill>
          <a:ln w="12700">
            <a:solidFill>
              <a:srgbClr val="1A2E45"/>
            </a:solidFill>
            <a:prstDash val="solid"/>
          </a:ln>
        </p:spPr>
      </p:sp>
      <p:sp>
        <p:nvSpPr>
          <p:cNvPr id="19" name="Text 17"/>
          <p:cNvSpPr/>
          <p:nvPr/>
        </p:nvSpPr>
        <p:spPr>
          <a:xfrm>
            <a:off x="0" y="4887468"/>
            <a:ext cx="1143000" cy="256032"/>
          </a:xfrm>
          <a:prstGeom prst="rect">
            <a:avLst/>
          </a:prstGeom>
          <a:noFill/>
          <a:ln/>
        </p:spPr>
        <p:txBody>
          <a:bodyPr wrap="square" lIns="0" tIns="0" rIns="0" bIns="0" rtlCol="0" anchor="ctr"/>
          <a:lstStyle/>
          <a:p>
            <a:pPr algn="ctr" indent="0" marL="0">
              <a:buNone/>
            </a:pPr>
            <a:r>
              <a:rPr lang="en-US" sz="750" dirty="0">
                <a:solidFill>
                  <a:srgbClr val="3A5068"/>
                </a:solidFill>
                <a:latin typeface="Calibri" pitchFamily="34" charset="0"/>
                <a:ea typeface="Calibri" pitchFamily="34" charset="-122"/>
                <a:cs typeface="Calibri" pitchFamily="34" charset="-120"/>
              </a:rPr>
              <a:t>Overview</a:t>
            </a:r>
            <a:endParaRPr lang="en-US" sz="750" dirty="0"/>
          </a:p>
        </p:txBody>
      </p:sp>
      <p:sp>
        <p:nvSpPr>
          <p:cNvPr id="20" name="Shape 18"/>
          <p:cNvSpPr/>
          <p:nvPr/>
        </p:nvSpPr>
        <p:spPr>
          <a:xfrm>
            <a:off x="1143000" y="4887468"/>
            <a:ext cx="1143000" cy="256032"/>
          </a:xfrm>
          <a:prstGeom prst="rect">
            <a:avLst/>
          </a:prstGeom>
          <a:solidFill>
            <a:srgbClr val="1A2E45"/>
          </a:solidFill>
          <a:ln w="12700">
            <a:solidFill>
              <a:srgbClr val="1A2E45"/>
            </a:solidFill>
            <a:prstDash val="solid"/>
          </a:ln>
        </p:spPr>
      </p:sp>
      <p:sp>
        <p:nvSpPr>
          <p:cNvPr id="21" name="Text 19"/>
          <p:cNvSpPr/>
          <p:nvPr/>
        </p:nvSpPr>
        <p:spPr>
          <a:xfrm>
            <a:off x="1143000" y="4887468"/>
            <a:ext cx="1143000" cy="256032"/>
          </a:xfrm>
          <a:prstGeom prst="rect">
            <a:avLst/>
          </a:prstGeom>
          <a:noFill/>
          <a:ln/>
        </p:spPr>
        <p:txBody>
          <a:bodyPr wrap="square" lIns="0" tIns="0" rIns="0" bIns="0" rtlCol="0" anchor="ctr"/>
          <a:lstStyle/>
          <a:p>
            <a:pPr algn="ctr" indent="0" marL="0">
              <a:buNone/>
            </a:pPr>
            <a:r>
              <a:rPr lang="en-US" sz="750" dirty="0">
                <a:solidFill>
                  <a:srgbClr val="3A5068"/>
                </a:solidFill>
                <a:latin typeface="Calibri" pitchFamily="34" charset="0"/>
                <a:ea typeface="Calibri" pitchFamily="34" charset="-122"/>
                <a:cs typeface="Calibri" pitchFamily="34" charset="-120"/>
              </a:rPr>
              <a:t>Output Control</a:t>
            </a:r>
            <a:endParaRPr lang="en-US" sz="750" dirty="0"/>
          </a:p>
        </p:txBody>
      </p:sp>
      <p:sp>
        <p:nvSpPr>
          <p:cNvPr id="22" name="Shape 20"/>
          <p:cNvSpPr/>
          <p:nvPr/>
        </p:nvSpPr>
        <p:spPr>
          <a:xfrm>
            <a:off x="2286000" y="4887468"/>
            <a:ext cx="1143000" cy="256032"/>
          </a:xfrm>
          <a:prstGeom prst="rect">
            <a:avLst/>
          </a:prstGeom>
          <a:solidFill>
            <a:srgbClr val="1A2E45"/>
          </a:solidFill>
          <a:ln w="12700">
            <a:solidFill>
              <a:srgbClr val="1A2E45"/>
            </a:solidFill>
            <a:prstDash val="solid"/>
          </a:ln>
        </p:spPr>
      </p:sp>
      <p:sp>
        <p:nvSpPr>
          <p:cNvPr id="23" name="Text 21"/>
          <p:cNvSpPr/>
          <p:nvPr/>
        </p:nvSpPr>
        <p:spPr>
          <a:xfrm>
            <a:off x="2286000" y="4887468"/>
            <a:ext cx="1143000" cy="256032"/>
          </a:xfrm>
          <a:prstGeom prst="rect">
            <a:avLst/>
          </a:prstGeom>
          <a:noFill/>
          <a:ln/>
        </p:spPr>
        <p:txBody>
          <a:bodyPr wrap="square" lIns="0" tIns="0" rIns="0" bIns="0" rtlCol="0" anchor="ctr"/>
          <a:lstStyle/>
          <a:p>
            <a:pPr algn="ctr" indent="0" marL="0">
              <a:buNone/>
            </a:pPr>
            <a:r>
              <a:rPr lang="en-US" sz="750" dirty="0">
                <a:solidFill>
                  <a:srgbClr val="3A5068"/>
                </a:solidFill>
                <a:latin typeface="Calibri" pitchFamily="34" charset="0"/>
                <a:ea typeface="Calibri" pitchFamily="34" charset="-122"/>
                <a:cs typeface="Calibri" pitchFamily="34" charset="-120"/>
              </a:rPr>
              <a:t>Context &amp; Prompting</a:t>
            </a:r>
            <a:endParaRPr lang="en-US" sz="750" dirty="0"/>
          </a:p>
        </p:txBody>
      </p:sp>
      <p:sp>
        <p:nvSpPr>
          <p:cNvPr id="24" name="Shape 22"/>
          <p:cNvSpPr/>
          <p:nvPr/>
        </p:nvSpPr>
        <p:spPr>
          <a:xfrm>
            <a:off x="3429000" y="4887468"/>
            <a:ext cx="1143000" cy="256032"/>
          </a:xfrm>
          <a:prstGeom prst="rect">
            <a:avLst/>
          </a:prstGeom>
          <a:solidFill>
            <a:srgbClr val="1A2E45"/>
          </a:solidFill>
          <a:ln w="12700">
            <a:solidFill>
              <a:srgbClr val="1A2E45"/>
            </a:solidFill>
            <a:prstDash val="solid"/>
          </a:ln>
        </p:spPr>
      </p:sp>
      <p:sp>
        <p:nvSpPr>
          <p:cNvPr id="25" name="Text 23"/>
          <p:cNvSpPr/>
          <p:nvPr/>
        </p:nvSpPr>
        <p:spPr>
          <a:xfrm>
            <a:off x="3429000" y="4887468"/>
            <a:ext cx="1143000" cy="256032"/>
          </a:xfrm>
          <a:prstGeom prst="rect">
            <a:avLst/>
          </a:prstGeom>
          <a:noFill/>
          <a:ln/>
        </p:spPr>
        <p:txBody>
          <a:bodyPr wrap="square" lIns="0" tIns="0" rIns="0" bIns="0" rtlCol="0" anchor="ctr"/>
          <a:lstStyle/>
          <a:p>
            <a:pPr algn="ctr" indent="0" marL="0">
              <a:buNone/>
            </a:pPr>
            <a:r>
              <a:rPr lang="en-US" sz="750" dirty="0">
                <a:solidFill>
                  <a:srgbClr val="3A5068"/>
                </a:solidFill>
                <a:latin typeface="Calibri" pitchFamily="34" charset="0"/>
                <a:ea typeface="Calibri" pitchFamily="34" charset="-122"/>
                <a:cs typeface="Calibri" pitchFamily="34" charset="-120"/>
              </a:rPr>
              <a:t>Models &amp; Modes</a:t>
            </a:r>
            <a:endParaRPr lang="en-US" sz="750" dirty="0"/>
          </a:p>
        </p:txBody>
      </p:sp>
      <p:sp>
        <p:nvSpPr>
          <p:cNvPr id="26" name="Shape 24"/>
          <p:cNvSpPr/>
          <p:nvPr/>
        </p:nvSpPr>
        <p:spPr>
          <a:xfrm>
            <a:off x="4572000" y="4887468"/>
            <a:ext cx="1143000" cy="256032"/>
          </a:xfrm>
          <a:prstGeom prst="rect">
            <a:avLst/>
          </a:prstGeom>
          <a:solidFill>
            <a:srgbClr val="10B981"/>
          </a:solidFill>
          <a:ln w="12700">
            <a:solidFill>
              <a:srgbClr val="10B981"/>
            </a:solidFill>
            <a:prstDash val="solid"/>
          </a:ln>
        </p:spPr>
      </p:sp>
      <p:sp>
        <p:nvSpPr>
          <p:cNvPr id="27" name="Text 25"/>
          <p:cNvSpPr/>
          <p:nvPr/>
        </p:nvSpPr>
        <p:spPr>
          <a:xfrm>
            <a:off x="4572000" y="4887468"/>
            <a:ext cx="1143000" cy="256032"/>
          </a:xfrm>
          <a:prstGeom prst="rect">
            <a:avLst/>
          </a:prstGeom>
          <a:noFill/>
          <a:ln/>
        </p:spPr>
        <p:txBody>
          <a:bodyPr wrap="square" lIns="0" tIns="0" rIns="0" bIns="0" rtlCol="0" anchor="ctr"/>
          <a:lstStyle/>
          <a:p>
            <a:pPr algn="ctr" indent="0" marL="0">
              <a:buNone/>
            </a:pPr>
            <a:r>
              <a:rPr lang="en-US" sz="750" b="1" dirty="0">
                <a:solidFill>
                  <a:srgbClr val="0D1B2A"/>
                </a:solidFill>
                <a:latin typeface="Calibri" pitchFamily="34" charset="0"/>
                <a:ea typeface="Calibri" pitchFamily="34" charset="-122"/>
                <a:cs typeface="Calibri" pitchFamily="34" charset="-120"/>
              </a:rPr>
              <a:t>Governance</a:t>
            </a:r>
            <a:endParaRPr lang="en-US" sz="750" dirty="0"/>
          </a:p>
        </p:txBody>
      </p:sp>
      <p:sp>
        <p:nvSpPr>
          <p:cNvPr id="28" name="Shape 26"/>
          <p:cNvSpPr/>
          <p:nvPr/>
        </p:nvSpPr>
        <p:spPr>
          <a:xfrm>
            <a:off x="5715000" y="4887468"/>
            <a:ext cx="1143000" cy="256032"/>
          </a:xfrm>
          <a:prstGeom prst="rect">
            <a:avLst/>
          </a:prstGeom>
          <a:solidFill>
            <a:srgbClr val="1A2E45"/>
          </a:solidFill>
          <a:ln w="12700">
            <a:solidFill>
              <a:srgbClr val="1A2E45"/>
            </a:solidFill>
            <a:prstDash val="solid"/>
          </a:ln>
        </p:spPr>
      </p:sp>
      <p:sp>
        <p:nvSpPr>
          <p:cNvPr id="29" name="Text 27"/>
          <p:cNvSpPr/>
          <p:nvPr/>
        </p:nvSpPr>
        <p:spPr>
          <a:xfrm>
            <a:off x="5715000" y="4887468"/>
            <a:ext cx="1143000" cy="256032"/>
          </a:xfrm>
          <a:prstGeom prst="rect">
            <a:avLst/>
          </a:prstGeom>
          <a:noFill/>
          <a:ln/>
        </p:spPr>
        <p:txBody>
          <a:bodyPr wrap="square" lIns="0" tIns="0" rIns="0" bIns="0" rtlCol="0" anchor="ctr"/>
          <a:lstStyle/>
          <a:p>
            <a:pPr algn="ctr" indent="0" marL="0">
              <a:buNone/>
            </a:pPr>
            <a:r>
              <a:rPr lang="en-US" sz="750" dirty="0">
                <a:solidFill>
                  <a:srgbClr val="3A5068"/>
                </a:solidFill>
                <a:latin typeface="Calibri" pitchFamily="34" charset="0"/>
                <a:ea typeface="Calibri" pitchFamily="34" charset="-122"/>
                <a:cs typeface="Calibri" pitchFamily="34" charset="-120"/>
              </a:rPr>
              <a:t>Architecture</a:t>
            </a:r>
            <a:endParaRPr lang="en-US" sz="750" dirty="0"/>
          </a:p>
        </p:txBody>
      </p:sp>
      <p:sp>
        <p:nvSpPr>
          <p:cNvPr id="30" name="Shape 28"/>
          <p:cNvSpPr/>
          <p:nvPr/>
        </p:nvSpPr>
        <p:spPr>
          <a:xfrm>
            <a:off x="6858000" y="4887468"/>
            <a:ext cx="1143000" cy="256032"/>
          </a:xfrm>
          <a:prstGeom prst="rect">
            <a:avLst/>
          </a:prstGeom>
          <a:solidFill>
            <a:srgbClr val="1A2E45"/>
          </a:solidFill>
          <a:ln w="12700">
            <a:solidFill>
              <a:srgbClr val="1A2E45"/>
            </a:solidFill>
            <a:prstDash val="solid"/>
          </a:ln>
        </p:spPr>
      </p:sp>
      <p:sp>
        <p:nvSpPr>
          <p:cNvPr id="31" name="Text 29"/>
          <p:cNvSpPr/>
          <p:nvPr/>
        </p:nvSpPr>
        <p:spPr>
          <a:xfrm>
            <a:off x="6858000" y="4887468"/>
            <a:ext cx="1143000" cy="256032"/>
          </a:xfrm>
          <a:prstGeom prst="rect">
            <a:avLst/>
          </a:prstGeom>
          <a:noFill/>
          <a:ln/>
        </p:spPr>
        <p:txBody>
          <a:bodyPr wrap="square" lIns="0" tIns="0" rIns="0" bIns="0" rtlCol="0" anchor="ctr"/>
          <a:lstStyle/>
          <a:p>
            <a:pPr algn="ctr" indent="0" marL="0">
              <a:buNone/>
            </a:pPr>
            <a:r>
              <a:rPr lang="en-US" sz="750" dirty="0">
                <a:solidFill>
                  <a:srgbClr val="3A5068"/>
                </a:solidFill>
                <a:latin typeface="Calibri" pitchFamily="34" charset="0"/>
                <a:ea typeface="Calibri" pitchFamily="34" charset="-122"/>
                <a:cs typeface="Calibri" pitchFamily="34" charset="-120"/>
              </a:rPr>
              <a:t>Best Practices</a:t>
            </a:r>
            <a:endParaRPr lang="en-US" sz="750" dirty="0"/>
          </a:p>
        </p:txBody>
      </p:sp>
      <p:sp>
        <p:nvSpPr>
          <p:cNvPr id="32" name="Shape 30"/>
          <p:cNvSpPr/>
          <p:nvPr/>
        </p:nvSpPr>
        <p:spPr>
          <a:xfrm>
            <a:off x="8001000" y="4887468"/>
            <a:ext cx="1143000" cy="256032"/>
          </a:xfrm>
          <a:prstGeom prst="rect">
            <a:avLst/>
          </a:prstGeom>
          <a:solidFill>
            <a:srgbClr val="1A2E45"/>
          </a:solidFill>
          <a:ln w="12700">
            <a:solidFill>
              <a:srgbClr val="1A2E45"/>
            </a:solidFill>
            <a:prstDash val="solid"/>
          </a:ln>
        </p:spPr>
      </p:sp>
      <p:sp>
        <p:nvSpPr>
          <p:cNvPr id="33" name="Text 31"/>
          <p:cNvSpPr/>
          <p:nvPr/>
        </p:nvSpPr>
        <p:spPr>
          <a:xfrm>
            <a:off x="8001000" y="4887468"/>
            <a:ext cx="1143000" cy="256032"/>
          </a:xfrm>
          <a:prstGeom prst="rect">
            <a:avLst/>
          </a:prstGeom>
          <a:noFill/>
          <a:ln/>
        </p:spPr>
        <p:txBody>
          <a:bodyPr wrap="square" lIns="0" tIns="0" rIns="0" bIns="0" rtlCol="0" anchor="ctr"/>
          <a:lstStyle/>
          <a:p>
            <a:pPr algn="ctr" indent="0" marL="0">
              <a:buNone/>
            </a:pPr>
            <a:r>
              <a:rPr lang="en-US" sz="750" dirty="0">
                <a:solidFill>
                  <a:srgbClr val="3A5068"/>
                </a:solidFill>
                <a:latin typeface="Calibri" pitchFamily="34" charset="0"/>
                <a:ea typeface="Calibri" pitchFamily="34" charset="-122"/>
                <a:cs typeface="Calibri" pitchFamily="34" charset="-120"/>
              </a:rPr>
              <a:t>Reference</a:t>
            </a:r>
            <a:endParaRPr lang="en-US" sz="7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7C3AED"/>
          </a:solidFill>
          <a:ln w="12700">
            <a:solidFill>
              <a:srgbClr val="7C3AED"/>
            </a:solidFill>
            <a:prstDash val="solid"/>
          </a:ln>
        </p:spPr>
      </p:sp>
      <p:sp>
        <p:nvSpPr>
          <p:cNvPr id="3" name="Text 1"/>
          <p:cNvSpPr/>
          <p:nvPr/>
        </p:nvSpPr>
        <p:spPr>
          <a:xfrm>
            <a:off x="457200" y="0"/>
            <a:ext cx="8229600" cy="822960"/>
          </a:xfrm>
          <a:prstGeom prst="rect">
            <a:avLst/>
          </a:prstGeom>
          <a:noFill/>
          <a:ln/>
        </p:spPr>
        <p:txBody>
          <a:bodyPr wrap="square" lIns="0" tIns="0" rIns="0" bIns="0" rtlCol="0" anchor="ctr"/>
          <a:lstStyle/>
          <a:p>
            <a:pPr indent="0" marL="0">
              <a:buNone/>
            </a:pPr>
            <a:r>
              <a:rPr lang="en-US" sz="1800" b="1" dirty="0">
                <a:solidFill>
                  <a:srgbClr val="FFFFFF"/>
                </a:solidFill>
                <a:latin typeface="Cambria" pitchFamily="34" charset="0"/>
                <a:ea typeface="Cambria" pitchFamily="34" charset="-122"/>
                <a:cs typeface="Cambria" pitchFamily="34" charset="-120"/>
              </a:rPr>
              <a:t>Instruction File vs. Skills — What's the Difference?</a:t>
            </a:r>
            <a:endParaRPr lang="en-US" sz="1800" dirty="0"/>
          </a:p>
        </p:txBody>
      </p:sp>
      <p:sp>
        <p:nvSpPr>
          <p:cNvPr id="4" name="Text 2"/>
          <p:cNvSpPr/>
          <p:nvPr/>
        </p:nvSpPr>
        <p:spPr>
          <a:xfrm>
            <a:off x="457200" y="868680"/>
            <a:ext cx="8229600" cy="347472"/>
          </a:xfrm>
          <a:prstGeom prst="rect">
            <a:avLst/>
          </a:prstGeom>
          <a:noFill/>
          <a:ln/>
        </p:spPr>
        <p:txBody>
          <a:bodyPr wrap="square" rtlCol="0" anchor="ctr"/>
          <a:lstStyle/>
          <a:p>
            <a:pPr indent="0" marL="0">
              <a:buNone/>
            </a:pPr>
            <a:r>
              <a:rPr lang="en-US" sz="1200" i="1" dirty="0">
                <a:solidFill>
                  <a:srgbClr val="7C3AED"/>
                </a:solidFill>
                <a:latin typeface="Calibri" pitchFamily="34" charset="0"/>
                <a:ea typeface="Calibri" pitchFamily="34" charset="-122"/>
                <a:cs typeface="Calibri" pitchFamily="34" charset="-120"/>
              </a:rPr>
              <a:t>Understanding which file does what is essential before you can optimize either</a:t>
            </a:r>
            <a:endParaRPr lang="en-US" sz="1200" dirty="0"/>
          </a:p>
        </p:txBody>
      </p:sp>
      <p:sp>
        <p:nvSpPr>
          <p:cNvPr id="5" name="Shape 3"/>
          <p:cNvSpPr/>
          <p:nvPr/>
        </p:nvSpPr>
        <p:spPr>
          <a:xfrm>
            <a:off x="274320" y="1298448"/>
            <a:ext cx="3977640" cy="3611880"/>
          </a:xfrm>
          <a:prstGeom prst="roundRect">
            <a:avLst>
              <a:gd name="adj" fmla="val 3038"/>
            </a:avLst>
          </a:prstGeom>
          <a:solidFill>
            <a:srgbClr val="F5F3FF"/>
          </a:solidFill>
          <a:ln w="12700">
            <a:solidFill>
              <a:srgbClr val="7C3AED">
                <a:alpha val="50000"/>
              </a:srgbClr>
            </a:solidFill>
            <a:prstDash val="solid"/>
          </a:ln>
          <a:effectLst>
            <a:outerShdw sx="100000" sy="100000" kx="0" ky="0" algn="bl" rotWithShape="0" blurRad="101600" dist="38100" dir="2700000">
              <a:srgbClr val="000000">
                <a:alpha val="12000"/>
              </a:srgbClr>
            </a:outerShdw>
          </a:effectLst>
        </p:spPr>
      </p:sp>
      <p:sp>
        <p:nvSpPr>
          <p:cNvPr id="6" name="Shape 4"/>
          <p:cNvSpPr/>
          <p:nvPr/>
        </p:nvSpPr>
        <p:spPr>
          <a:xfrm>
            <a:off x="274320" y="1298448"/>
            <a:ext cx="3977640" cy="502920"/>
          </a:xfrm>
          <a:prstGeom prst="roundRect">
            <a:avLst>
              <a:gd name="adj" fmla="val 21818"/>
            </a:avLst>
          </a:prstGeom>
          <a:solidFill>
            <a:srgbClr val="7C3AED"/>
          </a:solidFill>
          <a:ln w="12700">
            <a:solidFill>
              <a:srgbClr val="7C3AED"/>
            </a:solidFill>
            <a:prstDash val="solid"/>
          </a:ln>
        </p:spPr>
      </p:sp>
      <p:sp>
        <p:nvSpPr>
          <p:cNvPr id="7" name="Text 5"/>
          <p:cNvSpPr/>
          <p:nvPr/>
        </p:nvSpPr>
        <p:spPr>
          <a:xfrm>
            <a:off x="274320" y="1298448"/>
            <a:ext cx="3977640" cy="5029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  .github/copilot-instructions.md</a:t>
            </a:r>
            <a:endParaRPr lang="en-US" sz="1200" dirty="0"/>
          </a:p>
        </p:txBody>
      </p:sp>
      <p:sp>
        <p:nvSpPr>
          <p:cNvPr id="8" name="Text 6"/>
          <p:cNvSpPr/>
          <p:nvPr/>
        </p:nvSpPr>
        <p:spPr>
          <a:xfrm>
            <a:off x="457200" y="1920240"/>
            <a:ext cx="1005840" cy="420624"/>
          </a:xfrm>
          <a:prstGeom prst="rect">
            <a:avLst/>
          </a:prstGeom>
          <a:noFill/>
          <a:ln/>
        </p:spPr>
        <p:txBody>
          <a:bodyPr wrap="square" lIns="0" tIns="0" rIns="0" bIns="0" rtlCol="0" anchor="ctr"/>
          <a:lstStyle/>
          <a:p>
            <a:pPr indent="0" marL="0">
              <a:buNone/>
            </a:pPr>
            <a:r>
              <a:rPr lang="en-US" sz="1100" b="1" dirty="0">
                <a:solidFill>
                  <a:srgbClr val="7C3AED"/>
                </a:solidFill>
                <a:latin typeface="Calibri" pitchFamily="34" charset="0"/>
                <a:ea typeface="Calibri" pitchFamily="34" charset="-122"/>
                <a:cs typeface="Calibri" pitchFamily="34" charset="-120"/>
              </a:rPr>
              <a:t>Scope:</a:t>
            </a:r>
            <a:endParaRPr lang="en-US" sz="1100" dirty="0"/>
          </a:p>
        </p:txBody>
      </p:sp>
      <p:sp>
        <p:nvSpPr>
          <p:cNvPr id="9" name="Text 7"/>
          <p:cNvSpPr/>
          <p:nvPr/>
        </p:nvSpPr>
        <p:spPr>
          <a:xfrm>
            <a:off x="1508760" y="1920240"/>
            <a:ext cx="2560320" cy="420624"/>
          </a:xfrm>
          <a:prstGeom prst="rect">
            <a:avLst/>
          </a:prstGeom>
          <a:noFill/>
          <a:ln/>
        </p:spPr>
        <p:txBody>
          <a:bodyPr wrap="square" lIns="0" tIns="0" rIns="0" bIns="0" rtlCol="0" anchor="ctr"/>
          <a:lstStyle/>
          <a:p>
            <a:pPr indent="0" marL="0">
              <a:buNone/>
            </a:pPr>
            <a:r>
              <a:rPr lang="en-US" sz="1100" dirty="0">
                <a:solidFill>
                  <a:srgbClr val="64748B"/>
                </a:solidFill>
                <a:latin typeface="Calibri" pitchFamily="34" charset="0"/>
                <a:ea typeface="Calibri" pitchFamily="34" charset="-122"/>
                <a:cs typeface="Calibri" pitchFamily="34" charset="-120"/>
              </a:rPr>
              <a:t>Injected into EVERY request, always</a:t>
            </a:r>
            <a:endParaRPr lang="en-US" sz="1100" dirty="0"/>
          </a:p>
        </p:txBody>
      </p:sp>
      <p:sp>
        <p:nvSpPr>
          <p:cNvPr id="10" name="Text 8"/>
          <p:cNvSpPr/>
          <p:nvPr/>
        </p:nvSpPr>
        <p:spPr>
          <a:xfrm>
            <a:off x="457200" y="2432304"/>
            <a:ext cx="1005840" cy="420624"/>
          </a:xfrm>
          <a:prstGeom prst="rect">
            <a:avLst/>
          </a:prstGeom>
          <a:noFill/>
          <a:ln/>
        </p:spPr>
        <p:txBody>
          <a:bodyPr wrap="square" lIns="0" tIns="0" rIns="0" bIns="0" rtlCol="0" anchor="ctr"/>
          <a:lstStyle/>
          <a:p>
            <a:pPr indent="0" marL="0">
              <a:buNone/>
            </a:pPr>
            <a:r>
              <a:rPr lang="en-US" sz="1100" b="1" dirty="0">
                <a:solidFill>
                  <a:srgbClr val="7C3AED"/>
                </a:solidFill>
                <a:latin typeface="Calibri" pitchFamily="34" charset="0"/>
                <a:ea typeface="Calibri" pitchFamily="34" charset="-122"/>
                <a:cs typeface="Calibri" pitchFamily="34" charset="-120"/>
              </a:rPr>
              <a:t>Purpose:</a:t>
            </a:r>
            <a:endParaRPr lang="en-US" sz="1100" dirty="0"/>
          </a:p>
        </p:txBody>
      </p:sp>
      <p:sp>
        <p:nvSpPr>
          <p:cNvPr id="11" name="Text 9"/>
          <p:cNvSpPr/>
          <p:nvPr/>
        </p:nvSpPr>
        <p:spPr>
          <a:xfrm>
            <a:off x="1508760" y="2432304"/>
            <a:ext cx="2560320" cy="420624"/>
          </a:xfrm>
          <a:prstGeom prst="rect">
            <a:avLst/>
          </a:prstGeom>
          <a:noFill/>
          <a:ln/>
        </p:spPr>
        <p:txBody>
          <a:bodyPr wrap="square" lIns="0" tIns="0" rIns="0" bIns="0" rtlCol="0" anchor="ctr"/>
          <a:lstStyle/>
          <a:p>
            <a:pPr indent="0" marL="0">
              <a:buNone/>
            </a:pPr>
            <a:r>
              <a:rPr lang="en-US" sz="1100" dirty="0">
                <a:solidFill>
                  <a:srgbClr val="64748B"/>
                </a:solidFill>
                <a:latin typeface="Calibri" pitchFamily="34" charset="0"/>
                <a:ea typeface="Calibri" pitchFamily="34" charset="-122"/>
                <a:cs typeface="Calibri" pitchFamily="34" charset="-120"/>
              </a:rPr>
              <a:t>Global behaviour rules for Copilot</a:t>
            </a:r>
            <a:endParaRPr lang="en-US" sz="1100" dirty="0"/>
          </a:p>
        </p:txBody>
      </p:sp>
      <p:sp>
        <p:nvSpPr>
          <p:cNvPr id="12" name="Text 10"/>
          <p:cNvSpPr/>
          <p:nvPr/>
        </p:nvSpPr>
        <p:spPr>
          <a:xfrm>
            <a:off x="457200" y="2944368"/>
            <a:ext cx="1005840" cy="420624"/>
          </a:xfrm>
          <a:prstGeom prst="rect">
            <a:avLst/>
          </a:prstGeom>
          <a:noFill/>
          <a:ln/>
        </p:spPr>
        <p:txBody>
          <a:bodyPr wrap="square" lIns="0" tIns="0" rIns="0" bIns="0" rtlCol="0" anchor="ctr"/>
          <a:lstStyle/>
          <a:p>
            <a:pPr indent="0" marL="0">
              <a:buNone/>
            </a:pPr>
            <a:r>
              <a:rPr lang="en-US" sz="1100" b="1" dirty="0">
                <a:solidFill>
                  <a:srgbClr val="7C3AED"/>
                </a:solidFill>
                <a:latin typeface="Calibri" pitchFamily="34" charset="0"/>
                <a:ea typeface="Calibri" pitchFamily="34" charset="-122"/>
                <a:cs typeface="Calibri" pitchFamily="34" charset="-120"/>
              </a:rPr>
              <a:t>Controls:</a:t>
            </a:r>
            <a:endParaRPr lang="en-US" sz="1100" dirty="0"/>
          </a:p>
        </p:txBody>
      </p:sp>
      <p:sp>
        <p:nvSpPr>
          <p:cNvPr id="13" name="Text 11"/>
          <p:cNvSpPr/>
          <p:nvPr/>
        </p:nvSpPr>
        <p:spPr>
          <a:xfrm>
            <a:off x="1508760" y="2944368"/>
            <a:ext cx="2560320" cy="420624"/>
          </a:xfrm>
          <a:prstGeom prst="rect">
            <a:avLst/>
          </a:prstGeom>
          <a:noFill/>
          <a:ln/>
        </p:spPr>
        <p:txBody>
          <a:bodyPr wrap="square" lIns="0" tIns="0" rIns="0" bIns="0" rtlCol="0" anchor="ctr"/>
          <a:lstStyle/>
          <a:p>
            <a:pPr indent="0" marL="0">
              <a:buNone/>
            </a:pPr>
            <a:r>
              <a:rPr lang="en-US" sz="1100" dirty="0">
                <a:solidFill>
                  <a:srgbClr val="64748B"/>
                </a:solidFill>
                <a:latin typeface="Calibri" pitchFamily="34" charset="0"/>
                <a:ea typeface="Calibri" pitchFamily="34" charset="-122"/>
                <a:cs typeface="Calibri" pitchFamily="34" charset="-120"/>
              </a:rPr>
              <a:t>Code style, tone, output format</a:t>
            </a:r>
            <a:endParaRPr lang="en-US" sz="1100" dirty="0"/>
          </a:p>
        </p:txBody>
      </p:sp>
      <p:sp>
        <p:nvSpPr>
          <p:cNvPr id="14" name="Text 12"/>
          <p:cNvSpPr/>
          <p:nvPr/>
        </p:nvSpPr>
        <p:spPr>
          <a:xfrm>
            <a:off x="457200" y="3456432"/>
            <a:ext cx="1005840" cy="420624"/>
          </a:xfrm>
          <a:prstGeom prst="rect">
            <a:avLst/>
          </a:prstGeom>
          <a:noFill/>
          <a:ln/>
        </p:spPr>
        <p:txBody>
          <a:bodyPr wrap="square" lIns="0" tIns="0" rIns="0" bIns="0" rtlCol="0" anchor="ctr"/>
          <a:lstStyle/>
          <a:p>
            <a:pPr indent="0" marL="0">
              <a:buNone/>
            </a:pPr>
            <a:r>
              <a:rPr lang="en-US" sz="1100" b="1" dirty="0">
                <a:solidFill>
                  <a:srgbClr val="7C3AED"/>
                </a:solidFill>
                <a:latin typeface="Calibri" pitchFamily="34" charset="0"/>
                <a:ea typeface="Calibri" pitchFamily="34" charset="-122"/>
                <a:cs typeface="Calibri" pitchFamily="34" charset="-120"/>
              </a:rPr>
              <a:t>Token cost:</a:t>
            </a:r>
            <a:endParaRPr lang="en-US" sz="1100" dirty="0"/>
          </a:p>
        </p:txBody>
      </p:sp>
      <p:sp>
        <p:nvSpPr>
          <p:cNvPr id="15" name="Text 13"/>
          <p:cNvSpPr/>
          <p:nvPr/>
        </p:nvSpPr>
        <p:spPr>
          <a:xfrm>
            <a:off x="1508760" y="3456432"/>
            <a:ext cx="2560320" cy="420624"/>
          </a:xfrm>
          <a:prstGeom prst="rect">
            <a:avLst/>
          </a:prstGeom>
          <a:noFill/>
          <a:ln/>
        </p:spPr>
        <p:txBody>
          <a:bodyPr wrap="square" lIns="0" tIns="0" rIns="0" bIns="0" rtlCol="0" anchor="ctr"/>
          <a:lstStyle/>
          <a:p>
            <a:pPr indent="0" marL="0">
              <a:buNone/>
            </a:pPr>
            <a:r>
              <a:rPr lang="en-US" sz="1100" dirty="0">
                <a:solidFill>
                  <a:srgbClr val="64748B"/>
                </a:solidFill>
                <a:latin typeface="Calibri" pitchFamily="34" charset="0"/>
                <a:ea typeface="Calibri" pitchFamily="34" charset="-122"/>
                <a:cs typeface="Calibri" pitchFamily="34" charset="-120"/>
              </a:rPr>
              <a:t>Pays per line × every request</a:t>
            </a:r>
            <a:endParaRPr lang="en-US" sz="1100" dirty="0"/>
          </a:p>
        </p:txBody>
      </p:sp>
      <p:sp>
        <p:nvSpPr>
          <p:cNvPr id="16" name="Text 14"/>
          <p:cNvSpPr/>
          <p:nvPr/>
        </p:nvSpPr>
        <p:spPr>
          <a:xfrm>
            <a:off x="457200" y="3968496"/>
            <a:ext cx="1005840" cy="420624"/>
          </a:xfrm>
          <a:prstGeom prst="rect">
            <a:avLst/>
          </a:prstGeom>
          <a:noFill/>
          <a:ln/>
        </p:spPr>
        <p:txBody>
          <a:bodyPr wrap="square" lIns="0" tIns="0" rIns="0" bIns="0" rtlCol="0" anchor="ctr"/>
          <a:lstStyle/>
          <a:p>
            <a:pPr indent="0" marL="0">
              <a:buNone/>
            </a:pPr>
            <a:r>
              <a:rPr lang="en-US" sz="1100" b="1" dirty="0">
                <a:solidFill>
                  <a:srgbClr val="7C3AED"/>
                </a:solidFill>
                <a:latin typeface="Calibri" pitchFamily="34" charset="0"/>
                <a:ea typeface="Calibri" pitchFamily="34" charset="-122"/>
                <a:cs typeface="Calibri" pitchFamily="34" charset="-120"/>
              </a:rPr>
              <a:t>When to trim:</a:t>
            </a:r>
            <a:endParaRPr lang="en-US" sz="1100" dirty="0"/>
          </a:p>
        </p:txBody>
      </p:sp>
      <p:sp>
        <p:nvSpPr>
          <p:cNvPr id="17" name="Text 15"/>
          <p:cNvSpPr/>
          <p:nvPr/>
        </p:nvSpPr>
        <p:spPr>
          <a:xfrm>
            <a:off x="1508760" y="3968496"/>
            <a:ext cx="2560320" cy="420624"/>
          </a:xfrm>
          <a:prstGeom prst="rect">
            <a:avLst/>
          </a:prstGeom>
          <a:noFill/>
          <a:ln/>
        </p:spPr>
        <p:txBody>
          <a:bodyPr wrap="square" lIns="0" tIns="0" rIns="0" bIns="0" rtlCol="0" anchor="ctr"/>
          <a:lstStyle/>
          <a:p>
            <a:pPr indent="0" marL="0">
              <a:buNone/>
            </a:pPr>
            <a:r>
              <a:rPr lang="en-US" sz="1100" dirty="0">
                <a:solidFill>
                  <a:srgbClr val="64748B"/>
                </a:solidFill>
                <a:latin typeface="Calibri" pitchFamily="34" charset="0"/>
                <a:ea typeface="Calibri" pitchFamily="34" charset="-122"/>
                <a:cs typeface="Calibri" pitchFamily="34" charset="-120"/>
              </a:rPr>
              <a:t>Immediately — high cost multiplier</a:t>
            </a:r>
            <a:endParaRPr lang="en-US" sz="1100" dirty="0"/>
          </a:p>
        </p:txBody>
      </p:sp>
      <p:sp>
        <p:nvSpPr>
          <p:cNvPr id="18" name="Shape 16"/>
          <p:cNvSpPr/>
          <p:nvPr/>
        </p:nvSpPr>
        <p:spPr>
          <a:xfrm>
            <a:off x="4892040" y="1298448"/>
            <a:ext cx="3977640" cy="3611880"/>
          </a:xfrm>
          <a:prstGeom prst="roundRect">
            <a:avLst>
              <a:gd name="adj" fmla="val 3038"/>
            </a:avLst>
          </a:prstGeom>
          <a:solidFill>
            <a:srgbClr val="F0FDF4"/>
          </a:solidFill>
          <a:ln w="12700">
            <a:solidFill>
              <a:srgbClr val="008C94">
                <a:alpha val="50000"/>
              </a:srgbClr>
            </a:solidFill>
            <a:prstDash val="solid"/>
          </a:ln>
          <a:effectLst>
            <a:outerShdw sx="100000" sy="100000" kx="0" ky="0" algn="bl" rotWithShape="0" blurRad="101600" dist="38100" dir="2700000">
              <a:srgbClr val="000000">
                <a:alpha val="12000"/>
              </a:srgbClr>
            </a:outerShdw>
          </a:effectLst>
        </p:spPr>
      </p:sp>
      <p:sp>
        <p:nvSpPr>
          <p:cNvPr id="19" name="Shape 17"/>
          <p:cNvSpPr/>
          <p:nvPr/>
        </p:nvSpPr>
        <p:spPr>
          <a:xfrm>
            <a:off x="4892040" y="1298448"/>
            <a:ext cx="3977640" cy="502920"/>
          </a:xfrm>
          <a:prstGeom prst="roundRect">
            <a:avLst>
              <a:gd name="adj" fmla="val 21818"/>
            </a:avLst>
          </a:prstGeom>
          <a:solidFill>
            <a:srgbClr val="008C94"/>
          </a:solidFill>
          <a:ln w="12700">
            <a:solidFill>
              <a:srgbClr val="008C94"/>
            </a:solidFill>
            <a:prstDash val="solid"/>
          </a:ln>
        </p:spPr>
      </p:sp>
      <p:sp>
        <p:nvSpPr>
          <p:cNvPr id="20" name="Text 18"/>
          <p:cNvSpPr/>
          <p:nvPr/>
        </p:nvSpPr>
        <p:spPr>
          <a:xfrm>
            <a:off x="4892040" y="1298448"/>
            <a:ext cx="3977640" cy="5029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  .github/skills/*.md</a:t>
            </a:r>
            <a:endParaRPr lang="en-US" sz="1200" dirty="0"/>
          </a:p>
        </p:txBody>
      </p:sp>
      <p:sp>
        <p:nvSpPr>
          <p:cNvPr id="21" name="Text 19"/>
          <p:cNvSpPr/>
          <p:nvPr/>
        </p:nvSpPr>
        <p:spPr>
          <a:xfrm>
            <a:off x="5074920" y="1920240"/>
            <a:ext cx="1005840" cy="420624"/>
          </a:xfrm>
          <a:prstGeom prst="rect">
            <a:avLst/>
          </a:prstGeom>
          <a:noFill/>
          <a:ln/>
        </p:spPr>
        <p:txBody>
          <a:bodyPr wrap="square" lIns="0" tIns="0" rIns="0" bIns="0" rtlCol="0" anchor="ctr"/>
          <a:lstStyle/>
          <a:p>
            <a:pPr indent="0" marL="0">
              <a:buNone/>
            </a:pPr>
            <a:r>
              <a:rPr lang="en-US" sz="1100" b="1" dirty="0">
                <a:solidFill>
                  <a:srgbClr val="008C94"/>
                </a:solidFill>
                <a:latin typeface="Calibri" pitchFamily="34" charset="0"/>
                <a:ea typeface="Calibri" pitchFamily="34" charset="-122"/>
                <a:cs typeface="Calibri" pitchFamily="34" charset="-120"/>
              </a:rPr>
              <a:t>Scope:</a:t>
            </a:r>
            <a:endParaRPr lang="en-US" sz="1100" dirty="0"/>
          </a:p>
        </p:txBody>
      </p:sp>
      <p:sp>
        <p:nvSpPr>
          <p:cNvPr id="22" name="Text 20"/>
          <p:cNvSpPr/>
          <p:nvPr/>
        </p:nvSpPr>
        <p:spPr>
          <a:xfrm>
            <a:off x="6126480" y="1920240"/>
            <a:ext cx="2560320" cy="420624"/>
          </a:xfrm>
          <a:prstGeom prst="rect">
            <a:avLst/>
          </a:prstGeom>
          <a:noFill/>
          <a:ln/>
        </p:spPr>
        <p:txBody>
          <a:bodyPr wrap="square" lIns="0" tIns="0" rIns="0" bIns="0" rtlCol="0" anchor="ctr"/>
          <a:lstStyle/>
          <a:p>
            <a:pPr indent="0" marL="0">
              <a:buNone/>
            </a:pPr>
            <a:r>
              <a:rPr lang="en-US" sz="1100" dirty="0">
                <a:solidFill>
                  <a:srgbClr val="64748B"/>
                </a:solidFill>
                <a:latin typeface="Calibri" pitchFamily="34" charset="0"/>
                <a:ea typeface="Calibri" pitchFamily="34" charset="-122"/>
                <a:cs typeface="Calibri" pitchFamily="34" charset="-120"/>
              </a:rPr>
              <a:t>Loaded ON DEMAND by the agent</a:t>
            </a:r>
            <a:endParaRPr lang="en-US" sz="1100" dirty="0"/>
          </a:p>
        </p:txBody>
      </p:sp>
      <p:sp>
        <p:nvSpPr>
          <p:cNvPr id="23" name="Text 21"/>
          <p:cNvSpPr/>
          <p:nvPr/>
        </p:nvSpPr>
        <p:spPr>
          <a:xfrm>
            <a:off x="5074920" y="2432304"/>
            <a:ext cx="1005840" cy="420624"/>
          </a:xfrm>
          <a:prstGeom prst="rect">
            <a:avLst/>
          </a:prstGeom>
          <a:noFill/>
          <a:ln/>
        </p:spPr>
        <p:txBody>
          <a:bodyPr wrap="square" lIns="0" tIns="0" rIns="0" bIns="0" rtlCol="0" anchor="ctr"/>
          <a:lstStyle/>
          <a:p>
            <a:pPr indent="0" marL="0">
              <a:buNone/>
            </a:pPr>
            <a:r>
              <a:rPr lang="en-US" sz="1100" b="1" dirty="0">
                <a:solidFill>
                  <a:srgbClr val="008C94"/>
                </a:solidFill>
                <a:latin typeface="Calibri" pitchFamily="34" charset="0"/>
                <a:ea typeface="Calibri" pitchFamily="34" charset="-122"/>
                <a:cs typeface="Calibri" pitchFamily="34" charset="-120"/>
              </a:rPr>
              <a:t>Purpose:</a:t>
            </a:r>
            <a:endParaRPr lang="en-US" sz="1100" dirty="0"/>
          </a:p>
        </p:txBody>
      </p:sp>
      <p:sp>
        <p:nvSpPr>
          <p:cNvPr id="24" name="Text 22"/>
          <p:cNvSpPr/>
          <p:nvPr/>
        </p:nvSpPr>
        <p:spPr>
          <a:xfrm>
            <a:off x="6126480" y="2432304"/>
            <a:ext cx="2560320" cy="420624"/>
          </a:xfrm>
          <a:prstGeom prst="rect">
            <a:avLst/>
          </a:prstGeom>
          <a:noFill/>
          <a:ln/>
        </p:spPr>
        <p:txBody>
          <a:bodyPr wrap="square" lIns="0" tIns="0" rIns="0" bIns="0" rtlCol="0" anchor="ctr"/>
          <a:lstStyle/>
          <a:p>
            <a:pPr indent="0" marL="0">
              <a:buNone/>
            </a:pPr>
            <a:r>
              <a:rPr lang="en-US" sz="1100" dirty="0">
                <a:solidFill>
                  <a:srgbClr val="64748B"/>
                </a:solidFill>
                <a:latin typeface="Calibri" pitchFamily="34" charset="0"/>
                <a:ea typeface="Calibri" pitchFamily="34" charset="-122"/>
                <a:cs typeface="Calibri" pitchFamily="34" charset="-120"/>
              </a:rPr>
              <a:t>Task-specific knowledge &amp; logic</a:t>
            </a:r>
            <a:endParaRPr lang="en-US" sz="1100" dirty="0"/>
          </a:p>
        </p:txBody>
      </p:sp>
      <p:sp>
        <p:nvSpPr>
          <p:cNvPr id="25" name="Text 23"/>
          <p:cNvSpPr/>
          <p:nvPr/>
        </p:nvSpPr>
        <p:spPr>
          <a:xfrm>
            <a:off x="5074920" y="2944368"/>
            <a:ext cx="1005840" cy="420624"/>
          </a:xfrm>
          <a:prstGeom prst="rect">
            <a:avLst/>
          </a:prstGeom>
          <a:noFill/>
          <a:ln/>
        </p:spPr>
        <p:txBody>
          <a:bodyPr wrap="square" lIns="0" tIns="0" rIns="0" bIns="0" rtlCol="0" anchor="ctr"/>
          <a:lstStyle/>
          <a:p>
            <a:pPr indent="0" marL="0">
              <a:buNone/>
            </a:pPr>
            <a:r>
              <a:rPr lang="en-US" sz="1100" b="1" dirty="0">
                <a:solidFill>
                  <a:srgbClr val="008C94"/>
                </a:solidFill>
                <a:latin typeface="Calibri" pitchFamily="34" charset="0"/>
                <a:ea typeface="Calibri" pitchFamily="34" charset="-122"/>
                <a:cs typeface="Calibri" pitchFamily="34" charset="-120"/>
              </a:rPr>
              <a:t>Controls:</a:t>
            </a:r>
            <a:endParaRPr lang="en-US" sz="1100" dirty="0"/>
          </a:p>
        </p:txBody>
      </p:sp>
      <p:sp>
        <p:nvSpPr>
          <p:cNvPr id="26" name="Text 24"/>
          <p:cNvSpPr/>
          <p:nvPr/>
        </p:nvSpPr>
        <p:spPr>
          <a:xfrm>
            <a:off x="6126480" y="2944368"/>
            <a:ext cx="2560320" cy="420624"/>
          </a:xfrm>
          <a:prstGeom prst="rect">
            <a:avLst/>
          </a:prstGeom>
          <a:noFill/>
          <a:ln/>
        </p:spPr>
        <p:txBody>
          <a:bodyPr wrap="square" lIns="0" tIns="0" rIns="0" bIns="0" rtlCol="0" anchor="ctr"/>
          <a:lstStyle/>
          <a:p>
            <a:pPr indent="0" marL="0">
              <a:buNone/>
            </a:pPr>
            <a:r>
              <a:rPr lang="en-US" sz="1100" dirty="0">
                <a:solidFill>
                  <a:srgbClr val="64748B"/>
                </a:solidFill>
                <a:latin typeface="Calibri" pitchFamily="34" charset="0"/>
                <a:ea typeface="Calibri" pitchFamily="34" charset="-122"/>
                <a:cs typeface="Calibri" pitchFamily="34" charset="-120"/>
              </a:rPr>
              <a:t>Domain rules, step-by-step workflows</a:t>
            </a:r>
            <a:endParaRPr lang="en-US" sz="1100" dirty="0"/>
          </a:p>
        </p:txBody>
      </p:sp>
      <p:sp>
        <p:nvSpPr>
          <p:cNvPr id="27" name="Text 25"/>
          <p:cNvSpPr/>
          <p:nvPr/>
        </p:nvSpPr>
        <p:spPr>
          <a:xfrm>
            <a:off x="5074920" y="3456432"/>
            <a:ext cx="1005840" cy="420624"/>
          </a:xfrm>
          <a:prstGeom prst="rect">
            <a:avLst/>
          </a:prstGeom>
          <a:noFill/>
          <a:ln/>
        </p:spPr>
        <p:txBody>
          <a:bodyPr wrap="square" lIns="0" tIns="0" rIns="0" bIns="0" rtlCol="0" anchor="ctr"/>
          <a:lstStyle/>
          <a:p>
            <a:pPr indent="0" marL="0">
              <a:buNone/>
            </a:pPr>
            <a:r>
              <a:rPr lang="en-US" sz="1100" b="1" dirty="0">
                <a:solidFill>
                  <a:srgbClr val="008C94"/>
                </a:solidFill>
                <a:latin typeface="Calibri" pitchFamily="34" charset="0"/>
                <a:ea typeface="Calibri" pitchFamily="34" charset="-122"/>
                <a:cs typeface="Calibri" pitchFamily="34" charset="-120"/>
              </a:rPr>
              <a:t>Token cost:</a:t>
            </a:r>
            <a:endParaRPr lang="en-US" sz="1100" dirty="0"/>
          </a:p>
        </p:txBody>
      </p:sp>
      <p:sp>
        <p:nvSpPr>
          <p:cNvPr id="28" name="Text 26"/>
          <p:cNvSpPr/>
          <p:nvPr/>
        </p:nvSpPr>
        <p:spPr>
          <a:xfrm>
            <a:off x="6126480" y="3456432"/>
            <a:ext cx="2560320" cy="420624"/>
          </a:xfrm>
          <a:prstGeom prst="rect">
            <a:avLst/>
          </a:prstGeom>
          <a:noFill/>
          <a:ln/>
        </p:spPr>
        <p:txBody>
          <a:bodyPr wrap="square" lIns="0" tIns="0" rIns="0" bIns="0" rtlCol="0" anchor="ctr"/>
          <a:lstStyle/>
          <a:p>
            <a:pPr indent="0" marL="0">
              <a:buNone/>
            </a:pPr>
            <a:r>
              <a:rPr lang="en-US" sz="1100" dirty="0">
                <a:solidFill>
                  <a:srgbClr val="64748B"/>
                </a:solidFill>
                <a:latin typeface="Calibri" pitchFamily="34" charset="0"/>
                <a:ea typeface="Calibri" pitchFamily="34" charset="-122"/>
                <a:cs typeface="Calibri" pitchFamily="34" charset="-120"/>
              </a:rPr>
              <a:t>Only charged when triggered</a:t>
            </a:r>
            <a:endParaRPr lang="en-US" sz="1100" dirty="0"/>
          </a:p>
        </p:txBody>
      </p:sp>
      <p:sp>
        <p:nvSpPr>
          <p:cNvPr id="29" name="Text 27"/>
          <p:cNvSpPr/>
          <p:nvPr/>
        </p:nvSpPr>
        <p:spPr>
          <a:xfrm>
            <a:off x="5074920" y="3968496"/>
            <a:ext cx="1005840" cy="420624"/>
          </a:xfrm>
          <a:prstGeom prst="rect">
            <a:avLst/>
          </a:prstGeom>
          <a:noFill/>
          <a:ln/>
        </p:spPr>
        <p:txBody>
          <a:bodyPr wrap="square" lIns="0" tIns="0" rIns="0" bIns="0" rtlCol="0" anchor="ctr"/>
          <a:lstStyle/>
          <a:p>
            <a:pPr indent="0" marL="0">
              <a:buNone/>
            </a:pPr>
            <a:r>
              <a:rPr lang="en-US" sz="1100" b="1" dirty="0">
                <a:solidFill>
                  <a:srgbClr val="008C94"/>
                </a:solidFill>
                <a:latin typeface="Calibri" pitchFamily="34" charset="0"/>
                <a:ea typeface="Calibri" pitchFamily="34" charset="-122"/>
                <a:cs typeface="Calibri" pitchFamily="34" charset="-120"/>
              </a:rPr>
              <a:t>Strategy:</a:t>
            </a:r>
            <a:endParaRPr lang="en-US" sz="1100" dirty="0"/>
          </a:p>
        </p:txBody>
      </p:sp>
      <p:sp>
        <p:nvSpPr>
          <p:cNvPr id="30" name="Text 28"/>
          <p:cNvSpPr/>
          <p:nvPr/>
        </p:nvSpPr>
        <p:spPr>
          <a:xfrm>
            <a:off x="6126480" y="3968496"/>
            <a:ext cx="2560320" cy="420624"/>
          </a:xfrm>
          <a:prstGeom prst="rect">
            <a:avLst/>
          </a:prstGeom>
          <a:noFill/>
          <a:ln/>
        </p:spPr>
        <p:txBody>
          <a:bodyPr wrap="square" lIns="0" tIns="0" rIns="0" bIns="0" rtlCol="0" anchor="ctr"/>
          <a:lstStyle/>
          <a:p>
            <a:pPr indent="0" marL="0">
              <a:buNone/>
            </a:pPr>
            <a:r>
              <a:rPr lang="en-US" sz="1100" dirty="0">
                <a:solidFill>
                  <a:srgbClr val="64748B"/>
                </a:solidFill>
                <a:latin typeface="Calibri" pitchFamily="34" charset="0"/>
                <a:ea typeface="Calibri" pitchFamily="34" charset="-122"/>
                <a:cs typeface="Calibri" pitchFamily="34" charset="-120"/>
              </a:rPr>
              <a:t>Progressive disclosure — lazy load</a:t>
            </a:r>
            <a:endParaRPr lang="en-US" sz="1100" dirty="0"/>
          </a:p>
        </p:txBody>
      </p:sp>
      <p:sp>
        <p:nvSpPr>
          <p:cNvPr id="31" name="Shape 29"/>
          <p:cNvSpPr/>
          <p:nvPr/>
        </p:nvSpPr>
        <p:spPr>
          <a:xfrm>
            <a:off x="4251960" y="2651760"/>
            <a:ext cx="640080" cy="640080"/>
          </a:xfrm>
          <a:prstGeom prst="ellipse">
            <a:avLst/>
          </a:prstGeom>
          <a:solidFill>
            <a:srgbClr val="0D1B2A"/>
          </a:solidFill>
          <a:ln w="12700">
            <a:solidFill>
              <a:srgbClr val="0D1B2A"/>
            </a:solidFill>
            <a:prstDash val="solid"/>
          </a:ln>
        </p:spPr>
      </p:sp>
      <p:sp>
        <p:nvSpPr>
          <p:cNvPr id="32" name="Text 30"/>
          <p:cNvSpPr/>
          <p:nvPr/>
        </p:nvSpPr>
        <p:spPr>
          <a:xfrm>
            <a:off x="4251960" y="2651760"/>
            <a:ext cx="640080" cy="640080"/>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VS</a:t>
            </a:r>
            <a:endParaRPr lang="en-US" sz="1100" dirty="0"/>
          </a:p>
        </p:txBody>
      </p:sp>
      <p:sp>
        <p:nvSpPr>
          <p:cNvPr id="33" name="Shape 31"/>
          <p:cNvSpPr/>
          <p:nvPr/>
        </p:nvSpPr>
        <p:spPr>
          <a:xfrm>
            <a:off x="274320" y="4956048"/>
            <a:ext cx="8595360" cy="0"/>
          </a:xfrm>
          <a:prstGeom prst="roundRect">
            <a:avLst/>
          </a:prstGeom>
          <a:solidFill>
            <a:srgbClr val="0D1B2A"/>
          </a:solidFill>
          <a:ln w="12700">
            <a:solidFill>
              <a:srgbClr val="E2E8F0"/>
            </a:solidFill>
            <a:prstDash val="solid"/>
          </a:ln>
        </p:spPr>
      </p:sp>
      <p:sp>
        <p:nvSpPr>
          <p:cNvPr id="34" name="Shape 32"/>
          <p:cNvSpPr/>
          <p:nvPr/>
        </p:nvSpPr>
        <p:spPr>
          <a:xfrm>
            <a:off x="0" y="4887468"/>
            <a:ext cx="1143000" cy="256032"/>
          </a:xfrm>
          <a:prstGeom prst="rect">
            <a:avLst/>
          </a:prstGeom>
          <a:solidFill>
            <a:srgbClr val="1A2E45"/>
          </a:solidFill>
          <a:ln w="12700">
            <a:solidFill>
              <a:srgbClr val="1A2E45"/>
            </a:solidFill>
            <a:prstDash val="solid"/>
          </a:ln>
        </p:spPr>
      </p:sp>
      <p:sp>
        <p:nvSpPr>
          <p:cNvPr id="35" name="Text 33"/>
          <p:cNvSpPr/>
          <p:nvPr/>
        </p:nvSpPr>
        <p:spPr>
          <a:xfrm>
            <a:off x="0" y="4887468"/>
            <a:ext cx="1143000" cy="256032"/>
          </a:xfrm>
          <a:prstGeom prst="rect">
            <a:avLst/>
          </a:prstGeom>
          <a:noFill/>
          <a:ln/>
        </p:spPr>
        <p:txBody>
          <a:bodyPr wrap="square" lIns="0" tIns="0" rIns="0" bIns="0" rtlCol="0" anchor="ctr"/>
          <a:lstStyle/>
          <a:p>
            <a:pPr algn="ctr" indent="0" marL="0">
              <a:buNone/>
            </a:pPr>
            <a:r>
              <a:rPr lang="en-US" sz="750" dirty="0">
                <a:solidFill>
                  <a:srgbClr val="3A5068"/>
                </a:solidFill>
                <a:latin typeface="Calibri" pitchFamily="34" charset="0"/>
                <a:ea typeface="Calibri" pitchFamily="34" charset="-122"/>
                <a:cs typeface="Calibri" pitchFamily="34" charset="-120"/>
              </a:rPr>
              <a:t>Overview</a:t>
            </a:r>
            <a:endParaRPr lang="en-US" sz="750" dirty="0"/>
          </a:p>
        </p:txBody>
      </p:sp>
      <p:sp>
        <p:nvSpPr>
          <p:cNvPr id="36" name="Shape 34"/>
          <p:cNvSpPr/>
          <p:nvPr/>
        </p:nvSpPr>
        <p:spPr>
          <a:xfrm>
            <a:off x="1143000" y="4887468"/>
            <a:ext cx="1143000" cy="256032"/>
          </a:xfrm>
          <a:prstGeom prst="rect">
            <a:avLst/>
          </a:prstGeom>
          <a:solidFill>
            <a:srgbClr val="1A2E45"/>
          </a:solidFill>
          <a:ln w="12700">
            <a:solidFill>
              <a:srgbClr val="1A2E45"/>
            </a:solidFill>
            <a:prstDash val="solid"/>
          </a:ln>
        </p:spPr>
      </p:sp>
      <p:sp>
        <p:nvSpPr>
          <p:cNvPr id="37" name="Text 35"/>
          <p:cNvSpPr/>
          <p:nvPr/>
        </p:nvSpPr>
        <p:spPr>
          <a:xfrm>
            <a:off x="1143000" y="4887468"/>
            <a:ext cx="1143000" cy="256032"/>
          </a:xfrm>
          <a:prstGeom prst="rect">
            <a:avLst/>
          </a:prstGeom>
          <a:noFill/>
          <a:ln/>
        </p:spPr>
        <p:txBody>
          <a:bodyPr wrap="square" lIns="0" tIns="0" rIns="0" bIns="0" rtlCol="0" anchor="ctr"/>
          <a:lstStyle/>
          <a:p>
            <a:pPr algn="ctr" indent="0" marL="0">
              <a:buNone/>
            </a:pPr>
            <a:r>
              <a:rPr lang="en-US" sz="750" dirty="0">
                <a:solidFill>
                  <a:srgbClr val="3A5068"/>
                </a:solidFill>
                <a:latin typeface="Calibri" pitchFamily="34" charset="0"/>
                <a:ea typeface="Calibri" pitchFamily="34" charset="-122"/>
                <a:cs typeface="Calibri" pitchFamily="34" charset="-120"/>
              </a:rPr>
              <a:t>Output Control</a:t>
            </a:r>
            <a:endParaRPr lang="en-US" sz="750" dirty="0"/>
          </a:p>
        </p:txBody>
      </p:sp>
      <p:sp>
        <p:nvSpPr>
          <p:cNvPr id="38" name="Shape 36"/>
          <p:cNvSpPr/>
          <p:nvPr/>
        </p:nvSpPr>
        <p:spPr>
          <a:xfrm>
            <a:off x="2286000" y="4887468"/>
            <a:ext cx="1143000" cy="256032"/>
          </a:xfrm>
          <a:prstGeom prst="rect">
            <a:avLst/>
          </a:prstGeom>
          <a:solidFill>
            <a:srgbClr val="1A2E45"/>
          </a:solidFill>
          <a:ln w="12700">
            <a:solidFill>
              <a:srgbClr val="1A2E45"/>
            </a:solidFill>
            <a:prstDash val="solid"/>
          </a:ln>
        </p:spPr>
      </p:sp>
      <p:sp>
        <p:nvSpPr>
          <p:cNvPr id="39" name="Text 37"/>
          <p:cNvSpPr/>
          <p:nvPr/>
        </p:nvSpPr>
        <p:spPr>
          <a:xfrm>
            <a:off x="2286000" y="4887468"/>
            <a:ext cx="1143000" cy="256032"/>
          </a:xfrm>
          <a:prstGeom prst="rect">
            <a:avLst/>
          </a:prstGeom>
          <a:noFill/>
          <a:ln/>
        </p:spPr>
        <p:txBody>
          <a:bodyPr wrap="square" lIns="0" tIns="0" rIns="0" bIns="0" rtlCol="0" anchor="ctr"/>
          <a:lstStyle/>
          <a:p>
            <a:pPr algn="ctr" indent="0" marL="0">
              <a:buNone/>
            </a:pPr>
            <a:r>
              <a:rPr lang="en-US" sz="750" dirty="0">
                <a:solidFill>
                  <a:srgbClr val="3A5068"/>
                </a:solidFill>
                <a:latin typeface="Calibri" pitchFamily="34" charset="0"/>
                <a:ea typeface="Calibri" pitchFamily="34" charset="-122"/>
                <a:cs typeface="Calibri" pitchFamily="34" charset="-120"/>
              </a:rPr>
              <a:t>Context &amp; Prompting</a:t>
            </a:r>
            <a:endParaRPr lang="en-US" sz="750" dirty="0"/>
          </a:p>
        </p:txBody>
      </p:sp>
      <p:sp>
        <p:nvSpPr>
          <p:cNvPr id="40" name="Shape 38"/>
          <p:cNvSpPr/>
          <p:nvPr/>
        </p:nvSpPr>
        <p:spPr>
          <a:xfrm>
            <a:off x="3429000" y="4887468"/>
            <a:ext cx="1143000" cy="256032"/>
          </a:xfrm>
          <a:prstGeom prst="rect">
            <a:avLst/>
          </a:prstGeom>
          <a:solidFill>
            <a:srgbClr val="1A2E45"/>
          </a:solidFill>
          <a:ln w="12700">
            <a:solidFill>
              <a:srgbClr val="1A2E45"/>
            </a:solidFill>
            <a:prstDash val="solid"/>
          </a:ln>
        </p:spPr>
      </p:sp>
      <p:sp>
        <p:nvSpPr>
          <p:cNvPr id="41" name="Text 39"/>
          <p:cNvSpPr/>
          <p:nvPr/>
        </p:nvSpPr>
        <p:spPr>
          <a:xfrm>
            <a:off x="3429000" y="4887468"/>
            <a:ext cx="1143000" cy="256032"/>
          </a:xfrm>
          <a:prstGeom prst="rect">
            <a:avLst/>
          </a:prstGeom>
          <a:noFill/>
          <a:ln/>
        </p:spPr>
        <p:txBody>
          <a:bodyPr wrap="square" lIns="0" tIns="0" rIns="0" bIns="0" rtlCol="0" anchor="ctr"/>
          <a:lstStyle/>
          <a:p>
            <a:pPr algn="ctr" indent="0" marL="0">
              <a:buNone/>
            </a:pPr>
            <a:r>
              <a:rPr lang="en-US" sz="750" dirty="0">
                <a:solidFill>
                  <a:srgbClr val="3A5068"/>
                </a:solidFill>
                <a:latin typeface="Calibri" pitchFamily="34" charset="0"/>
                <a:ea typeface="Calibri" pitchFamily="34" charset="-122"/>
                <a:cs typeface="Calibri" pitchFamily="34" charset="-120"/>
              </a:rPr>
              <a:t>Models &amp; Modes</a:t>
            </a:r>
            <a:endParaRPr lang="en-US" sz="750" dirty="0"/>
          </a:p>
        </p:txBody>
      </p:sp>
      <p:sp>
        <p:nvSpPr>
          <p:cNvPr id="42" name="Shape 40"/>
          <p:cNvSpPr/>
          <p:nvPr/>
        </p:nvSpPr>
        <p:spPr>
          <a:xfrm>
            <a:off x="4572000" y="4887468"/>
            <a:ext cx="1143000" cy="256032"/>
          </a:xfrm>
          <a:prstGeom prst="rect">
            <a:avLst/>
          </a:prstGeom>
          <a:solidFill>
            <a:srgbClr val="1A2E45"/>
          </a:solidFill>
          <a:ln w="12700">
            <a:solidFill>
              <a:srgbClr val="1A2E45"/>
            </a:solidFill>
            <a:prstDash val="solid"/>
          </a:ln>
        </p:spPr>
      </p:sp>
      <p:sp>
        <p:nvSpPr>
          <p:cNvPr id="43" name="Text 41"/>
          <p:cNvSpPr/>
          <p:nvPr/>
        </p:nvSpPr>
        <p:spPr>
          <a:xfrm>
            <a:off x="4572000" y="4887468"/>
            <a:ext cx="1143000" cy="256032"/>
          </a:xfrm>
          <a:prstGeom prst="rect">
            <a:avLst/>
          </a:prstGeom>
          <a:noFill/>
          <a:ln/>
        </p:spPr>
        <p:txBody>
          <a:bodyPr wrap="square" lIns="0" tIns="0" rIns="0" bIns="0" rtlCol="0" anchor="ctr"/>
          <a:lstStyle/>
          <a:p>
            <a:pPr algn="ctr" indent="0" marL="0">
              <a:buNone/>
            </a:pPr>
            <a:r>
              <a:rPr lang="en-US" sz="750" dirty="0">
                <a:solidFill>
                  <a:srgbClr val="3A5068"/>
                </a:solidFill>
                <a:latin typeface="Calibri" pitchFamily="34" charset="0"/>
                <a:ea typeface="Calibri" pitchFamily="34" charset="-122"/>
                <a:cs typeface="Calibri" pitchFamily="34" charset="-120"/>
              </a:rPr>
              <a:t>Governance</a:t>
            </a:r>
            <a:endParaRPr lang="en-US" sz="750" dirty="0"/>
          </a:p>
        </p:txBody>
      </p:sp>
      <p:sp>
        <p:nvSpPr>
          <p:cNvPr id="44" name="Shape 42"/>
          <p:cNvSpPr/>
          <p:nvPr/>
        </p:nvSpPr>
        <p:spPr>
          <a:xfrm>
            <a:off x="5715000" y="4887468"/>
            <a:ext cx="1143000" cy="256032"/>
          </a:xfrm>
          <a:prstGeom prst="rect">
            <a:avLst/>
          </a:prstGeom>
          <a:solidFill>
            <a:srgbClr val="1A2E45"/>
          </a:solidFill>
          <a:ln w="12700">
            <a:solidFill>
              <a:srgbClr val="1A2E45"/>
            </a:solidFill>
            <a:prstDash val="solid"/>
          </a:ln>
        </p:spPr>
      </p:sp>
      <p:sp>
        <p:nvSpPr>
          <p:cNvPr id="45" name="Text 43"/>
          <p:cNvSpPr/>
          <p:nvPr/>
        </p:nvSpPr>
        <p:spPr>
          <a:xfrm>
            <a:off x="5715000" y="4887468"/>
            <a:ext cx="1143000" cy="256032"/>
          </a:xfrm>
          <a:prstGeom prst="rect">
            <a:avLst/>
          </a:prstGeom>
          <a:noFill/>
          <a:ln/>
        </p:spPr>
        <p:txBody>
          <a:bodyPr wrap="square" lIns="0" tIns="0" rIns="0" bIns="0" rtlCol="0" anchor="ctr"/>
          <a:lstStyle/>
          <a:p>
            <a:pPr algn="ctr" indent="0" marL="0">
              <a:buNone/>
            </a:pPr>
            <a:r>
              <a:rPr lang="en-US" sz="750" dirty="0">
                <a:solidFill>
                  <a:srgbClr val="3A5068"/>
                </a:solidFill>
                <a:latin typeface="Calibri" pitchFamily="34" charset="0"/>
                <a:ea typeface="Calibri" pitchFamily="34" charset="-122"/>
                <a:cs typeface="Calibri" pitchFamily="34" charset="-120"/>
              </a:rPr>
              <a:t>Architecture</a:t>
            </a:r>
            <a:endParaRPr lang="en-US" sz="750" dirty="0"/>
          </a:p>
        </p:txBody>
      </p:sp>
      <p:sp>
        <p:nvSpPr>
          <p:cNvPr id="46" name="Shape 44"/>
          <p:cNvSpPr/>
          <p:nvPr/>
        </p:nvSpPr>
        <p:spPr>
          <a:xfrm>
            <a:off x="6858000" y="4887468"/>
            <a:ext cx="1143000" cy="256032"/>
          </a:xfrm>
          <a:prstGeom prst="rect">
            <a:avLst/>
          </a:prstGeom>
          <a:solidFill>
            <a:srgbClr val="7C3AED"/>
          </a:solidFill>
          <a:ln w="12700">
            <a:solidFill>
              <a:srgbClr val="7C3AED"/>
            </a:solidFill>
            <a:prstDash val="solid"/>
          </a:ln>
        </p:spPr>
      </p:sp>
      <p:sp>
        <p:nvSpPr>
          <p:cNvPr id="47" name="Text 45"/>
          <p:cNvSpPr/>
          <p:nvPr/>
        </p:nvSpPr>
        <p:spPr>
          <a:xfrm>
            <a:off x="6858000" y="4887468"/>
            <a:ext cx="1143000" cy="256032"/>
          </a:xfrm>
          <a:prstGeom prst="rect">
            <a:avLst/>
          </a:prstGeom>
          <a:noFill/>
          <a:ln/>
        </p:spPr>
        <p:txBody>
          <a:bodyPr wrap="square" lIns="0" tIns="0" rIns="0" bIns="0" rtlCol="0" anchor="ctr"/>
          <a:lstStyle/>
          <a:p>
            <a:pPr algn="ctr" indent="0" marL="0">
              <a:buNone/>
            </a:pPr>
            <a:r>
              <a:rPr lang="en-US" sz="750" b="1" dirty="0">
                <a:solidFill>
                  <a:srgbClr val="0D1B2A"/>
                </a:solidFill>
                <a:latin typeface="Calibri" pitchFamily="34" charset="0"/>
                <a:ea typeface="Calibri" pitchFamily="34" charset="-122"/>
                <a:cs typeface="Calibri" pitchFamily="34" charset="-120"/>
              </a:rPr>
              <a:t>Best Practices</a:t>
            </a:r>
            <a:endParaRPr lang="en-US" sz="750" dirty="0"/>
          </a:p>
        </p:txBody>
      </p:sp>
      <p:sp>
        <p:nvSpPr>
          <p:cNvPr id="48" name="Shape 46"/>
          <p:cNvSpPr/>
          <p:nvPr/>
        </p:nvSpPr>
        <p:spPr>
          <a:xfrm>
            <a:off x="8001000" y="4887468"/>
            <a:ext cx="1143000" cy="256032"/>
          </a:xfrm>
          <a:prstGeom prst="rect">
            <a:avLst/>
          </a:prstGeom>
          <a:solidFill>
            <a:srgbClr val="1A2E45"/>
          </a:solidFill>
          <a:ln w="12700">
            <a:solidFill>
              <a:srgbClr val="1A2E45"/>
            </a:solidFill>
            <a:prstDash val="solid"/>
          </a:ln>
        </p:spPr>
      </p:sp>
      <p:sp>
        <p:nvSpPr>
          <p:cNvPr id="49" name="Text 47"/>
          <p:cNvSpPr/>
          <p:nvPr/>
        </p:nvSpPr>
        <p:spPr>
          <a:xfrm>
            <a:off x="8001000" y="4887468"/>
            <a:ext cx="1143000" cy="256032"/>
          </a:xfrm>
          <a:prstGeom prst="rect">
            <a:avLst/>
          </a:prstGeom>
          <a:noFill/>
          <a:ln/>
        </p:spPr>
        <p:txBody>
          <a:bodyPr wrap="square" lIns="0" tIns="0" rIns="0" bIns="0" rtlCol="0" anchor="ctr"/>
          <a:lstStyle/>
          <a:p>
            <a:pPr algn="ctr" indent="0" marL="0">
              <a:buNone/>
            </a:pPr>
            <a:r>
              <a:rPr lang="en-US" sz="750" dirty="0">
                <a:solidFill>
                  <a:srgbClr val="3A5068"/>
                </a:solidFill>
                <a:latin typeface="Calibri" pitchFamily="34" charset="0"/>
                <a:ea typeface="Calibri" pitchFamily="34" charset="-122"/>
                <a:cs typeface="Calibri" pitchFamily="34" charset="-120"/>
              </a:rPr>
              <a:t>Reference</a:t>
            </a:r>
            <a:endParaRPr lang="en-US" sz="7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7C3AED"/>
          </a:solidFill>
          <a:ln w="12700">
            <a:solidFill>
              <a:srgbClr val="7C3AED"/>
            </a:solidFill>
            <a:prstDash val="solid"/>
          </a:ln>
        </p:spPr>
      </p:sp>
      <p:sp>
        <p:nvSpPr>
          <p:cNvPr id="3" name="Text 1"/>
          <p:cNvSpPr/>
          <p:nvPr/>
        </p:nvSpPr>
        <p:spPr>
          <a:xfrm>
            <a:off x="457200" y="0"/>
            <a:ext cx="8229600" cy="822960"/>
          </a:xfrm>
          <a:prstGeom prst="rect">
            <a:avLst/>
          </a:prstGeom>
          <a:noFill/>
          <a:ln/>
        </p:spPr>
        <p:txBody>
          <a:bodyPr wrap="square" lIns="0" tIns="0" rIns="0" bIns="0" rtlCol="0" anchor="ctr"/>
          <a:lstStyle/>
          <a:p>
            <a:pPr indent="0" marL="0">
              <a:buNone/>
            </a:pPr>
            <a:r>
              <a:rPr lang="en-US" sz="2000" b="1" dirty="0">
                <a:solidFill>
                  <a:srgbClr val="FFFFFF"/>
                </a:solidFill>
                <a:latin typeface="Cambria" pitchFamily="34" charset="0"/>
                <a:ea typeface="Cambria" pitchFamily="34" charset="-122"/>
                <a:cs typeface="Cambria" pitchFamily="34" charset="-120"/>
              </a:rPr>
              <a:t>The Instruction File Token Multiplier Effect</a:t>
            </a:r>
            <a:endParaRPr lang="en-US" sz="2000" dirty="0"/>
          </a:p>
        </p:txBody>
      </p:sp>
      <p:sp>
        <p:nvSpPr>
          <p:cNvPr id="4" name="Text 2"/>
          <p:cNvSpPr/>
          <p:nvPr/>
        </p:nvSpPr>
        <p:spPr>
          <a:xfrm>
            <a:off x="457200" y="868680"/>
            <a:ext cx="8229600" cy="347472"/>
          </a:xfrm>
          <a:prstGeom prst="rect">
            <a:avLst/>
          </a:prstGeom>
          <a:noFill/>
          <a:ln/>
        </p:spPr>
        <p:txBody>
          <a:bodyPr wrap="square" rtlCol="0" anchor="ctr"/>
          <a:lstStyle/>
          <a:p>
            <a:pPr indent="0" marL="0">
              <a:buNone/>
            </a:pPr>
            <a:r>
              <a:rPr lang="en-US" sz="1200" i="1" dirty="0">
                <a:solidFill>
                  <a:srgbClr val="C4B5FD"/>
                </a:solidFill>
                <a:latin typeface="Calibri" pitchFamily="34" charset="0"/>
                <a:ea typeface="Calibri" pitchFamily="34" charset="-122"/>
                <a:cs typeface="Calibri" pitchFamily="34" charset="-120"/>
              </a:rPr>
              <a:t>Every line in your instruction file is paid for on every single request — forever</a:t>
            </a:r>
            <a:endParaRPr lang="en-US" sz="1200" dirty="0"/>
          </a:p>
        </p:txBody>
      </p:sp>
      <p:sp>
        <p:nvSpPr>
          <p:cNvPr id="5" name="Shape 3"/>
          <p:cNvSpPr/>
          <p:nvPr/>
        </p:nvSpPr>
        <p:spPr>
          <a:xfrm>
            <a:off x="365760" y="1298448"/>
            <a:ext cx="4023360" cy="3337560"/>
          </a:xfrm>
          <a:prstGeom prst="roundRect">
            <a:avLst>
              <a:gd name="adj" fmla="val 3288"/>
            </a:avLst>
          </a:prstGeom>
          <a:solidFill>
            <a:srgbClr val="1A2E45"/>
          </a:solidFill>
          <a:ln w="12700">
            <a:solidFill>
              <a:srgbClr val="7C3AED">
                <a:alpha val="40000"/>
              </a:srgbClr>
            </a:solidFill>
            <a:prstDash val="solid"/>
          </a:ln>
          <a:effectLst>
            <a:outerShdw sx="100000" sy="100000" kx="0" ky="0" algn="bl" rotWithShape="0" blurRad="101600" dist="38100" dir="2700000">
              <a:srgbClr val="000000">
                <a:alpha val="12000"/>
              </a:srgbClr>
            </a:outerShdw>
          </a:effectLst>
        </p:spPr>
      </p:sp>
      <p:sp>
        <p:nvSpPr>
          <p:cNvPr id="6" name="Text 4"/>
          <p:cNvSpPr/>
          <p:nvPr/>
        </p:nvSpPr>
        <p:spPr>
          <a:xfrm>
            <a:off x="548640" y="1417320"/>
            <a:ext cx="3657600" cy="384048"/>
          </a:xfrm>
          <a:prstGeom prst="rect">
            <a:avLst/>
          </a:prstGeom>
          <a:noFill/>
          <a:ln/>
        </p:spPr>
        <p:txBody>
          <a:bodyPr wrap="square" lIns="0" tIns="0" rIns="0" bIns="0" rtlCol="0" anchor="ctr"/>
          <a:lstStyle/>
          <a:p>
            <a:pPr indent="0" marL="0">
              <a:buNone/>
            </a:pPr>
            <a:r>
              <a:rPr lang="en-US" sz="1400" b="1" dirty="0">
                <a:solidFill>
                  <a:srgbClr val="C4B5FD"/>
                </a:solidFill>
                <a:latin typeface="Cambria" pitchFamily="34" charset="0"/>
                <a:ea typeface="Cambria" pitchFamily="34" charset="-122"/>
                <a:cs typeface="Cambria" pitchFamily="34" charset="-120"/>
              </a:rPr>
              <a:t>💸  Cost Multiplier Math</a:t>
            </a:r>
            <a:endParaRPr lang="en-US" sz="1400" dirty="0"/>
          </a:p>
        </p:txBody>
      </p:sp>
      <p:sp>
        <p:nvSpPr>
          <p:cNvPr id="7" name="Text 5"/>
          <p:cNvSpPr/>
          <p:nvPr/>
        </p:nvSpPr>
        <p:spPr>
          <a:xfrm>
            <a:off x="548640" y="1920240"/>
            <a:ext cx="3657600" cy="420624"/>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60-line instructions file</a:t>
            </a:r>
            <a:endParaRPr lang="en-US" sz="1300" dirty="0"/>
          </a:p>
        </p:txBody>
      </p:sp>
      <p:sp>
        <p:nvSpPr>
          <p:cNvPr id="8" name="Text 6"/>
          <p:cNvSpPr/>
          <p:nvPr/>
        </p:nvSpPr>
        <p:spPr>
          <a:xfrm>
            <a:off x="548640" y="2395728"/>
            <a:ext cx="3657600" cy="420624"/>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 10 developers</a:t>
            </a:r>
            <a:endParaRPr lang="en-US" sz="1300" dirty="0"/>
          </a:p>
        </p:txBody>
      </p:sp>
      <p:sp>
        <p:nvSpPr>
          <p:cNvPr id="9" name="Text 7"/>
          <p:cNvSpPr/>
          <p:nvPr/>
        </p:nvSpPr>
        <p:spPr>
          <a:xfrm>
            <a:off x="548640" y="2871216"/>
            <a:ext cx="3657600" cy="420624"/>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 100 requests/day</a:t>
            </a:r>
            <a:endParaRPr lang="en-US" sz="1300" dirty="0"/>
          </a:p>
        </p:txBody>
      </p:sp>
      <p:sp>
        <p:nvSpPr>
          <p:cNvPr id="10" name="Text 8"/>
          <p:cNvSpPr/>
          <p:nvPr/>
        </p:nvSpPr>
        <p:spPr>
          <a:xfrm>
            <a:off x="548640" y="3346704"/>
            <a:ext cx="3657600" cy="420624"/>
          </a:xfrm>
          <a:prstGeom prst="rect">
            <a:avLst/>
          </a:prstGeom>
          <a:noFill/>
          <a:ln/>
        </p:spPr>
        <p:txBody>
          <a:bodyPr wrap="square" lIns="0" tIns="0" rIns="0" bIns="0" rtlCol="0" anchor="ctr"/>
          <a:lstStyle/>
          <a:p>
            <a:pPr indent="0" marL="0">
              <a:buNone/>
            </a:pPr>
            <a:r>
              <a:rPr lang="en-US" sz="1600" b="1" dirty="0">
                <a:solidFill>
                  <a:srgbClr val="EF4444"/>
                </a:solidFill>
                <a:latin typeface="Cambria" pitchFamily="34" charset="0"/>
                <a:ea typeface="Cambria" pitchFamily="34" charset="-122"/>
                <a:cs typeface="Cambria" pitchFamily="34" charset="-120"/>
              </a:rPr>
              <a:t>= 60,000 lines paid daily</a:t>
            </a:r>
            <a:endParaRPr lang="en-US" sz="1600" dirty="0"/>
          </a:p>
        </p:txBody>
      </p:sp>
      <p:sp>
        <p:nvSpPr>
          <p:cNvPr id="11" name="Text 9"/>
          <p:cNvSpPr/>
          <p:nvPr/>
        </p:nvSpPr>
        <p:spPr>
          <a:xfrm>
            <a:off x="548640" y="3822192"/>
            <a:ext cx="3657600" cy="420624"/>
          </a:xfrm>
          <a:prstGeom prst="rect">
            <a:avLst/>
          </a:prstGeom>
          <a:noFill/>
          <a:ln/>
        </p:spPr>
        <p:txBody>
          <a:bodyPr wrap="square" lIns="0" tIns="0" rIns="0" bIns="0" rtlCol="0" anchor="ctr"/>
          <a:lstStyle/>
          <a:p>
            <a:pPr indent="0" marL="0">
              <a:buNone/>
            </a:pPr>
            <a:r>
              <a:rPr lang="en-US" sz="1300" i="1" dirty="0">
                <a:solidFill>
                  <a:srgbClr val="64748B"/>
                </a:solidFill>
                <a:latin typeface="Calibri" pitchFamily="34" charset="0"/>
                <a:ea typeface="Calibri" pitchFamily="34" charset="-122"/>
                <a:cs typeface="Calibri" pitchFamily="34" charset="-120"/>
              </a:rPr>
              <a:t>just for boilerplate</a:t>
            </a:r>
            <a:endParaRPr lang="en-US" sz="1300" dirty="0"/>
          </a:p>
        </p:txBody>
      </p:sp>
      <p:sp>
        <p:nvSpPr>
          <p:cNvPr id="12" name="Shape 10"/>
          <p:cNvSpPr/>
          <p:nvPr/>
        </p:nvSpPr>
        <p:spPr>
          <a:xfrm>
            <a:off x="4663440" y="1298448"/>
            <a:ext cx="4114800" cy="3337560"/>
          </a:xfrm>
          <a:prstGeom prst="roundRect">
            <a:avLst>
              <a:gd name="adj" fmla="val 3288"/>
            </a:avLst>
          </a:prstGeom>
          <a:solidFill>
            <a:srgbClr val="1A2E45"/>
          </a:solidFill>
          <a:ln w="12700">
            <a:solidFill>
              <a:srgbClr val="00C2CC">
                <a:alpha val="40000"/>
              </a:srgbClr>
            </a:solidFill>
            <a:prstDash val="solid"/>
          </a:ln>
          <a:effectLst>
            <a:outerShdw sx="100000" sy="100000" kx="0" ky="0" algn="bl" rotWithShape="0" blurRad="101600" dist="38100" dir="2700000">
              <a:srgbClr val="000000">
                <a:alpha val="12000"/>
              </a:srgbClr>
            </a:outerShdw>
          </a:effectLst>
        </p:spPr>
      </p:sp>
      <p:sp>
        <p:nvSpPr>
          <p:cNvPr id="13" name="Text 11"/>
          <p:cNvSpPr/>
          <p:nvPr/>
        </p:nvSpPr>
        <p:spPr>
          <a:xfrm>
            <a:off x="4846320" y="1417320"/>
            <a:ext cx="3749040" cy="347472"/>
          </a:xfrm>
          <a:prstGeom prst="rect">
            <a:avLst/>
          </a:prstGeom>
          <a:noFill/>
          <a:ln/>
        </p:spPr>
        <p:txBody>
          <a:bodyPr wrap="square" lIns="0" tIns="0" rIns="0" bIns="0" rtlCol="0" anchor="ctr"/>
          <a:lstStyle/>
          <a:p>
            <a:pPr indent="0" marL="0">
              <a:buNone/>
            </a:pPr>
            <a:r>
              <a:rPr lang="en-US" sz="1300" b="1" dirty="0">
                <a:solidFill>
                  <a:srgbClr val="00C2CC"/>
                </a:solidFill>
                <a:latin typeface="Cambria" pitchFamily="34" charset="0"/>
                <a:ea typeface="Cambria" pitchFamily="34" charset="-122"/>
                <a:cs typeface="Cambria" pitchFamily="34" charset="-120"/>
              </a:rPr>
              <a:t>✅  What Belongs in the File</a:t>
            </a:r>
            <a:endParaRPr lang="en-US" sz="1300" dirty="0"/>
          </a:p>
        </p:txBody>
      </p:sp>
      <p:sp>
        <p:nvSpPr>
          <p:cNvPr id="14" name="Shape 12"/>
          <p:cNvSpPr/>
          <p:nvPr/>
        </p:nvSpPr>
        <p:spPr>
          <a:xfrm>
            <a:off x="4892040" y="1920240"/>
            <a:ext cx="182880" cy="182880"/>
          </a:xfrm>
          <a:prstGeom prst="ellipse">
            <a:avLst/>
          </a:prstGeom>
          <a:solidFill>
            <a:srgbClr val="00C2CC"/>
          </a:solidFill>
          <a:ln w="12700">
            <a:solidFill>
              <a:srgbClr val="00C2CC"/>
            </a:solidFill>
            <a:prstDash val="solid"/>
          </a:ln>
        </p:spPr>
      </p:sp>
      <p:sp>
        <p:nvSpPr>
          <p:cNvPr id="15" name="Text 13"/>
          <p:cNvSpPr/>
          <p:nvPr/>
        </p:nvSpPr>
        <p:spPr>
          <a:xfrm>
            <a:off x="5138928" y="1828800"/>
            <a:ext cx="3520440" cy="347472"/>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Stack &amp; language rules</a:t>
            </a:r>
            <a:endParaRPr lang="en-US" sz="1200" dirty="0"/>
          </a:p>
        </p:txBody>
      </p:sp>
      <p:sp>
        <p:nvSpPr>
          <p:cNvPr id="16" name="Shape 14"/>
          <p:cNvSpPr/>
          <p:nvPr/>
        </p:nvSpPr>
        <p:spPr>
          <a:xfrm>
            <a:off x="4892040" y="2304288"/>
            <a:ext cx="182880" cy="182880"/>
          </a:xfrm>
          <a:prstGeom prst="ellipse">
            <a:avLst/>
          </a:prstGeom>
          <a:solidFill>
            <a:srgbClr val="00C2CC"/>
          </a:solidFill>
          <a:ln w="12700">
            <a:solidFill>
              <a:srgbClr val="00C2CC"/>
            </a:solidFill>
            <a:prstDash val="solid"/>
          </a:ln>
        </p:spPr>
      </p:sp>
      <p:sp>
        <p:nvSpPr>
          <p:cNvPr id="17" name="Text 15"/>
          <p:cNvSpPr/>
          <p:nvPr/>
        </p:nvSpPr>
        <p:spPr>
          <a:xfrm>
            <a:off x="5138928" y="2212848"/>
            <a:ext cx="3520440" cy="347472"/>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Output format preference</a:t>
            </a:r>
            <a:endParaRPr lang="en-US" sz="1200" dirty="0"/>
          </a:p>
        </p:txBody>
      </p:sp>
      <p:sp>
        <p:nvSpPr>
          <p:cNvPr id="18" name="Shape 16"/>
          <p:cNvSpPr/>
          <p:nvPr/>
        </p:nvSpPr>
        <p:spPr>
          <a:xfrm>
            <a:off x="4892040" y="2688336"/>
            <a:ext cx="182880" cy="182880"/>
          </a:xfrm>
          <a:prstGeom prst="ellipse">
            <a:avLst/>
          </a:prstGeom>
          <a:solidFill>
            <a:srgbClr val="00C2CC"/>
          </a:solidFill>
          <a:ln w="12700">
            <a:solidFill>
              <a:srgbClr val="00C2CC"/>
            </a:solidFill>
            <a:prstDash val="solid"/>
          </a:ln>
        </p:spPr>
      </p:sp>
      <p:sp>
        <p:nvSpPr>
          <p:cNvPr id="19" name="Text 17"/>
          <p:cNvSpPr/>
          <p:nvPr/>
        </p:nvSpPr>
        <p:spPr>
          <a:xfrm>
            <a:off x="5138928" y="2596896"/>
            <a:ext cx="3520440" cy="347472"/>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Code style conventions</a:t>
            </a:r>
            <a:endParaRPr lang="en-US" sz="1200" dirty="0"/>
          </a:p>
        </p:txBody>
      </p:sp>
      <p:sp>
        <p:nvSpPr>
          <p:cNvPr id="20" name="Shape 18"/>
          <p:cNvSpPr/>
          <p:nvPr/>
        </p:nvSpPr>
        <p:spPr>
          <a:xfrm>
            <a:off x="4892040" y="3072384"/>
            <a:ext cx="182880" cy="182880"/>
          </a:xfrm>
          <a:prstGeom prst="ellipse">
            <a:avLst/>
          </a:prstGeom>
          <a:solidFill>
            <a:srgbClr val="00C2CC"/>
          </a:solidFill>
          <a:ln w="12700">
            <a:solidFill>
              <a:srgbClr val="00C2CC"/>
            </a:solidFill>
            <a:prstDash val="solid"/>
          </a:ln>
        </p:spPr>
      </p:sp>
      <p:sp>
        <p:nvSpPr>
          <p:cNvPr id="21" name="Text 19"/>
          <p:cNvSpPr/>
          <p:nvPr/>
        </p:nvSpPr>
        <p:spPr>
          <a:xfrm>
            <a:off x="5138928" y="2980944"/>
            <a:ext cx="3520440" cy="347472"/>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"code only, no explanation"</a:t>
            </a:r>
            <a:endParaRPr lang="en-US" sz="1200" dirty="0"/>
          </a:p>
        </p:txBody>
      </p:sp>
      <p:sp>
        <p:nvSpPr>
          <p:cNvPr id="22" name="Shape 20"/>
          <p:cNvSpPr/>
          <p:nvPr/>
        </p:nvSpPr>
        <p:spPr>
          <a:xfrm>
            <a:off x="4800600" y="3401568"/>
            <a:ext cx="3840480" cy="0"/>
          </a:xfrm>
          <a:prstGeom prst="line">
            <a:avLst/>
          </a:prstGeom>
          <a:noFill/>
          <a:ln w="12700">
            <a:solidFill>
              <a:srgbClr val="2A3F55"/>
            </a:solidFill>
            <a:prstDash val="solid"/>
          </a:ln>
        </p:spPr>
      </p:sp>
      <p:sp>
        <p:nvSpPr>
          <p:cNvPr id="23" name="Text 21"/>
          <p:cNvSpPr/>
          <p:nvPr/>
        </p:nvSpPr>
        <p:spPr>
          <a:xfrm>
            <a:off x="4846320" y="3438144"/>
            <a:ext cx="3749040" cy="310896"/>
          </a:xfrm>
          <a:prstGeom prst="rect">
            <a:avLst/>
          </a:prstGeom>
          <a:noFill/>
          <a:ln/>
        </p:spPr>
        <p:txBody>
          <a:bodyPr wrap="square" lIns="0" tIns="0" rIns="0" bIns="0" rtlCol="0" anchor="ctr"/>
          <a:lstStyle/>
          <a:p>
            <a:pPr indent="0" marL="0">
              <a:buNone/>
            </a:pPr>
            <a:r>
              <a:rPr lang="en-US" sz="1200" b="1" dirty="0">
                <a:solidFill>
                  <a:srgbClr val="EF4444"/>
                </a:solidFill>
                <a:latin typeface="Cambria" pitchFamily="34" charset="0"/>
                <a:ea typeface="Cambria" pitchFamily="34" charset="-122"/>
                <a:cs typeface="Cambria" pitchFamily="34" charset="-120"/>
              </a:rPr>
              <a:t>❌  What to Delete</a:t>
            </a:r>
            <a:endParaRPr lang="en-US" sz="1200" dirty="0"/>
          </a:p>
        </p:txBody>
      </p:sp>
      <p:sp>
        <p:nvSpPr>
          <p:cNvPr id="24" name="Shape 22"/>
          <p:cNvSpPr/>
          <p:nvPr/>
        </p:nvSpPr>
        <p:spPr>
          <a:xfrm>
            <a:off x="4892040" y="3849624"/>
            <a:ext cx="155448" cy="155448"/>
          </a:xfrm>
          <a:prstGeom prst="ellipse">
            <a:avLst/>
          </a:prstGeom>
          <a:solidFill>
            <a:srgbClr val="EF4444"/>
          </a:solidFill>
          <a:ln w="12700">
            <a:solidFill>
              <a:srgbClr val="EF4444"/>
            </a:solidFill>
            <a:prstDash val="solid"/>
          </a:ln>
        </p:spPr>
      </p:sp>
      <p:sp>
        <p:nvSpPr>
          <p:cNvPr id="25" name="Text 23"/>
          <p:cNvSpPr/>
          <p:nvPr/>
        </p:nvSpPr>
        <p:spPr>
          <a:xfrm>
            <a:off x="5120640" y="3785616"/>
            <a:ext cx="3547872" cy="274320"/>
          </a:xfrm>
          <a:prstGeom prst="rect">
            <a:avLst/>
          </a:prstGeom>
          <a:noFill/>
          <a:ln/>
        </p:spPr>
        <p:txBody>
          <a:bodyPr wrap="square" lIns="0" tIns="0" rIns="0" bIns="0" rtlCol="0" anchor="ctr"/>
          <a:lstStyle/>
          <a:p>
            <a:pPr indent="0" marL="0">
              <a:buNone/>
            </a:pPr>
            <a:r>
              <a:rPr lang="en-US" sz="1100" dirty="0">
                <a:solidFill>
                  <a:srgbClr val="8EAFC7"/>
                </a:solidFill>
                <a:latin typeface="Calibri" pitchFamily="34" charset="0"/>
                <a:ea typeface="Calibri" pitchFamily="34" charset="-122"/>
                <a:cs typeface="Calibri" pitchFamily="34" charset="-120"/>
              </a:rPr>
              <a:t>LLM-generated boilerplate</a:t>
            </a:r>
            <a:endParaRPr lang="en-US" sz="1100" dirty="0"/>
          </a:p>
        </p:txBody>
      </p:sp>
      <p:sp>
        <p:nvSpPr>
          <p:cNvPr id="26" name="Shape 24"/>
          <p:cNvSpPr/>
          <p:nvPr/>
        </p:nvSpPr>
        <p:spPr>
          <a:xfrm>
            <a:off x="4892040" y="4151376"/>
            <a:ext cx="155448" cy="155448"/>
          </a:xfrm>
          <a:prstGeom prst="ellipse">
            <a:avLst/>
          </a:prstGeom>
          <a:solidFill>
            <a:srgbClr val="EF4444"/>
          </a:solidFill>
          <a:ln w="12700">
            <a:solidFill>
              <a:srgbClr val="EF4444"/>
            </a:solidFill>
            <a:prstDash val="solid"/>
          </a:ln>
        </p:spPr>
      </p:sp>
      <p:sp>
        <p:nvSpPr>
          <p:cNvPr id="27" name="Text 25"/>
          <p:cNvSpPr/>
          <p:nvPr/>
        </p:nvSpPr>
        <p:spPr>
          <a:xfrm>
            <a:off x="5120640" y="4087368"/>
            <a:ext cx="3547872" cy="274320"/>
          </a:xfrm>
          <a:prstGeom prst="rect">
            <a:avLst/>
          </a:prstGeom>
          <a:noFill/>
          <a:ln/>
        </p:spPr>
        <p:txBody>
          <a:bodyPr wrap="square" lIns="0" tIns="0" rIns="0" bIns="0" rtlCol="0" anchor="ctr"/>
          <a:lstStyle/>
          <a:p>
            <a:pPr indent="0" marL="0">
              <a:buNone/>
            </a:pPr>
            <a:r>
              <a:rPr lang="en-US" sz="1100" dirty="0">
                <a:solidFill>
                  <a:srgbClr val="8EAFC7"/>
                </a:solidFill>
                <a:latin typeface="Calibri" pitchFamily="34" charset="0"/>
                <a:ea typeface="Calibri" pitchFamily="34" charset="-122"/>
                <a:cs typeface="Calibri" pitchFamily="34" charset="-120"/>
              </a:rPr>
              <a:t>Long prose explanations</a:t>
            </a:r>
            <a:endParaRPr lang="en-US" sz="1100" dirty="0"/>
          </a:p>
        </p:txBody>
      </p:sp>
      <p:sp>
        <p:nvSpPr>
          <p:cNvPr id="28" name="Shape 26"/>
          <p:cNvSpPr/>
          <p:nvPr/>
        </p:nvSpPr>
        <p:spPr>
          <a:xfrm>
            <a:off x="4892040" y="4453128"/>
            <a:ext cx="155448" cy="155448"/>
          </a:xfrm>
          <a:prstGeom prst="ellipse">
            <a:avLst/>
          </a:prstGeom>
          <a:solidFill>
            <a:srgbClr val="EF4444"/>
          </a:solidFill>
          <a:ln w="12700">
            <a:solidFill>
              <a:srgbClr val="EF4444"/>
            </a:solidFill>
            <a:prstDash val="solid"/>
          </a:ln>
        </p:spPr>
      </p:sp>
      <p:sp>
        <p:nvSpPr>
          <p:cNvPr id="29" name="Text 27"/>
          <p:cNvSpPr/>
          <p:nvPr/>
        </p:nvSpPr>
        <p:spPr>
          <a:xfrm>
            <a:off x="5120640" y="4389120"/>
            <a:ext cx="3547872" cy="274320"/>
          </a:xfrm>
          <a:prstGeom prst="rect">
            <a:avLst/>
          </a:prstGeom>
          <a:noFill/>
          <a:ln/>
        </p:spPr>
        <p:txBody>
          <a:bodyPr wrap="square" lIns="0" tIns="0" rIns="0" bIns="0" rtlCol="0" anchor="ctr"/>
          <a:lstStyle/>
          <a:p>
            <a:pPr indent="0" marL="0">
              <a:buNone/>
            </a:pPr>
            <a:r>
              <a:rPr lang="en-US" sz="1100" dirty="0">
                <a:solidFill>
                  <a:srgbClr val="8EAFC7"/>
                </a:solidFill>
                <a:latin typeface="Calibri" pitchFamily="34" charset="0"/>
                <a:ea typeface="Calibri" pitchFamily="34" charset="-122"/>
                <a:cs typeface="Calibri" pitchFamily="34" charset="-120"/>
              </a:rPr>
              <a:t>Rules not needed every request</a:t>
            </a:r>
            <a:endParaRPr lang="en-US" sz="1100" dirty="0"/>
          </a:p>
        </p:txBody>
      </p:sp>
      <p:sp>
        <p:nvSpPr>
          <p:cNvPr id="30" name="Shape 28"/>
          <p:cNvSpPr/>
          <p:nvPr/>
        </p:nvSpPr>
        <p:spPr>
          <a:xfrm>
            <a:off x="365760" y="4754880"/>
            <a:ext cx="8412480" cy="502920"/>
          </a:xfrm>
          <a:prstGeom prst="roundRect">
            <a:avLst>
              <a:gd name="adj" fmla="val 16364"/>
            </a:avLst>
          </a:prstGeom>
          <a:solidFill>
            <a:srgbClr val="7C3AED">
              <a:alpha val="15000"/>
            </a:srgbClr>
          </a:solidFill>
          <a:ln w="12700">
            <a:solidFill>
              <a:srgbClr val="7C3AED">
                <a:alpha val="50000"/>
              </a:srgbClr>
            </a:solidFill>
            <a:prstDash val="solid"/>
          </a:ln>
        </p:spPr>
      </p:sp>
      <p:sp>
        <p:nvSpPr>
          <p:cNvPr id="31" name="Text 29"/>
          <p:cNvSpPr/>
          <p:nvPr/>
        </p:nvSpPr>
        <p:spPr>
          <a:xfrm>
            <a:off x="457200" y="4754880"/>
            <a:ext cx="8229600" cy="502920"/>
          </a:xfrm>
          <a:prstGeom prst="rect">
            <a:avLst/>
          </a:prstGeom>
          <a:noFill/>
          <a:ln/>
        </p:spPr>
        <p:txBody>
          <a:bodyPr wrap="square" lIns="0" tIns="0" rIns="0" bIns="0" rtlCol="0" anchor="ctr"/>
          <a:lstStyle/>
          <a:p>
            <a:pPr indent="0" marL="0">
              <a:buNone/>
            </a:pPr>
            <a:r>
              <a:rPr lang="en-US" sz="1150" b="1" dirty="0">
                <a:solidFill>
                  <a:srgbClr val="C4B5FD"/>
                </a:solidFill>
                <a:latin typeface="Calibri" pitchFamily="34" charset="0"/>
                <a:ea typeface="Calibri" pitchFamily="34" charset="-122"/>
                <a:cs typeface="Calibri" pitchFamily="34" charset="-120"/>
              </a:rPr>
              <a:t>💡  Move complex domain logic OUT of the instruction file and INTO skills — they load only when needed, keeping your base prompt lean.</a:t>
            </a:r>
            <a:endParaRPr lang="en-US" sz="1150" dirty="0"/>
          </a:p>
        </p:txBody>
      </p:sp>
      <p:sp>
        <p:nvSpPr>
          <p:cNvPr id="32" name="Shape 30"/>
          <p:cNvSpPr/>
          <p:nvPr/>
        </p:nvSpPr>
        <p:spPr>
          <a:xfrm>
            <a:off x="0" y="4887468"/>
            <a:ext cx="1143000" cy="256032"/>
          </a:xfrm>
          <a:prstGeom prst="rect">
            <a:avLst/>
          </a:prstGeom>
          <a:solidFill>
            <a:srgbClr val="1A2E45"/>
          </a:solidFill>
          <a:ln w="12700">
            <a:solidFill>
              <a:srgbClr val="1A2E45"/>
            </a:solidFill>
            <a:prstDash val="solid"/>
          </a:ln>
        </p:spPr>
      </p:sp>
      <p:sp>
        <p:nvSpPr>
          <p:cNvPr id="33" name="Text 31"/>
          <p:cNvSpPr/>
          <p:nvPr/>
        </p:nvSpPr>
        <p:spPr>
          <a:xfrm>
            <a:off x="0" y="4887468"/>
            <a:ext cx="1143000" cy="256032"/>
          </a:xfrm>
          <a:prstGeom prst="rect">
            <a:avLst/>
          </a:prstGeom>
          <a:noFill/>
          <a:ln/>
        </p:spPr>
        <p:txBody>
          <a:bodyPr wrap="square" lIns="0" tIns="0" rIns="0" bIns="0" rtlCol="0" anchor="ctr"/>
          <a:lstStyle/>
          <a:p>
            <a:pPr algn="ctr" indent="0" marL="0">
              <a:buNone/>
            </a:pPr>
            <a:r>
              <a:rPr lang="en-US" sz="750" dirty="0">
                <a:solidFill>
                  <a:srgbClr val="3A5068"/>
                </a:solidFill>
                <a:latin typeface="Calibri" pitchFamily="34" charset="0"/>
                <a:ea typeface="Calibri" pitchFamily="34" charset="-122"/>
                <a:cs typeface="Calibri" pitchFamily="34" charset="-120"/>
              </a:rPr>
              <a:t>Overview</a:t>
            </a:r>
            <a:endParaRPr lang="en-US" sz="750" dirty="0"/>
          </a:p>
        </p:txBody>
      </p:sp>
      <p:sp>
        <p:nvSpPr>
          <p:cNvPr id="34" name="Shape 32"/>
          <p:cNvSpPr/>
          <p:nvPr/>
        </p:nvSpPr>
        <p:spPr>
          <a:xfrm>
            <a:off x="1143000" y="4887468"/>
            <a:ext cx="1143000" cy="256032"/>
          </a:xfrm>
          <a:prstGeom prst="rect">
            <a:avLst/>
          </a:prstGeom>
          <a:solidFill>
            <a:srgbClr val="1A2E45"/>
          </a:solidFill>
          <a:ln w="12700">
            <a:solidFill>
              <a:srgbClr val="1A2E45"/>
            </a:solidFill>
            <a:prstDash val="solid"/>
          </a:ln>
        </p:spPr>
      </p:sp>
      <p:sp>
        <p:nvSpPr>
          <p:cNvPr id="35" name="Text 33"/>
          <p:cNvSpPr/>
          <p:nvPr/>
        </p:nvSpPr>
        <p:spPr>
          <a:xfrm>
            <a:off x="1143000" y="4887468"/>
            <a:ext cx="1143000" cy="256032"/>
          </a:xfrm>
          <a:prstGeom prst="rect">
            <a:avLst/>
          </a:prstGeom>
          <a:noFill/>
          <a:ln/>
        </p:spPr>
        <p:txBody>
          <a:bodyPr wrap="square" lIns="0" tIns="0" rIns="0" bIns="0" rtlCol="0" anchor="ctr"/>
          <a:lstStyle/>
          <a:p>
            <a:pPr algn="ctr" indent="0" marL="0">
              <a:buNone/>
            </a:pPr>
            <a:r>
              <a:rPr lang="en-US" sz="750" dirty="0">
                <a:solidFill>
                  <a:srgbClr val="3A5068"/>
                </a:solidFill>
                <a:latin typeface="Calibri" pitchFamily="34" charset="0"/>
                <a:ea typeface="Calibri" pitchFamily="34" charset="-122"/>
                <a:cs typeface="Calibri" pitchFamily="34" charset="-120"/>
              </a:rPr>
              <a:t>Output Control</a:t>
            </a:r>
            <a:endParaRPr lang="en-US" sz="750" dirty="0"/>
          </a:p>
        </p:txBody>
      </p:sp>
      <p:sp>
        <p:nvSpPr>
          <p:cNvPr id="36" name="Shape 34"/>
          <p:cNvSpPr/>
          <p:nvPr/>
        </p:nvSpPr>
        <p:spPr>
          <a:xfrm>
            <a:off x="2286000" y="4887468"/>
            <a:ext cx="1143000" cy="256032"/>
          </a:xfrm>
          <a:prstGeom prst="rect">
            <a:avLst/>
          </a:prstGeom>
          <a:solidFill>
            <a:srgbClr val="1A2E45"/>
          </a:solidFill>
          <a:ln w="12700">
            <a:solidFill>
              <a:srgbClr val="1A2E45"/>
            </a:solidFill>
            <a:prstDash val="solid"/>
          </a:ln>
        </p:spPr>
      </p:sp>
      <p:sp>
        <p:nvSpPr>
          <p:cNvPr id="37" name="Text 35"/>
          <p:cNvSpPr/>
          <p:nvPr/>
        </p:nvSpPr>
        <p:spPr>
          <a:xfrm>
            <a:off x="2286000" y="4887468"/>
            <a:ext cx="1143000" cy="256032"/>
          </a:xfrm>
          <a:prstGeom prst="rect">
            <a:avLst/>
          </a:prstGeom>
          <a:noFill/>
          <a:ln/>
        </p:spPr>
        <p:txBody>
          <a:bodyPr wrap="square" lIns="0" tIns="0" rIns="0" bIns="0" rtlCol="0" anchor="ctr"/>
          <a:lstStyle/>
          <a:p>
            <a:pPr algn="ctr" indent="0" marL="0">
              <a:buNone/>
            </a:pPr>
            <a:r>
              <a:rPr lang="en-US" sz="750" dirty="0">
                <a:solidFill>
                  <a:srgbClr val="3A5068"/>
                </a:solidFill>
                <a:latin typeface="Calibri" pitchFamily="34" charset="0"/>
                <a:ea typeface="Calibri" pitchFamily="34" charset="-122"/>
                <a:cs typeface="Calibri" pitchFamily="34" charset="-120"/>
              </a:rPr>
              <a:t>Context &amp; Prompting</a:t>
            </a:r>
            <a:endParaRPr lang="en-US" sz="750" dirty="0"/>
          </a:p>
        </p:txBody>
      </p:sp>
      <p:sp>
        <p:nvSpPr>
          <p:cNvPr id="38" name="Shape 36"/>
          <p:cNvSpPr/>
          <p:nvPr/>
        </p:nvSpPr>
        <p:spPr>
          <a:xfrm>
            <a:off x="3429000" y="4887468"/>
            <a:ext cx="1143000" cy="256032"/>
          </a:xfrm>
          <a:prstGeom prst="rect">
            <a:avLst/>
          </a:prstGeom>
          <a:solidFill>
            <a:srgbClr val="1A2E45"/>
          </a:solidFill>
          <a:ln w="12700">
            <a:solidFill>
              <a:srgbClr val="1A2E45"/>
            </a:solidFill>
            <a:prstDash val="solid"/>
          </a:ln>
        </p:spPr>
      </p:sp>
      <p:sp>
        <p:nvSpPr>
          <p:cNvPr id="39" name="Text 37"/>
          <p:cNvSpPr/>
          <p:nvPr/>
        </p:nvSpPr>
        <p:spPr>
          <a:xfrm>
            <a:off x="3429000" y="4887468"/>
            <a:ext cx="1143000" cy="256032"/>
          </a:xfrm>
          <a:prstGeom prst="rect">
            <a:avLst/>
          </a:prstGeom>
          <a:noFill/>
          <a:ln/>
        </p:spPr>
        <p:txBody>
          <a:bodyPr wrap="square" lIns="0" tIns="0" rIns="0" bIns="0" rtlCol="0" anchor="ctr"/>
          <a:lstStyle/>
          <a:p>
            <a:pPr algn="ctr" indent="0" marL="0">
              <a:buNone/>
            </a:pPr>
            <a:r>
              <a:rPr lang="en-US" sz="750" dirty="0">
                <a:solidFill>
                  <a:srgbClr val="3A5068"/>
                </a:solidFill>
                <a:latin typeface="Calibri" pitchFamily="34" charset="0"/>
                <a:ea typeface="Calibri" pitchFamily="34" charset="-122"/>
                <a:cs typeface="Calibri" pitchFamily="34" charset="-120"/>
              </a:rPr>
              <a:t>Models &amp; Modes</a:t>
            </a:r>
            <a:endParaRPr lang="en-US" sz="750" dirty="0"/>
          </a:p>
        </p:txBody>
      </p:sp>
      <p:sp>
        <p:nvSpPr>
          <p:cNvPr id="40" name="Shape 38"/>
          <p:cNvSpPr/>
          <p:nvPr/>
        </p:nvSpPr>
        <p:spPr>
          <a:xfrm>
            <a:off x="4572000" y="4887468"/>
            <a:ext cx="1143000" cy="256032"/>
          </a:xfrm>
          <a:prstGeom prst="rect">
            <a:avLst/>
          </a:prstGeom>
          <a:solidFill>
            <a:srgbClr val="1A2E45"/>
          </a:solidFill>
          <a:ln w="12700">
            <a:solidFill>
              <a:srgbClr val="1A2E45"/>
            </a:solidFill>
            <a:prstDash val="solid"/>
          </a:ln>
        </p:spPr>
      </p:sp>
      <p:sp>
        <p:nvSpPr>
          <p:cNvPr id="41" name="Text 39"/>
          <p:cNvSpPr/>
          <p:nvPr/>
        </p:nvSpPr>
        <p:spPr>
          <a:xfrm>
            <a:off x="4572000" y="4887468"/>
            <a:ext cx="1143000" cy="256032"/>
          </a:xfrm>
          <a:prstGeom prst="rect">
            <a:avLst/>
          </a:prstGeom>
          <a:noFill/>
          <a:ln/>
        </p:spPr>
        <p:txBody>
          <a:bodyPr wrap="square" lIns="0" tIns="0" rIns="0" bIns="0" rtlCol="0" anchor="ctr"/>
          <a:lstStyle/>
          <a:p>
            <a:pPr algn="ctr" indent="0" marL="0">
              <a:buNone/>
            </a:pPr>
            <a:r>
              <a:rPr lang="en-US" sz="750" dirty="0">
                <a:solidFill>
                  <a:srgbClr val="3A5068"/>
                </a:solidFill>
                <a:latin typeface="Calibri" pitchFamily="34" charset="0"/>
                <a:ea typeface="Calibri" pitchFamily="34" charset="-122"/>
                <a:cs typeface="Calibri" pitchFamily="34" charset="-120"/>
              </a:rPr>
              <a:t>Governance</a:t>
            </a:r>
            <a:endParaRPr lang="en-US" sz="750" dirty="0"/>
          </a:p>
        </p:txBody>
      </p:sp>
      <p:sp>
        <p:nvSpPr>
          <p:cNvPr id="42" name="Shape 40"/>
          <p:cNvSpPr/>
          <p:nvPr/>
        </p:nvSpPr>
        <p:spPr>
          <a:xfrm>
            <a:off x="5715000" y="4887468"/>
            <a:ext cx="1143000" cy="256032"/>
          </a:xfrm>
          <a:prstGeom prst="rect">
            <a:avLst/>
          </a:prstGeom>
          <a:solidFill>
            <a:srgbClr val="1A2E45"/>
          </a:solidFill>
          <a:ln w="12700">
            <a:solidFill>
              <a:srgbClr val="1A2E45"/>
            </a:solidFill>
            <a:prstDash val="solid"/>
          </a:ln>
        </p:spPr>
      </p:sp>
      <p:sp>
        <p:nvSpPr>
          <p:cNvPr id="43" name="Text 41"/>
          <p:cNvSpPr/>
          <p:nvPr/>
        </p:nvSpPr>
        <p:spPr>
          <a:xfrm>
            <a:off x="5715000" y="4887468"/>
            <a:ext cx="1143000" cy="256032"/>
          </a:xfrm>
          <a:prstGeom prst="rect">
            <a:avLst/>
          </a:prstGeom>
          <a:noFill/>
          <a:ln/>
        </p:spPr>
        <p:txBody>
          <a:bodyPr wrap="square" lIns="0" tIns="0" rIns="0" bIns="0" rtlCol="0" anchor="ctr"/>
          <a:lstStyle/>
          <a:p>
            <a:pPr algn="ctr" indent="0" marL="0">
              <a:buNone/>
            </a:pPr>
            <a:r>
              <a:rPr lang="en-US" sz="750" dirty="0">
                <a:solidFill>
                  <a:srgbClr val="3A5068"/>
                </a:solidFill>
                <a:latin typeface="Calibri" pitchFamily="34" charset="0"/>
                <a:ea typeface="Calibri" pitchFamily="34" charset="-122"/>
                <a:cs typeface="Calibri" pitchFamily="34" charset="-120"/>
              </a:rPr>
              <a:t>Architecture</a:t>
            </a:r>
            <a:endParaRPr lang="en-US" sz="750" dirty="0"/>
          </a:p>
        </p:txBody>
      </p:sp>
      <p:sp>
        <p:nvSpPr>
          <p:cNvPr id="44" name="Shape 42"/>
          <p:cNvSpPr/>
          <p:nvPr/>
        </p:nvSpPr>
        <p:spPr>
          <a:xfrm>
            <a:off x="6858000" y="4887468"/>
            <a:ext cx="1143000" cy="256032"/>
          </a:xfrm>
          <a:prstGeom prst="rect">
            <a:avLst/>
          </a:prstGeom>
          <a:solidFill>
            <a:srgbClr val="7C3AED"/>
          </a:solidFill>
          <a:ln w="12700">
            <a:solidFill>
              <a:srgbClr val="7C3AED"/>
            </a:solidFill>
            <a:prstDash val="solid"/>
          </a:ln>
        </p:spPr>
      </p:sp>
      <p:sp>
        <p:nvSpPr>
          <p:cNvPr id="45" name="Text 43"/>
          <p:cNvSpPr/>
          <p:nvPr/>
        </p:nvSpPr>
        <p:spPr>
          <a:xfrm>
            <a:off x="6858000" y="4887468"/>
            <a:ext cx="1143000" cy="256032"/>
          </a:xfrm>
          <a:prstGeom prst="rect">
            <a:avLst/>
          </a:prstGeom>
          <a:noFill/>
          <a:ln/>
        </p:spPr>
        <p:txBody>
          <a:bodyPr wrap="square" lIns="0" tIns="0" rIns="0" bIns="0" rtlCol="0" anchor="ctr"/>
          <a:lstStyle/>
          <a:p>
            <a:pPr algn="ctr" indent="0" marL="0">
              <a:buNone/>
            </a:pPr>
            <a:r>
              <a:rPr lang="en-US" sz="750" b="1" dirty="0">
                <a:solidFill>
                  <a:srgbClr val="0D1B2A"/>
                </a:solidFill>
                <a:latin typeface="Calibri" pitchFamily="34" charset="0"/>
                <a:ea typeface="Calibri" pitchFamily="34" charset="-122"/>
                <a:cs typeface="Calibri" pitchFamily="34" charset="-120"/>
              </a:rPr>
              <a:t>Best Practices</a:t>
            </a:r>
            <a:endParaRPr lang="en-US" sz="750" dirty="0"/>
          </a:p>
        </p:txBody>
      </p:sp>
      <p:sp>
        <p:nvSpPr>
          <p:cNvPr id="46" name="Shape 44"/>
          <p:cNvSpPr/>
          <p:nvPr/>
        </p:nvSpPr>
        <p:spPr>
          <a:xfrm>
            <a:off x="8001000" y="4887468"/>
            <a:ext cx="1143000" cy="256032"/>
          </a:xfrm>
          <a:prstGeom prst="rect">
            <a:avLst/>
          </a:prstGeom>
          <a:solidFill>
            <a:srgbClr val="1A2E45"/>
          </a:solidFill>
          <a:ln w="12700">
            <a:solidFill>
              <a:srgbClr val="1A2E45"/>
            </a:solidFill>
            <a:prstDash val="solid"/>
          </a:ln>
        </p:spPr>
      </p:sp>
      <p:sp>
        <p:nvSpPr>
          <p:cNvPr id="47" name="Text 45"/>
          <p:cNvSpPr/>
          <p:nvPr/>
        </p:nvSpPr>
        <p:spPr>
          <a:xfrm>
            <a:off x="8001000" y="4887468"/>
            <a:ext cx="1143000" cy="256032"/>
          </a:xfrm>
          <a:prstGeom prst="rect">
            <a:avLst/>
          </a:prstGeom>
          <a:noFill/>
          <a:ln/>
        </p:spPr>
        <p:txBody>
          <a:bodyPr wrap="square" lIns="0" tIns="0" rIns="0" bIns="0" rtlCol="0" anchor="ctr"/>
          <a:lstStyle/>
          <a:p>
            <a:pPr algn="ctr" indent="0" marL="0">
              <a:buNone/>
            </a:pPr>
            <a:r>
              <a:rPr lang="en-US" sz="750" dirty="0">
                <a:solidFill>
                  <a:srgbClr val="3A5068"/>
                </a:solidFill>
                <a:latin typeface="Calibri" pitchFamily="34" charset="0"/>
                <a:ea typeface="Calibri" pitchFamily="34" charset="-122"/>
                <a:cs typeface="Calibri" pitchFamily="34" charset="-120"/>
              </a:rPr>
              <a:t>Reference</a:t>
            </a:r>
            <a:endParaRPr lang="en-US" sz="7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EA580C"/>
          </a:solidFill>
          <a:ln w="12700">
            <a:solidFill>
              <a:srgbClr val="EA580C"/>
            </a:solidFill>
            <a:prstDash val="solid"/>
          </a:ln>
        </p:spPr>
      </p:sp>
      <p:sp>
        <p:nvSpPr>
          <p:cNvPr id="3" name="Text 1"/>
          <p:cNvSpPr/>
          <p:nvPr/>
        </p:nvSpPr>
        <p:spPr>
          <a:xfrm>
            <a:off x="365760" y="0"/>
            <a:ext cx="8412480" cy="777240"/>
          </a:xfrm>
          <a:prstGeom prst="rect">
            <a:avLst/>
          </a:prstGeom>
          <a:noFill/>
          <a:ln/>
        </p:spPr>
        <p:txBody>
          <a:bodyPr wrap="square" lIns="0" tIns="0" rIns="0" bIns="0" rtlCol="0" anchor="ctr"/>
          <a:lstStyle/>
          <a:p>
            <a:pPr indent="0" marL="0">
              <a:buNone/>
            </a:pPr>
            <a:r>
              <a:rPr lang="en-US" sz="1900" b="1" dirty="0">
                <a:solidFill>
                  <a:srgbClr val="FFFFFF"/>
                </a:solidFill>
                <a:latin typeface="Cambria" pitchFamily="34" charset="0"/>
                <a:ea typeface="Cambria" pitchFamily="34" charset="-122"/>
                <a:cs typeface="Cambria" pitchFamily="34" charset="-120"/>
              </a:rPr>
              <a:t>3-Layer Instruction Architecture in GitHub Copilot</a:t>
            </a:r>
            <a:endParaRPr lang="en-US" sz="1900" dirty="0"/>
          </a:p>
        </p:txBody>
      </p:sp>
      <p:sp>
        <p:nvSpPr>
          <p:cNvPr id="4" name="Text 2"/>
          <p:cNvSpPr/>
          <p:nvPr/>
        </p:nvSpPr>
        <p:spPr>
          <a:xfrm>
            <a:off x="365760" y="822960"/>
            <a:ext cx="8412480" cy="310896"/>
          </a:xfrm>
          <a:prstGeom prst="rect">
            <a:avLst/>
          </a:prstGeom>
          <a:noFill/>
          <a:ln/>
        </p:spPr>
        <p:txBody>
          <a:bodyPr wrap="square" rtlCol="0" anchor="ctr"/>
          <a:lstStyle/>
          <a:p>
            <a:pPr indent="0" marL="0">
              <a:buNone/>
            </a:pPr>
            <a:r>
              <a:rPr lang="en-US" sz="1150" i="1" dirty="0">
                <a:solidFill>
                  <a:srgbClr val="EA580C"/>
                </a:solidFill>
                <a:latin typeface="Calibri" pitchFamily="34" charset="0"/>
                <a:ea typeface="Calibri" pitchFamily="34" charset="-122"/>
                <a:cs typeface="Calibri" pitchFamily="34" charset="-120"/>
              </a:rPr>
              <a:t>Main file + multiple scoped files + skills — each layer has a distinct job and a different token cost</a:t>
            </a:r>
            <a:endParaRPr lang="en-US" sz="1150" dirty="0"/>
          </a:p>
        </p:txBody>
      </p:sp>
      <p:sp>
        <p:nvSpPr>
          <p:cNvPr id="5" name="Shape 3"/>
          <p:cNvSpPr/>
          <p:nvPr/>
        </p:nvSpPr>
        <p:spPr>
          <a:xfrm>
            <a:off x="274320" y="1207008"/>
            <a:ext cx="8595360" cy="932688"/>
          </a:xfrm>
          <a:prstGeom prst="roundRect">
            <a:avLst>
              <a:gd name="adj" fmla="val 7843"/>
            </a:avLst>
          </a:prstGeom>
          <a:solidFill>
            <a:srgbClr val="FFF7ED"/>
          </a:solidFill>
          <a:ln w="12700">
            <a:solidFill>
              <a:srgbClr val="EA580C">
                <a:alpha val="60000"/>
              </a:srgbClr>
            </a:solidFill>
            <a:prstDash val="solid"/>
          </a:ln>
          <a:effectLst>
            <a:outerShdw sx="100000" sy="100000" kx="0" ky="0" algn="bl" rotWithShape="0" blurRad="101600" dist="38100" dir="2700000">
              <a:srgbClr val="000000">
                <a:alpha val="12000"/>
              </a:srgbClr>
            </a:outerShdw>
          </a:effectLst>
        </p:spPr>
      </p:sp>
      <p:sp>
        <p:nvSpPr>
          <p:cNvPr id="6" name="Shape 4"/>
          <p:cNvSpPr/>
          <p:nvPr/>
        </p:nvSpPr>
        <p:spPr>
          <a:xfrm>
            <a:off x="274320" y="1207008"/>
            <a:ext cx="228600" cy="932688"/>
          </a:xfrm>
          <a:prstGeom prst="roundRect">
            <a:avLst>
              <a:gd name="adj" fmla="val 20000"/>
            </a:avLst>
          </a:prstGeom>
          <a:solidFill>
            <a:srgbClr val="EA580C"/>
          </a:solidFill>
          <a:ln w="12700">
            <a:solidFill>
              <a:srgbClr val="EA580C"/>
            </a:solidFill>
            <a:prstDash val="solid"/>
          </a:ln>
        </p:spPr>
      </p:sp>
      <p:sp>
        <p:nvSpPr>
          <p:cNvPr id="7" name="Text 5"/>
          <p:cNvSpPr/>
          <p:nvPr/>
        </p:nvSpPr>
        <p:spPr>
          <a:xfrm>
            <a:off x="274320" y="1207008"/>
            <a:ext cx="228600" cy="932688"/>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L1</a:t>
            </a:r>
            <a:endParaRPr lang="en-US" sz="800" dirty="0"/>
          </a:p>
        </p:txBody>
      </p:sp>
      <p:sp>
        <p:nvSpPr>
          <p:cNvPr id="8" name="Text 6"/>
          <p:cNvSpPr/>
          <p:nvPr/>
        </p:nvSpPr>
        <p:spPr>
          <a:xfrm>
            <a:off x="621792" y="1298448"/>
            <a:ext cx="3383280" cy="320040"/>
          </a:xfrm>
          <a:prstGeom prst="rect">
            <a:avLst/>
          </a:prstGeom>
          <a:noFill/>
          <a:ln/>
        </p:spPr>
        <p:txBody>
          <a:bodyPr wrap="square" lIns="0" tIns="0" rIns="0" bIns="0" rtlCol="0" anchor="ctr"/>
          <a:lstStyle/>
          <a:p>
            <a:pPr indent="0" marL="0">
              <a:buNone/>
            </a:pPr>
            <a:r>
              <a:rPr lang="en-US" sz="1300" b="1" dirty="0">
                <a:solidFill>
                  <a:srgbClr val="EA580C"/>
                </a:solidFill>
                <a:latin typeface="Cambria" pitchFamily="34" charset="0"/>
                <a:ea typeface="Cambria" pitchFamily="34" charset="-122"/>
                <a:cs typeface="Cambria" pitchFamily="34" charset="-120"/>
              </a:rPr>
              <a:t>.github/copilot-instructions.md</a:t>
            </a:r>
            <a:endParaRPr lang="en-US" sz="1300" dirty="0"/>
          </a:p>
        </p:txBody>
      </p:sp>
      <p:sp>
        <p:nvSpPr>
          <p:cNvPr id="9" name="Text 7"/>
          <p:cNvSpPr/>
          <p:nvPr/>
        </p:nvSpPr>
        <p:spPr>
          <a:xfrm>
            <a:off x="621792" y="1645920"/>
            <a:ext cx="3291840" cy="402336"/>
          </a:xfrm>
          <a:prstGeom prst="rect">
            <a:avLst/>
          </a:prstGeom>
          <a:noFill/>
          <a:ln/>
        </p:spPr>
        <p:txBody>
          <a:bodyPr wrap="square" lIns="0" tIns="0" rIns="0" bIns="0" rtlCol="0" anchor="ctr"/>
          <a:lstStyle/>
          <a:p>
            <a:pPr indent="0" marL="0">
              <a:buNone/>
            </a:pPr>
            <a:r>
              <a:rPr lang="en-US" sz="1050" i="1" dirty="0">
                <a:solidFill>
                  <a:srgbClr val="64748B"/>
                </a:solidFill>
                <a:latin typeface="Calibri" pitchFamily="34" charset="0"/>
                <a:ea typeface="Calibri" pitchFamily="34" charset="-122"/>
                <a:cs typeface="Calibri" pitchFamily="34" charset="-120"/>
              </a:rPr>
              <a:t>Global · Loaded on EVERY request · No conditions</a:t>
            </a:r>
            <a:endParaRPr lang="en-US" sz="1050" dirty="0"/>
          </a:p>
        </p:txBody>
      </p:sp>
      <p:sp>
        <p:nvSpPr>
          <p:cNvPr id="10" name="Shape 8"/>
          <p:cNvSpPr/>
          <p:nvPr/>
        </p:nvSpPr>
        <p:spPr>
          <a:xfrm>
            <a:off x="4041648" y="1316736"/>
            <a:ext cx="0" cy="713232"/>
          </a:xfrm>
          <a:prstGeom prst="line">
            <a:avLst/>
          </a:prstGeom>
          <a:noFill/>
          <a:ln w="12700">
            <a:solidFill>
              <a:srgbClr val="E2E8F0"/>
            </a:solidFill>
            <a:prstDash val="solid"/>
          </a:ln>
        </p:spPr>
      </p:sp>
      <p:sp>
        <p:nvSpPr>
          <p:cNvPr id="11" name="Text 9"/>
          <p:cNvSpPr/>
          <p:nvPr/>
        </p:nvSpPr>
        <p:spPr>
          <a:xfrm>
            <a:off x="4169664" y="1298448"/>
            <a:ext cx="914400" cy="256032"/>
          </a:xfrm>
          <a:prstGeom prst="rect">
            <a:avLst/>
          </a:prstGeom>
          <a:noFill/>
          <a:ln/>
        </p:spPr>
        <p:txBody>
          <a:bodyPr wrap="square" lIns="0" tIns="0" rIns="0" bIns="0" rtlCol="0" anchor="ctr"/>
          <a:lstStyle/>
          <a:p>
            <a:pPr indent="0" marL="0">
              <a:buNone/>
            </a:pPr>
            <a:r>
              <a:rPr lang="en-US" sz="1050" b="1" dirty="0">
                <a:solidFill>
                  <a:srgbClr val="EA580C"/>
                </a:solidFill>
                <a:latin typeface="Calibri" pitchFamily="34" charset="0"/>
                <a:ea typeface="Calibri" pitchFamily="34" charset="-122"/>
                <a:cs typeface="Calibri" pitchFamily="34" charset="-120"/>
              </a:rPr>
              <a:t>Best for:</a:t>
            </a:r>
            <a:endParaRPr lang="en-US" sz="1050" dirty="0"/>
          </a:p>
        </p:txBody>
      </p:sp>
      <p:sp>
        <p:nvSpPr>
          <p:cNvPr id="12" name="Text 10"/>
          <p:cNvSpPr/>
          <p:nvPr/>
        </p:nvSpPr>
        <p:spPr>
          <a:xfrm>
            <a:off x="4169664" y="1554480"/>
            <a:ext cx="4572000" cy="512064"/>
          </a:xfrm>
          <a:prstGeom prst="rect">
            <a:avLst/>
          </a:prstGeom>
          <a:noFill/>
          <a:ln/>
        </p:spPr>
        <p:txBody>
          <a:bodyPr wrap="square" lIns="0" tIns="0" rIns="0" bIns="0" rtlCol="0" anchor="ctr"/>
          <a:lstStyle/>
          <a:p>
            <a:pPr indent="0" marL="0">
              <a:buNone/>
            </a:pPr>
            <a:r>
              <a:rPr lang="en-US" sz="1100" dirty="0">
                <a:solidFill>
                  <a:srgbClr val="64748B"/>
                </a:solidFill>
                <a:latin typeface="Calibri" pitchFamily="34" charset="0"/>
                <a:ea typeface="Calibri" pitchFamily="34" charset="-122"/>
                <a:cs typeface="Calibri" pitchFamily="34" charset="-120"/>
              </a:rPr>
              <a:t>Repo language, 'code only' directive, global naming conventions — rules true for ALL files &amp; ALL tasks</a:t>
            </a:r>
            <a:endParaRPr lang="en-US" sz="1100" dirty="0"/>
          </a:p>
        </p:txBody>
      </p:sp>
      <p:sp>
        <p:nvSpPr>
          <p:cNvPr id="13" name="Shape 11"/>
          <p:cNvSpPr/>
          <p:nvPr/>
        </p:nvSpPr>
        <p:spPr>
          <a:xfrm>
            <a:off x="274320" y="2258568"/>
            <a:ext cx="8595360" cy="932688"/>
          </a:xfrm>
          <a:prstGeom prst="roundRect">
            <a:avLst>
              <a:gd name="adj" fmla="val 7843"/>
            </a:avLst>
          </a:prstGeom>
          <a:solidFill>
            <a:srgbClr val="EFF6FF"/>
          </a:solidFill>
          <a:ln w="12700">
            <a:solidFill>
              <a:srgbClr val="3B82F6">
                <a:alpha val="60000"/>
              </a:srgbClr>
            </a:solidFill>
            <a:prstDash val="solid"/>
          </a:ln>
          <a:effectLst>
            <a:outerShdw sx="100000" sy="100000" kx="0" ky="0" algn="bl" rotWithShape="0" blurRad="101600" dist="38100" dir="2700000">
              <a:srgbClr val="000000">
                <a:alpha val="12000"/>
              </a:srgbClr>
            </a:outerShdw>
          </a:effectLst>
        </p:spPr>
      </p:sp>
      <p:sp>
        <p:nvSpPr>
          <p:cNvPr id="14" name="Shape 12"/>
          <p:cNvSpPr/>
          <p:nvPr/>
        </p:nvSpPr>
        <p:spPr>
          <a:xfrm>
            <a:off x="274320" y="2258568"/>
            <a:ext cx="228600" cy="932688"/>
          </a:xfrm>
          <a:prstGeom prst="roundRect">
            <a:avLst>
              <a:gd name="adj" fmla="val 20000"/>
            </a:avLst>
          </a:prstGeom>
          <a:solidFill>
            <a:srgbClr val="3B82F6"/>
          </a:solidFill>
          <a:ln w="12700">
            <a:solidFill>
              <a:srgbClr val="3B82F6"/>
            </a:solidFill>
            <a:prstDash val="solid"/>
          </a:ln>
        </p:spPr>
      </p:sp>
      <p:sp>
        <p:nvSpPr>
          <p:cNvPr id="15" name="Text 13"/>
          <p:cNvSpPr/>
          <p:nvPr/>
        </p:nvSpPr>
        <p:spPr>
          <a:xfrm>
            <a:off x="274320" y="2258568"/>
            <a:ext cx="228600" cy="932688"/>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L2</a:t>
            </a:r>
            <a:endParaRPr lang="en-US" sz="800" dirty="0"/>
          </a:p>
        </p:txBody>
      </p:sp>
      <p:sp>
        <p:nvSpPr>
          <p:cNvPr id="16" name="Text 14"/>
          <p:cNvSpPr/>
          <p:nvPr/>
        </p:nvSpPr>
        <p:spPr>
          <a:xfrm>
            <a:off x="621792" y="2350008"/>
            <a:ext cx="3383280" cy="320040"/>
          </a:xfrm>
          <a:prstGeom prst="rect">
            <a:avLst/>
          </a:prstGeom>
          <a:noFill/>
          <a:ln/>
        </p:spPr>
        <p:txBody>
          <a:bodyPr wrap="square" lIns="0" tIns="0" rIns="0" bIns="0" rtlCol="0" anchor="ctr"/>
          <a:lstStyle/>
          <a:p>
            <a:pPr indent="0" marL="0">
              <a:buNone/>
            </a:pPr>
            <a:r>
              <a:rPr lang="en-US" sz="1300" b="1" dirty="0">
                <a:solidFill>
                  <a:srgbClr val="3B82F6"/>
                </a:solidFill>
                <a:latin typeface="Cambria" pitchFamily="34" charset="0"/>
                <a:ea typeface="Cambria" pitchFamily="34" charset="-122"/>
                <a:cs typeface="Cambria" pitchFamily="34" charset="-120"/>
              </a:rPr>
              <a:t>.github/instructions/*.instructions.md</a:t>
            </a:r>
            <a:endParaRPr lang="en-US" sz="1300" dirty="0"/>
          </a:p>
        </p:txBody>
      </p:sp>
      <p:sp>
        <p:nvSpPr>
          <p:cNvPr id="17" name="Text 15"/>
          <p:cNvSpPr/>
          <p:nvPr/>
        </p:nvSpPr>
        <p:spPr>
          <a:xfrm>
            <a:off x="621792" y="2697480"/>
            <a:ext cx="3291840" cy="402336"/>
          </a:xfrm>
          <a:prstGeom prst="rect">
            <a:avLst/>
          </a:prstGeom>
          <a:noFill/>
          <a:ln/>
        </p:spPr>
        <p:txBody>
          <a:bodyPr wrap="square" lIns="0" tIns="0" rIns="0" bIns="0" rtlCol="0" anchor="ctr"/>
          <a:lstStyle/>
          <a:p>
            <a:pPr indent="0" marL="0">
              <a:buNone/>
            </a:pPr>
            <a:r>
              <a:rPr lang="en-US" sz="1050" i="1" dirty="0">
                <a:solidFill>
                  <a:srgbClr val="64748B"/>
                </a:solidFill>
                <a:latin typeface="Calibri" pitchFamily="34" charset="0"/>
                <a:ea typeface="Calibri" pitchFamily="34" charset="-122"/>
                <a:cs typeface="Calibri" pitchFamily="34" charset="-120"/>
              </a:rPr>
              <a:t>Scoped · Auto-loaded when 'applyTo' glob pattern matches the file being edited</a:t>
            </a:r>
            <a:endParaRPr lang="en-US" sz="1050" dirty="0"/>
          </a:p>
        </p:txBody>
      </p:sp>
      <p:sp>
        <p:nvSpPr>
          <p:cNvPr id="18" name="Shape 16"/>
          <p:cNvSpPr/>
          <p:nvPr/>
        </p:nvSpPr>
        <p:spPr>
          <a:xfrm>
            <a:off x="4041648" y="2368296"/>
            <a:ext cx="0" cy="713232"/>
          </a:xfrm>
          <a:prstGeom prst="line">
            <a:avLst/>
          </a:prstGeom>
          <a:noFill/>
          <a:ln w="12700">
            <a:solidFill>
              <a:srgbClr val="E2E8F0"/>
            </a:solidFill>
            <a:prstDash val="solid"/>
          </a:ln>
        </p:spPr>
      </p:sp>
      <p:sp>
        <p:nvSpPr>
          <p:cNvPr id="19" name="Text 17"/>
          <p:cNvSpPr/>
          <p:nvPr/>
        </p:nvSpPr>
        <p:spPr>
          <a:xfrm>
            <a:off x="4169664" y="2350008"/>
            <a:ext cx="914400" cy="256032"/>
          </a:xfrm>
          <a:prstGeom prst="rect">
            <a:avLst/>
          </a:prstGeom>
          <a:noFill/>
          <a:ln/>
        </p:spPr>
        <p:txBody>
          <a:bodyPr wrap="square" lIns="0" tIns="0" rIns="0" bIns="0" rtlCol="0" anchor="ctr"/>
          <a:lstStyle/>
          <a:p>
            <a:pPr indent="0" marL="0">
              <a:buNone/>
            </a:pPr>
            <a:r>
              <a:rPr lang="en-US" sz="1050" b="1" dirty="0">
                <a:solidFill>
                  <a:srgbClr val="3B82F6"/>
                </a:solidFill>
                <a:latin typeface="Calibri" pitchFamily="34" charset="0"/>
                <a:ea typeface="Calibri" pitchFamily="34" charset="-122"/>
                <a:cs typeface="Calibri" pitchFamily="34" charset="-120"/>
              </a:rPr>
              <a:t>Best for:</a:t>
            </a:r>
            <a:endParaRPr lang="en-US" sz="1050" dirty="0"/>
          </a:p>
        </p:txBody>
      </p:sp>
      <p:sp>
        <p:nvSpPr>
          <p:cNvPr id="20" name="Text 18"/>
          <p:cNvSpPr/>
          <p:nvPr/>
        </p:nvSpPr>
        <p:spPr>
          <a:xfrm>
            <a:off x="4169664" y="2606040"/>
            <a:ext cx="4572000" cy="512064"/>
          </a:xfrm>
          <a:prstGeom prst="rect">
            <a:avLst/>
          </a:prstGeom>
          <a:noFill/>
          <a:ln/>
        </p:spPr>
        <p:txBody>
          <a:bodyPr wrap="square" lIns="0" tIns="0" rIns="0" bIns="0" rtlCol="0" anchor="ctr"/>
          <a:lstStyle/>
          <a:p>
            <a:pPr indent="0" marL="0">
              <a:buNone/>
            </a:pPr>
            <a:r>
              <a:rPr lang="en-US" sz="1100" dirty="0">
                <a:solidFill>
                  <a:srgbClr val="64748B"/>
                </a:solidFill>
                <a:latin typeface="Calibri" pitchFamily="34" charset="0"/>
                <a:ea typeface="Calibri" pitchFamily="34" charset="-122"/>
                <a:cs typeface="Calibri" pitchFamily="34" charset="-120"/>
              </a:rPr>
              <a:t>python.instructions.md for *.py · react.instructions.md for *.tsx · sql.instructions.md for *.sql</a:t>
            </a:r>
            <a:endParaRPr lang="en-US" sz="1100" dirty="0"/>
          </a:p>
        </p:txBody>
      </p:sp>
      <p:sp>
        <p:nvSpPr>
          <p:cNvPr id="21" name="Shape 19"/>
          <p:cNvSpPr/>
          <p:nvPr/>
        </p:nvSpPr>
        <p:spPr>
          <a:xfrm>
            <a:off x="274320" y="3310128"/>
            <a:ext cx="8595360" cy="932688"/>
          </a:xfrm>
          <a:prstGeom prst="roundRect">
            <a:avLst>
              <a:gd name="adj" fmla="val 7843"/>
            </a:avLst>
          </a:prstGeom>
          <a:solidFill>
            <a:srgbClr val="F0FDF4"/>
          </a:solidFill>
          <a:ln w="12700">
            <a:solidFill>
              <a:srgbClr val="008C94">
                <a:alpha val="60000"/>
              </a:srgbClr>
            </a:solidFill>
            <a:prstDash val="solid"/>
          </a:ln>
          <a:effectLst>
            <a:outerShdw sx="100000" sy="100000" kx="0" ky="0" algn="bl" rotWithShape="0" blurRad="101600" dist="38100" dir="2700000">
              <a:srgbClr val="000000">
                <a:alpha val="12000"/>
              </a:srgbClr>
            </a:outerShdw>
          </a:effectLst>
        </p:spPr>
      </p:sp>
      <p:sp>
        <p:nvSpPr>
          <p:cNvPr id="22" name="Shape 20"/>
          <p:cNvSpPr/>
          <p:nvPr/>
        </p:nvSpPr>
        <p:spPr>
          <a:xfrm>
            <a:off x="274320" y="3310128"/>
            <a:ext cx="228600" cy="932688"/>
          </a:xfrm>
          <a:prstGeom prst="roundRect">
            <a:avLst>
              <a:gd name="adj" fmla="val 20000"/>
            </a:avLst>
          </a:prstGeom>
          <a:solidFill>
            <a:srgbClr val="008C94"/>
          </a:solidFill>
          <a:ln w="12700">
            <a:solidFill>
              <a:srgbClr val="008C94"/>
            </a:solidFill>
            <a:prstDash val="solid"/>
          </a:ln>
        </p:spPr>
      </p:sp>
      <p:sp>
        <p:nvSpPr>
          <p:cNvPr id="23" name="Text 21"/>
          <p:cNvSpPr/>
          <p:nvPr/>
        </p:nvSpPr>
        <p:spPr>
          <a:xfrm>
            <a:off x="274320" y="3310128"/>
            <a:ext cx="228600" cy="932688"/>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L3</a:t>
            </a:r>
            <a:endParaRPr lang="en-US" sz="800" dirty="0"/>
          </a:p>
        </p:txBody>
      </p:sp>
      <p:sp>
        <p:nvSpPr>
          <p:cNvPr id="24" name="Text 22"/>
          <p:cNvSpPr/>
          <p:nvPr/>
        </p:nvSpPr>
        <p:spPr>
          <a:xfrm>
            <a:off x="621792" y="3401568"/>
            <a:ext cx="3383280" cy="320040"/>
          </a:xfrm>
          <a:prstGeom prst="rect">
            <a:avLst/>
          </a:prstGeom>
          <a:noFill/>
          <a:ln/>
        </p:spPr>
        <p:txBody>
          <a:bodyPr wrap="square" lIns="0" tIns="0" rIns="0" bIns="0" rtlCol="0" anchor="ctr"/>
          <a:lstStyle/>
          <a:p>
            <a:pPr indent="0" marL="0">
              <a:buNone/>
            </a:pPr>
            <a:r>
              <a:rPr lang="en-US" sz="1300" b="1" dirty="0">
                <a:solidFill>
                  <a:srgbClr val="008C94"/>
                </a:solidFill>
                <a:latin typeface="Cambria" pitchFamily="34" charset="0"/>
                <a:ea typeface="Cambria" pitchFamily="34" charset="-122"/>
                <a:cs typeface="Cambria" pitchFamily="34" charset="-120"/>
              </a:rPr>
              <a:t>.github/prompts/*.prompt.md  (Skills)</a:t>
            </a:r>
            <a:endParaRPr lang="en-US" sz="1300" dirty="0"/>
          </a:p>
        </p:txBody>
      </p:sp>
      <p:sp>
        <p:nvSpPr>
          <p:cNvPr id="25" name="Text 23"/>
          <p:cNvSpPr/>
          <p:nvPr/>
        </p:nvSpPr>
        <p:spPr>
          <a:xfrm>
            <a:off x="621792" y="3749040"/>
            <a:ext cx="3291840" cy="402336"/>
          </a:xfrm>
          <a:prstGeom prst="rect">
            <a:avLst/>
          </a:prstGeom>
          <a:noFill/>
          <a:ln/>
        </p:spPr>
        <p:txBody>
          <a:bodyPr wrap="square" lIns="0" tIns="0" rIns="0" bIns="0" rtlCol="0" anchor="ctr"/>
          <a:lstStyle/>
          <a:p>
            <a:pPr indent="0" marL="0">
              <a:buNone/>
            </a:pPr>
            <a:r>
              <a:rPr lang="en-US" sz="1050" i="1" dirty="0">
                <a:solidFill>
                  <a:srgbClr val="64748B"/>
                </a:solidFill>
                <a:latin typeface="Calibri" pitchFamily="34" charset="0"/>
                <a:ea typeface="Calibri" pitchFamily="34" charset="-122"/>
                <a:cs typeface="Calibri" pitchFamily="34" charset="-120"/>
              </a:rPr>
              <a:t>On-demand · Only fetched when the agent identifies a trigger keyword in the prompt</a:t>
            </a:r>
            <a:endParaRPr lang="en-US" sz="1050" dirty="0"/>
          </a:p>
        </p:txBody>
      </p:sp>
      <p:sp>
        <p:nvSpPr>
          <p:cNvPr id="26" name="Shape 24"/>
          <p:cNvSpPr/>
          <p:nvPr/>
        </p:nvSpPr>
        <p:spPr>
          <a:xfrm>
            <a:off x="4041648" y="3419856"/>
            <a:ext cx="0" cy="713232"/>
          </a:xfrm>
          <a:prstGeom prst="line">
            <a:avLst/>
          </a:prstGeom>
          <a:noFill/>
          <a:ln w="12700">
            <a:solidFill>
              <a:srgbClr val="E2E8F0"/>
            </a:solidFill>
            <a:prstDash val="solid"/>
          </a:ln>
        </p:spPr>
      </p:sp>
      <p:sp>
        <p:nvSpPr>
          <p:cNvPr id="27" name="Text 25"/>
          <p:cNvSpPr/>
          <p:nvPr/>
        </p:nvSpPr>
        <p:spPr>
          <a:xfrm>
            <a:off x="4169664" y="3401568"/>
            <a:ext cx="914400" cy="256032"/>
          </a:xfrm>
          <a:prstGeom prst="rect">
            <a:avLst/>
          </a:prstGeom>
          <a:noFill/>
          <a:ln/>
        </p:spPr>
        <p:txBody>
          <a:bodyPr wrap="square" lIns="0" tIns="0" rIns="0" bIns="0" rtlCol="0" anchor="ctr"/>
          <a:lstStyle/>
          <a:p>
            <a:pPr indent="0" marL="0">
              <a:buNone/>
            </a:pPr>
            <a:r>
              <a:rPr lang="en-US" sz="1050" b="1" dirty="0">
                <a:solidFill>
                  <a:srgbClr val="008C94"/>
                </a:solidFill>
                <a:latin typeface="Calibri" pitchFamily="34" charset="0"/>
                <a:ea typeface="Calibri" pitchFamily="34" charset="-122"/>
                <a:cs typeface="Calibri" pitchFamily="34" charset="-120"/>
              </a:rPr>
              <a:t>Best for:</a:t>
            </a:r>
            <a:endParaRPr lang="en-US" sz="1050" dirty="0"/>
          </a:p>
        </p:txBody>
      </p:sp>
      <p:sp>
        <p:nvSpPr>
          <p:cNvPr id="28" name="Text 26"/>
          <p:cNvSpPr/>
          <p:nvPr/>
        </p:nvSpPr>
        <p:spPr>
          <a:xfrm>
            <a:off x="4169664" y="3657600"/>
            <a:ext cx="4572000" cy="512064"/>
          </a:xfrm>
          <a:prstGeom prst="rect">
            <a:avLst/>
          </a:prstGeom>
          <a:noFill/>
          <a:ln/>
        </p:spPr>
        <p:txBody>
          <a:bodyPr wrap="square" lIns="0" tIns="0" rIns="0" bIns="0" rtlCol="0" anchor="ctr"/>
          <a:lstStyle/>
          <a:p>
            <a:pPr indent="0" marL="0">
              <a:buNone/>
            </a:pPr>
            <a:r>
              <a:rPr lang="en-US" sz="1100" dirty="0">
                <a:solidFill>
                  <a:srgbClr val="64748B"/>
                </a:solidFill>
                <a:latin typeface="Calibri" pitchFamily="34" charset="0"/>
                <a:ea typeface="Calibri" pitchFamily="34" charset="-122"/>
                <a:cs typeface="Calibri" pitchFamily="34" charset="-120"/>
              </a:rPr>
              <a:t>PR review playbooks, security audit checklists, deployment runbooks — rich context, needed occasionally</a:t>
            </a:r>
            <a:endParaRPr lang="en-US" sz="1100" dirty="0"/>
          </a:p>
        </p:txBody>
      </p:sp>
      <p:sp>
        <p:nvSpPr>
          <p:cNvPr id="29" name="Shape 27"/>
          <p:cNvSpPr/>
          <p:nvPr/>
        </p:nvSpPr>
        <p:spPr>
          <a:xfrm>
            <a:off x="274320" y="4352544"/>
            <a:ext cx="8595360" cy="548640"/>
          </a:xfrm>
          <a:prstGeom prst="roundRect">
            <a:avLst>
              <a:gd name="adj" fmla="val 15000"/>
            </a:avLst>
          </a:prstGeom>
          <a:solidFill>
            <a:srgbClr val="0D1B2A"/>
          </a:solidFill>
          <a:ln w="12700">
            <a:solidFill>
              <a:srgbClr val="0D1B2A"/>
            </a:solidFill>
            <a:prstDash val="solid"/>
          </a:ln>
        </p:spPr>
      </p:sp>
      <p:sp>
        <p:nvSpPr>
          <p:cNvPr id="30" name="Text 28"/>
          <p:cNvSpPr/>
          <p:nvPr/>
        </p:nvSpPr>
        <p:spPr>
          <a:xfrm>
            <a:off x="411480" y="4352544"/>
            <a:ext cx="8321040" cy="548640"/>
          </a:xfrm>
          <a:prstGeom prst="rect">
            <a:avLst/>
          </a:prstGeom>
          <a:noFill/>
          <a:ln/>
        </p:spPr>
        <p:txBody>
          <a:bodyPr wrap="square" lIns="0" tIns="0" rIns="0" bIns="0" rtlCol="0" anchor="ctr"/>
          <a:lstStyle/>
          <a:p>
            <a:pPr indent="0" marL="0">
              <a:buNone/>
            </a:pPr>
            <a:r>
              <a:rPr lang="en-US" sz="1250" b="1" dirty="0">
                <a:solidFill>
                  <a:srgbClr val="00C2CC"/>
                </a:solidFill>
                <a:latin typeface="Calibri" pitchFamily="34" charset="0"/>
                <a:ea typeface="Calibri" pitchFamily="34" charset="-122"/>
                <a:cs typeface="Calibri" pitchFamily="34" charset="-120"/>
              </a:rPr>
              <a:t>🔑  Golden Rule: Put every rule in the deepest layer that still works. Deeper = fewer tokens paid per request.</a:t>
            </a:r>
            <a:endParaRPr lang="en-US" sz="1250" dirty="0"/>
          </a:p>
        </p:txBody>
      </p:sp>
      <p:sp>
        <p:nvSpPr>
          <p:cNvPr id="31" name="Shape 29"/>
          <p:cNvSpPr/>
          <p:nvPr/>
        </p:nvSpPr>
        <p:spPr>
          <a:xfrm>
            <a:off x="0" y="4887468"/>
            <a:ext cx="1143000" cy="256032"/>
          </a:xfrm>
          <a:prstGeom prst="rect">
            <a:avLst/>
          </a:prstGeom>
          <a:solidFill>
            <a:srgbClr val="1A2E45"/>
          </a:solidFill>
          <a:ln w="12700">
            <a:solidFill>
              <a:srgbClr val="1A2E45"/>
            </a:solidFill>
            <a:prstDash val="solid"/>
          </a:ln>
        </p:spPr>
      </p:sp>
      <p:sp>
        <p:nvSpPr>
          <p:cNvPr id="32" name="Text 30"/>
          <p:cNvSpPr/>
          <p:nvPr/>
        </p:nvSpPr>
        <p:spPr>
          <a:xfrm>
            <a:off x="0" y="4887468"/>
            <a:ext cx="1143000" cy="256032"/>
          </a:xfrm>
          <a:prstGeom prst="rect">
            <a:avLst/>
          </a:prstGeom>
          <a:noFill/>
          <a:ln/>
        </p:spPr>
        <p:txBody>
          <a:bodyPr wrap="square" lIns="0" tIns="0" rIns="0" bIns="0" rtlCol="0" anchor="ctr"/>
          <a:lstStyle/>
          <a:p>
            <a:pPr algn="ctr" indent="0" marL="0">
              <a:buNone/>
            </a:pPr>
            <a:r>
              <a:rPr lang="en-US" sz="750" dirty="0">
                <a:solidFill>
                  <a:srgbClr val="3A5068"/>
                </a:solidFill>
                <a:latin typeface="Calibri" pitchFamily="34" charset="0"/>
                <a:ea typeface="Calibri" pitchFamily="34" charset="-122"/>
                <a:cs typeface="Calibri" pitchFamily="34" charset="-120"/>
              </a:rPr>
              <a:t>Overview</a:t>
            </a:r>
            <a:endParaRPr lang="en-US" sz="750" dirty="0"/>
          </a:p>
        </p:txBody>
      </p:sp>
      <p:sp>
        <p:nvSpPr>
          <p:cNvPr id="33" name="Shape 31"/>
          <p:cNvSpPr/>
          <p:nvPr/>
        </p:nvSpPr>
        <p:spPr>
          <a:xfrm>
            <a:off x="1143000" y="4887468"/>
            <a:ext cx="1143000" cy="256032"/>
          </a:xfrm>
          <a:prstGeom prst="rect">
            <a:avLst/>
          </a:prstGeom>
          <a:solidFill>
            <a:srgbClr val="1A2E45"/>
          </a:solidFill>
          <a:ln w="12700">
            <a:solidFill>
              <a:srgbClr val="1A2E45"/>
            </a:solidFill>
            <a:prstDash val="solid"/>
          </a:ln>
        </p:spPr>
      </p:sp>
      <p:sp>
        <p:nvSpPr>
          <p:cNvPr id="34" name="Text 32"/>
          <p:cNvSpPr/>
          <p:nvPr/>
        </p:nvSpPr>
        <p:spPr>
          <a:xfrm>
            <a:off x="1143000" y="4887468"/>
            <a:ext cx="1143000" cy="256032"/>
          </a:xfrm>
          <a:prstGeom prst="rect">
            <a:avLst/>
          </a:prstGeom>
          <a:noFill/>
          <a:ln/>
        </p:spPr>
        <p:txBody>
          <a:bodyPr wrap="square" lIns="0" tIns="0" rIns="0" bIns="0" rtlCol="0" anchor="ctr"/>
          <a:lstStyle/>
          <a:p>
            <a:pPr algn="ctr" indent="0" marL="0">
              <a:buNone/>
            </a:pPr>
            <a:r>
              <a:rPr lang="en-US" sz="750" dirty="0">
                <a:solidFill>
                  <a:srgbClr val="3A5068"/>
                </a:solidFill>
                <a:latin typeface="Calibri" pitchFamily="34" charset="0"/>
                <a:ea typeface="Calibri" pitchFamily="34" charset="-122"/>
                <a:cs typeface="Calibri" pitchFamily="34" charset="-120"/>
              </a:rPr>
              <a:t>Output Control</a:t>
            </a:r>
            <a:endParaRPr lang="en-US" sz="750" dirty="0"/>
          </a:p>
        </p:txBody>
      </p:sp>
      <p:sp>
        <p:nvSpPr>
          <p:cNvPr id="35" name="Shape 33"/>
          <p:cNvSpPr/>
          <p:nvPr/>
        </p:nvSpPr>
        <p:spPr>
          <a:xfrm>
            <a:off x="2286000" y="4887468"/>
            <a:ext cx="1143000" cy="256032"/>
          </a:xfrm>
          <a:prstGeom prst="rect">
            <a:avLst/>
          </a:prstGeom>
          <a:solidFill>
            <a:srgbClr val="1A2E45"/>
          </a:solidFill>
          <a:ln w="12700">
            <a:solidFill>
              <a:srgbClr val="1A2E45"/>
            </a:solidFill>
            <a:prstDash val="solid"/>
          </a:ln>
        </p:spPr>
      </p:sp>
      <p:sp>
        <p:nvSpPr>
          <p:cNvPr id="36" name="Text 34"/>
          <p:cNvSpPr/>
          <p:nvPr/>
        </p:nvSpPr>
        <p:spPr>
          <a:xfrm>
            <a:off x="2286000" y="4887468"/>
            <a:ext cx="1143000" cy="256032"/>
          </a:xfrm>
          <a:prstGeom prst="rect">
            <a:avLst/>
          </a:prstGeom>
          <a:noFill/>
          <a:ln/>
        </p:spPr>
        <p:txBody>
          <a:bodyPr wrap="square" lIns="0" tIns="0" rIns="0" bIns="0" rtlCol="0" anchor="ctr"/>
          <a:lstStyle/>
          <a:p>
            <a:pPr algn="ctr" indent="0" marL="0">
              <a:buNone/>
            </a:pPr>
            <a:r>
              <a:rPr lang="en-US" sz="750" dirty="0">
                <a:solidFill>
                  <a:srgbClr val="3A5068"/>
                </a:solidFill>
                <a:latin typeface="Calibri" pitchFamily="34" charset="0"/>
                <a:ea typeface="Calibri" pitchFamily="34" charset="-122"/>
                <a:cs typeface="Calibri" pitchFamily="34" charset="-120"/>
              </a:rPr>
              <a:t>Context &amp; Prompting</a:t>
            </a:r>
            <a:endParaRPr lang="en-US" sz="750" dirty="0"/>
          </a:p>
        </p:txBody>
      </p:sp>
      <p:sp>
        <p:nvSpPr>
          <p:cNvPr id="37" name="Shape 35"/>
          <p:cNvSpPr/>
          <p:nvPr/>
        </p:nvSpPr>
        <p:spPr>
          <a:xfrm>
            <a:off x="3429000" y="4887468"/>
            <a:ext cx="1143000" cy="256032"/>
          </a:xfrm>
          <a:prstGeom prst="rect">
            <a:avLst/>
          </a:prstGeom>
          <a:solidFill>
            <a:srgbClr val="1A2E45"/>
          </a:solidFill>
          <a:ln w="12700">
            <a:solidFill>
              <a:srgbClr val="1A2E45"/>
            </a:solidFill>
            <a:prstDash val="solid"/>
          </a:ln>
        </p:spPr>
      </p:sp>
      <p:sp>
        <p:nvSpPr>
          <p:cNvPr id="38" name="Text 36"/>
          <p:cNvSpPr/>
          <p:nvPr/>
        </p:nvSpPr>
        <p:spPr>
          <a:xfrm>
            <a:off x="3429000" y="4887468"/>
            <a:ext cx="1143000" cy="256032"/>
          </a:xfrm>
          <a:prstGeom prst="rect">
            <a:avLst/>
          </a:prstGeom>
          <a:noFill/>
          <a:ln/>
        </p:spPr>
        <p:txBody>
          <a:bodyPr wrap="square" lIns="0" tIns="0" rIns="0" bIns="0" rtlCol="0" anchor="ctr"/>
          <a:lstStyle/>
          <a:p>
            <a:pPr algn="ctr" indent="0" marL="0">
              <a:buNone/>
            </a:pPr>
            <a:r>
              <a:rPr lang="en-US" sz="750" dirty="0">
                <a:solidFill>
                  <a:srgbClr val="3A5068"/>
                </a:solidFill>
                <a:latin typeface="Calibri" pitchFamily="34" charset="0"/>
                <a:ea typeface="Calibri" pitchFamily="34" charset="-122"/>
                <a:cs typeface="Calibri" pitchFamily="34" charset="-120"/>
              </a:rPr>
              <a:t>Models &amp; Modes</a:t>
            </a:r>
            <a:endParaRPr lang="en-US" sz="750" dirty="0"/>
          </a:p>
        </p:txBody>
      </p:sp>
      <p:sp>
        <p:nvSpPr>
          <p:cNvPr id="39" name="Shape 37"/>
          <p:cNvSpPr/>
          <p:nvPr/>
        </p:nvSpPr>
        <p:spPr>
          <a:xfrm>
            <a:off x="4572000" y="4887468"/>
            <a:ext cx="1143000" cy="256032"/>
          </a:xfrm>
          <a:prstGeom prst="rect">
            <a:avLst/>
          </a:prstGeom>
          <a:solidFill>
            <a:srgbClr val="1A2E45"/>
          </a:solidFill>
          <a:ln w="12700">
            <a:solidFill>
              <a:srgbClr val="1A2E45"/>
            </a:solidFill>
            <a:prstDash val="solid"/>
          </a:ln>
        </p:spPr>
      </p:sp>
      <p:sp>
        <p:nvSpPr>
          <p:cNvPr id="40" name="Text 38"/>
          <p:cNvSpPr/>
          <p:nvPr/>
        </p:nvSpPr>
        <p:spPr>
          <a:xfrm>
            <a:off x="4572000" y="4887468"/>
            <a:ext cx="1143000" cy="256032"/>
          </a:xfrm>
          <a:prstGeom prst="rect">
            <a:avLst/>
          </a:prstGeom>
          <a:noFill/>
          <a:ln/>
        </p:spPr>
        <p:txBody>
          <a:bodyPr wrap="square" lIns="0" tIns="0" rIns="0" bIns="0" rtlCol="0" anchor="ctr"/>
          <a:lstStyle/>
          <a:p>
            <a:pPr algn="ctr" indent="0" marL="0">
              <a:buNone/>
            </a:pPr>
            <a:r>
              <a:rPr lang="en-US" sz="750" dirty="0">
                <a:solidFill>
                  <a:srgbClr val="3A5068"/>
                </a:solidFill>
                <a:latin typeface="Calibri" pitchFamily="34" charset="0"/>
                <a:ea typeface="Calibri" pitchFamily="34" charset="-122"/>
                <a:cs typeface="Calibri" pitchFamily="34" charset="-120"/>
              </a:rPr>
              <a:t>Governance</a:t>
            </a:r>
            <a:endParaRPr lang="en-US" sz="750" dirty="0"/>
          </a:p>
        </p:txBody>
      </p:sp>
      <p:sp>
        <p:nvSpPr>
          <p:cNvPr id="41" name="Shape 39"/>
          <p:cNvSpPr/>
          <p:nvPr/>
        </p:nvSpPr>
        <p:spPr>
          <a:xfrm>
            <a:off x="5715000" y="4887468"/>
            <a:ext cx="1143000" cy="256032"/>
          </a:xfrm>
          <a:prstGeom prst="rect">
            <a:avLst/>
          </a:prstGeom>
          <a:solidFill>
            <a:srgbClr val="EA580C"/>
          </a:solidFill>
          <a:ln w="12700">
            <a:solidFill>
              <a:srgbClr val="EA580C"/>
            </a:solidFill>
            <a:prstDash val="solid"/>
          </a:ln>
        </p:spPr>
      </p:sp>
      <p:sp>
        <p:nvSpPr>
          <p:cNvPr id="42" name="Text 40"/>
          <p:cNvSpPr/>
          <p:nvPr/>
        </p:nvSpPr>
        <p:spPr>
          <a:xfrm>
            <a:off x="5715000" y="4887468"/>
            <a:ext cx="1143000" cy="256032"/>
          </a:xfrm>
          <a:prstGeom prst="rect">
            <a:avLst/>
          </a:prstGeom>
          <a:noFill/>
          <a:ln/>
        </p:spPr>
        <p:txBody>
          <a:bodyPr wrap="square" lIns="0" tIns="0" rIns="0" bIns="0" rtlCol="0" anchor="ctr"/>
          <a:lstStyle/>
          <a:p>
            <a:pPr algn="ctr" indent="0" marL="0">
              <a:buNone/>
            </a:pPr>
            <a:r>
              <a:rPr lang="en-US" sz="750" b="1" dirty="0">
                <a:solidFill>
                  <a:srgbClr val="0D1B2A"/>
                </a:solidFill>
                <a:latin typeface="Calibri" pitchFamily="34" charset="0"/>
                <a:ea typeface="Calibri" pitchFamily="34" charset="-122"/>
                <a:cs typeface="Calibri" pitchFamily="34" charset="-120"/>
              </a:rPr>
              <a:t>Architecture</a:t>
            </a:r>
            <a:endParaRPr lang="en-US" sz="750" dirty="0"/>
          </a:p>
        </p:txBody>
      </p:sp>
      <p:sp>
        <p:nvSpPr>
          <p:cNvPr id="43" name="Shape 41"/>
          <p:cNvSpPr/>
          <p:nvPr/>
        </p:nvSpPr>
        <p:spPr>
          <a:xfrm>
            <a:off x="6858000" y="4887468"/>
            <a:ext cx="1143000" cy="256032"/>
          </a:xfrm>
          <a:prstGeom prst="rect">
            <a:avLst/>
          </a:prstGeom>
          <a:solidFill>
            <a:srgbClr val="1A2E45"/>
          </a:solidFill>
          <a:ln w="12700">
            <a:solidFill>
              <a:srgbClr val="1A2E45"/>
            </a:solidFill>
            <a:prstDash val="solid"/>
          </a:ln>
        </p:spPr>
      </p:sp>
      <p:sp>
        <p:nvSpPr>
          <p:cNvPr id="44" name="Text 42"/>
          <p:cNvSpPr/>
          <p:nvPr/>
        </p:nvSpPr>
        <p:spPr>
          <a:xfrm>
            <a:off x="6858000" y="4887468"/>
            <a:ext cx="1143000" cy="256032"/>
          </a:xfrm>
          <a:prstGeom prst="rect">
            <a:avLst/>
          </a:prstGeom>
          <a:noFill/>
          <a:ln/>
        </p:spPr>
        <p:txBody>
          <a:bodyPr wrap="square" lIns="0" tIns="0" rIns="0" bIns="0" rtlCol="0" anchor="ctr"/>
          <a:lstStyle/>
          <a:p>
            <a:pPr algn="ctr" indent="0" marL="0">
              <a:buNone/>
            </a:pPr>
            <a:r>
              <a:rPr lang="en-US" sz="750" dirty="0">
                <a:solidFill>
                  <a:srgbClr val="3A5068"/>
                </a:solidFill>
                <a:latin typeface="Calibri" pitchFamily="34" charset="0"/>
                <a:ea typeface="Calibri" pitchFamily="34" charset="-122"/>
                <a:cs typeface="Calibri" pitchFamily="34" charset="-120"/>
              </a:rPr>
              <a:t>Best Practices</a:t>
            </a:r>
            <a:endParaRPr lang="en-US" sz="750" dirty="0"/>
          </a:p>
        </p:txBody>
      </p:sp>
      <p:sp>
        <p:nvSpPr>
          <p:cNvPr id="45" name="Shape 43"/>
          <p:cNvSpPr/>
          <p:nvPr/>
        </p:nvSpPr>
        <p:spPr>
          <a:xfrm>
            <a:off x="8001000" y="4887468"/>
            <a:ext cx="1143000" cy="256032"/>
          </a:xfrm>
          <a:prstGeom prst="rect">
            <a:avLst/>
          </a:prstGeom>
          <a:solidFill>
            <a:srgbClr val="1A2E45"/>
          </a:solidFill>
          <a:ln w="12700">
            <a:solidFill>
              <a:srgbClr val="1A2E45"/>
            </a:solidFill>
            <a:prstDash val="solid"/>
          </a:ln>
        </p:spPr>
      </p:sp>
      <p:sp>
        <p:nvSpPr>
          <p:cNvPr id="46" name="Text 44"/>
          <p:cNvSpPr/>
          <p:nvPr/>
        </p:nvSpPr>
        <p:spPr>
          <a:xfrm>
            <a:off x="8001000" y="4887468"/>
            <a:ext cx="1143000" cy="256032"/>
          </a:xfrm>
          <a:prstGeom prst="rect">
            <a:avLst/>
          </a:prstGeom>
          <a:noFill/>
          <a:ln/>
        </p:spPr>
        <p:txBody>
          <a:bodyPr wrap="square" lIns="0" tIns="0" rIns="0" bIns="0" rtlCol="0" anchor="ctr"/>
          <a:lstStyle/>
          <a:p>
            <a:pPr algn="ctr" indent="0" marL="0">
              <a:buNone/>
            </a:pPr>
            <a:r>
              <a:rPr lang="en-US" sz="750" dirty="0">
                <a:solidFill>
                  <a:srgbClr val="3A5068"/>
                </a:solidFill>
                <a:latin typeface="Calibri" pitchFamily="34" charset="0"/>
                <a:ea typeface="Calibri" pitchFamily="34" charset="-122"/>
                <a:cs typeface="Calibri" pitchFamily="34" charset="-120"/>
              </a:rPr>
              <a:t>Reference</a:t>
            </a:r>
            <a:endParaRPr lang="en-US" sz="7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EA580C"/>
          </a:solidFill>
          <a:ln w="12700">
            <a:solidFill>
              <a:srgbClr val="EA580C"/>
            </a:solidFill>
            <a:prstDash val="solid"/>
          </a:ln>
        </p:spPr>
      </p:sp>
      <p:sp>
        <p:nvSpPr>
          <p:cNvPr id="3" name="Text 1"/>
          <p:cNvSpPr/>
          <p:nvPr/>
        </p:nvSpPr>
        <p:spPr>
          <a:xfrm>
            <a:off x="365760" y="0"/>
            <a:ext cx="8412480" cy="777240"/>
          </a:xfrm>
          <a:prstGeom prst="rect">
            <a:avLst/>
          </a:prstGeom>
          <a:noFill/>
          <a:ln/>
        </p:spPr>
        <p:txBody>
          <a:bodyPr wrap="square" lIns="0" tIns="0" rIns="0" bIns="0" rtlCol="0" anchor="ctr"/>
          <a:lstStyle/>
          <a:p>
            <a:pPr indent="0" marL="0">
              <a:buNone/>
            </a:pPr>
            <a:r>
              <a:rPr lang="en-US" sz="1900" b="1" dirty="0">
                <a:solidFill>
                  <a:srgbClr val="FFFFFF"/>
                </a:solidFill>
                <a:latin typeface="Cambria" pitchFamily="34" charset="0"/>
                <a:ea typeface="Cambria" pitchFamily="34" charset="-122"/>
                <a:cs typeface="Cambria" pitchFamily="34" charset="-120"/>
              </a:rPr>
              <a:t>Best Practices: Where Does This Rule Belong?</a:t>
            </a:r>
            <a:endParaRPr lang="en-US" sz="1900" dirty="0"/>
          </a:p>
        </p:txBody>
      </p:sp>
      <p:sp>
        <p:nvSpPr>
          <p:cNvPr id="4" name="Text 2"/>
          <p:cNvSpPr/>
          <p:nvPr/>
        </p:nvSpPr>
        <p:spPr>
          <a:xfrm>
            <a:off x="365760" y="822960"/>
            <a:ext cx="8412480" cy="310896"/>
          </a:xfrm>
          <a:prstGeom prst="rect">
            <a:avLst/>
          </a:prstGeom>
          <a:noFill/>
          <a:ln/>
        </p:spPr>
        <p:txBody>
          <a:bodyPr wrap="square" rtlCol="0" anchor="ctr"/>
          <a:lstStyle/>
          <a:p>
            <a:pPr indent="0" marL="0">
              <a:buNone/>
            </a:pPr>
            <a:r>
              <a:rPr lang="en-US" sz="1150" i="1" dirty="0">
                <a:solidFill>
                  <a:srgbClr val="F59E0B"/>
                </a:solidFill>
                <a:latin typeface="Calibri" pitchFamily="34" charset="0"/>
                <a:ea typeface="Calibri" pitchFamily="34" charset="-122"/>
                <a:cs typeface="Calibri" pitchFamily="34" charset="-120"/>
              </a:rPr>
              <a:t>Run every new rule through this decision flow before adding it anywhere</a:t>
            </a:r>
            <a:endParaRPr lang="en-US" sz="1150" dirty="0"/>
          </a:p>
        </p:txBody>
      </p:sp>
      <p:sp>
        <p:nvSpPr>
          <p:cNvPr id="5" name="Shape 3"/>
          <p:cNvSpPr/>
          <p:nvPr/>
        </p:nvSpPr>
        <p:spPr>
          <a:xfrm>
            <a:off x="274320" y="1207008"/>
            <a:ext cx="2057400" cy="1234440"/>
          </a:xfrm>
          <a:prstGeom prst="roundRect">
            <a:avLst>
              <a:gd name="adj" fmla="val 7407"/>
            </a:avLst>
          </a:prstGeom>
          <a:solidFill>
            <a:srgbClr val="1A2E45"/>
          </a:solidFill>
          <a:ln w="12700">
            <a:solidFill>
              <a:srgbClr val="2A3F55"/>
            </a:solidFill>
            <a:prstDash val="solid"/>
          </a:ln>
          <a:effectLst>
            <a:outerShdw sx="100000" sy="100000" kx="0" ky="0" algn="bl" rotWithShape="0" blurRad="101600" dist="38100" dir="2700000">
              <a:srgbClr val="000000">
                <a:alpha val="12000"/>
              </a:srgbClr>
            </a:outerShdw>
          </a:effectLst>
        </p:spPr>
      </p:sp>
      <p:sp>
        <p:nvSpPr>
          <p:cNvPr id="6" name="Text 4"/>
          <p:cNvSpPr/>
          <p:nvPr/>
        </p:nvSpPr>
        <p:spPr>
          <a:xfrm>
            <a:off x="365760" y="1207008"/>
            <a:ext cx="1874520" cy="1234440"/>
          </a:xfrm>
          <a:prstGeom prst="rect">
            <a:avLst/>
          </a:prstGeom>
          <a:noFill/>
          <a:ln/>
        </p:spPr>
        <p:txBody>
          <a:bodyPr wrap="square" lIns="0" tIns="0" rIns="0" bIns="0" rtlCol="0" anchor="ctr"/>
          <a:lstStyle/>
          <a:p>
            <a:pPr algn="ctr" indent="0" marL="0">
              <a:buNone/>
            </a:pPr>
            <a:r>
              <a:rPr lang="en-US" sz="1300" dirty="0">
                <a:solidFill>
                  <a:srgbClr val="FFFFFF"/>
                </a:solidFill>
                <a:latin typeface="Calibri" pitchFamily="34" charset="0"/>
                <a:ea typeface="Calibri" pitchFamily="34" charset="-122"/>
                <a:cs typeface="Calibri" pitchFamily="34" charset="-120"/>
              </a:rPr>
              <a:t>True for ALL</a:t>
            </a:r>
            <a:endParaRPr lang="en-US" sz="1300" dirty="0"/>
          </a:p>
          <a:p>
            <a:pPr algn="ctr" indent="0" marL="0">
              <a:buNone/>
            </a:pPr>
            <a:r>
              <a:rPr lang="en-US" sz="1300" dirty="0">
                <a:solidFill>
                  <a:srgbClr val="FFFFFF"/>
                </a:solidFill>
                <a:latin typeface="Calibri" pitchFamily="34" charset="0"/>
                <a:ea typeface="Calibri" pitchFamily="34" charset="-122"/>
                <a:cs typeface="Calibri" pitchFamily="34" charset="-120"/>
              </a:rPr>
              <a:t>files &amp; ALL</a:t>
            </a:r>
            <a:endParaRPr lang="en-US" sz="1300" dirty="0"/>
          </a:p>
          <a:p>
            <a:pPr algn="ctr" indent="0" marL="0">
              <a:buNone/>
            </a:pPr>
            <a:r>
              <a:rPr lang="en-US" sz="1300" dirty="0">
                <a:solidFill>
                  <a:srgbClr val="FFFFFF"/>
                </a:solidFill>
                <a:latin typeface="Calibri" pitchFamily="34" charset="0"/>
                <a:ea typeface="Calibri" pitchFamily="34" charset="-122"/>
                <a:cs typeface="Calibri" pitchFamily="34" charset="-120"/>
              </a:rPr>
              <a:t>tasks?</a:t>
            </a:r>
            <a:endParaRPr lang="en-US" sz="1300" dirty="0"/>
          </a:p>
        </p:txBody>
      </p:sp>
      <p:sp>
        <p:nvSpPr>
          <p:cNvPr id="7" name="Text 5"/>
          <p:cNvSpPr/>
          <p:nvPr/>
        </p:nvSpPr>
        <p:spPr>
          <a:xfrm>
            <a:off x="2331720" y="1664208"/>
            <a:ext cx="411480" cy="347472"/>
          </a:xfrm>
          <a:prstGeom prst="rect">
            <a:avLst/>
          </a:prstGeom>
          <a:noFill/>
          <a:ln/>
        </p:spPr>
        <p:txBody>
          <a:bodyPr wrap="square" lIns="0" tIns="0" rIns="0" bIns="0" rtlCol="0" anchor="ctr"/>
          <a:lstStyle/>
          <a:p>
            <a:pPr algn="ctr" indent="0" marL="0">
              <a:buNone/>
            </a:pPr>
            <a:r>
              <a:rPr lang="en-US" sz="950" b="1" dirty="0">
                <a:solidFill>
                  <a:srgbClr val="64748B"/>
                </a:solidFill>
                <a:latin typeface="Calibri" pitchFamily="34" charset="0"/>
                <a:ea typeface="Calibri" pitchFamily="34" charset="-122"/>
                <a:cs typeface="Calibri" pitchFamily="34" charset="-120"/>
              </a:rPr>
              <a:t>NO →</a:t>
            </a:r>
            <a:endParaRPr lang="en-US" sz="950" dirty="0"/>
          </a:p>
        </p:txBody>
      </p:sp>
      <p:sp>
        <p:nvSpPr>
          <p:cNvPr id="8" name="Shape 6"/>
          <p:cNvSpPr/>
          <p:nvPr/>
        </p:nvSpPr>
        <p:spPr>
          <a:xfrm>
            <a:off x="2468880" y="1207008"/>
            <a:ext cx="2057400" cy="1234440"/>
          </a:xfrm>
          <a:prstGeom prst="roundRect">
            <a:avLst>
              <a:gd name="adj" fmla="val 7407"/>
            </a:avLst>
          </a:prstGeom>
          <a:solidFill>
            <a:srgbClr val="1A2E45"/>
          </a:solidFill>
          <a:ln w="12700">
            <a:solidFill>
              <a:srgbClr val="2A3F55"/>
            </a:solidFill>
            <a:prstDash val="solid"/>
          </a:ln>
          <a:effectLst>
            <a:outerShdw sx="100000" sy="100000" kx="0" ky="0" algn="bl" rotWithShape="0" blurRad="101600" dist="38100" dir="2700000">
              <a:srgbClr val="000000">
                <a:alpha val="12000"/>
              </a:srgbClr>
            </a:outerShdw>
          </a:effectLst>
        </p:spPr>
      </p:sp>
      <p:sp>
        <p:nvSpPr>
          <p:cNvPr id="9" name="Text 7"/>
          <p:cNvSpPr/>
          <p:nvPr/>
        </p:nvSpPr>
        <p:spPr>
          <a:xfrm>
            <a:off x="2560320" y="1207008"/>
            <a:ext cx="1874520" cy="1234440"/>
          </a:xfrm>
          <a:prstGeom prst="rect">
            <a:avLst/>
          </a:prstGeom>
          <a:noFill/>
          <a:ln/>
        </p:spPr>
        <p:txBody>
          <a:bodyPr wrap="square" lIns="0" tIns="0" rIns="0" bIns="0" rtlCol="0" anchor="ctr"/>
          <a:lstStyle/>
          <a:p>
            <a:pPr algn="ctr" indent="0" marL="0">
              <a:buNone/>
            </a:pPr>
            <a:r>
              <a:rPr lang="en-US" sz="1300" dirty="0">
                <a:solidFill>
                  <a:srgbClr val="FFFFFF"/>
                </a:solidFill>
                <a:latin typeface="Calibri" pitchFamily="34" charset="0"/>
                <a:ea typeface="Calibri" pitchFamily="34" charset="-122"/>
                <a:cs typeface="Calibri" pitchFamily="34" charset="-120"/>
              </a:rPr>
              <a:t>Specific to</a:t>
            </a:r>
            <a:endParaRPr lang="en-US" sz="1300" dirty="0"/>
          </a:p>
          <a:p>
            <a:pPr algn="ctr" indent="0" marL="0">
              <a:buNone/>
            </a:pPr>
            <a:r>
              <a:rPr lang="en-US" sz="1300" dirty="0">
                <a:solidFill>
                  <a:srgbClr val="FFFFFF"/>
                </a:solidFill>
                <a:latin typeface="Calibri" pitchFamily="34" charset="0"/>
                <a:ea typeface="Calibri" pitchFamily="34" charset="-122"/>
                <a:cs typeface="Calibri" pitchFamily="34" charset="-120"/>
              </a:rPr>
              <a:t>a file type</a:t>
            </a:r>
            <a:endParaRPr lang="en-US" sz="1300" dirty="0"/>
          </a:p>
          <a:p>
            <a:pPr algn="ctr" indent="0" marL="0">
              <a:buNone/>
            </a:pPr>
            <a:r>
              <a:rPr lang="en-US" sz="1300" dirty="0">
                <a:solidFill>
                  <a:srgbClr val="FFFFFF"/>
                </a:solidFill>
                <a:latin typeface="Calibri" pitchFamily="34" charset="0"/>
                <a:ea typeface="Calibri" pitchFamily="34" charset="-122"/>
                <a:cs typeface="Calibri" pitchFamily="34" charset="-120"/>
              </a:rPr>
              <a:t>or folder?</a:t>
            </a:r>
            <a:endParaRPr lang="en-US" sz="1300" dirty="0"/>
          </a:p>
        </p:txBody>
      </p:sp>
      <p:sp>
        <p:nvSpPr>
          <p:cNvPr id="10" name="Text 8"/>
          <p:cNvSpPr/>
          <p:nvPr/>
        </p:nvSpPr>
        <p:spPr>
          <a:xfrm>
            <a:off x="4526280" y="1664208"/>
            <a:ext cx="411480" cy="347472"/>
          </a:xfrm>
          <a:prstGeom prst="rect">
            <a:avLst/>
          </a:prstGeom>
          <a:noFill/>
          <a:ln/>
        </p:spPr>
        <p:txBody>
          <a:bodyPr wrap="square" lIns="0" tIns="0" rIns="0" bIns="0" rtlCol="0" anchor="ctr"/>
          <a:lstStyle/>
          <a:p>
            <a:pPr algn="ctr" indent="0" marL="0">
              <a:buNone/>
            </a:pPr>
            <a:r>
              <a:rPr lang="en-US" sz="950" b="1" dirty="0">
                <a:solidFill>
                  <a:srgbClr val="64748B"/>
                </a:solidFill>
                <a:latin typeface="Calibri" pitchFamily="34" charset="0"/>
                <a:ea typeface="Calibri" pitchFamily="34" charset="-122"/>
                <a:cs typeface="Calibri" pitchFamily="34" charset="-120"/>
              </a:rPr>
              <a:t>NO →</a:t>
            </a:r>
            <a:endParaRPr lang="en-US" sz="950" dirty="0"/>
          </a:p>
        </p:txBody>
      </p:sp>
      <p:sp>
        <p:nvSpPr>
          <p:cNvPr id="11" name="Shape 9"/>
          <p:cNvSpPr/>
          <p:nvPr/>
        </p:nvSpPr>
        <p:spPr>
          <a:xfrm>
            <a:off x="4663440" y="1207008"/>
            <a:ext cx="2057400" cy="1234440"/>
          </a:xfrm>
          <a:prstGeom prst="roundRect">
            <a:avLst>
              <a:gd name="adj" fmla="val 7407"/>
            </a:avLst>
          </a:prstGeom>
          <a:solidFill>
            <a:srgbClr val="1A2E45"/>
          </a:solidFill>
          <a:ln w="12700">
            <a:solidFill>
              <a:srgbClr val="2A3F55"/>
            </a:solidFill>
            <a:prstDash val="solid"/>
          </a:ln>
          <a:effectLst>
            <a:outerShdw sx="100000" sy="100000" kx="0" ky="0" algn="bl" rotWithShape="0" blurRad="101600" dist="38100" dir="2700000">
              <a:srgbClr val="000000">
                <a:alpha val="12000"/>
              </a:srgbClr>
            </a:outerShdw>
          </a:effectLst>
        </p:spPr>
      </p:sp>
      <p:sp>
        <p:nvSpPr>
          <p:cNvPr id="12" name="Text 10"/>
          <p:cNvSpPr/>
          <p:nvPr/>
        </p:nvSpPr>
        <p:spPr>
          <a:xfrm>
            <a:off x="4754880" y="1207008"/>
            <a:ext cx="1874520" cy="1234440"/>
          </a:xfrm>
          <a:prstGeom prst="rect">
            <a:avLst/>
          </a:prstGeom>
          <a:noFill/>
          <a:ln/>
        </p:spPr>
        <p:txBody>
          <a:bodyPr wrap="square" lIns="0" tIns="0" rIns="0" bIns="0" rtlCol="0" anchor="ctr"/>
          <a:lstStyle/>
          <a:p>
            <a:pPr algn="ctr" indent="0" marL="0">
              <a:buNone/>
            </a:pPr>
            <a:r>
              <a:rPr lang="en-US" sz="1300" dirty="0">
                <a:solidFill>
                  <a:srgbClr val="FFFFFF"/>
                </a:solidFill>
                <a:latin typeface="Calibri" pitchFamily="34" charset="0"/>
                <a:ea typeface="Calibri" pitchFamily="34" charset="-122"/>
                <a:cs typeface="Calibri" pitchFamily="34" charset="-120"/>
              </a:rPr>
              <a:t>Complex</a:t>
            </a:r>
            <a:endParaRPr lang="en-US" sz="1300" dirty="0"/>
          </a:p>
          <a:p>
            <a:pPr algn="ctr" indent="0" marL="0">
              <a:buNone/>
            </a:pPr>
            <a:r>
              <a:rPr lang="en-US" sz="1300" dirty="0">
                <a:solidFill>
                  <a:srgbClr val="FFFFFF"/>
                </a:solidFill>
                <a:latin typeface="Calibri" pitchFamily="34" charset="0"/>
                <a:ea typeface="Calibri" pitchFamily="34" charset="-122"/>
                <a:cs typeface="Calibri" pitchFamily="34" charset="-120"/>
              </a:rPr>
              <a:t>workflow or</a:t>
            </a:r>
            <a:endParaRPr lang="en-US" sz="1300" dirty="0"/>
          </a:p>
          <a:p>
            <a:pPr algn="ctr" indent="0" marL="0">
              <a:buNone/>
            </a:pPr>
            <a:r>
              <a:rPr lang="en-US" sz="1300" dirty="0">
                <a:solidFill>
                  <a:srgbClr val="FFFFFF"/>
                </a:solidFill>
                <a:latin typeface="Calibri" pitchFamily="34" charset="0"/>
                <a:ea typeface="Calibri" pitchFamily="34" charset="-122"/>
                <a:cs typeface="Calibri" pitchFamily="34" charset="-120"/>
              </a:rPr>
              <a:t>rarely used?</a:t>
            </a:r>
            <a:endParaRPr lang="en-US" sz="1300" dirty="0"/>
          </a:p>
        </p:txBody>
      </p:sp>
      <p:sp>
        <p:nvSpPr>
          <p:cNvPr id="13" name="Text 11"/>
          <p:cNvSpPr/>
          <p:nvPr/>
        </p:nvSpPr>
        <p:spPr>
          <a:xfrm>
            <a:off x="6720840" y="1664208"/>
            <a:ext cx="411480" cy="347472"/>
          </a:xfrm>
          <a:prstGeom prst="rect">
            <a:avLst/>
          </a:prstGeom>
          <a:noFill/>
          <a:ln/>
        </p:spPr>
        <p:txBody>
          <a:bodyPr wrap="square" lIns="0" tIns="0" rIns="0" bIns="0" rtlCol="0" anchor="ctr"/>
          <a:lstStyle/>
          <a:p>
            <a:pPr algn="ctr" indent="0" marL="0">
              <a:buNone/>
            </a:pPr>
            <a:r>
              <a:rPr lang="en-US" sz="950" b="1" dirty="0">
                <a:solidFill>
                  <a:srgbClr val="EF4444"/>
                </a:solidFill>
                <a:latin typeface="Calibri" pitchFamily="34" charset="0"/>
                <a:ea typeface="Calibri" pitchFamily="34" charset="-122"/>
                <a:cs typeface="Calibri" pitchFamily="34" charset="-120"/>
              </a:rPr>
              <a:t>NO →</a:t>
            </a:r>
            <a:endParaRPr lang="en-US" sz="950" dirty="0"/>
          </a:p>
        </p:txBody>
      </p:sp>
      <p:sp>
        <p:nvSpPr>
          <p:cNvPr id="14" name="Text 12"/>
          <p:cNvSpPr/>
          <p:nvPr/>
        </p:nvSpPr>
        <p:spPr>
          <a:xfrm>
            <a:off x="1046988" y="2487168"/>
            <a:ext cx="640080" cy="256032"/>
          </a:xfrm>
          <a:prstGeom prst="rect">
            <a:avLst/>
          </a:prstGeom>
          <a:noFill/>
          <a:ln/>
        </p:spPr>
        <p:txBody>
          <a:bodyPr wrap="square" lIns="0" tIns="0" rIns="0" bIns="0" rtlCol="0" anchor="ctr"/>
          <a:lstStyle/>
          <a:p>
            <a:pPr algn="ctr" indent="0" marL="0">
              <a:buNone/>
            </a:pPr>
            <a:r>
              <a:rPr lang="en-US" sz="950" b="1" dirty="0">
                <a:solidFill>
                  <a:srgbClr val="EA580C"/>
                </a:solidFill>
                <a:latin typeface="Calibri" pitchFamily="34" charset="0"/>
                <a:ea typeface="Calibri" pitchFamily="34" charset="-122"/>
                <a:cs typeface="Calibri" pitchFamily="34" charset="-120"/>
              </a:rPr>
              <a:t>YES ↓</a:t>
            </a:r>
            <a:endParaRPr lang="en-US" sz="950" dirty="0"/>
          </a:p>
        </p:txBody>
      </p:sp>
      <p:sp>
        <p:nvSpPr>
          <p:cNvPr id="15" name="Shape 13"/>
          <p:cNvSpPr/>
          <p:nvPr/>
        </p:nvSpPr>
        <p:spPr>
          <a:xfrm>
            <a:off x="384048" y="2761488"/>
            <a:ext cx="1837944" cy="731520"/>
          </a:xfrm>
          <a:prstGeom prst="roundRect">
            <a:avLst>
              <a:gd name="adj" fmla="val 10000"/>
            </a:avLst>
          </a:prstGeom>
          <a:solidFill>
            <a:srgbClr val="EA580C"/>
          </a:solidFill>
          <a:ln w="12700">
            <a:solidFill>
              <a:srgbClr val="EA580C"/>
            </a:solidFill>
            <a:prstDash val="solid"/>
          </a:ln>
        </p:spPr>
      </p:sp>
      <p:sp>
        <p:nvSpPr>
          <p:cNvPr id="16" name="Text 14"/>
          <p:cNvSpPr/>
          <p:nvPr/>
        </p:nvSpPr>
        <p:spPr>
          <a:xfrm>
            <a:off x="384048" y="2761488"/>
            <a:ext cx="1837944" cy="731520"/>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Layer 1</a:t>
            </a:r>
            <a:endParaRPr lang="en-US" sz="1300" dirty="0"/>
          </a:p>
          <a:p>
            <a:pPr algn="ctr" indent="0" marL="0">
              <a:buNone/>
            </a:pPr>
            <a:r>
              <a:rPr lang="en-US" sz="1300" b="1" dirty="0">
                <a:solidFill>
                  <a:srgbClr val="FFFFFF"/>
                </a:solidFill>
                <a:latin typeface="Cambria" pitchFamily="34" charset="0"/>
                <a:ea typeface="Cambria" pitchFamily="34" charset="-122"/>
                <a:cs typeface="Cambria" pitchFamily="34" charset="-120"/>
              </a:rPr>
              <a:t>Main file</a:t>
            </a:r>
            <a:endParaRPr lang="en-US" sz="1300" dirty="0"/>
          </a:p>
        </p:txBody>
      </p:sp>
      <p:sp>
        <p:nvSpPr>
          <p:cNvPr id="17" name="Text 15"/>
          <p:cNvSpPr/>
          <p:nvPr/>
        </p:nvSpPr>
        <p:spPr>
          <a:xfrm>
            <a:off x="3241548" y="2487168"/>
            <a:ext cx="640080" cy="256032"/>
          </a:xfrm>
          <a:prstGeom prst="rect">
            <a:avLst/>
          </a:prstGeom>
          <a:noFill/>
          <a:ln/>
        </p:spPr>
        <p:txBody>
          <a:bodyPr wrap="square" lIns="0" tIns="0" rIns="0" bIns="0" rtlCol="0" anchor="ctr"/>
          <a:lstStyle/>
          <a:p>
            <a:pPr algn="ctr" indent="0" marL="0">
              <a:buNone/>
            </a:pPr>
            <a:r>
              <a:rPr lang="en-US" sz="950" b="1" dirty="0">
                <a:solidFill>
                  <a:srgbClr val="3B82F6"/>
                </a:solidFill>
                <a:latin typeface="Calibri" pitchFamily="34" charset="0"/>
                <a:ea typeface="Calibri" pitchFamily="34" charset="-122"/>
                <a:cs typeface="Calibri" pitchFamily="34" charset="-120"/>
              </a:rPr>
              <a:t>YES ↓</a:t>
            </a:r>
            <a:endParaRPr lang="en-US" sz="950" dirty="0"/>
          </a:p>
        </p:txBody>
      </p:sp>
      <p:sp>
        <p:nvSpPr>
          <p:cNvPr id="18" name="Shape 16"/>
          <p:cNvSpPr/>
          <p:nvPr/>
        </p:nvSpPr>
        <p:spPr>
          <a:xfrm>
            <a:off x="2578608" y="2761488"/>
            <a:ext cx="1837944" cy="731520"/>
          </a:xfrm>
          <a:prstGeom prst="roundRect">
            <a:avLst>
              <a:gd name="adj" fmla="val 10000"/>
            </a:avLst>
          </a:prstGeom>
          <a:solidFill>
            <a:srgbClr val="3B82F6"/>
          </a:solidFill>
          <a:ln w="12700">
            <a:solidFill>
              <a:srgbClr val="3B82F6"/>
            </a:solidFill>
            <a:prstDash val="solid"/>
          </a:ln>
        </p:spPr>
      </p:sp>
      <p:sp>
        <p:nvSpPr>
          <p:cNvPr id="19" name="Text 17"/>
          <p:cNvSpPr/>
          <p:nvPr/>
        </p:nvSpPr>
        <p:spPr>
          <a:xfrm>
            <a:off x="2578608" y="2761488"/>
            <a:ext cx="1837944" cy="731520"/>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Layer 2</a:t>
            </a:r>
            <a:endParaRPr lang="en-US" sz="1300" dirty="0"/>
          </a:p>
          <a:p>
            <a:pPr algn="ctr" indent="0" marL="0">
              <a:buNone/>
            </a:pPr>
            <a:r>
              <a:rPr lang="en-US" sz="1300" b="1" dirty="0">
                <a:solidFill>
                  <a:srgbClr val="FFFFFF"/>
                </a:solidFill>
                <a:latin typeface="Cambria" pitchFamily="34" charset="0"/>
                <a:ea typeface="Cambria" pitchFamily="34" charset="-122"/>
                <a:cs typeface="Cambria" pitchFamily="34" charset="-120"/>
              </a:rPr>
              <a:t>Scoped file</a:t>
            </a:r>
            <a:endParaRPr lang="en-US" sz="1300" dirty="0"/>
          </a:p>
        </p:txBody>
      </p:sp>
      <p:sp>
        <p:nvSpPr>
          <p:cNvPr id="20" name="Text 18"/>
          <p:cNvSpPr/>
          <p:nvPr/>
        </p:nvSpPr>
        <p:spPr>
          <a:xfrm>
            <a:off x="5436108" y="2487168"/>
            <a:ext cx="640080" cy="256032"/>
          </a:xfrm>
          <a:prstGeom prst="rect">
            <a:avLst/>
          </a:prstGeom>
          <a:noFill/>
          <a:ln/>
        </p:spPr>
        <p:txBody>
          <a:bodyPr wrap="square" lIns="0" tIns="0" rIns="0" bIns="0" rtlCol="0" anchor="ctr"/>
          <a:lstStyle/>
          <a:p>
            <a:pPr algn="ctr" indent="0" marL="0">
              <a:buNone/>
            </a:pPr>
            <a:r>
              <a:rPr lang="en-US" sz="950" b="1" dirty="0">
                <a:solidFill>
                  <a:srgbClr val="008C94"/>
                </a:solidFill>
                <a:latin typeface="Calibri" pitchFamily="34" charset="0"/>
                <a:ea typeface="Calibri" pitchFamily="34" charset="-122"/>
                <a:cs typeface="Calibri" pitchFamily="34" charset="-120"/>
              </a:rPr>
              <a:t>YES ↓</a:t>
            </a:r>
            <a:endParaRPr lang="en-US" sz="950" dirty="0"/>
          </a:p>
        </p:txBody>
      </p:sp>
      <p:sp>
        <p:nvSpPr>
          <p:cNvPr id="21" name="Shape 19"/>
          <p:cNvSpPr/>
          <p:nvPr/>
        </p:nvSpPr>
        <p:spPr>
          <a:xfrm>
            <a:off x="4773168" y="2761488"/>
            <a:ext cx="1837944" cy="731520"/>
          </a:xfrm>
          <a:prstGeom prst="roundRect">
            <a:avLst>
              <a:gd name="adj" fmla="val 10000"/>
            </a:avLst>
          </a:prstGeom>
          <a:solidFill>
            <a:srgbClr val="008C94"/>
          </a:solidFill>
          <a:ln w="12700">
            <a:solidFill>
              <a:srgbClr val="008C94"/>
            </a:solidFill>
            <a:prstDash val="solid"/>
          </a:ln>
        </p:spPr>
      </p:sp>
      <p:sp>
        <p:nvSpPr>
          <p:cNvPr id="22" name="Text 20"/>
          <p:cNvSpPr/>
          <p:nvPr/>
        </p:nvSpPr>
        <p:spPr>
          <a:xfrm>
            <a:off x="4773168" y="2761488"/>
            <a:ext cx="1837944" cy="731520"/>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Layer 3</a:t>
            </a:r>
            <a:endParaRPr lang="en-US" sz="1300" dirty="0"/>
          </a:p>
          <a:p>
            <a:pPr algn="ctr" indent="0" marL="0">
              <a:buNone/>
            </a:pPr>
            <a:r>
              <a:rPr lang="en-US" sz="1300" b="1" dirty="0">
                <a:solidFill>
                  <a:srgbClr val="FFFFFF"/>
                </a:solidFill>
                <a:latin typeface="Cambria" pitchFamily="34" charset="0"/>
                <a:ea typeface="Cambria" pitchFamily="34" charset="-122"/>
                <a:cs typeface="Cambria" pitchFamily="34" charset="-120"/>
              </a:rPr>
              <a:t>Skill / Prompt</a:t>
            </a:r>
            <a:endParaRPr lang="en-US" sz="1300" dirty="0"/>
          </a:p>
        </p:txBody>
      </p:sp>
      <p:sp>
        <p:nvSpPr>
          <p:cNvPr id="23" name="Text 21"/>
          <p:cNvSpPr/>
          <p:nvPr/>
        </p:nvSpPr>
        <p:spPr>
          <a:xfrm>
            <a:off x="7630668" y="2487168"/>
            <a:ext cx="640080" cy="256032"/>
          </a:xfrm>
          <a:prstGeom prst="rect">
            <a:avLst/>
          </a:prstGeom>
          <a:noFill/>
          <a:ln/>
        </p:spPr>
        <p:txBody>
          <a:bodyPr wrap="square" lIns="0" tIns="0" rIns="0" bIns="0" rtlCol="0" anchor="ctr"/>
          <a:lstStyle/>
          <a:p>
            <a:pPr algn="ctr" indent="0" marL="0">
              <a:buNone/>
            </a:pPr>
            <a:r>
              <a:rPr lang="en-US" sz="950" b="1" dirty="0">
                <a:solidFill>
                  <a:srgbClr val="EF4444"/>
                </a:solidFill>
                <a:latin typeface="Calibri" pitchFamily="34" charset="0"/>
                <a:ea typeface="Calibri" pitchFamily="34" charset="-122"/>
                <a:cs typeface="Calibri" pitchFamily="34" charset="-120"/>
              </a:rPr>
              <a:t>YES ↓</a:t>
            </a:r>
            <a:endParaRPr lang="en-US" sz="950" dirty="0"/>
          </a:p>
        </p:txBody>
      </p:sp>
      <p:sp>
        <p:nvSpPr>
          <p:cNvPr id="24" name="Shape 22"/>
          <p:cNvSpPr/>
          <p:nvPr/>
        </p:nvSpPr>
        <p:spPr>
          <a:xfrm>
            <a:off x="6967728" y="2761488"/>
            <a:ext cx="1837944" cy="731520"/>
          </a:xfrm>
          <a:prstGeom prst="roundRect">
            <a:avLst>
              <a:gd name="adj" fmla="val 10000"/>
            </a:avLst>
          </a:prstGeom>
          <a:solidFill>
            <a:srgbClr val="EF4444"/>
          </a:solidFill>
          <a:ln w="12700">
            <a:solidFill>
              <a:srgbClr val="EF4444"/>
            </a:solidFill>
            <a:prstDash val="solid"/>
          </a:ln>
        </p:spPr>
      </p:sp>
      <p:sp>
        <p:nvSpPr>
          <p:cNvPr id="25" name="Text 23"/>
          <p:cNvSpPr/>
          <p:nvPr/>
        </p:nvSpPr>
        <p:spPr>
          <a:xfrm>
            <a:off x="6967728" y="2761488"/>
            <a:ext cx="1837944" cy="731520"/>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Skip it</a:t>
            </a:r>
            <a:endParaRPr lang="en-US" sz="1300" dirty="0"/>
          </a:p>
          <a:p>
            <a:pPr algn="ctr" indent="0" marL="0">
              <a:buNone/>
            </a:pPr>
            <a:r>
              <a:rPr lang="en-US" sz="1300" b="1" dirty="0">
                <a:solidFill>
                  <a:srgbClr val="FFFFFF"/>
                </a:solidFill>
                <a:latin typeface="Cambria" pitchFamily="34" charset="0"/>
                <a:ea typeface="Cambria" pitchFamily="34" charset="-122"/>
                <a:cs typeface="Cambria" pitchFamily="34" charset="-120"/>
              </a:rPr>
              <a:t>entirely</a:t>
            </a:r>
            <a:endParaRPr lang="en-US" sz="1300" dirty="0"/>
          </a:p>
        </p:txBody>
      </p:sp>
      <p:sp>
        <p:nvSpPr>
          <p:cNvPr id="26" name="Shape 24"/>
          <p:cNvSpPr/>
          <p:nvPr/>
        </p:nvSpPr>
        <p:spPr>
          <a:xfrm>
            <a:off x="7557516" y="2487168"/>
            <a:ext cx="658368" cy="256032"/>
          </a:xfrm>
          <a:prstGeom prst="roundRect">
            <a:avLst/>
          </a:prstGeom>
          <a:solidFill>
            <a:srgbClr val="0D1B2A"/>
          </a:solidFill>
          <a:ln w="12700">
            <a:solidFill>
              <a:srgbClr val="0D1B2A"/>
            </a:solidFill>
            <a:prstDash val="solid"/>
          </a:ln>
        </p:spPr>
      </p:sp>
      <p:sp>
        <p:nvSpPr>
          <p:cNvPr id="27" name="Text 25"/>
          <p:cNvSpPr/>
          <p:nvPr/>
        </p:nvSpPr>
        <p:spPr>
          <a:xfrm>
            <a:off x="7557516" y="2487168"/>
            <a:ext cx="658368" cy="256032"/>
          </a:xfrm>
          <a:prstGeom prst="rect">
            <a:avLst/>
          </a:prstGeom>
          <a:noFill/>
          <a:ln/>
        </p:spPr>
        <p:txBody>
          <a:bodyPr wrap="square" lIns="0" tIns="0" rIns="0" bIns="0" rtlCol="0" anchor="ctr"/>
          <a:lstStyle/>
          <a:p>
            <a:pPr algn="ctr" indent="0" marL="0">
              <a:buNone/>
            </a:pPr>
            <a:r>
              <a:rPr lang="en-US" sz="950" b="1" dirty="0">
                <a:solidFill>
                  <a:srgbClr val="EF4444"/>
                </a:solidFill>
                <a:latin typeface="Calibri" pitchFamily="34" charset="0"/>
                <a:ea typeface="Calibri" pitchFamily="34" charset="-122"/>
                <a:cs typeface="Calibri" pitchFamily="34" charset="-120"/>
              </a:rPr>
              <a:t>NO ↓</a:t>
            </a:r>
            <a:endParaRPr lang="en-US" sz="950" dirty="0"/>
          </a:p>
        </p:txBody>
      </p:sp>
      <p:sp>
        <p:nvSpPr>
          <p:cNvPr id="28" name="Shape 26"/>
          <p:cNvSpPr/>
          <p:nvPr/>
        </p:nvSpPr>
        <p:spPr>
          <a:xfrm>
            <a:off x="274320" y="3630168"/>
            <a:ext cx="8595360" cy="1234440"/>
          </a:xfrm>
          <a:prstGeom prst="roundRect">
            <a:avLst>
              <a:gd name="adj" fmla="val 7407"/>
            </a:avLst>
          </a:prstGeom>
          <a:solidFill>
            <a:srgbClr val="1A2E45"/>
          </a:solidFill>
          <a:ln w="12700">
            <a:solidFill>
              <a:srgbClr val="2A3F55"/>
            </a:solidFill>
            <a:prstDash val="solid"/>
          </a:ln>
        </p:spPr>
      </p:sp>
      <p:sp>
        <p:nvSpPr>
          <p:cNvPr id="29" name="Text 27"/>
          <p:cNvSpPr/>
          <p:nvPr/>
        </p:nvSpPr>
        <p:spPr>
          <a:xfrm>
            <a:off x="457200" y="3657600"/>
            <a:ext cx="8229600" cy="274320"/>
          </a:xfrm>
          <a:prstGeom prst="rect">
            <a:avLst/>
          </a:prstGeom>
          <a:noFill/>
          <a:ln/>
        </p:spPr>
        <p:txBody>
          <a:bodyPr wrap="square" lIns="0" tIns="0" rIns="0" bIns="0" rtlCol="0" anchor="ctr"/>
          <a:lstStyle/>
          <a:p>
            <a:pPr indent="0" marL="0">
              <a:buNone/>
            </a:pPr>
            <a:r>
              <a:rPr lang="en-US" sz="1200" b="1" dirty="0">
                <a:solidFill>
                  <a:srgbClr val="00C2CC"/>
                </a:solidFill>
                <a:latin typeface="Cambria" pitchFamily="34" charset="0"/>
                <a:ea typeface="Cambria" pitchFamily="34" charset="-122"/>
                <a:cs typeface="Cambria" pitchFamily="34" charset="-120"/>
              </a:rPr>
              <a:t>Real Examples</a:t>
            </a:r>
            <a:endParaRPr lang="en-US" sz="1200" dirty="0"/>
          </a:p>
        </p:txBody>
      </p:sp>
      <p:sp>
        <p:nvSpPr>
          <p:cNvPr id="30" name="Shape 28"/>
          <p:cNvSpPr/>
          <p:nvPr/>
        </p:nvSpPr>
        <p:spPr>
          <a:xfrm>
            <a:off x="411480" y="4041648"/>
            <a:ext cx="146304" cy="146304"/>
          </a:xfrm>
          <a:prstGeom prst="ellipse">
            <a:avLst/>
          </a:prstGeom>
          <a:solidFill>
            <a:srgbClr val="EA580C"/>
          </a:solidFill>
          <a:ln w="12700">
            <a:solidFill>
              <a:srgbClr val="EA580C"/>
            </a:solidFill>
            <a:prstDash val="solid"/>
          </a:ln>
        </p:spPr>
      </p:sp>
      <p:sp>
        <p:nvSpPr>
          <p:cNvPr id="31" name="Text 29"/>
          <p:cNvSpPr/>
          <p:nvPr/>
        </p:nvSpPr>
        <p:spPr>
          <a:xfrm>
            <a:off x="630936" y="3977640"/>
            <a:ext cx="4114800" cy="256032"/>
          </a:xfrm>
          <a:prstGeom prst="rect">
            <a:avLst/>
          </a:prstGeom>
          <a:noFill/>
          <a:ln/>
        </p:spPr>
        <p:txBody>
          <a:bodyPr wrap="square" lIns="0" tIns="0" rIns="0" bIns="0" rtlCol="0" anchor="ctr"/>
          <a:lstStyle/>
          <a:p>
            <a:pPr indent="0" marL="0">
              <a:buNone/>
            </a:pPr>
            <a:r>
              <a:rPr lang="en-US" sz="1050" dirty="0">
                <a:solidFill>
                  <a:srgbClr val="8EAFC7"/>
                </a:solidFill>
                <a:latin typeface="Calibri" pitchFamily="34" charset="0"/>
                <a:ea typeface="Calibri" pitchFamily="34" charset="-122"/>
                <a:cs typeface="Calibri" pitchFamily="34" charset="-120"/>
              </a:rPr>
              <a:t>"code only, no explanation"  →  Layer 1 · main file</a:t>
            </a:r>
            <a:endParaRPr lang="en-US" sz="1050" dirty="0"/>
          </a:p>
        </p:txBody>
      </p:sp>
      <p:sp>
        <p:nvSpPr>
          <p:cNvPr id="32" name="Shape 30"/>
          <p:cNvSpPr/>
          <p:nvPr/>
        </p:nvSpPr>
        <p:spPr>
          <a:xfrm>
            <a:off x="411480" y="4343400"/>
            <a:ext cx="146304" cy="146304"/>
          </a:xfrm>
          <a:prstGeom prst="ellipse">
            <a:avLst/>
          </a:prstGeom>
          <a:solidFill>
            <a:srgbClr val="3B82F6"/>
          </a:solidFill>
          <a:ln w="12700">
            <a:solidFill>
              <a:srgbClr val="3B82F6"/>
            </a:solidFill>
            <a:prstDash val="solid"/>
          </a:ln>
        </p:spPr>
      </p:sp>
      <p:sp>
        <p:nvSpPr>
          <p:cNvPr id="33" name="Text 31"/>
          <p:cNvSpPr/>
          <p:nvPr/>
        </p:nvSpPr>
        <p:spPr>
          <a:xfrm>
            <a:off x="630936" y="4279392"/>
            <a:ext cx="4114800" cy="256032"/>
          </a:xfrm>
          <a:prstGeom prst="rect">
            <a:avLst/>
          </a:prstGeom>
          <a:noFill/>
          <a:ln/>
        </p:spPr>
        <p:txBody>
          <a:bodyPr wrap="square" lIns="0" tIns="0" rIns="0" bIns="0" rtlCol="0" anchor="ctr"/>
          <a:lstStyle/>
          <a:p>
            <a:pPr indent="0" marL="0">
              <a:buNone/>
            </a:pPr>
            <a:r>
              <a:rPr lang="en-US" sz="1050" dirty="0">
                <a:solidFill>
                  <a:srgbClr val="8EAFC7"/>
                </a:solidFill>
                <a:latin typeface="Calibri" pitchFamily="34" charset="0"/>
                <a:ea typeface="Calibri" pitchFamily="34" charset="-122"/>
                <a:cs typeface="Calibri" pitchFamily="34" charset="-120"/>
              </a:rPr>
              <a:t>Django ORM rules  →  Layer 2 · python.instructions.md</a:t>
            </a:r>
            <a:endParaRPr lang="en-US" sz="1050" dirty="0"/>
          </a:p>
        </p:txBody>
      </p:sp>
      <p:sp>
        <p:nvSpPr>
          <p:cNvPr id="34" name="Shape 32"/>
          <p:cNvSpPr/>
          <p:nvPr/>
        </p:nvSpPr>
        <p:spPr>
          <a:xfrm>
            <a:off x="411480" y="4617720"/>
            <a:ext cx="146304" cy="146304"/>
          </a:xfrm>
          <a:prstGeom prst="ellipse">
            <a:avLst/>
          </a:prstGeom>
          <a:solidFill>
            <a:srgbClr val="3B82F6"/>
          </a:solidFill>
          <a:ln w="12700">
            <a:solidFill>
              <a:srgbClr val="3B82F6"/>
            </a:solidFill>
            <a:prstDash val="solid"/>
          </a:ln>
        </p:spPr>
      </p:sp>
      <p:sp>
        <p:nvSpPr>
          <p:cNvPr id="35" name="Text 33"/>
          <p:cNvSpPr/>
          <p:nvPr/>
        </p:nvSpPr>
        <p:spPr>
          <a:xfrm>
            <a:off x="630936" y="4553712"/>
            <a:ext cx="4114800" cy="256032"/>
          </a:xfrm>
          <a:prstGeom prst="rect">
            <a:avLst/>
          </a:prstGeom>
          <a:noFill/>
          <a:ln/>
        </p:spPr>
        <p:txBody>
          <a:bodyPr wrap="square" lIns="0" tIns="0" rIns="0" bIns="0" rtlCol="0" anchor="ctr"/>
          <a:lstStyle/>
          <a:p>
            <a:pPr indent="0" marL="0">
              <a:buNone/>
            </a:pPr>
            <a:r>
              <a:rPr lang="en-US" sz="1050" dirty="0">
                <a:solidFill>
                  <a:srgbClr val="8EAFC7"/>
                </a:solidFill>
                <a:latin typeface="Calibri" pitchFamily="34" charset="0"/>
                <a:ea typeface="Calibri" pitchFamily="34" charset="-122"/>
                <a:cs typeface="Calibri" pitchFamily="34" charset="-120"/>
              </a:rPr>
              <a:t>React hooks patterns  →  Layer 2 · react.instructions.md</a:t>
            </a:r>
            <a:endParaRPr lang="en-US" sz="1050" dirty="0"/>
          </a:p>
        </p:txBody>
      </p:sp>
      <p:sp>
        <p:nvSpPr>
          <p:cNvPr id="36" name="Shape 34"/>
          <p:cNvSpPr/>
          <p:nvPr/>
        </p:nvSpPr>
        <p:spPr>
          <a:xfrm>
            <a:off x="4663440" y="4041648"/>
            <a:ext cx="146304" cy="146304"/>
          </a:xfrm>
          <a:prstGeom prst="ellipse">
            <a:avLst/>
          </a:prstGeom>
          <a:solidFill>
            <a:srgbClr val="008C94"/>
          </a:solidFill>
          <a:ln w="12700">
            <a:solidFill>
              <a:srgbClr val="008C94"/>
            </a:solidFill>
            <a:prstDash val="solid"/>
          </a:ln>
        </p:spPr>
      </p:sp>
      <p:sp>
        <p:nvSpPr>
          <p:cNvPr id="37" name="Text 35"/>
          <p:cNvSpPr/>
          <p:nvPr/>
        </p:nvSpPr>
        <p:spPr>
          <a:xfrm>
            <a:off x="4882896" y="3977640"/>
            <a:ext cx="4114800" cy="256032"/>
          </a:xfrm>
          <a:prstGeom prst="rect">
            <a:avLst/>
          </a:prstGeom>
          <a:noFill/>
          <a:ln/>
        </p:spPr>
        <p:txBody>
          <a:bodyPr wrap="square" lIns="0" tIns="0" rIns="0" bIns="0" rtlCol="0" anchor="ctr"/>
          <a:lstStyle/>
          <a:p>
            <a:pPr indent="0" marL="0">
              <a:buNone/>
            </a:pPr>
            <a:r>
              <a:rPr lang="en-US" sz="1050" dirty="0">
                <a:solidFill>
                  <a:srgbClr val="8EAFC7"/>
                </a:solidFill>
                <a:latin typeface="Calibri" pitchFamily="34" charset="0"/>
                <a:ea typeface="Calibri" pitchFamily="34" charset="-122"/>
                <a:cs typeface="Calibri" pitchFamily="34" charset="-120"/>
              </a:rPr>
              <a:t>PR review workflow  →  Layer 3 · pr-review.prompt.md</a:t>
            </a:r>
            <a:endParaRPr lang="en-US" sz="1050" dirty="0"/>
          </a:p>
        </p:txBody>
      </p:sp>
      <p:sp>
        <p:nvSpPr>
          <p:cNvPr id="38" name="Shape 36"/>
          <p:cNvSpPr/>
          <p:nvPr/>
        </p:nvSpPr>
        <p:spPr>
          <a:xfrm>
            <a:off x="4663440" y="4343400"/>
            <a:ext cx="146304" cy="146304"/>
          </a:xfrm>
          <a:prstGeom prst="ellipse">
            <a:avLst/>
          </a:prstGeom>
          <a:solidFill>
            <a:srgbClr val="008C94"/>
          </a:solidFill>
          <a:ln w="12700">
            <a:solidFill>
              <a:srgbClr val="008C94"/>
            </a:solidFill>
            <a:prstDash val="solid"/>
          </a:ln>
        </p:spPr>
      </p:sp>
      <p:sp>
        <p:nvSpPr>
          <p:cNvPr id="39" name="Text 37"/>
          <p:cNvSpPr/>
          <p:nvPr/>
        </p:nvSpPr>
        <p:spPr>
          <a:xfrm>
            <a:off x="4882896" y="4279392"/>
            <a:ext cx="4114800" cy="256032"/>
          </a:xfrm>
          <a:prstGeom prst="rect">
            <a:avLst/>
          </a:prstGeom>
          <a:noFill/>
          <a:ln/>
        </p:spPr>
        <p:txBody>
          <a:bodyPr wrap="square" lIns="0" tIns="0" rIns="0" bIns="0" rtlCol="0" anchor="ctr"/>
          <a:lstStyle/>
          <a:p>
            <a:pPr indent="0" marL="0">
              <a:buNone/>
            </a:pPr>
            <a:r>
              <a:rPr lang="en-US" sz="1050" dirty="0">
                <a:solidFill>
                  <a:srgbClr val="8EAFC7"/>
                </a:solidFill>
                <a:latin typeface="Calibri" pitchFamily="34" charset="0"/>
                <a:ea typeface="Calibri" pitchFamily="34" charset="-122"/>
                <a:cs typeface="Calibri" pitchFamily="34" charset="-120"/>
              </a:rPr>
              <a:t>Security audit checklist  →  Layer 3 · security.prompt.md</a:t>
            </a:r>
            <a:endParaRPr lang="en-US" sz="1050" dirty="0"/>
          </a:p>
        </p:txBody>
      </p:sp>
      <p:sp>
        <p:nvSpPr>
          <p:cNvPr id="40" name="Shape 38"/>
          <p:cNvSpPr/>
          <p:nvPr/>
        </p:nvSpPr>
        <p:spPr>
          <a:xfrm>
            <a:off x="4663440" y="4617720"/>
            <a:ext cx="146304" cy="146304"/>
          </a:xfrm>
          <a:prstGeom prst="ellipse">
            <a:avLst/>
          </a:prstGeom>
          <a:solidFill>
            <a:srgbClr val="008C94"/>
          </a:solidFill>
          <a:ln w="12700">
            <a:solidFill>
              <a:srgbClr val="008C94"/>
            </a:solidFill>
            <a:prstDash val="solid"/>
          </a:ln>
        </p:spPr>
      </p:sp>
      <p:sp>
        <p:nvSpPr>
          <p:cNvPr id="41" name="Text 39"/>
          <p:cNvSpPr/>
          <p:nvPr/>
        </p:nvSpPr>
        <p:spPr>
          <a:xfrm>
            <a:off x="4882896" y="4553712"/>
            <a:ext cx="4114800" cy="256032"/>
          </a:xfrm>
          <a:prstGeom prst="rect">
            <a:avLst/>
          </a:prstGeom>
          <a:noFill/>
          <a:ln/>
        </p:spPr>
        <p:txBody>
          <a:bodyPr wrap="square" lIns="0" tIns="0" rIns="0" bIns="0" rtlCol="0" anchor="ctr"/>
          <a:lstStyle/>
          <a:p>
            <a:pPr indent="0" marL="0">
              <a:buNone/>
            </a:pPr>
            <a:r>
              <a:rPr lang="en-US" sz="1050" dirty="0">
                <a:solidFill>
                  <a:srgbClr val="8EAFC7"/>
                </a:solidFill>
                <a:latin typeface="Calibri" pitchFamily="34" charset="0"/>
                <a:ea typeface="Calibri" pitchFamily="34" charset="-122"/>
                <a:cs typeface="Calibri" pitchFamily="34" charset="-120"/>
              </a:rPr>
              <a:t>Deploy runbook  →  Layer 3 · deploy.prompt.md</a:t>
            </a:r>
            <a:endParaRPr lang="en-US" sz="1050" dirty="0"/>
          </a:p>
        </p:txBody>
      </p:sp>
      <p:sp>
        <p:nvSpPr>
          <p:cNvPr id="42" name="Shape 40"/>
          <p:cNvSpPr/>
          <p:nvPr/>
        </p:nvSpPr>
        <p:spPr>
          <a:xfrm>
            <a:off x="0" y="4887468"/>
            <a:ext cx="1143000" cy="256032"/>
          </a:xfrm>
          <a:prstGeom prst="rect">
            <a:avLst/>
          </a:prstGeom>
          <a:solidFill>
            <a:srgbClr val="1A2E45"/>
          </a:solidFill>
          <a:ln w="12700">
            <a:solidFill>
              <a:srgbClr val="1A2E45"/>
            </a:solidFill>
            <a:prstDash val="solid"/>
          </a:ln>
        </p:spPr>
      </p:sp>
      <p:sp>
        <p:nvSpPr>
          <p:cNvPr id="43" name="Text 41"/>
          <p:cNvSpPr/>
          <p:nvPr/>
        </p:nvSpPr>
        <p:spPr>
          <a:xfrm>
            <a:off x="0" y="4887468"/>
            <a:ext cx="1143000" cy="256032"/>
          </a:xfrm>
          <a:prstGeom prst="rect">
            <a:avLst/>
          </a:prstGeom>
          <a:noFill/>
          <a:ln/>
        </p:spPr>
        <p:txBody>
          <a:bodyPr wrap="square" lIns="0" tIns="0" rIns="0" bIns="0" rtlCol="0" anchor="ctr"/>
          <a:lstStyle/>
          <a:p>
            <a:pPr algn="ctr" indent="0" marL="0">
              <a:buNone/>
            </a:pPr>
            <a:r>
              <a:rPr lang="en-US" sz="750" dirty="0">
                <a:solidFill>
                  <a:srgbClr val="3A5068"/>
                </a:solidFill>
                <a:latin typeface="Calibri" pitchFamily="34" charset="0"/>
                <a:ea typeface="Calibri" pitchFamily="34" charset="-122"/>
                <a:cs typeface="Calibri" pitchFamily="34" charset="-120"/>
              </a:rPr>
              <a:t>Overview</a:t>
            </a:r>
            <a:endParaRPr lang="en-US" sz="750" dirty="0"/>
          </a:p>
        </p:txBody>
      </p:sp>
      <p:sp>
        <p:nvSpPr>
          <p:cNvPr id="44" name="Shape 42"/>
          <p:cNvSpPr/>
          <p:nvPr/>
        </p:nvSpPr>
        <p:spPr>
          <a:xfrm>
            <a:off x="1143000" y="4887468"/>
            <a:ext cx="1143000" cy="256032"/>
          </a:xfrm>
          <a:prstGeom prst="rect">
            <a:avLst/>
          </a:prstGeom>
          <a:solidFill>
            <a:srgbClr val="1A2E45"/>
          </a:solidFill>
          <a:ln w="12700">
            <a:solidFill>
              <a:srgbClr val="1A2E45"/>
            </a:solidFill>
            <a:prstDash val="solid"/>
          </a:ln>
        </p:spPr>
      </p:sp>
      <p:sp>
        <p:nvSpPr>
          <p:cNvPr id="45" name="Text 43"/>
          <p:cNvSpPr/>
          <p:nvPr/>
        </p:nvSpPr>
        <p:spPr>
          <a:xfrm>
            <a:off x="1143000" y="4887468"/>
            <a:ext cx="1143000" cy="256032"/>
          </a:xfrm>
          <a:prstGeom prst="rect">
            <a:avLst/>
          </a:prstGeom>
          <a:noFill/>
          <a:ln/>
        </p:spPr>
        <p:txBody>
          <a:bodyPr wrap="square" lIns="0" tIns="0" rIns="0" bIns="0" rtlCol="0" anchor="ctr"/>
          <a:lstStyle/>
          <a:p>
            <a:pPr algn="ctr" indent="0" marL="0">
              <a:buNone/>
            </a:pPr>
            <a:r>
              <a:rPr lang="en-US" sz="750" dirty="0">
                <a:solidFill>
                  <a:srgbClr val="3A5068"/>
                </a:solidFill>
                <a:latin typeface="Calibri" pitchFamily="34" charset="0"/>
                <a:ea typeface="Calibri" pitchFamily="34" charset="-122"/>
                <a:cs typeface="Calibri" pitchFamily="34" charset="-120"/>
              </a:rPr>
              <a:t>Output Control</a:t>
            </a:r>
            <a:endParaRPr lang="en-US" sz="750" dirty="0"/>
          </a:p>
        </p:txBody>
      </p:sp>
      <p:sp>
        <p:nvSpPr>
          <p:cNvPr id="46" name="Shape 44"/>
          <p:cNvSpPr/>
          <p:nvPr/>
        </p:nvSpPr>
        <p:spPr>
          <a:xfrm>
            <a:off x="2286000" y="4887468"/>
            <a:ext cx="1143000" cy="256032"/>
          </a:xfrm>
          <a:prstGeom prst="rect">
            <a:avLst/>
          </a:prstGeom>
          <a:solidFill>
            <a:srgbClr val="1A2E45"/>
          </a:solidFill>
          <a:ln w="12700">
            <a:solidFill>
              <a:srgbClr val="1A2E45"/>
            </a:solidFill>
            <a:prstDash val="solid"/>
          </a:ln>
        </p:spPr>
      </p:sp>
      <p:sp>
        <p:nvSpPr>
          <p:cNvPr id="47" name="Text 45"/>
          <p:cNvSpPr/>
          <p:nvPr/>
        </p:nvSpPr>
        <p:spPr>
          <a:xfrm>
            <a:off x="2286000" y="4887468"/>
            <a:ext cx="1143000" cy="256032"/>
          </a:xfrm>
          <a:prstGeom prst="rect">
            <a:avLst/>
          </a:prstGeom>
          <a:noFill/>
          <a:ln/>
        </p:spPr>
        <p:txBody>
          <a:bodyPr wrap="square" lIns="0" tIns="0" rIns="0" bIns="0" rtlCol="0" anchor="ctr"/>
          <a:lstStyle/>
          <a:p>
            <a:pPr algn="ctr" indent="0" marL="0">
              <a:buNone/>
            </a:pPr>
            <a:r>
              <a:rPr lang="en-US" sz="750" dirty="0">
                <a:solidFill>
                  <a:srgbClr val="3A5068"/>
                </a:solidFill>
                <a:latin typeface="Calibri" pitchFamily="34" charset="0"/>
                <a:ea typeface="Calibri" pitchFamily="34" charset="-122"/>
                <a:cs typeface="Calibri" pitchFamily="34" charset="-120"/>
              </a:rPr>
              <a:t>Context &amp; Prompting</a:t>
            </a:r>
            <a:endParaRPr lang="en-US" sz="750" dirty="0"/>
          </a:p>
        </p:txBody>
      </p:sp>
      <p:sp>
        <p:nvSpPr>
          <p:cNvPr id="48" name="Shape 46"/>
          <p:cNvSpPr/>
          <p:nvPr/>
        </p:nvSpPr>
        <p:spPr>
          <a:xfrm>
            <a:off x="3429000" y="4887468"/>
            <a:ext cx="1143000" cy="256032"/>
          </a:xfrm>
          <a:prstGeom prst="rect">
            <a:avLst/>
          </a:prstGeom>
          <a:solidFill>
            <a:srgbClr val="1A2E45"/>
          </a:solidFill>
          <a:ln w="12700">
            <a:solidFill>
              <a:srgbClr val="1A2E45"/>
            </a:solidFill>
            <a:prstDash val="solid"/>
          </a:ln>
        </p:spPr>
      </p:sp>
      <p:sp>
        <p:nvSpPr>
          <p:cNvPr id="49" name="Text 47"/>
          <p:cNvSpPr/>
          <p:nvPr/>
        </p:nvSpPr>
        <p:spPr>
          <a:xfrm>
            <a:off x="3429000" y="4887468"/>
            <a:ext cx="1143000" cy="256032"/>
          </a:xfrm>
          <a:prstGeom prst="rect">
            <a:avLst/>
          </a:prstGeom>
          <a:noFill/>
          <a:ln/>
        </p:spPr>
        <p:txBody>
          <a:bodyPr wrap="square" lIns="0" tIns="0" rIns="0" bIns="0" rtlCol="0" anchor="ctr"/>
          <a:lstStyle/>
          <a:p>
            <a:pPr algn="ctr" indent="0" marL="0">
              <a:buNone/>
            </a:pPr>
            <a:r>
              <a:rPr lang="en-US" sz="750" dirty="0">
                <a:solidFill>
                  <a:srgbClr val="3A5068"/>
                </a:solidFill>
                <a:latin typeface="Calibri" pitchFamily="34" charset="0"/>
                <a:ea typeface="Calibri" pitchFamily="34" charset="-122"/>
                <a:cs typeface="Calibri" pitchFamily="34" charset="-120"/>
              </a:rPr>
              <a:t>Models &amp; Modes</a:t>
            </a:r>
            <a:endParaRPr lang="en-US" sz="750" dirty="0"/>
          </a:p>
        </p:txBody>
      </p:sp>
      <p:sp>
        <p:nvSpPr>
          <p:cNvPr id="50" name="Shape 48"/>
          <p:cNvSpPr/>
          <p:nvPr/>
        </p:nvSpPr>
        <p:spPr>
          <a:xfrm>
            <a:off x="4572000" y="4887468"/>
            <a:ext cx="1143000" cy="256032"/>
          </a:xfrm>
          <a:prstGeom prst="rect">
            <a:avLst/>
          </a:prstGeom>
          <a:solidFill>
            <a:srgbClr val="1A2E45"/>
          </a:solidFill>
          <a:ln w="12700">
            <a:solidFill>
              <a:srgbClr val="1A2E45"/>
            </a:solidFill>
            <a:prstDash val="solid"/>
          </a:ln>
        </p:spPr>
      </p:sp>
      <p:sp>
        <p:nvSpPr>
          <p:cNvPr id="51" name="Text 49"/>
          <p:cNvSpPr/>
          <p:nvPr/>
        </p:nvSpPr>
        <p:spPr>
          <a:xfrm>
            <a:off x="4572000" y="4887468"/>
            <a:ext cx="1143000" cy="256032"/>
          </a:xfrm>
          <a:prstGeom prst="rect">
            <a:avLst/>
          </a:prstGeom>
          <a:noFill/>
          <a:ln/>
        </p:spPr>
        <p:txBody>
          <a:bodyPr wrap="square" lIns="0" tIns="0" rIns="0" bIns="0" rtlCol="0" anchor="ctr"/>
          <a:lstStyle/>
          <a:p>
            <a:pPr algn="ctr" indent="0" marL="0">
              <a:buNone/>
            </a:pPr>
            <a:r>
              <a:rPr lang="en-US" sz="750" dirty="0">
                <a:solidFill>
                  <a:srgbClr val="3A5068"/>
                </a:solidFill>
                <a:latin typeface="Calibri" pitchFamily="34" charset="0"/>
                <a:ea typeface="Calibri" pitchFamily="34" charset="-122"/>
                <a:cs typeface="Calibri" pitchFamily="34" charset="-120"/>
              </a:rPr>
              <a:t>Governance</a:t>
            </a:r>
            <a:endParaRPr lang="en-US" sz="750" dirty="0"/>
          </a:p>
        </p:txBody>
      </p:sp>
      <p:sp>
        <p:nvSpPr>
          <p:cNvPr id="52" name="Shape 50"/>
          <p:cNvSpPr/>
          <p:nvPr/>
        </p:nvSpPr>
        <p:spPr>
          <a:xfrm>
            <a:off x="5715000" y="4887468"/>
            <a:ext cx="1143000" cy="256032"/>
          </a:xfrm>
          <a:prstGeom prst="rect">
            <a:avLst/>
          </a:prstGeom>
          <a:solidFill>
            <a:srgbClr val="1A2E45"/>
          </a:solidFill>
          <a:ln w="12700">
            <a:solidFill>
              <a:srgbClr val="1A2E45"/>
            </a:solidFill>
            <a:prstDash val="solid"/>
          </a:ln>
        </p:spPr>
      </p:sp>
      <p:sp>
        <p:nvSpPr>
          <p:cNvPr id="53" name="Text 51"/>
          <p:cNvSpPr/>
          <p:nvPr/>
        </p:nvSpPr>
        <p:spPr>
          <a:xfrm>
            <a:off x="5715000" y="4887468"/>
            <a:ext cx="1143000" cy="256032"/>
          </a:xfrm>
          <a:prstGeom prst="rect">
            <a:avLst/>
          </a:prstGeom>
          <a:noFill/>
          <a:ln/>
        </p:spPr>
        <p:txBody>
          <a:bodyPr wrap="square" lIns="0" tIns="0" rIns="0" bIns="0" rtlCol="0" anchor="ctr"/>
          <a:lstStyle/>
          <a:p>
            <a:pPr algn="ctr" indent="0" marL="0">
              <a:buNone/>
            </a:pPr>
            <a:r>
              <a:rPr lang="en-US" sz="750" dirty="0">
                <a:solidFill>
                  <a:srgbClr val="3A5068"/>
                </a:solidFill>
                <a:latin typeface="Calibri" pitchFamily="34" charset="0"/>
                <a:ea typeface="Calibri" pitchFamily="34" charset="-122"/>
                <a:cs typeface="Calibri" pitchFamily="34" charset="-120"/>
              </a:rPr>
              <a:t>Architecture</a:t>
            </a:r>
            <a:endParaRPr lang="en-US" sz="750" dirty="0"/>
          </a:p>
        </p:txBody>
      </p:sp>
      <p:sp>
        <p:nvSpPr>
          <p:cNvPr id="54" name="Shape 52"/>
          <p:cNvSpPr/>
          <p:nvPr/>
        </p:nvSpPr>
        <p:spPr>
          <a:xfrm>
            <a:off x="6858000" y="4887468"/>
            <a:ext cx="1143000" cy="256032"/>
          </a:xfrm>
          <a:prstGeom prst="rect">
            <a:avLst/>
          </a:prstGeom>
          <a:solidFill>
            <a:srgbClr val="7C3AED"/>
          </a:solidFill>
          <a:ln w="12700">
            <a:solidFill>
              <a:srgbClr val="7C3AED"/>
            </a:solidFill>
            <a:prstDash val="solid"/>
          </a:ln>
        </p:spPr>
      </p:sp>
      <p:sp>
        <p:nvSpPr>
          <p:cNvPr id="55" name="Text 53"/>
          <p:cNvSpPr/>
          <p:nvPr/>
        </p:nvSpPr>
        <p:spPr>
          <a:xfrm>
            <a:off x="6858000" y="4887468"/>
            <a:ext cx="1143000" cy="256032"/>
          </a:xfrm>
          <a:prstGeom prst="rect">
            <a:avLst/>
          </a:prstGeom>
          <a:noFill/>
          <a:ln/>
        </p:spPr>
        <p:txBody>
          <a:bodyPr wrap="square" lIns="0" tIns="0" rIns="0" bIns="0" rtlCol="0" anchor="ctr"/>
          <a:lstStyle/>
          <a:p>
            <a:pPr algn="ctr" indent="0" marL="0">
              <a:buNone/>
            </a:pPr>
            <a:r>
              <a:rPr lang="en-US" sz="750" b="1" dirty="0">
                <a:solidFill>
                  <a:srgbClr val="0D1B2A"/>
                </a:solidFill>
                <a:latin typeface="Calibri" pitchFamily="34" charset="0"/>
                <a:ea typeface="Calibri" pitchFamily="34" charset="-122"/>
                <a:cs typeface="Calibri" pitchFamily="34" charset="-120"/>
              </a:rPr>
              <a:t>Best Practices</a:t>
            </a:r>
            <a:endParaRPr lang="en-US" sz="750" dirty="0"/>
          </a:p>
        </p:txBody>
      </p:sp>
      <p:sp>
        <p:nvSpPr>
          <p:cNvPr id="56" name="Shape 54"/>
          <p:cNvSpPr/>
          <p:nvPr/>
        </p:nvSpPr>
        <p:spPr>
          <a:xfrm>
            <a:off x="8001000" y="4887468"/>
            <a:ext cx="1143000" cy="256032"/>
          </a:xfrm>
          <a:prstGeom prst="rect">
            <a:avLst/>
          </a:prstGeom>
          <a:solidFill>
            <a:srgbClr val="1A2E45"/>
          </a:solidFill>
          <a:ln w="12700">
            <a:solidFill>
              <a:srgbClr val="1A2E45"/>
            </a:solidFill>
            <a:prstDash val="solid"/>
          </a:ln>
        </p:spPr>
      </p:sp>
      <p:sp>
        <p:nvSpPr>
          <p:cNvPr id="57" name="Text 55"/>
          <p:cNvSpPr/>
          <p:nvPr/>
        </p:nvSpPr>
        <p:spPr>
          <a:xfrm>
            <a:off x="8001000" y="4887468"/>
            <a:ext cx="1143000" cy="256032"/>
          </a:xfrm>
          <a:prstGeom prst="rect">
            <a:avLst/>
          </a:prstGeom>
          <a:noFill/>
          <a:ln/>
        </p:spPr>
        <p:txBody>
          <a:bodyPr wrap="square" lIns="0" tIns="0" rIns="0" bIns="0" rtlCol="0" anchor="ctr"/>
          <a:lstStyle/>
          <a:p>
            <a:pPr algn="ctr" indent="0" marL="0">
              <a:buNone/>
            </a:pPr>
            <a:r>
              <a:rPr lang="en-US" sz="750" dirty="0">
                <a:solidFill>
                  <a:srgbClr val="3A5068"/>
                </a:solidFill>
                <a:latin typeface="Calibri" pitchFamily="34" charset="0"/>
                <a:ea typeface="Calibri" pitchFamily="34" charset="-122"/>
                <a:cs typeface="Calibri" pitchFamily="34" charset="-120"/>
              </a:rPr>
              <a:t>Reference</a:t>
            </a:r>
            <a:endParaRPr lang="en-US" sz="7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49808"/>
          </a:xfrm>
          <a:prstGeom prst="rect">
            <a:avLst/>
          </a:prstGeom>
          <a:solidFill>
            <a:srgbClr val="EF4444"/>
          </a:solidFill>
          <a:ln w="12700">
            <a:solidFill>
              <a:srgbClr val="EF4444"/>
            </a:solidFill>
            <a:prstDash val="solid"/>
          </a:ln>
        </p:spPr>
      </p:sp>
      <p:sp>
        <p:nvSpPr>
          <p:cNvPr id="3" name="Text 1"/>
          <p:cNvSpPr/>
          <p:nvPr/>
        </p:nvSpPr>
        <p:spPr>
          <a:xfrm>
            <a:off x="365760" y="0"/>
            <a:ext cx="8412480" cy="749808"/>
          </a:xfrm>
          <a:prstGeom prst="rect">
            <a:avLst/>
          </a:prstGeom>
          <a:noFill/>
          <a:ln/>
        </p:spPr>
        <p:txBody>
          <a:bodyPr wrap="square" lIns="0" tIns="0" rIns="0" bIns="0" rtlCol="0" anchor="ctr"/>
          <a:lstStyle/>
          <a:p>
            <a:pPr indent="0" marL="0">
              <a:buNone/>
            </a:pPr>
            <a:r>
              <a:rPr lang="en-US" sz="2000" b="1" dirty="0">
                <a:solidFill>
                  <a:srgbClr val="FFFFFF"/>
                </a:solidFill>
                <a:latin typeface="Cambria" pitchFamily="34" charset="0"/>
                <a:ea typeface="Cambria" pitchFamily="34" charset="-122"/>
                <a:cs typeface="Cambria" pitchFamily="34" charset="-120"/>
              </a:rPr>
              <a:t>⚠️  The 'Instruction Creep' Anti-Pattern</a:t>
            </a:r>
            <a:endParaRPr lang="en-US" sz="2000" dirty="0"/>
          </a:p>
        </p:txBody>
      </p:sp>
      <p:sp>
        <p:nvSpPr>
          <p:cNvPr id="4" name="Text 2"/>
          <p:cNvSpPr/>
          <p:nvPr/>
        </p:nvSpPr>
        <p:spPr>
          <a:xfrm>
            <a:off x="365760" y="786384"/>
            <a:ext cx="8412480" cy="292608"/>
          </a:xfrm>
          <a:prstGeom prst="rect">
            <a:avLst/>
          </a:prstGeom>
          <a:noFill/>
          <a:ln/>
        </p:spPr>
        <p:txBody>
          <a:bodyPr wrap="square" rtlCol="0" anchor="ctr"/>
          <a:lstStyle/>
          <a:p>
            <a:pPr indent="0" marL="0">
              <a:buNone/>
            </a:pPr>
            <a:r>
              <a:rPr lang="en-US" sz="1150" i="1" dirty="0">
                <a:solidFill>
                  <a:srgbClr val="EF4444"/>
                </a:solidFill>
                <a:latin typeface="Calibri" pitchFamily="34" charset="0"/>
                <a:ea typeface="Calibri" pitchFamily="34" charset="-122"/>
                <a:cs typeface="Calibri" pitchFamily="34" charset="-120"/>
              </a:rPr>
              <a:t>What a real bloated instructions file looks like — and what it actually costs per day</a:t>
            </a:r>
            <a:endParaRPr lang="en-US" sz="1150" dirty="0"/>
          </a:p>
        </p:txBody>
      </p:sp>
      <p:sp>
        <p:nvSpPr>
          <p:cNvPr id="5" name="Shape 3"/>
          <p:cNvSpPr/>
          <p:nvPr/>
        </p:nvSpPr>
        <p:spPr>
          <a:xfrm>
            <a:off x="274320" y="1143000"/>
            <a:ext cx="4160520" cy="3337560"/>
          </a:xfrm>
          <a:prstGeom prst="roundRect">
            <a:avLst>
              <a:gd name="adj" fmla="val 2740"/>
            </a:avLst>
          </a:prstGeom>
          <a:solidFill>
            <a:srgbClr val="FEF2F2"/>
          </a:solidFill>
          <a:ln w="12700">
            <a:solidFill>
              <a:srgbClr val="EF4444">
                <a:alpha val="50000"/>
              </a:srgbClr>
            </a:solidFill>
            <a:prstDash val="solid"/>
          </a:ln>
          <a:effectLst>
            <a:outerShdw sx="100000" sy="100000" kx="0" ky="0" algn="bl" rotWithShape="0" blurRad="101600" dist="38100" dir="2700000">
              <a:srgbClr val="000000">
                <a:alpha val="12000"/>
              </a:srgbClr>
            </a:outerShdw>
          </a:effectLst>
        </p:spPr>
      </p:sp>
      <p:sp>
        <p:nvSpPr>
          <p:cNvPr id="6" name="Shape 4"/>
          <p:cNvSpPr/>
          <p:nvPr/>
        </p:nvSpPr>
        <p:spPr>
          <a:xfrm>
            <a:off x="274320" y="1143000"/>
            <a:ext cx="4160520" cy="438912"/>
          </a:xfrm>
          <a:prstGeom prst="roundRect">
            <a:avLst>
              <a:gd name="adj" fmla="val 20833"/>
            </a:avLst>
          </a:prstGeom>
          <a:solidFill>
            <a:srgbClr val="EF4444"/>
          </a:solidFill>
          <a:ln w="12700">
            <a:solidFill>
              <a:srgbClr val="EF4444"/>
            </a:solidFill>
            <a:prstDash val="solid"/>
          </a:ln>
        </p:spPr>
      </p:sp>
      <p:sp>
        <p:nvSpPr>
          <p:cNvPr id="7" name="Text 5"/>
          <p:cNvSpPr/>
          <p:nvPr/>
        </p:nvSpPr>
        <p:spPr>
          <a:xfrm>
            <a:off x="274320" y="1143000"/>
            <a:ext cx="4160520" cy="438912"/>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  Bloated (68 lines)</a:t>
            </a:r>
            <a:endParaRPr lang="en-US" sz="1300" dirty="0"/>
          </a:p>
        </p:txBody>
      </p:sp>
      <p:sp>
        <p:nvSpPr>
          <p:cNvPr id="8" name="Text 6"/>
          <p:cNvSpPr/>
          <p:nvPr/>
        </p:nvSpPr>
        <p:spPr>
          <a:xfrm>
            <a:off x="411480" y="1673352"/>
            <a:ext cx="2651760" cy="182880"/>
          </a:xfrm>
          <a:prstGeom prst="rect">
            <a:avLst/>
          </a:prstGeom>
          <a:noFill/>
          <a:ln/>
        </p:spPr>
        <p:txBody>
          <a:bodyPr wrap="square" lIns="0" tIns="0" rIns="0" bIns="0" rtlCol="0" anchor="ctr"/>
          <a:lstStyle/>
          <a:p>
            <a:pPr indent="0" marL="0">
              <a:buNone/>
            </a:pPr>
            <a:r>
              <a:rPr lang="en-US" sz="850" dirty="0">
                <a:solidFill>
                  <a:srgbClr val="0D1B2A"/>
                </a:solidFill>
                <a:latin typeface="Courier New" pitchFamily="34" charset="0"/>
                <a:ea typeface="Courier New" pitchFamily="34" charset="-122"/>
                <a:cs typeface="Courier New" pitchFamily="34" charset="-120"/>
              </a:rPr>
              <a:t># GitHub Copilot Instructions</a:t>
            </a:r>
            <a:endParaRPr lang="en-US" sz="850" dirty="0"/>
          </a:p>
        </p:txBody>
      </p:sp>
      <p:sp>
        <p:nvSpPr>
          <p:cNvPr id="9" name="Text 7"/>
          <p:cNvSpPr/>
          <p:nvPr/>
        </p:nvSpPr>
        <p:spPr>
          <a:xfrm>
            <a:off x="411480" y="1869948"/>
            <a:ext cx="2651760" cy="182880"/>
          </a:xfrm>
          <a:prstGeom prst="rect">
            <a:avLst/>
          </a:prstGeom>
          <a:noFill/>
          <a:ln/>
        </p:spPr>
        <p:txBody>
          <a:bodyPr wrap="square" lIns="0" tIns="0" rIns="0" bIns="0" rtlCol="0" anchor="ctr"/>
          <a:lstStyle/>
          <a:p>
            <a:pPr indent="0" marL="0">
              <a:buNone/>
            </a:pPr>
            <a:r>
              <a:rPr lang="en-US" sz="850" dirty="0">
                <a:solidFill>
                  <a:srgbClr val="0D1B2A"/>
                </a:solidFill>
                <a:latin typeface="Courier New" pitchFamily="34" charset="0"/>
                <a:ea typeface="Courier New" pitchFamily="34" charset="-122"/>
                <a:cs typeface="Courier New" pitchFamily="34" charset="-120"/>
              </a:rPr>
              <a:t>## About This Project</a:t>
            </a:r>
            <a:endParaRPr lang="en-US" sz="850" dirty="0"/>
          </a:p>
        </p:txBody>
      </p:sp>
      <p:sp>
        <p:nvSpPr>
          <p:cNvPr id="10" name="Text 8"/>
          <p:cNvSpPr/>
          <p:nvPr/>
        </p:nvSpPr>
        <p:spPr>
          <a:xfrm>
            <a:off x="3090672" y="1869948"/>
            <a:ext cx="1207008" cy="182880"/>
          </a:xfrm>
          <a:prstGeom prst="rect">
            <a:avLst/>
          </a:prstGeom>
          <a:noFill/>
          <a:ln/>
        </p:spPr>
        <p:txBody>
          <a:bodyPr wrap="square" lIns="0" tIns="0" rIns="0" bIns="0" rtlCol="0" anchor="ctr"/>
          <a:lstStyle/>
          <a:p>
            <a:pPr indent="0" marL="0">
              <a:buNone/>
            </a:pPr>
            <a:r>
              <a:rPr lang="en-US" sz="800" i="1" dirty="0">
                <a:solidFill>
                  <a:srgbClr val="EF4444"/>
                </a:solidFill>
                <a:latin typeface="Calibri" pitchFamily="34" charset="0"/>
                <a:ea typeface="Calibri" pitchFamily="34" charset="-122"/>
                <a:cs typeface="Calibri" pitchFamily="34" charset="-120"/>
              </a:rPr>
              <a:t>← boilerplate</a:t>
            </a:r>
            <a:endParaRPr lang="en-US" sz="800" dirty="0"/>
          </a:p>
        </p:txBody>
      </p:sp>
      <p:sp>
        <p:nvSpPr>
          <p:cNvPr id="11" name="Text 9"/>
          <p:cNvSpPr/>
          <p:nvPr/>
        </p:nvSpPr>
        <p:spPr>
          <a:xfrm>
            <a:off x="411480" y="2066544"/>
            <a:ext cx="2651760" cy="182880"/>
          </a:xfrm>
          <a:prstGeom prst="rect">
            <a:avLst/>
          </a:prstGeom>
          <a:noFill/>
          <a:ln/>
        </p:spPr>
        <p:txBody>
          <a:bodyPr wrap="square" lIns="0" tIns="0" rIns="0" bIns="0" rtlCol="0" anchor="ctr"/>
          <a:lstStyle/>
          <a:p>
            <a:pPr indent="0" marL="0">
              <a:buNone/>
            </a:pPr>
            <a:r>
              <a:rPr lang="en-US" sz="850" dirty="0">
                <a:solidFill>
                  <a:srgbClr val="0D1B2A"/>
                </a:solidFill>
                <a:latin typeface="Courier New" pitchFamily="34" charset="0"/>
                <a:ea typeface="Courier New" pitchFamily="34" charset="-122"/>
                <a:cs typeface="Courier New" pitchFamily="34" charset="-120"/>
              </a:rPr>
              <a:t>This is a full-stack web application built with...</a:t>
            </a:r>
            <a:endParaRPr lang="en-US" sz="850" dirty="0"/>
          </a:p>
        </p:txBody>
      </p:sp>
      <p:sp>
        <p:nvSpPr>
          <p:cNvPr id="12" name="Text 10"/>
          <p:cNvSpPr/>
          <p:nvPr/>
        </p:nvSpPr>
        <p:spPr>
          <a:xfrm>
            <a:off x="3090672" y="2066544"/>
            <a:ext cx="1207008" cy="182880"/>
          </a:xfrm>
          <a:prstGeom prst="rect">
            <a:avLst/>
          </a:prstGeom>
          <a:noFill/>
          <a:ln/>
        </p:spPr>
        <p:txBody>
          <a:bodyPr wrap="square" lIns="0" tIns="0" rIns="0" bIns="0" rtlCol="0" anchor="ctr"/>
          <a:lstStyle/>
          <a:p>
            <a:pPr indent="0" marL="0">
              <a:buNone/>
            </a:pPr>
            <a:r>
              <a:rPr lang="en-US" sz="800" i="1" dirty="0">
                <a:solidFill>
                  <a:srgbClr val="EF4444"/>
                </a:solidFill>
                <a:latin typeface="Calibri" pitchFamily="34" charset="0"/>
                <a:ea typeface="Calibri" pitchFamily="34" charset="-122"/>
                <a:cs typeface="Calibri" pitchFamily="34" charset="-120"/>
              </a:rPr>
              <a:t>← LLM-generated</a:t>
            </a:r>
            <a:endParaRPr lang="en-US" sz="800" dirty="0"/>
          </a:p>
        </p:txBody>
      </p:sp>
      <p:sp>
        <p:nvSpPr>
          <p:cNvPr id="13" name="Text 11"/>
          <p:cNvSpPr/>
          <p:nvPr/>
        </p:nvSpPr>
        <p:spPr>
          <a:xfrm>
            <a:off x="411480" y="2263140"/>
            <a:ext cx="2651760" cy="182880"/>
          </a:xfrm>
          <a:prstGeom prst="rect">
            <a:avLst/>
          </a:prstGeom>
          <a:noFill/>
          <a:ln/>
        </p:spPr>
        <p:txBody>
          <a:bodyPr wrap="square" lIns="0" tIns="0" rIns="0" bIns="0" rtlCol="0" anchor="ctr"/>
          <a:lstStyle/>
          <a:p>
            <a:pPr indent="0" marL="0">
              <a:buNone/>
            </a:pPr>
            <a:r>
              <a:rPr lang="en-US" sz="850" dirty="0">
                <a:solidFill>
                  <a:srgbClr val="0D1B2A"/>
                </a:solidFill>
                <a:latin typeface="Courier New" pitchFamily="34" charset="0"/>
                <a:ea typeface="Courier New" pitchFamily="34" charset="-122"/>
                <a:cs typeface="Courier New" pitchFamily="34" charset="-120"/>
              </a:rPr>
              <a:t>We follow best practices for modern development...</a:t>
            </a:r>
            <a:endParaRPr lang="en-US" sz="850" dirty="0"/>
          </a:p>
        </p:txBody>
      </p:sp>
      <p:sp>
        <p:nvSpPr>
          <p:cNvPr id="14" name="Text 12"/>
          <p:cNvSpPr/>
          <p:nvPr/>
        </p:nvSpPr>
        <p:spPr>
          <a:xfrm>
            <a:off x="411480" y="2459736"/>
            <a:ext cx="2651760" cy="182880"/>
          </a:xfrm>
          <a:prstGeom prst="rect">
            <a:avLst/>
          </a:prstGeom>
          <a:noFill/>
          <a:ln/>
        </p:spPr>
        <p:txBody>
          <a:bodyPr wrap="square" lIns="0" tIns="0" rIns="0" bIns="0" rtlCol="0" anchor="ctr"/>
          <a:lstStyle/>
          <a:p>
            <a:pPr indent="0" marL="0">
              <a:buNone/>
            </a:pPr>
            <a:r>
              <a:rPr lang="en-US" sz="850" dirty="0">
                <a:solidFill>
                  <a:srgbClr val="0D1B2A"/>
                </a:solidFill>
                <a:latin typeface="Courier New" pitchFamily="34" charset="0"/>
                <a:ea typeface="Courier New" pitchFamily="34" charset="-122"/>
                <a:cs typeface="Courier New" pitchFamily="34" charset="-120"/>
              </a:rPr>
              <a:t>Always write clean, maintainable, readable code.</a:t>
            </a:r>
            <a:endParaRPr lang="en-US" sz="850" dirty="0"/>
          </a:p>
        </p:txBody>
      </p:sp>
      <p:sp>
        <p:nvSpPr>
          <p:cNvPr id="15" name="Text 13"/>
          <p:cNvSpPr/>
          <p:nvPr/>
        </p:nvSpPr>
        <p:spPr>
          <a:xfrm>
            <a:off x="3090672" y="2459736"/>
            <a:ext cx="1207008" cy="182880"/>
          </a:xfrm>
          <a:prstGeom prst="rect">
            <a:avLst/>
          </a:prstGeom>
          <a:noFill/>
          <a:ln/>
        </p:spPr>
        <p:txBody>
          <a:bodyPr wrap="square" lIns="0" tIns="0" rIns="0" bIns="0" rtlCol="0" anchor="ctr"/>
          <a:lstStyle/>
          <a:p>
            <a:pPr indent="0" marL="0">
              <a:buNone/>
            </a:pPr>
            <a:r>
              <a:rPr lang="en-US" sz="800" i="1" dirty="0">
                <a:solidFill>
                  <a:srgbClr val="EF4444"/>
                </a:solidFill>
                <a:latin typeface="Calibri" pitchFamily="34" charset="0"/>
                <a:ea typeface="Calibri" pitchFamily="34" charset="-122"/>
                <a:cs typeface="Calibri" pitchFamily="34" charset="-120"/>
              </a:rPr>
              <a:t>← vague filler</a:t>
            </a:r>
            <a:endParaRPr lang="en-US" sz="800" dirty="0"/>
          </a:p>
        </p:txBody>
      </p:sp>
      <p:sp>
        <p:nvSpPr>
          <p:cNvPr id="16" name="Text 14"/>
          <p:cNvSpPr/>
          <p:nvPr/>
        </p:nvSpPr>
        <p:spPr>
          <a:xfrm>
            <a:off x="411480" y="2656332"/>
            <a:ext cx="2651760" cy="182880"/>
          </a:xfrm>
          <a:prstGeom prst="rect">
            <a:avLst/>
          </a:prstGeom>
          <a:noFill/>
          <a:ln/>
        </p:spPr>
        <p:txBody>
          <a:bodyPr wrap="square" lIns="0" tIns="0" rIns="0" bIns="0" rtlCol="0" anchor="ctr"/>
          <a:lstStyle/>
          <a:p>
            <a:pPr indent="0" marL="0">
              <a:buNone/>
            </a:pPr>
            <a:r>
              <a:rPr lang="en-US" sz="850" dirty="0">
                <a:solidFill>
                  <a:srgbClr val="0D1B2A"/>
                </a:solidFill>
                <a:latin typeface="Courier New" pitchFamily="34" charset="0"/>
                <a:ea typeface="Courier New" pitchFamily="34" charset="-122"/>
                <a:cs typeface="Courier New" pitchFamily="34" charset="-120"/>
              </a:rPr>
              <a:t>## Frontend Rules (React + TypeScript)</a:t>
            </a:r>
            <a:endParaRPr lang="en-US" sz="850" dirty="0"/>
          </a:p>
        </p:txBody>
      </p:sp>
      <p:sp>
        <p:nvSpPr>
          <p:cNvPr id="17" name="Text 15"/>
          <p:cNvSpPr/>
          <p:nvPr/>
        </p:nvSpPr>
        <p:spPr>
          <a:xfrm>
            <a:off x="411480" y="2852928"/>
            <a:ext cx="2651760" cy="182880"/>
          </a:xfrm>
          <a:prstGeom prst="rect">
            <a:avLst/>
          </a:prstGeom>
          <a:noFill/>
          <a:ln/>
        </p:spPr>
        <p:txBody>
          <a:bodyPr wrap="square" lIns="0" tIns="0" rIns="0" bIns="0" rtlCol="0" anchor="ctr"/>
          <a:lstStyle/>
          <a:p>
            <a:pPr indent="0" marL="0">
              <a:buNone/>
            </a:pPr>
            <a:r>
              <a:rPr lang="en-US" sz="850" dirty="0">
                <a:solidFill>
                  <a:srgbClr val="0D1B2A"/>
                </a:solidFill>
                <a:latin typeface="Courier New" pitchFamily="34" charset="0"/>
                <a:ea typeface="Courier New" pitchFamily="34" charset="-122"/>
                <a:cs typeface="Courier New" pitchFamily="34" charset="-120"/>
              </a:rPr>
              <a:t>Use functional components and hooks always.</a:t>
            </a:r>
            <a:endParaRPr lang="en-US" sz="850" dirty="0"/>
          </a:p>
        </p:txBody>
      </p:sp>
      <p:sp>
        <p:nvSpPr>
          <p:cNvPr id="18" name="Text 16"/>
          <p:cNvSpPr/>
          <p:nvPr/>
        </p:nvSpPr>
        <p:spPr>
          <a:xfrm>
            <a:off x="411480" y="3049524"/>
            <a:ext cx="2651760" cy="182880"/>
          </a:xfrm>
          <a:prstGeom prst="rect">
            <a:avLst/>
          </a:prstGeom>
          <a:noFill/>
          <a:ln/>
        </p:spPr>
        <p:txBody>
          <a:bodyPr wrap="square" lIns="0" tIns="0" rIns="0" bIns="0" rtlCol="0" anchor="ctr"/>
          <a:lstStyle/>
          <a:p>
            <a:pPr indent="0" marL="0">
              <a:buNone/>
            </a:pPr>
            <a:r>
              <a:rPr lang="en-US" sz="850" dirty="0">
                <a:solidFill>
                  <a:srgbClr val="0D1B2A"/>
                </a:solidFill>
                <a:latin typeface="Courier New" pitchFamily="34" charset="0"/>
                <a:ea typeface="Courier New" pitchFamily="34" charset="-122"/>
                <a:cs typeface="Courier New" pitchFamily="34" charset="-120"/>
              </a:rPr>
              <a:t>Always add PropTypes or TypeScript interfaces.</a:t>
            </a:r>
            <a:endParaRPr lang="en-US" sz="850" dirty="0"/>
          </a:p>
        </p:txBody>
      </p:sp>
      <p:sp>
        <p:nvSpPr>
          <p:cNvPr id="19" name="Text 17"/>
          <p:cNvSpPr/>
          <p:nvPr/>
        </p:nvSpPr>
        <p:spPr>
          <a:xfrm>
            <a:off x="411480" y="3246120"/>
            <a:ext cx="2651760" cy="182880"/>
          </a:xfrm>
          <a:prstGeom prst="rect">
            <a:avLst/>
          </a:prstGeom>
          <a:noFill/>
          <a:ln/>
        </p:spPr>
        <p:txBody>
          <a:bodyPr wrap="square" lIns="0" tIns="0" rIns="0" bIns="0" rtlCol="0" anchor="ctr"/>
          <a:lstStyle/>
          <a:p>
            <a:pPr indent="0" marL="0">
              <a:buNone/>
            </a:pPr>
            <a:r>
              <a:rPr lang="en-US" sz="850" dirty="0">
                <a:solidFill>
                  <a:srgbClr val="0D1B2A"/>
                </a:solidFill>
                <a:latin typeface="Courier New" pitchFamily="34" charset="0"/>
                <a:ea typeface="Courier New" pitchFamily="34" charset="-122"/>
                <a:cs typeface="Courier New" pitchFamily="34" charset="-120"/>
              </a:rPr>
              <a:t>## Backend Rules (Python/Django)</a:t>
            </a:r>
            <a:endParaRPr lang="en-US" sz="850" dirty="0"/>
          </a:p>
        </p:txBody>
      </p:sp>
      <p:sp>
        <p:nvSpPr>
          <p:cNvPr id="20" name="Text 18"/>
          <p:cNvSpPr/>
          <p:nvPr/>
        </p:nvSpPr>
        <p:spPr>
          <a:xfrm>
            <a:off x="3090672" y="3246120"/>
            <a:ext cx="1207008" cy="182880"/>
          </a:xfrm>
          <a:prstGeom prst="rect">
            <a:avLst/>
          </a:prstGeom>
          <a:noFill/>
          <a:ln/>
        </p:spPr>
        <p:txBody>
          <a:bodyPr wrap="square" lIns="0" tIns="0" rIns="0" bIns="0" rtlCol="0" anchor="ctr"/>
          <a:lstStyle/>
          <a:p>
            <a:pPr indent="0" marL="0">
              <a:buNone/>
            </a:pPr>
            <a:r>
              <a:rPr lang="en-US" sz="800" i="1" dirty="0">
                <a:solidFill>
                  <a:srgbClr val="EF4444"/>
                </a:solidFill>
                <a:latin typeface="Calibri" pitchFamily="34" charset="0"/>
                <a:ea typeface="Calibri" pitchFamily="34" charset="-122"/>
                <a:cs typeface="Calibri" pitchFamily="34" charset="-120"/>
              </a:rPr>
              <a:t>← loads for .tsx too!</a:t>
            </a:r>
            <a:endParaRPr lang="en-US" sz="800" dirty="0"/>
          </a:p>
        </p:txBody>
      </p:sp>
      <p:sp>
        <p:nvSpPr>
          <p:cNvPr id="21" name="Text 19"/>
          <p:cNvSpPr/>
          <p:nvPr/>
        </p:nvSpPr>
        <p:spPr>
          <a:xfrm>
            <a:off x="411480" y="3442716"/>
            <a:ext cx="2651760" cy="182880"/>
          </a:xfrm>
          <a:prstGeom prst="rect">
            <a:avLst/>
          </a:prstGeom>
          <a:noFill/>
          <a:ln/>
        </p:spPr>
        <p:txBody>
          <a:bodyPr wrap="square" lIns="0" tIns="0" rIns="0" bIns="0" rtlCol="0" anchor="ctr"/>
          <a:lstStyle/>
          <a:p>
            <a:pPr indent="0" marL="0">
              <a:buNone/>
            </a:pPr>
            <a:r>
              <a:rPr lang="en-US" sz="850" dirty="0">
                <a:solidFill>
                  <a:srgbClr val="0D1B2A"/>
                </a:solidFill>
                <a:latin typeface="Courier New" pitchFamily="34" charset="0"/>
                <a:ea typeface="Courier New" pitchFamily="34" charset="-122"/>
                <a:cs typeface="Courier New" pitchFamily="34" charset="-120"/>
              </a:rPr>
              <a:t>Use Django ORM, avoid raw SQL queries.</a:t>
            </a:r>
            <a:endParaRPr lang="en-US" sz="850" dirty="0"/>
          </a:p>
        </p:txBody>
      </p:sp>
      <p:sp>
        <p:nvSpPr>
          <p:cNvPr id="22" name="Text 20"/>
          <p:cNvSpPr/>
          <p:nvPr/>
        </p:nvSpPr>
        <p:spPr>
          <a:xfrm>
            <a:off x="411480" y="3639312"/>
            <a:ext cx="2651760" cy="182880"/>
          </a:xfrm>
          <a:prstGeom prst="rect">
            <a:avLst/>
          </a:prstGeom>
          <a:noFill/>
          <a:ln/>
        </p:spPr>
        <p:txBody>
          <a:bodyPr wrap="square" lIns="0" tIns="0" rIns="0" bIns="0" rtlCol="0" anchor="ctr"/>
          <a:lstStyle/>
          <a:p>
            <a:pPr indent="0" marL="0">
              <a:buNone/>
            </a:pPr>
            <a:r>
              <a:rPr lang="en-US" sz="850" dirty="0">
                <a:solidFill>
                  <a:srgbClr val="0D1B2A"/>
                </a:solidFill>
                <a:latin typeface="Courier New" pitchFamily="34" charset="0"/>
                <a:ea typeface="Courier New" pitchFamily="34" charset="-122"/>
                <a:cs typeface="Courier New" pitchFamily="34" charset="-120"/>
              </a:rPr>
              <a:t>Follow PEP8 style guidelines throughout.</a:t>
            </a:r>
            <a:endParaRPr lang="en-US" sz="850" dirty="0"/>
          </a:p>
        </p:txBody>
      </p:sp>
      <p:sp>
        <p:nvSpPr>
          <p:cNvPr id="23" name="Text 21"/>
          <p:cNvSpPr/>
          <p:nvPr/>
        </p:nvSpPr>
        <p:spPr>
          <a:xfrm>
            <a:off x="411480" y="3835908"/>
            <a:ext cx="2651760" cy="182880"/>
          </a:xfrm>
          <a:prstGeom prst="rect">
            <a:avLst/>
          </a:prstGeom>
          <a:noFill/>
          <a:ln/>
        </p:spPr>
        <p:txBody>
          <a:bodyPr wrap="square" lIns="0" tIns="0" rIns="0" bIns="0" rtlCol="0" anchor="ctr"/>
          <a:lstStyle/>
          <a:p>
            <a:pPr indent="0" marL="0">
              <a:buNone/>
            </a:pPr>
            <a:r>
              <a:rPr lang="en-US" sz="850" dirty="0">
                <a:solidFill>
                  <a:srgbClr val="0D1B2A"/>
                </a:solidFill>
                <a:latin typeface="Courier New" pitchFamily="34" charset="0"/>
                <a:ea typeface="Courier New" pitchFamily="34" charset="-122"/>
                <a:cs typeface="Courier New" pitchFamily="34" charset="-120"/>
              </a:rPr>
              <a:t>## SQL / Database</a:t>
            </a:r>
            <a:endParaRPr lang="en-US" sz="850" dirty="0"/>
          </a:p>
        </p:txBody>
      </p:sp>
      <p:sp>
        <p:nvSpPr>
          <p:cNvPr id="24" name="Text 22"/>
          <p:cNvSpPr/>
          <p:nvPr/>
        </p:nvSpPr>
        <p:spPr>
          <a:xfrm>
            <a:off x="3090672" y="3835908"/>
            <a:ext cx="1207008" cy="182880"/>
          </a:xfrm>
          <a:prstGeom prst="rect">
            <a:avLst/>
          </a:prstGeom>
          <a:noFill/>
          <a:ln/>
        </p:spPr>
        <p:txBody>
          <a:bodyPr wrap="square" lIns="0" tIns="0" rIns="0" bIns="0" rtlCol="0" anchor="ctr"/>
          <a:lstStyle/>
          <a:p>
            <a:pPr indent="0" marL="0">
              <a:buNone/>
            </a:pPr>
            <a:r>
              <a:rPr lang="en-US" sz="800" i="1" dirty="0">
                <a:solidFill>
                  <a:srgbClr val="EF4444"/>
                </a:solidFill>
                <a:latin typeface="Calibri" pitchFamily="34" charset="0"/>
                <a:ea typeface="Calibri" pitchFamily="34" charset="-122"/>
                <a:cs typeface="Calibri" pitchFamily="34" charset="-120"/>
              </a:rPr>
              <a:t>← loads for .py too!</a:t>
            </a:r>
            <a:endParaRPr lang="en-US" sz="800" dirty="0"/>
          </a:p>
        </p:txBody>
      </p:sp>
      <p:sp>
        <p:nvSpPr>
          <p:cNvPr id="25" name="Text 23"/>
          <p:cNvSpPr/>
          <p:nvPr/>
        </p:nvSpPr>
        <p:spPr>
          <a:xfrm>
            <a:off x="411480" y="4032504"/>
            <a:ext cx="2651760" cy="182880"/>
          </a:xfrm>
          <a:prstGeom prst="rect">
            <a:avLst/>
          </a:prstGeom>
          <a:noFill/>
          <a:ln/>
        </p:spPr>
        <p:txBody>
          <a:bodyPr wrap="square" lIns="0" tIns="0" rIns="0" bIns="0" rtlCol="0" anchor="ctr"/>
          <a:lstStyle/>
          <a:p>
            <a:pPr indent="0" marL="0">
              <a:buNone/>
            </a:pPr>
            <a:r>
              <a:rPr lang="en-US" sz="850" dirty="0">
                <a:solidFill>
                  <a:srgbClr val="0D1B2A"/>
                </a:solidFill>
                <a:latin typeface="Courier New" pitchFamily="34" charset="0"/>
                <a:ea typeface="Courier New" pitchFamily="34" charset="-122"/>
                <a:cs typeface="Courier New" pitchFamily="34" charset="-120"/>
              </a:rPr>
              <a:t>... 56 more lines of mixed rules ...</a:t>
            </a:r>
            <a:endParaRPr lang="en-US" sz="850" dirty="0"/>
          </a:p>
        </p:txBody>
      </p:sp>
      <p:sp>
        <p:nvSpPr>
          <p:cNvPr id="26" name="Text 24"/>
          <p:cNvSpPr/>
          <p:nvPr/>
        </p:nvSpPr>
        <p:spPr>
          <a:xfrm>
            <a:off x="3090672" y="4032504"/>
            <a:ext cx="1207008" cy="182880"/>
          </a:xfrm>
          <a:prstGeom prst="rect">
            <a:avLst/>
          </a:prstGeom>
          <a:noFill/>
          <a:ln/>
        </p:spPr>
        <p:txBody>
          <a:bodyPr wrap="square" lIns="0" tIns="0" rIns="0" bIns="0" rtlCol="0" anchor="ctr"/>
          <a:lstStyle/>
          <a:p>
            <a:pPr indent="0" marL="0">
              <a:buNone/>
            </a:pPr>
            <a:r>
              <a:rPr lang="en-US" sz="800" i="1" dirty="0">
                <a:solidFill>
                  <a:srgbClr val="EF4444"/>
                </a:solidFill>
                <a:latin typeface="Calibri" pitchFamily="34" charset="0"/>
                <a:ea typeface="Calibri" pitchFamily="34" charset="-122"/>
                <a:cs typeface="Calibri" pitchFamily="34" charset="-120"/>
              </a:rPr>
              <a:t>← all paid every request</a:t>
            </a:r>
            <a:endParaRPr lang="en-US" sz="800" dirty="0"/>
          </a:p>
        </p:txBody>
      </p:sp>
      <p:sp>
        <p:nvSpPr>
          <p:cNvPr id="27" name="Shape 25"/>
          <p:cNvSpPr/>
          <p:nvPr/>
        </p:nvSpPr>
        <p:spPr>
          <a:xfrm>
            <a:off x="320040" y="4114800"/>
            <a:ext cx="4069080" cy="292608"/>
          </a:xfrm>
          <a:prstGeom prst="roundRect">
            <a:avLst>
              <a:gd name="adj" fmla="val 15625"/>
            </a:avLst>
          </a:prstGeom>
          <a:solidFill>
            <a:srgbClr val="EF4444">
              <a:alpha val="12000"/>
            </a:srgbClr>
          </a:solidFill>
          <a:ln w="12700">
            <a:solidFill>
              <a:srgbClr val="EF4444">
                <a:alpha val="40000"/>
              </a:srgbClr>
            </a:solidFill>
            <a:prstDash val="solid"/>
          </a:ln>
        </p:spPr>
      </p:sp>
      <p:sp>
        <p:nvSpPr>
          <p:cNvPr id="28" name="Text 26"/>
          <p:cNvSpPr/>
          <p:nvPr/>
        </p:nvSpPr>
        <p:spPr>
          <a:xfrm>
            <a:off x="320040" y="4114800"/>
            <a:ext cx="4069080" cy="292608"/>
          </a:xfrm>
          <a:prstGeom prst="rect">
            <a:avLst/>
          </a:prstGeom>
          <a:noFill/>
          <a:ln/>
        </p:spPr>
        <p:txBody>
          <a:bodyPr wrap="square" lIns="0" tIns="0" rIns="0" bIns="0" rtlCol="0" anchor="ctr"/>
          <a:lstStyle/>
          <a:p>
            <a:pPr algn="ctr" indent="0" marL="0">
              <a:buNone/>
            </a:pPr>
            <a:r>
              <a:rPr lang="en-US" sz="950" b="1" dirty="0">
                <a:solidFill>
                  <a:srgbClr val="EF4444"/>
                </a:solidFill>
                <a:latin typeface="Calibri" pitchFamily="34" charset="0"/>
                <a:ea typeface="Calibri" pitchFamily="34" charset="-122"/>
                <a:cs typeface="Calibri" pitchFamily="34" charset="-120"/>
              </a:rPr>
              <a:t>68 lines × 10 devs × 100 req/day = 68,000 lines paid daily</a:t>
            </a:r>
            <a:endParaRPr lang="en-US" sz="950" dirty="0"/>
          </a:p>
        </p:txBody>
      </p:sp>
      <p:sp>
        <p:nvSpPr>
          <p:cNvPr id="29" name="Text 27"/>
          <p:cNvSpPr/>
          <p:nvPr/>
        </p:nvSpPr>
        <p:spPr>
          <a:xfrm>
            <a:off x="4507992" y="2560320"/>
            <a:ext cx="457200" cy="640080"/>
          </a:xfrm>
          <a:prstGeom prst="rect">
            <a:avLst/>
          </a:prstGeom>
          <a:noFill/>
          <a:ln/>
        </p:spPr>
        <p:txBody>
          <a:bodyPr wrap="square" lIns="0" tIns="0" rIns="0" bIns="0" rtlCol="0" anchor="ctr"/>
          <a:lstStyle/>
          <a:p>
            <a:pPr algn="ctr" indent="0" marL="0">
              <a:buNone/>
            </a:pPr>
            <a:r>
              <a:rPr lang="en-US" sz="1100" b="1" dirty="0">
                <a:solidFill>
                  <a:srgbClr val="10B981"/>
                </a:solidFill>
                <a:latin typeface="Calibri" pitchFamily="34" charset="0"/>
                <a:ea typeface="Calibri" pitchFamily="34" charset="-122"/>
                <a:cs typeface="Calibri" pitchFamily="34" charset="-120"/>
              </a:rPr>
              <a:t>→</a:t>
            </a:r>
            <a:endParaRPr lang="en-US" sz="1100" dirty="0"/>
          </a:p>
          <a:p>
            <a:pPr algn="ctr" indent="0" marL="0">
              <a:buNone/>
            </a:pPr>
            <a:r>
              <a:rPr lang="en-US" sz="1100" b="1" dirty="0">
                <a:solidFill>
                  <a:srgbClr val="10B981"/>
                </a:solidFill>
                <a:latin typeface="Calibri" pitchFamily="34" charset="0"/>
                <a:ea typeface="Calibri" pitchFamily="34" charset="-122"/>
                <a:cs typeface="Calibri" pitchFamily="34" charset="-120"/>
              </a:rPr>
              <a:t>Fix it</a:t>
            </a:r>
            <a:endParaRPr lang="en-US" sz="1100" dirty="0"/>
          </a:p>
        </p:txBody>
      </p:sp>
      <p:sp>
        <p:nvSpPr>
          <p:cNvPr id="30" name="Shape 28"/>
          <p:cNvSpPr/>
          <p:nvPr/>
        </p:nvSpPr>
        <p:spPr>
          <a:xfrm>
            <a:off x="4709160" y="1143000"/>
            <a:ext cx="4160520" cy="3337560"/>
          </a:xfrm>
          <a:prstGeom prst="roundRect">
            <a:avLst>
              <a:gd name="adj" fmla="val 2740"/>
            </a:avLst>
          </a:prstGeom>
          <a:solidFill>
            <a:srgbClr val="F0FDF4"/>
          </a:solidFill>
          <a:ln w="12700">
            <a:solidFill>
              <a:srgbClr val="10B981">
                <a:alpha val="50000"/>
              </a:srgbClr>
            </a:solidFill>
            <a:prstDash val="solid"/>
          </a:ln>
          <a:effectLst>
            <a:outerShdw sx="100000" sy="100000" kx="0" ky="0" algn="bl" rotWithShape="0" blurRad="101600" dist="38100" dir="2700000">
              <a:srgbClr val="000000">
                <a:alpha val="12000"/>
              </a:srgbClr>
            </a:outerShdw>
          </a:effectLst>
        </p:spPr>
      </p:sp>
      <p:sp>
        <p:nvSpPr>
          <p:cNvPr id="31" name="Shape 29"/>
          <p:cNvSpPr/>
          <p:nvPr/>
        </p:nvSpPr>
        <p:spPr>
          <a:xfrm>
            <a:off x="4709160" y="1143000"/>
            <a:ext cx="4160520" cy="438912"/>
          </a:xfrm>
          <a:prstGeom prst="roundRect">
            <a:avLst>
              <a:gd name="adj" fmla="val 20833"/>
            </a:avLst>
          </a:prstGeom>
          <a:solidFill>
            <a:srgbClr val="10B981"/>
          </a:solidFill>
          <a:ln w="12700">
            <a:solidFill>
              <a:srgbClr val="10B981"/>
            </a:solidFill>
            <a:prstDash val="solid"/>
          </a:ln>
        </p:spPr>
      </p:sp>
      <p:sp>
        <p:nvSpPr>
          <p:cNvPr id="32" name="Text 30"/>
          <p:cNvSpPr/>
          <p:nvPr/>
        </p:nvSpPr>
        <p:spPr>
          <a:xfrm>
            <a:off x="4709160" y="1143000"/>
            <a:ext cx="4160520" cy="438912"/>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  Lean (9 lines)</a:t>
            </a:r>
            <a:endParaRPr lang="en-US" sz="1300" dirty="0"/>
          </a:p>
        </p:txBody>
      </p:sp>
      <p:sp>
        <p:nvSpPr>
          <p:cNvPr id="33" name="Text 31"/>
          <p:cNvSpPr/>
          <p:nvPr/>
        </p:nvSpPr>
        <p:spPr>
          <a:xfrm>
            <a:off x="4846320" y="1673352"/>
            <a:ext cx="3886200" cy="246888"/>
          </a:xfrm>
          <a:prstGeom prst="rect">
            <a:avLst/>
          </a:prstGeom>
          <a:noFill/>
          <a:ln/>
        </p:spPr>
        <p:txBody>
          <a:bodyPr wrap="square" lIns="0" tIns="0" rIns="0" bIns="0" rtlCol="0" anchor="ctr"/>
          <a:lstStyle/>
          <a:p>
            <a:pPr indent="0" marL="0">
              <a:buNone/>
            </a:pPr>
            <a:r>
              <a:rPr lang="en-US" sz="900" b="1" dirty="0">
                <a:solidFill>
                  <a:srgbClr val="00C2CC"/>
                </a:solidFill>
                <a:latin typeface="Courier New" pitchFamily="34" charset="0"/>
                <a:ea typeface="Courier New" pitchFamily="34" charset="-122"/>
                <a:cs typeface="Courier New" pitchFamily="34" charset="-120"/>
              </a:rPr>
              <a:t># Copilot Instructions</a:t>
            </a:r>
            <a:endParaRPr lang="en-US" sz="900" dirty="0"/>
          </a:p>
        </p:txBody>
      </p:sp>
      <p:sp>
        <p:nvSpPr>
          <p:cNvPr id="34" name="Text 32"/>
          <p:cNvSpPr/>
          <p:nvPr/>
        </p:nvSpPr>
        <p:spPr>
          <a:xfrm>
            <a:off x="4846320" y="1933956"/>
            <a:ext cx="3886200" cy="246888"/>
          </a:xfrm>
          <a:prstGeom prst="rect">
            <a:avLst/>
          </a:prstGeom>
          <a:noFill/>
          <a:ln/>
        </p:spPr>
        <p:txBody>
          <a:bodyPr wrap="square" lIns="0" tIns="0" rIns="0" bIns="0" rtlCol="0" anchor="ctr"/>
          <a:lstStyle/>
          <a:p>
            <a:pPr indent="0" marL="0">
              <a:buNone/>
            </a:pPr>
            <a:r>
              <a:rPr lang="en-US" sz="900" dirty="0">
                <a:solidFill>
                  <a:srgbClr val="0D1B2A"/>
                </a:solidFill>
                <a:latin typeface="Courier New" pitchFamily="34" charset="0"/>
                <a:ea typeface="Courier New" pitchFamily="34" charset="-122"/>
                <a:cs typeface="Courier New" pitchFamily="34" charset="-120"/>
              </a:rPr>
              <a:t>- Stack: React/TS frontend, Python/Django backend</a:t>
            </a:r>
            <a:endParaRPr lang="en-US" sz="900" dirty="0"/>
          </a:p>
        </p:txBody>
      </p:sp>
      <p:sp>
        <p:nvSpPr>
          <p:cNvPr id="35" name="Text 33"/>
          <p:cNvSpPr/>
          <p:nvPr/>
        </p:nvSpPr>
        <p:spPr>
          <a:xfrm>
            <a:off x="4846320" y="2194560"/>
            <a:ext cx="3886200" cy="246888"/>
          </a:xfrm>
          <a:prstGeom prst="rect">
            <a:avLst/>
          </a:prstGeom>
          <a:noFill/>
          <a:ln/>
        </p:spPr>
        <p:txBody>
          <a:bodyPr wrap="square" lIns="0" tIns="0" rIns="0" bIns="0" rtlCol="0" anchor="ctr"/>
          <a:lstStyle/>
          <a:p>
            <a:pPr indent="0" marL="0">
              <a:buNone/>
            </a:pPr>
            <a:r>
              <a:rPr lang="en-US" sz="900" dirty="0">
                <a:solidFill>
                  <a:srgbClr val="0D1B2A"/>
                </a:solidFill>
                <a:latin typeface="Courier New" pitchFamily="34" charset="0"/>
                <a:ea typeface="Courier New" pitchFamily="34" charset="-122"/>
                <a:cs typeface="Courier New" pitchFamily="34" charset="-120"/>
              </a:rPr>
              <a:t>- Code only, no explanations</a:t>
            </a:r>
            <a:endParaRPr lang="en-US" sz="900" dirty="0"/>
          </a:p>
        </p:txBody>
      </p:sp>
      <p:sp>
        <p:nvSpPr>
          <p:cNvPr id="36" name="Text 34"/>
          <p:cNvSpPr/>
          <p:nvPr/>
        </p:nvSpPr>
        <p:spPr>
          <a:xfrm>
            <a:off x="4846320" y="2455164"/>
            <a:ext cx="3886200" cy="246888"/>
          </a:xfrm>
          <a:prstGeom prst="rect">
            <a:avLst/>
          </a:prstGeom>
          <a:noFill/>
          <a:ln/>
        </p:spPr>
        <p:txBody>
          <a:bodyPr wrap="square" lIns="0" tIns="0" rIns="0" bIns="0" rtlCol="0" anchor="ctr"/>
          <a:lstStyle/>
          <a:p>
            <a:pPr indent="0" marL="0">
              <a:buNone/>
            </a:pPr>
            <a:r>
              <a:rPr lang="en-US" sz="900" dirty="0">
                <a:solidFill>
                  <a:srgbClr val="0D1B2A"/>
                </a:solidFill>
                <a:latin typeface="Courier New" pitchFamily="34" charset="0"/>
                <a:ea typeface="Courier New" pitchFamily="34" charset="-122"/>
                <a:cs typeface="Courier New" pitchFamily="34" charset="-120"/>
              </a:rPr>
              <a:t>- No comments unless logic is non-obvious</a:t>
            </a:r>
            <a:endParaRPr lang="en-US" sz="900" dirty="0"/>
          </a:p>
        </p:txBody>
      </p:sp>
      <p:sp>
        <p:nvSpPr>
          <p:cNvPr id="37" name="Text 35"/>
          <p:cNvSpPr/>
          <p:nvPr/>
        </p:nvSpPr>
        <p:spPr>
          <a:xfrm>
            <a:off x="4846320" y="2715768"/>
            <a:ext cx="3886200" cy="246888"/>
          </a:xfrm>
          <a:prstGeom prst="rect">
            <a:avLst/>
          </a:prstGeom>
          <a:noFill/>
          <a:ln/>
        </p:spPr>
        <p:txBody>
          <a:bodyPr wrap="square" lIns="0" tIns="0" rIns="0" bIns="0" rtlCol="0" anchor="ctr"/>
          <a:lstStyle/>
          <a:p>
            <a:pPr indent="0" marL="0">
              <a:buNone/>
            </a:pPr>
            <a:r>
              <a:rPr lang="en-US" sz="900" dirty="0">
                <a:solidFill>
                  <a:srgbClr val="0D1B2A"/>
                </a:solidFill>
                <a:latin typeface="Courier New" pitchFamily="34" charset="0"/>
                <a:ea typeface="Courier New" pitchFamily="34" charset="-122"/>
                <a:cs typeface="Courier New" pitchFamily="34" charset="-120"/>
              </a:rPr>
              <a:t>- Prefer explicit types over 'any'</a:t>
            </a:r>
            <a:endParaRPr lang="en-US" sz="900" dirty="0"/>
          </a:p>
        </p:txBody>
      </p:sp>
      <p:sp>
        <p:nvSpPr>
          <p:cNvPr id="38" name="Text 36"/>
          <p:cNvSpPr/>
          <p:nvPr/>
        </p:nvSpPr>
        <p:spPr>
          <a:xfrm>
            <a:off x="4846320" y="2976372"/>
            <a:ext cx="3886200" cy="246888"/>
          </a:xfrm>
          <a:prstGeom prst="rect">
            <a:avLst/>
          </a:prstGeom>
          <a:noFill/>
          <a:ln/>
        </p:spPr>
        <p:txBody>
          <a:bodyPr wrap="square" lIns="0" tIns="0" rIns="0" bIns="0" rtlCol="0" anchor="ctr"/>
          <a:lstStyle/>
          <a:p>
            <a:pPr indent="0" marL="0">
              <a:buNone/>
            </a:pPr>
            <a:r>
              <a:rPr lang="en-US" sz="900" dirty="0">
                <a:solidFill>
                  <a:srgbClr val="0D1B2A"/>
                </a:solidFill>
                <a:latin typeface="Courier New" pitchFamily="34" charset="0"/>
                <a:ea typeface="Courier New" pitchFamily="34" charset="-122"/>
                <a:cs typeface="Courier New" pitchFamily="34" charset="-120"/>
              </a:rPr>
              <a:t>- Short functions, single responsibility</a:t>
            </a:r>
            <a:endParaRPr lang="en-US" sz="900" dirty="0"/>
          </a:p>
        </p:txBody>
      </p:sp>
      <p:sp>
        <p:nvSpPr>
          <p:cNvPr id="39" name="Text 37"/>
          <p:cNvSpPr/>
          <p:nvPr/>
        </p:nvSpPr>
        <p:spPr>
          <a:xfrm>
            <a:off x="4846320" y="3236976"/>
            <a:ext cx="3886200" cy="246888"/>
          </a:xfrm>
          <a:prstGeom prst="rect">
            <a:avLst/>
          </a:prstGeom>
          <a:noFill/>
          <a:ln/>
        </p:spPr>
        <p:txBody>
          <a:bodyPr wrap="square" lIns="0" tIns="0" rIns="0" bIns="0" rtlCol="0" anchor="ctr"/>
          <a:lstStyle/>
          <a:p>
            <a:pPr indent="0" marL="0">
              <a:buNone/>
            </a:pPr>
            <a:r>
              <a:rPr lang="en-US" sz="900" dirty="0">
                <a:solidFill>
                  <a:srgbClr val="0D1B2A"/>
                </a:solidFill>
                <a:latin typeface="Courier New" pitchFamily="34" charset="0"/>
                <a:ea typeface="Courier New" pitchFamily="34" charset="-122"/>
                <a:cs typeface="Courier New" pitchFamily="34" charset="-120"/>
              </a:rPr>
              <a:t>- Use existing project patterns</a:t>
            </a:r>
            <a:endParaRPr lang="en-US" sz="900" dirty="0"/>
          </a:p>
        </p:txBody>
      </p:sp>
      <p:sp>
        <p:nvSpPr>
          <p:cNvPr id="40" name="Text 38"/>
          <p:cNvSpPr/>
          <p:nvPr/>
        </p:nvSpPr>
        <p:spPr>
          <a:xfrm>
            <a:off x="4846320" y="3497580"/>
            <a:ext cx="3886200" cy="246888"/>
          </a:xfrm>
          <a:prstGeom prst="rect">
            <a:avLst/>
          </a:prstGeom>
          <a:noFill/>
          <a:ln/>
        </p:spPr>
        <p:txBody>
          <a:bodyPr wrap="square" lIns="0" tIns="0" rIns="0" bIns="0" rtlCol="0" anchor="ctr"/>
          <a:lstStyle/>
          <a:p>
            <a:pPr indent="0" marL="0">
              <a:buNone/>
            </a:pPr>
            <a:r>
              <a:rPr lang="en-US" sz="900" dirty="0">
                <a:solidFill>
                  <a:srgbClr val="0D1B2A"/>
                </a:solidFill>
                <a:latin typeface="Courier New" pitchFamily="34" charset="0"/>
                <a:ea typeface="Courier New" pitchFamily="34" charset="-122"/>
                <a:cs typeface="Courier New" pitchFamily="34" charset="-120"/>
              </a:rPr>
              <a:t>- No placeholder/TODO code</a:t>
            </a:r>
            <a:endParaRPr lang="en-US" sz="900" dirty="0"/>
          </a:p>
        </p:txBody>
      </p:sp>
      <p:sp>
        <p:nvSpPr>
          <p:cNvPr id="41" name="Text 39"/>
          <p:cNvSpPr/>
          <p:nvPr/>
        </p:nvSpPr>
        <p:spPr>
          <a:xfrm>
            <a:off x="4846320" y="3758184"/>
            <a:ext cx="3886200" cy="246888"/>
          </a:xfrm>
          <a:prstGeom prst="rect">
            <a:avLst/>
          </a:prstGeom>
          <a:noFill/>
          <a:ln/>
        </p:spPr>
        <p:txBody>
          <a:bodyPr wrap="square" lIns="0" tIns="0" rIns="0" bIns="0" rtlCol="0" anchor="ctr"/>
          <a:lstStyle/>
          <a:p>
            <a:pPr indent="0" marL="0">
              <a:buNone/>
            </a:pPr>
            <a:r>
              <a:rPr lang="en-US" sz="900" b="1" dirty="0">
                <a:solidFill>
                  <a:srgbClr val="00C2CC"/>
                </a:solidFill>
                <a:latin typeface="Courier New" pitchFamily="34" charset="0"/>
                <a:ea typeface="Courier New" pitchFamily="34" charset="-122"/>
                <a:cs typeface="Courier New" pitchFamily="34" charset="-120"/>
              </a:rPr>
              <a:t># (language rules live in /instructions/)</a:t>
            </a:r>
            <a:endParaRPr lang="en-US" sz="900" dirty="0"/>
          </a:p>
        </p:txBody>
      </p:sp>
      <p:sp>
        <p:nvSpPr>
          <p:cNvPr id="42" name="Shape 40"/>
          <p:cNvSpPr/>
          <p:nvPr/>
        </p:nvSpPr>
        <p:spPr>
          <a:xfrm>
            <a:off x="4754880" y="4114800"/>
            <a:ext cx="4069080" cy="292608"/>
          </a:xfrm>
          <a:prstGeom prst="roundRect">
            <a:avLst>
              <a:gd name="adj" fmla="val 15625"/>
            </a:avLst>
          </a:prstGeom>
          <a:solidFill>
            <a:srgbClr val="10B981">
              <a:alpha val="12000"/>
            </a:srgbClr>
          </a:solidFill>
          <a:ln w="12700">
            <a:solidFill>
              <a:srgbClr val="10B981">
                <a:alpha val="40000"/>
              </a:srgbClr>
            </a:solidFill>
            <a:prstDash val="solid"/>
          </a:ln>
        </p:spPr>
      </p:sp>
      <p:sp>
        <p:nvSpPr>
          <p:cNvPr id="43" name="Text 41"/>
          <p:cNvSpPr/>
          <p:nvPr/>
        </p:nvSpPr>
        <p:spPr>
          <a:xfrm>
            <a:off x="4754880" y="4114800"/>
            <a:ext cx="4069080" cy="292608"/>
          </a:xfrm>
          <a:prstGeom prst="rect">
            <a:avLst/>
          </a:prstGeom>
          <a:noFill/>
          <a:ln/>
        </p:spPr>
        <p:txBody>
          <a:bodyPr wrap="square" lIns="0" tIns="0" rIns="0" bIns="0" rtlCol="0" anchor="ctr"/>
          <a:lstStyle/>
          <a:p>
            <a:pPr algn="ctr" indent="0" marL="0">
              <a:buNone/>
            </a:pPr>
            <a:r>
              <a:rPr lang="en-US" sz="950" b="1" dirty="0">
                <a:solidFill>
                  <a:srgbClr val="10B981"/>
                </a:solidFill>
                <a:latin typeface="Calibri" pitchFamily="34" charset="0"/>
                <a:ea typeface="Calibri" pitchFamily="34" charset="-122"/>
                <a:cs typeface="Calibri" pitchFamily="34" charset="-120"/>
              </a:rPr>
              <a:t>9 lines × 10 devs × 100 req/day = 9,000 lines/day  →  87% reduction</a:t>
            </a:r>
            <a:endParaRPr lang="en-US" sz="950" dirty="0"/>
          </a:p>
        </p:txBody>
      </p:sp>
      <p:sp>
        <p:nvSpPr>
          <p:cNvPr id="44" name="Shape 42"/>
          <p:cNvSpPr/>
          <p:nvPr/>
        </p:nvSpPr>
        <p:spPr>
          <a:xfrm>
            <a:off x="0" y="4887468"/>
            <a:ext cx="1143000" cy="256032"/>
          </a:xfrm>
          <a:prstGeom prst="rect">
            <a:avLst/>
          </a:prstGeom>
          <a:solidFill>
            <a:srgbClr val="1A2E45"/>
          </a:solidFill>
          <a:ln w="12700">
            <a:solidFill>
              <a:srgbClr val="1A2E45"/>
            </a:solidFill>
            <a:prstDash val="solid"/>
          </a:ln>
        </p:spPr>
      </p:sp>
      <p:sp>
        <p:nvSpPr>
          <p:cNvPr id="45" name="Text 43"/>
          <p:cNvSpPr/>
          <p:nvPr/>
        </p:nvSpPr>
        <p:spPr>
          <a:xfrm>
            <a:off x="0" y="4887468"/>
            <a:ext cx="1143000" cy="256032"/>
          </a:xfrm>
          <a:prstGeom prst="rect">
            <a:avLst/>
          </a:prstGeom>
          <a:noFill/>
          <a:ln/>
        </p:spPr>
        <p:txBody>
          <a:bodyPr wrap="square" lIns="0" tIns="0" rIns="0" bIns="0" rtlCol="0" anchor="ctr"/>
          <a:lstStyle/>
          <a:p>
            <a:pPr algn="ctr" indent="0" marL="0">
              <a:buNone/>
            </a:pPr>
            <a:r>
              <a:rPr lang="en-US" sz="750" dirty="0">
                <a:solidFill>
                  <a:srgbClr val="3A5068"/>
                </a:solidFill>
                <a:latin typeface="Calibri" pitchFamily="34" charset="0"/>
                <a:ea typeface="Calibri" pitchFamily="34" charset="-122"/>
                <a:cs typeface="Calibri" pitchFamily="34" charset="-120"/>
              </a:rPr>
              <a:t>Overview</a:t>
            </a:r>
            <a:endParaRPr lang="en-US" sz="750" dirty="0"/>
          </a:p>
        </p:txBody>
      </p:sp>
      <p:sp>
        <p:nvSpPr>
          <p:cNvPr id="46" name="Shape 44"/>
          <p:cNvSpPr/>
          <p:nvPr/>
        </p:nvSpPr>
        <p:spPr>
          <a:xfrm>
            <a:off x="1143000" y="4887468"/>
            <a:ext cx="1143000" cy="256032"/>
          </a:xfrm>
          <a:prstGeom prst="rect">
            <a:avLst/>
          </a:prstGeom>
          <a:solidFill>
            <a:srgbClr val="EF4444"/>
          </a:solidFill>
          <a:ln w="12700">
            <a:solidFill>
              <a:srgbClr val="EF4444"/>
            </a:solidFill>
            <a:prstDash val="solid"/>
          </a:ln>
        </p:spPr>
      </p:sp>
      <p:sp>
        <p:nvSpPr>
          <p:cNvPr id="47" name="Text 45"/>
          <p:cNvSpPr/>
          <p:nvPr/>
        </p:nvSpPr>
        <p:spPr>
          <a:xfrm>
            <a:off x="1143000" y="4887468"/>
            <a:ext cx="1143000" cy="256032"/>
          </a:xfrm>
          <a:prstGeom prst="rect">
            <a:avLst/>
          </a:prstGeom>
          <a:noFill/>
          <a:ln/>
        </p:spPr>
        <p:txBody>
          <a:bodyPr wrap="square" lIns="0" tIns="0" rIns="0" bIns="0" rtlCol="0" anchor="ctr"/>
          <a:lstStyle/>
          <a:p>
            <a:pPr algn="ctr" indent="0" marL="0">
              <a:buNone/>
            </a:pPr>
            <a:r>
              <a:rPr lang="en-US" sz="750" b="1" dirty="0">
                <a:solidFill>
                  <a:srgbClr val="0D1B2A"/>
                </a:solidFill>
                <a:latin typeface="Calibri" pitchFamily="34" charset="0"/>
                <a:ea typeface="Calibri" pitchFamily="34" charset="-122"/>
                <a:cs typeface="Calibri" pitchFamily="34" charset="-120"/>
              </a:rPr>
              <a:t>Output Control</a:t>
            </a:r>
            <a:endParaRPr lang="en-US" sz="750" dirty="0"/>
          </a:p>
        </p:txBody>
      </p:sp>
      <p:sp>
        <p:nvSpPr>
          <p:cNvPr id="48" name="Shape 46"/>
          <p:cNvSpPr/>
          <p:nvPr/>
        </p:nvSpPr>
        <p:spPr>
          <a:xfrm>
            <a:off x="2286000" y="4887468"/>
            <a:ext cx="1143000" cy="256032"/>
          </a:xfrm>
          <a:prstGeom prst="rect">
            <a:avLst/>
          </a:prstGeom>
          <a:solidFill>
            <a:srgbClr val="1A2E45"/>
          </a:solidFill>
          <a:ln w="12700">
            <a:solidFill>
              <a:srgbClr val="1A2E45"/>
            </a:solidFill>
            <a:prstDash val="solid"/>
          </a:ln>
        </p:spPr>
      </p:sp>
      <p:sp>
        <p:nvSpPr>
          <p:cNvPr id="49" name="Text 47"/>
          <p:cNvSpPr/>
          <p:nvPr/>
        </p:nvSpPr>
        <p:spPr>
          <a:xfrm>
            <a:off x="2286000" y="4887468"/>
            <a:ext cx="1143000" cy="256032"/>
          </a:xfrm>
          <a:prstGeom prst="rect">
            <a:avLst/>
          </a:prstGeom>
          <a:noFill/>
          <a:ln/>
        </p:spPr>
        <p:txBody>
          <a:bodyPr wrap="square" lIns="0" tIns="0" rIns="0" bIns="0" rtlCol="0" anchor="ctr"/>
          <a:lstStyle/>
          <a:p>
            <a:pPr algn="ctr" indent="0" marL="0">
              <a:buNone/>
            </a:pPr>
            <a:r>
              <a:rPr lang="en-US" sz="750" dirty="0">
                <a:solidFill>
                  <a:srgbClr val="3A5068"/>
                </a:solidFill>
                <a:latin typeface="Calibri" pitchFamily="34" charset="0"/>
                <a:ea typeface="Calibri" pitchFamily="34" charset="-122"/>
                <a:cs typeface="Calibri" pitchFamily="34" charset="-120"/>
              </a:rPr>
              <a:t>Context &amp; Prompting</a:t>
            </a:r>
            <a:endParaRPr lang="en-US" sz="750" dirty="0"/>
          </a:p>
        </p:txBody>
      </p:sp>
      <p:sp>
        <p:nvSpPr>
          <p:cNvPr id="50" name="Shape 48"/>
          <p:cNvSpPr/>
          <p:nvPr/>
        </p:nvSpPr>
        <p:spPr>
          <a:xfrm>
            <a:off x="3429000" y="4887468"/>
            <a:ext cx="1143000" cy="256032"/>
          </a:xfrm>
          <a:prstGeom prst="rect">
            <a:avLst/>
          </a:prstGeom>
          <a:solidFill>
            <a:srgbClr val="1A2E45"/>
          </a:solidFill>
          <a:ln w="12700">
            <a:solidFill>
              <a:srgbClr val="1A2E45"/>
            </a:solidFill>
            <a:prstDash val="solid"/>
          </a:ln>
        </p:spPr>
      </p:sp>
      <p:sp>
        <p:nvSpPr>
          <p:cNvPr id="51" name="Text 49"/>
          <p:cNvSpPr/>
          <p:nvPr/>
        </p:nvSpPr>
        <p:spPr>
          <a:xfrm>
            <a:off x="3429000" y="4887468"/>
            <a:ext cx="1143000" cy="256032"/>
          </a:xfrm>
          <a:prstGeom prst="rect">
            <a:avLst/>
          </a:prstGeom>
          <a:noFill/>
          <a:ln/>
        </p:spPr>
        <p:txBody>
          <a:bodyPr wrap="square" lIns="0" tIns="0" rIns="0" bIns="0" rtlCol="0" anchor="ctr"/>
          <a:lstStyle/>
          <a:p>
            <a:pPr algn="ctr" indent="0" marL="0">
              <a:buNone/>
            </a:pPr>
            <a:r>
              <a:rPr lang="en-US" sz="750" dirty="0">
                <a:solidFill>
                  <a:srgbClr val="3A5068"/>
                </a:solidFill>
                <a:latin typeface="Calibri" pitchFamily="34" charset="0"/>
                <a:ea typeface="Calibri" pitchFamily="34" charset="-122"/>
                <a:cs typeface="Calibri" pitchFamily="34" charset="-120"/>
              </a:rPr>
              <a:t>Models &amp; Modes</a:t>
            </a:r>
            <a:endParaRPr lang="en-US" sz="750" dirty="0"/>
          </a:p>
        </p:txBody>
      </p:sp>
      <p:sp>
        <p:nvSpPr>
          <p:cNvPr id="52" name="Shape 50"/>
          <p:cNvSpPr/>
          <p:nvPr/>
        </p:nvSpPr>
        <p:spPr>
          <a:xfrm>
            <a:off x="4572000" y="4887468"/>
            <a:ext cx="1143000" cy="256032"/>
          </a:xfrm>
          <a:prstGeom prst="rect">
            <a:avLst/>
          </a:prstGeom>
          <a:solidFill>
            <a:srgbClr val="1A2E45"/>
          </a:solidFill>
          <a:ln w="12700">
            <a:solidFill>
              <a:srgbClr val="1A2E45"/>
            </a:solidFill>
            <a:prstDash val="solid"/>
          </a:ln>
        </p:spPr>
      </p:sp>
      <p:sp>
        <p:nvSpPr>
          <p:cNvPr id="53" name="Text 51"/>
          <p:cNvSpPr/>
          <p:nvPr/>
        </p:nvSpPr>
        <p:spPr>
          <a:xfrm>
            <a:off x="4572000" y="4887468"/>
            <a:ext cx="1143000" cy="256032"/>
          </a:xfrm>
          <a:prstGeom prst="rect">
            <a:avLst/>
          </a:prstGeom>
          <a:noFill/>
          <a:ln/>
        </p:spPr>
        <p:txBody>
          <a:bodyPr wrap="square" lIns="0" tIns="0" rIns="0" bIns="0" rtlCol="0" anchor="ctr"/>
          <a:lstStyle/>
          <a:p>
            <a:pPr algn="ctr" indent="0" marL="0">
              <a:buNone/>
            </a:pPr>
            <a:r>
              <a:rPr lang="en-US" sz="750" dirty="0">
                <a:solidFill>
                  <a:srgbClr val="3A5068"/>
                </a:solidFill>
                <a:latin typeface="Calibri" pitchFamily="34" charset="0"/>
                <a:ea typeface="Calibri" pitchFamily="34" charset="-122"/>
                <a:cs typeface="Calibri" pitchFamily="34" charset="-120"/>
              </a:rPr>
              <a:t>Governance</a:t>
            </a:r>
            <a:endParaRPr lang="en-US" sz="750" dirty="0"/>
          </a:p>
        </p:txBody>
      </p:sp>
      <p:sp>
        <p:nvSpPr>
          <p:cNvPr id="54" name="Shape 52"/>
          <p:cNvSpPr/>
          <p:nvPr/>
        </p:nvSpPr>
        <p:spPr>
          <a:xfrm>
            <a:off x="5715000" y="4887468"/>
            <a:ext cx="1143000" cy="256032"/>
          </a:xfrm>
          <a:prstGeom prst="rect">
            <a:avLst/>
          </a:prstGeom>
          <a:solidFill>
            <a:srgbClr val="1A2E45"/>
          </a:solidFill>
          <a:ln w="12700">
            <a:solidFill>
              <a:srgbClr val="1A2E45"/>
            </a:solidFill>
            <a:prstDash val="solid"/>
          </a:ln>
        </p:spPr>
      </p:sp>
      <p:sp>
        <p:nvSpPr>
          <p:cNvPr id="55" name="Text 53"/>
          <p:cNvSpPr/>
          <p:nvPr/>
        </p:nvSpPr>
        <p:spPr>
          <a:xfrm>
            <a:off x="5715000" y="4887468"/>
            <a:ext cx="1143000" cy="256032"/>
          </a:xfrm>
          <a:prstGeom prst="rect">
            <a:avLst/>
          </a:prstGeom>
          <a:noFill/>
          <a:ln/>
        </p:spPr>
        <p:txBody>
          <a:bodyPr wrap="square" lIns="0" tIns="0" rIns="0" bIns="0" rtlCol="0" anchor="ctr"/>
          <a:lstStyle/>
          <a:p>
            <a:pPr algn="ctr" indent="0" marL="0">
              <a:buNone/>
            </a:pPr>
            <a:r>
              <a:rPr lang="en-US" sz="750" dirty="0">
                <a:solidFill>
                  <a:srgbClr val="3A5068"/>
                </a:solidFill>
                <a:latin typeface="Calibri" pitchFamily="34" charset="0"/>
                <a:ea typeface="Calibri" pitchFamily="34" charset="-122"/>
                <a:cs typeface="Calibri" pitchFamily="34" charset="-120"/>
              </a:rPr>
              <a:t>Architecture</a:t>
            </a:r>
            <a:endParaRPr lang="en-US" sz="750" dirty="0"/>
          </a:p>
        </p:txBody>
      </p:sp>
      <p:sp>
        <p:nvSpPr>
          <p:cNvPr id="56" name="Shape 54"/>
          <p:cNvSpPr/>
          <p:nvPr/>
        </p:nvSpPr>
        <p:spPr>
          <a:xfrm>
            <a:off x="6858000" y="4887468"/>
            <a:ext cx="1143000" cy="256032"/>
          </a:xfrm>
          <a:prstGeom prst="rect">
            <a:avLst/>
          </a:prstGeom>
          <a:solidFill>
            <a:srgbClr val="1A2E45"/>
          </a:solidFill>
          <a:ln w="12700">
            <a:solidFill>
              <a:srgbClr val="1A2E45"/>
            </a:solidFill>
            <a:prstDash val="solid"/>
          </a:ln>
        </p:spPr>
      </p:sp>
      <p:sp>
        <p:nvSpPr>
          <p:cNvPr id="57" name="Text 55"/>
          <p:cNvSpPr/>
          <p:nvPr/>
        </p:nvSpPr>
        <p:spPr>
          <a:xfrm>
            <a:off x="6858000" y="4887468"/>
            <a:ext cx="1143000" cy="256032"/>
          </a:xfrm>
          <a:prstGeom prst="rect">
            <a:avLst/>
          </a:prstGeom>
          <a:noFill/>
          <a:ln/>
        </p:spPr>
        <p:txBody>
          <a:bodyPr wrap="square" lIns="0" tIns="0" rIns="0" bIns="0" rtlCol="0" anchor="ctr"/>
          <a:lstStyle/>
          <a:p>
            <a:pPr algn="ctr" indent="0" marL="0">
              <a:buNone/>
            </a:pPr>
            <a:r>
              <a:rPr lang="en-US" sz="750" dirty="0">
                <a:solidFill>
                  <a:srgbClr val="3A5068"/>
                </a:solidFill>
                <a:latin typeface="Calibri" pitchFamily="34" charset="0"/>
                <a:ea typeface="Calibri" pitchFamily="34" charset="-122"/>
                <a:cs typeface="Calibri" pitchFamily="34" charset="-120"/>
              </a:rPr>
              <a:t>Best Practices</a:t>
            </a:r>
            <a:endParaRPr lang="en-US" sz="750" dirty="0"/>
          </a:p>
        </p:txBody>
      </p:sp>
      <p:sp>
        <p:nvSpPr>
          <p:cNvPr id="58" name="Shape 56"/>
          <p:cNvSpPr/>
          <p:nvPr/>
        </p:nvSpPr>
        <p:spPr>
          <a:xfrm>
            <a:off x="8001000" y="4887468"/>
            <a:ext cx="1143000" cy="256032"/>
          </a:xfrm>
          <a:prstGeom prst="rect">
            <a:avLst/>
          </a:prstGeom>
          <a:solidFill>
            <a:srgbClr val="1A2E45"/>
          </a:solidFill>
          <a:ln w="12700">
            <a:solidFill>
              <a:srgbClr val="1A2E45"/>
            </a:solidFill>
            <a:prstDash val="solid"/>
          </a:ln>
        </p:spPr>
      </p:sp>
      <p:sp>
        <p:nvSpPr>
          <p:cNvPr id="59" name="Text 57"/>
          <p:cNvSpPr/>
          <p:nvPr/>
        </p:nvSpPr>
        <p:spPr>
          <a:xfrm>
            <a:off x="8001000" y="4887468"/>
            <a:ext cx="1143000" cy="256032"/>
          </a:xfrm>
          <a:prstGeom prst="rect">
            <a:avLst/>
          </a:prstGeom>
          <a:noFill/>
          <a:ln/>
        </p:spPr>
        <p:txBody>
          <a:bodyPr wrap="square" lIns="0" tIns="0" rIns="0" bIns="0" rtlCol="0" anchor="ctr"/>
          <a:lstStyle/>
          <a:p>
            <a:pPr algn="ctr" indent="0" marL="0">
              <a:buNone/>
            </a:pPr>
            <a:r>
              <a:rPr lang="en-US" sz="750" dirty="0">
                <a:solidFill>
                  <a:srgbClr val="3A5068"/>
                </a:solidFill>
                <a:latin typeface="Calibri" pitchFamily="34" charset="0"/>
                <a:ea typeface="Calibri" pitchFamily="34" charset="-122"/>
                <a:cs typeface="Calibri" pitchFamily="34" charset="-120"/>
              </a:rPr>
              <a:t>Reference</a:t>
            </a:r>
            <a:endParaRPr lang="en-US" sz="7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9144000" cy="749808"/>
          </a:xfrm>
          <a:prstGeom prst="rect">
            <a:avLst/>
          </a:prstGeom>
          <a:solidFill>
            <a:srgbClr val="008C94"/>
          </a:solidFill>
          <a:ln w="12700">
            <a:solidFill>
              <a:srgbClr val="008C94"/>
            </a:solidFill>
            <a:prstDash val="solid"/>
          </a:ln>
        </p:spPr>
      </p:sp>
      <p:sp>
        <p:nvSpPr>
          <p:cNvPr id="3" name="Text 1"/>
          <p:cNvSpPr/>
          <p:nvPr/>
        </p:nvSpPr>
        <p:spPr>
          <a:xfrm>
            <a:off x="365760" y="0"/>
            <a:ext cx="8412480" cy="749808"/>
          </a:xfrm>
          <a:prstGeom prst="rect">
            <a:avLst/>
          </a:prstGeom>
          <a:noFill/>
          <a:ln/>
        </p:spPr>
        <p:txBody>
          <a:bodyPr wrap="square" lIns="0" tIns="0" rIns="0" bIns="0" rtlCol="0" anchor="ctr"/>
          <a:lstStyle/>
          <a:p>
            <a:pPr indent="0" marL="0">
              <a:buNone/>
            </a:pPr>
            <a:r>
              <a:rPr lang="en-US" sz="1800" b="1" dirty="0">
                <a:solidFill>
                  <a:srgbClr val="FFFFFF"/>
                </a:solidFill>
                <a:latin typeface="Cambria" pitchFamily="34" charset="0"/>
                <a:ea typeface="Cambria" pitchFamily="34" charset="-122"/>
                <a:cs typeface="Cambria" pitchFamily="34" charset="-120"/>
              </a:rPr>
              <a:t>Token Cost: Bad Habits vs Optimized — Same Task, Real Numbers</a:t>
            </a:r>
            <a:endParaRPr lang="en-US" sz="1800" dirty="0"/>
          </a:p>
        </p:txBody>
      </p:sp>
      <p:sp>
        <p:nvSpPr>
          <p:cNvPr id="4" name="Text 2"/>
          <p:cNvSpPr/>
          <p:nvPr/>
        </p:nvSpPr>
        <p:spPr>
          <a:xfrm>
            <a:off x="365760" y="786384"/>
            <a:ext cx="8412480" cy="292608"/>
          </a:xfrm>
          <a:prstGeom prst="rect">
            <a:avLst/>
          </a:prstGeom>
          <a:noFill/>
          <a:ln/>
        </p:spPr>
        <p:txBody>
          <a:bodyPr wrap="square" rtlCol="0" anchor="ctr"/>
          <a:lstStyle/>
          <a:p>
            <a:pPr indent="0" marL="0">
              <a:buNone/>
            </a:pPr>
            <a:r>
              <a:rPr lang="en-US" sz="1150" i="1" dirty="0">
                <a:solidFill>
                  <a:srgbClr val="00C2CC"/>
                </a:solidFill>
                <a:latin typeface="Calibri" pitchFamily="34" charset="0"/>
                <a:ea typeface="Calibri" pitchFamily="34" charset="-122"/>
                <a:cs typeface="Calibri" pitchFamily="34" charset="-120"/>
              </a:rPr>
              <a:t>Task: generate a utility function to debounce API calls</a:t>
            </a:r>
            <a:endParaRPr lang="en-US" sz="1150" dirty="0"/>
          </a:p>
        </p:txBody>
      </p:sp>
      <p:sp>
        <p:nvSpPr>
          <p:cNvPr id="5" name="Shape 3"/>
          <p:cNvSpPr/>
          <p:nvPr/>
        </p:nvSpPr>
        <p:spPr>
          <a:xfrm>
            <a:off x="228600" y="1143000"/>
            <a:ext cx="1920240" cy="402336"/>
          </a:xfrm>
          <a:prstGeom prst="rect">
            <a:avLst/>
          </a:prstGeom>
          <a:solidFill>
            <a:srgbClr val="1A2E45"/>
          </a:solidFill>
          <a:ln w="12700">
            <a:solidFill>
              <a:srgbClr val="2A3F55"/>
            </a:solidFill>
            <a:prstDash val="solid"/>
          </a:ln>
        </p:spPr>
      </p:sp>
      <p:sp>
        <p:nvSpPr>
          <p:cNvPr id="6" name="Text 4"/>
          <p:cNvSpPr/>
          <p:nvPr/>
        </p:nvSpPr>
        <p:spPr>
          <a:xfrm>
            <a:off x="228600" y="1143000"/>
            <a:ext cx="1920240" cy="402336"/>
          </a:xfrm>
          <a:prstGeom prst="rect">
            <a:avLst/>
          </a:prstGeom>
          <a:noFill/>
          <a:ln/>
        </p:spPr>
        <p:txBody>
          <a:bodyPr wrap="square" lIns="0" tIns="0" rIns="0" bIns="0" rtlCol="0" anchor="ctr"/>
          <a:lstStyle/>
          <a:p>
            <a:pPr algn="ctr" indent="0" marL="0">
              <a:buNone/>
            </a:pPr>
            <a:r>
              <a:rPr lang="en-US" sz="1150" b="1" dirty="0">
                <a:solidFill>
                  <a:srgbClr val="00C2CC"/>
                </a:solidFill>
                <a:latin typeface="Calibri" pitchFamily="34" charset="0"/>
                <a:ea typeface="Calibri" pitchFamily="34" charset="-122"/>
                <a:cs typeface="Calibri" pitchFamily="34" charset="-120"/>
              </a:rPr>
              <a:t>Factor</a:t>
            </a:r>
            <a:endParaRPr lang="en-US" sz="1150" dirty="0"/>
          </a:p>
        </p:txBody>
      </p:sp>
      <p:sp>
        <p:nvSpPr>
          <p:cNvPr id="7" name="Shape 5"/>
          <p:cNvSpPr/>
          <p:nvPr/>
        </p:nvSpPr>
        <p:spPr>
          <a:xfrm>
            <a:off x="2176272" y="1143000"/>
            <a:ext cx="3017520" cy="402336"/>
          </a:xfrm>
          <a:prstGeom prst="rect">
            <a:avLst/>
          </a:prstGeom>
          <a:solidFill>
            <a:srgbClr val="1A2E45"/>
          </a:solidFill>
          <a:ln w="12700">
            <a:solidFill>
              <a:srgbClr val="2A3F55"/>
            </a:solidFill>
            <a:prstDash val="solid"/>
          </a:ln>
        </p:spPr>
      </p:sp>
      <p:sp>
        <p:nvSpPr>
          <p:cNvPr id="8" name="Text 6"/>
          <p:cNvSpPr/>
          <p:nvPr/>
        </p:nvSpPr>
        <p:spPr>
          <a:xfrm>
            <a:off x="2176272" y="1143000"/>
            <a:ext cx="3017520" cy="402336"/>
          </a:xfrm>
          <a:prstGeom prst="rect">
            <a:avLst/>
          </a:prstGeom>
          <a:noFill/>
          <a:ln/>
        </p:spPr>
        <p:txBody>
          <a:bodyPr wrap="square" lIns="0" tIns="0" rIns="0" bIns="0" rtlCol="0" anchor="ctr"/>
          <a:lstStyle/>
          <a:p>
            <a:pPr algn="ctr" indent="0" marL="0">
              <a:buNone/>
            </a:pPr>
            <a:r>
              <a:rPr lang="en-US" sz="1150" b="1" dirty="0">
                <a:solidFill>
                  <a:srgbClr val="00C2CC"/>
                </a:solidFill>
                <a:latin typeface="Calibri" pitchFamily="34" charset="0"/>
                <a:ea typeface="Calibri" pitchFamily="34" charset="-122"/>
                <a:cs typeface="Calibri" pitchFamily="34" charset="-120"/>
              </a:rPr>
              <a:t>❌  Bad Habits</a:t>
            </a:r>
            <a:endParaRPr lang="en-US" sz="1150" dirty="0"/>
          </a:p>
        </p:txBody>
      </p:sp>
      <p:sp>
        <p:nvSpPr>
          <p:cNvPr id="9" name="Shape 7"/>
          <p:cNvSpPr/>
          <p:nvPr/>
        </p:nvSpPr>
        <p:spPr>
          <a:xfrm>
            <a:off x="5230368" y="1143000"/>
            <a:ext cx="3017520" cy="402336"/>
          </a:xfrm>
          <a:prstGeom prst="rect">
            <a:avLst/>
          </a:prstGeom>
          <a:solidFill>
            <a:srgbClr val="1A2E45"/>
          </a:solidFill>
          <a:ln w="12700">
            <a:solidFill>
              <a:srgbClr val="2A3F55"/>
            </a:solidFill>
            <a:prstDash val="solid"/>
          </a:ln>
        </p:spPr>
      </p:sp>
      <p:sp>
        <p:nvSpPr>
          <p:cNvPr id="10" name="Text 8"/>
          <p:cNvSpPr/>
          <p:nvPr/>
        </p:nvSpPr>
        <p:spPr>
          <a:xfrm>
            <a:off x="5230368" y="1143000"/>
            <a:ext cx="3017520" cy="402336"/>
          </a:xfrm>
          <a:prstGeom prst="rect">
            <a:avLst/>
          </a:prstGeom>
          <a:noFill/>
          <a:ln/>
        </p:spPr>
        <p:txBody>
          <a:bodyPr wrap="square" lIns="0" tIns="0" rIns="0" bIns="0" rtlCol="0" anchor="ctr"/>
          <a:lstStyle/>
          <a:p>
            <a:pPr algn="ctr" indent="0" marL="0">
              <a:buNone/>
            </a:pPr>
            <a:r>
              <a:rPr lang="en-US" sz="1150" b="1" dirty="0">
                <a:solidFill>
                  <a:srgbClr val="00C2CC"/>
                </a:solidFill>
                <a:latin typeface="Calibri" pitchFamily="34" charset="0"/>
                <a:ea typeface="Calibri" pitchFamily="34" charset="-122"/>
                <a:cs typeface="Calibri" pitchFamily="34" charset="-120"/>
              </a:rPr>
              <a:t>✅  Optimized</a:t>
            </a:r>
            <a:endParaRPr lang="en-US" sz="1150" dirty="0"/>
          </a:p>
        </p:txBody>
      </p:sp>
      <p:sp>
        <p:nvSpPr>
          <p:cNvPr id="11" name="Shape 9"/>
          <p:cNvSpPr/>
          <p:nvPr/>
        </p:nvSpPr>
        <p:spPr>
          <a:xfrm>
            <a:off x="8275320" y="1143000"/>
            <a:ext cx="822960" cy="402336"/>
          </a:xfrm>
          <a:prstGeom prst="rect">
            <a:avLst/>
          </a:prstGeom>
          <a:solidFill>
            <a:srgbClr val="1A2E45"/>
          </a:solidFill>
          <a:ln w="12700">
            <a:solidFill>
              <a:srgbClr val="2A3F55"/>
            </a:solidFill>
            <a:prstDash val="solid"/>
          </a:ln>
        </p:spPr>
      </p:sp>
      <p:sp>
        <p:nvSpPr>
          <p:cNvPr id="12" name="Text 10"/>
          <p:cNvSpPr/>
          <p:nvPr/>
        </p:nvSpPr>
        <p:spPr>
          <a:xfrm>
            <a:off x="8275320" y="1143000"/>
            <a:ext cx="822960" cy="402336"/>
          </a:xfrm>
          <a:prstGeom prst="rect">
            <a:avLst/>
          </a:prstGeom>
          <a:noFill/>
          <a:ln/>
        </p:spPr>
        <p:txBody>
          <a:bodyPr wrap="square" lIns="0" tIns="0" rIns="0" bIns="0" rtlCol="0" anchor="ctr"/>
          <a:lstStyle/>
          <a:p>
            <a:pPr algn="ctr" indent="0" marL="0">
              <a:buNone/>
            </a:pPr>
            <a:r>
              <a:rPr lang="en-US" sz="1150" b="1" dirty="0">
                <a:solidFill>
                  <a:srgbClr val="00C2CC"/>
                </a:solidFill>
                <a:latin typeface="Calibri" pitchFamily="34" charset="0"/>
                <a:ea typeface="Calibri" pitchFamily="34" charset="-122"/>
                <a:cs typeface="Calibri" pitchFamily="34" charset="-120"/>
              </a:rPr>
              <a:t>Saving</a:t>
            </a:r>
            <a:endParaRPr lang="en-US" sz="1150" dirty="0"/>
          </a:p>
        </p:txBody>
      </p:sp>
      <p:sp>
        <p:nvSpPr>
          <p:cNvPr id="13" name="Shape 11"/>
          <p:cNvSpPr/>
          <p:nvPr/>
        </p:nvSpPr>
        <p:spPr>
          <a:xfrm>
            <a:off x="228600" y="1572768"/>
            <a:ext cx="1920240" cy="457200"/>
          </a:xfrm>
          <a:prstGeom prst="rect">
            <a:avLst/>
          </a:prstGeom>
          <a:solidFill>
            <a:srgbClr val="1A2E45"/>
          </a:solidFill>
          <a:ln w="12700">
            <a:solidFill>
              <a:srgbClr val="2A3F55"/>
            </a:solidFill>
            <a:prstDash val="solid"/>
          </a:ln>
        </p:spPr>
      </p:sp>
      <p:sp>
        <p:nvSpPr>
          <p:cNvPr id="14" name="Text 12"/>
          <p:cNvSpPr/>
          <p:nvPr/>
        </p:nvSpPr>
        <p:spPr>
          <a:xfrm>
            <a:off x="274320" y="1572768"/>
            <a:ext cx="1828800" cy="457200"/>
          </a:xfrm>
          <a:prstGeom prst="rect">
            <a:avLst/>
          </a:prstGeom>
          <a:noFill/>
          <a:ln/>
        </p:spPr>
        <p:txBody>
          <a:bodyPr wrap="square" lIns="0" tIns="0" rIns="0" bIns="0" rtlCol="0" anchor="ctr"/>
          <a:lstStyle/>
          <a:p>
            <a:pPr algn="ctr" indent="0" marL="0">
              <a:buNone/>
            </a:pPr>
            <a:r>
              <a:rPr lang="en-US" sz="1050" b="1" dirty="0">
                <a:solidFill>
                  <a:srgbClr val="8EAFC7"/>
                </a:solidFill>
                <a:latin typeface="Calibri" pitchFamily="34" charset="0"/>
                <a:ea typeface="Calibri" pitchFamily="34" charset="-122"/>
                <a:cs typeface="Calibri" pitchFamily="34" charset="-120"/>
              </a:rPr>
              <a:t>Instructions file</a:t>
            </a:r>
            <a:endParaRPr lang="en-US" sz="1050" dirty="0"/>
          </a:p>
        </p:txBody>
      </p:sp>
      <p:sp>
        <p:nvSpPr>
          <p:cNvPr id="15" name="Shape 13"/>
          <p:cNvSpPr/>
          <p:nvPr/>
        </p:nvSpPr>
        <p:spPr>
          <a:xfrm>
            <a:off x="2176272" y="1572768"/>
            <a:ext cx="3017520" cy="457200"/>
          </a:xfrm>
          <a:prstGeom prst="rect">
            <a:avLst/>
          </a:prstGeom>
          <a:solidFill>
            <a:srgbClr val="1A2E45"/>
          </a:solidFill>
          <a:ln w="12700">
            <a:solidFill>
              <a:srgbClr val="2A3F55"/>
            </a:solidFill>
            <a:prstDash val="solid"/>
          </a:ln>
        </p:spPr>
      </p:sp>
      <p:sp>
        <p:nvSpPr>
          <p:cNvPr id="16" name="Text 14"/>
          <p:cNvSpPr/>
          <p:nvPr/>
        </p:nvSpPr>
        <p:spPr>
          <a:xfrm>
            <a:off x="2221992" y="1572768"/>
            <a:ext cx="2926080" cy="457200"/>
          </a:xfrm>
          <a:prstGeom prst="rect">
            <a:avLst/>
          </a:prstGeom>
          <a:noFill/>
          <a:ln/>
        </p:spPr>
        <p:txBody>
          <a:bodyPr wrap="square" lIns="0" tIns="0" rIns="0" bIns="0" rtlCol="0" anchor="ctr"/>
          <a:lstStyle/>
          <a:p>
            <a:pPr algn="ctr" indent="0" marL="0">
              <a:buNone/>
            </a:pPr>
            <a:r>
              <a:rPr lang="en-US" sz="1050" dirty="0">
                <a:solidFill>
                  <a:srgbClr val="FCA5A5"/>
                </a:solidFill>
                <a:latin typeface="Calibri" pitchFamily="34" charset="0"/>
                <a:ea typeface="Calibri" pitchFamily="34" charset="-122"/>
                <a:cs typeface="Calibri" pitchFamily="34" charset="-120"/>
              </a:rPr>
              <a:t>68 lines injected</a:t>
            </a:r>
            <a:endParaRPr lang="en-US" sz="1050" dirty="0"/>
          </a:p>
          <a:p>
            <a:pPr algn="ctr" indent="0" marL="0">
              <a:buNone/>
            </a:pPr>
            <a:r>
              <a:rPr lang="en-US" sz="1050" dirty="0">
                <a:solidFill>
                  <a:srgbClr val="FCA5A5"/>
                </a:solidFill>
                <a:latin typeface="Calibri" pitchFamily="34" charset="0"/>
                <a:ea typeface="Calibri" pitchFamily="34" charset="-122"/>
                <a:cs typeface="Calibri" pitchFamily="34" charset="-120"/>
              </a:rPr>
              <a:t>≈ 510 tokens</a:t>
            </a:r>
            <a:endParaRPr lang="en-US" sz="1050" dirty="0"/>
          </a:p>
        </p:txBody>
      </p:sp>
      <p:sp>
        <p:nvSpPr>
          <p:cNvPr id="17" name="Shape 15"/>
          <p:cNvSpPr/>
          <p:nvPr/>
        </p:nvSpPr>
        <p:spPr>
          <a:xfrm>
            <a:off x="5230368" y="1572768"/>
            <a:ext cx="3017520" cy="457200"/>
          </a:xfrm>
          <a:prstGeom prst="rect">
            <a:avLst/>
          </a:prstGeom>
          <a:solidFill>
            <a:srgbClr val="1A2E45"/>
          </a:solidFill>
          <a:ln w="12700">
            <a:solidFill>
              <a:srgbClr val="2A3F55"/>
            </a:solidFill>
            <a:prstDash val="solid"/>
          </a:ln>
        </p:spPr>
      </p:sp>
      <p:sp>
        <p:nvSpPr>
          <p:cNvPr id="18" name="Text 16"/>
          <p:cNvSpPr/>
          <p:nvPr/>
        </p:nvSpPr>
        <p:spPr>
          <a:xfrm>
            <a:off x="5276088" y="1572768"/>
            <a:ext cx="2926080" cy="457200"/>
          </a:xfrm>
          <a:prstGeom prst="rect">
            <a:avLst/>
          </a:prstGeom>
          <a:noFill/>
          <a:ln/>
        </p:spPr>
        <p:txBody>
          <a:bodyPr wrap="square" lIns="0" tIns="0" rIns="0" bIns="0" rtlCol="0" anchor="ctr"/>
          <a:lstStyle/>
          <a:p>
            <a:pPr algn="ctr" indent="0" marL="0">
              <a:buNone/>
            </a:pPr>
            <a:r>
              <a:rPr lang="en-US" sz="1050" dirty="0">
                <a:solidFill>
                  <a:srgbClr val="86EFAC"/>
                </a:solidFill>
                <a:latin typeface="Calibri" pitchFamily="34" charset="0"/>
                <a:ea typeface="Calibri" pitchFamily="34" charset="-122"/>
                <a:cs typeface="Calibri" pitchFamily="34" charset="-120"/>
              </a:rPr>
              <a:t>9 lines injected</a:t>
            </a:r>
            <a:endParaRPr lang="en-US" sz="1050" dirty="0"/>
          </a:p>
          <a:p>
            <a:pPr algn="ctr" indent="0" marL="0">
              <a:buNone/>
            </a:pPr>
            <a:r>
              <a:rPr lang="en-US" sz="1050" dirty="0">
                <a:solidFill>
                  <a:srgbClr val="86EFAC"/>
                </a:solidFill>
                <a:latin typeface="Calibri" pitchFamily="34" charset="0"/>
                <a:ea typeface="Calibri" pitchFamily="34" charset="-122"/>
                <a:cs typeface="Calibri" pitchFamily="34" charset="-120"/>
              </a:rPr>
              <a:t>≈ 68 tokens</a:t>
            </a:r>
            <a:endParaRPr lang="en-US" sz="1050" dirty="0"/>
          </a:p>
        </p:txBody>
      </p:sp>
      <p:sp>
        <p:nvSpPr>
          <p:cNvPr id="19" name="Shape 17"/>
          <p:cNvSpPr/>
          <p:nvPr/>
        </p:nvSpPr>
        <p:spPr>
          <a:xfrm>
            <a:off x="8275320" y="1572768"/>
            <a:ext cx="822960" cy="457200"/>
          </a:xfrm>
          <a:prstGeom prst="rect">
            <a:avLst/>
          </a:prstGeom>
          <a:solidFill>
            <a:srgbClr val="1A2E45"/>
          </a:solidFill>
          <a:ln w="12700">
            <a:solidFill>
              <a:srgbClr val="2A3F55"/>
            </a:solidFill>
            <a:prstDash val="solid"/>
          </a:ln>
        </p:spPr>
      </p:sp>
      <p:sp>
        <p:nvSpPr>
          <p:cNvPr id="20" name="Text 18"/>
          <p:cNvSpPr/>
          <p:nvPr/>
        </p:nvSpPr>
        <p:spPr>
          <a:xfrm>
            <a:off x="8321040" y="1572768"/>
            <a:ext cx="731520" cy="457200"/>
          </a:xfrm>
          <a:prstGeom prst="rect">
            <a:avLst/>
          </a:prstGeom>
          <a:noFill/>
          <a:ln/>
        </p:spPr>
        <p:txBody>
          <a:bodyPr wrap="square" lIns="0" tIns="0" rIns="0" bIns="0" rtlCol="0" anchor="ctr"/>
          <a:lstStyle/>
          <a:p>
            <a:pPr algn="ctr" indent="0" marL="0">
              <a:buNone/>
            </a:pPr>
            <a:r>
              <a:rPr lang="en-US" sz="1050" b="1" dirty="0">
                <a:solidFill>
                  <a:srgbClr val="10B981"/>
                </a:solidFill>
                <a:latin typeface="Calibri" pitchFamily="34" charset="0"/>
                <a:ea typeface="Calibri" pitchFamily="34" charset="-122"/>
                <a:cs typeface="Calibri" pitchFamily="34" charset="-120"/>
              </a:rPr>
              <a:t>87%</a:t>
            </a:r>
            <a:endParaRPr lang="en-US" sz="1050" dirty="0"/>
          </a:p>
        </p:txBody>
      </p:sp>
      <p:sp>
        <p:nvSpPr>
          <p:cNvPr id="21" name="Shape 19"/>
          <p:cNvSpPr/>
          <p:nvPr/>
        </p:nvSpPr>
        <p:spPr>
          <a:xfrm>
            <a:off x="228600" y="2057400"/>
            <a:ext cx="1920240" cy="457200"/>
          </a:xfrm>
          <a:prstGeom prst="rect">
            <a:avLst/>
          </a:prstGeom>
          <a:solidFill>
            <a:srgbClr val="0F2336"/>
          </a:solidFill>
          <a:ln w="12700">
            <a:solidFill>
              <a:srgbClr val="2A3F55"/>
            </a:solidFill>
            <a:prstDash val="solid"/>
          </a:ln>
        </p:spPr>
      </p:sp>
      <p:sp>
        <p:nvSpPr>
          <p:cNvPr id="22" name="Text 20"/>
          <p:cNvSpPr/>
          <p:nvPr/>
        </p:nvSpPr>
        <p:spPr>
          <a:xfrm>
            <a:off x="274320" y="2057400"/>
            <a:ext cx="1828800" cy="457200"/>
          </a:xfrm>
          <a:prstGeom prst="rect">
            <a:avLst/>
          </a:prstGeom>
          <a:noFill/>
          <a:ln/>
        </p:spPr>
        <p:txBody>
          <a:bodyPr wrap="square" lIns="0" tIns="0" rIns="0" bIns="0" rtlCol="0" anchor="ctr"/>
          <a:lstStyle/>
          <a:p>
            <a:pPr algn="ctr" indent="0" marL="0">
              <a:buNone/>
            </a:pPr>
            <a:r>
              <a:rPr lang="en-US" sz="1050" b="1" dirty="0">
                <a:solidFill>
                  <a:srgbClr val="8EAFC7"/>
                </a:solidFill>
                <a:latin typeface="Calibri" pitchFamily="34" charset="0"/>
                <a:ea typeface="Calibri" pitchFamily="34" charset="-122"/>
                <a:cs typeface="Calibri" pitchFamily="34" charset="-120"/>
              </a:rPr>
              <a:t>Open tabs / context</a:t>
            </a:r>
            <a:endParaRPr lang="en-US" sz="1050" dirty="0"/>
          </a:p>
        </p:txBody>
      </p:sp>
      <p:sp>
        <p:nvSpPr>
          <p:cNvPr id="23" name="Shape 21"/>
          <p:cNvSpPr/>
          <p:nvPr/>
        </p:nvSpPr>
        <p:spPr>
          <a:xfrm>
            <a:off x="2176272" y="2057400"/>
            <a:ext cx="3017520" cy="457200"/>
          </a:xfrm>
          <a:prstGeom prst="rect">
            <a:avLst/>
          </a:prstGeom>
          <a:solidFill>
            <a:srgbClr val="0F2336"/>
          </a:solidFill>
          <a:ln w="12700">
            <a:solidFill>
              <a:srgbClr val="2A3F55"/>
            </a:solidFill>
            <a:prstDash val="solid"/>
          </a:ln>
        </p:spPr>
      </p:sp>
      <p:sp>
        <p:nvSpPr>
          <p:cNvPr id="24" name="Text 22"/>
          <p:cNvSpPr/>
          <p:nvPr/>
        </p:nvSpPr>
        <p:spPr>
          <a:xfrm>
            <a:off x="2221992" y="2057400"/>
            <a:ext cx="2926080" cy="457200"/>
          </a:xfrm>
          <a:prstGeom prst="rect">
            <a:avLst/>
          </a:prstGeom>
          <a:noFill/>
          <a:ln/>
        </p:spPr>
        <p:txBody>
          <a:bodyPr wrap="square" lIns="0" tIns="0" rIns="0" bIns="0" rtlCol="0" anchor="ctr"/>
          <a:lstStyle/>
          <a:p>
            <a:pPr algn="ctr" indent="0" marL="0">
              <a:buNone/>
            </a:pPr>
            <a:r>
              <a:rPr lang="en-US" sz="1050" dirty="0">
                <a:solidFill>
                  <a:srgbClr val="FCA5A5"/>
                </a:solidFill>
                <a:latin typeface="Calibri" pitchFamily="34" charset="0"/>
                <a:ea typeface="Calibri" pitchFamily="34" charset="-122"/>
                <a:cs typeface="Calibri" pitchFamily="34" charset="-120"/>
              </a:rPr>
              <a:t>12 tabs open</a:t>
            </a:r>
            <a:endParaRPr lang="en-US" sz="1050" dirty="0"/>
          </a:p>
          <a:p>
            <a:pPr algn="ctr" indent="0" marL="0">
              <a:buNone/>
            </a:pPr>
            <a:r>
              <a:rPr lang="en-US" sz="1050" dirty="0">
                <a:solidFill>
                  <a:srgbClr val="FCA5A5"/>
                </a:solidFill>
                <a:latin typeface="Calibri" pitchFamily="34" charset="0"/>
                <a:ea typeface="Calibri" pitchFamily="34" charset="-122"/>
                <a:cs typeface="Calibri" pitchFamily="34" charset="-120"/>
              </a:rPr>
              <a:t>≈ 4,800 tokens</a:t>
            </a:r>
            <a:endParaRPr lang="en-US" sz="1050" dirty="0"/>
          </a:p>
        </p:txBody>
      </p:sp>
      <p:sp>
        <p:nvSpPr>
          <p:cNvPr id="25" name="Shape 23"/>
          <p:cNvSpPr/>
          <p:nvPr/>
        </p:nvSpPr>
        <p:spPr>
          <a:xfrm>
            <a:off x="5230368" y="2057400"/>
            <a:ext cx="3017520" cy="457200"/>
          </a:xfrm>
          <a:prstGeom prst="rect">
            <a:avLst/>
          </a:prstGeom>
          <a:solidFill>
            <a:srgbClr val="0F2336"/>
          </a:solidFill>
          <a:ln w="12700">
            <a:solidFill>
              <a:srgbClr val="2A3F55"/>
            </a:solidFill>
            <a:prstDash val="solid"/>
          </a:ln>
        </p:spPr>
      </p:sp>
      <p:sp>
        <p:nvSpPr>
          <p:cNvPr id="26" name="Text 24"/>
          <p:cNvSpPr/>
          <p:nvPr/>
        </p:nvSpPr>
        <p:spPr>
          <a:xfrm>
            <a:off x="5276088" y="2057400"/>
            <a:ext cx="2926080" cy="457200"/>
          </a:xfrm>
          <a:prstGeom prst="rect">
            <a:avLst/>
          </a:prstGeom>
          <a:noFill/>
          <a:ln/>
        </p:spPr>
        <p:txBody>
          <a:bodyPr wrap="square" lIns="0" tIns="0" rIns="0" bIns="0" rtlCol="0" anchor="ctr"/>
          <a:lstStyle/>
          <a:p>
            <a:pPr algn="ctr" indent="0" marL="0">
              <a:buNone/>
            </a:pPr>
            <a:r>
              <a:rPr lang="en-US" sz="1050" dirty="0">
                <a:solidFill>
                  <a:srgbClr val="86EFAC"/>
                </a:solidFill>
                <a:latin typeface="Calibri" pitchFamily="34" charset="0"/>
                <a:ea typeface="Calibri" pitchFamily="34" charset="-122"/>
                <a:cs typeface="Calibri" pitchFamily="34" charset="-120"/>
              </a:rPr>
              <a:t>3 relevant tabs</a:t>
            </a:r>
            <a:endParaRPr lang="en-US" sz="1050" dirty="0"/>
          </a:p>
          <a:p>
            <a:pPr algn="ctr" indent="0" marL="0">
              <a:buNone/>
            </a:pPr>
            <a:r>
              <a:rPr lang="en-US" sz="1050" dirty="0">
                <a:solidFill>
                  <a:srgbClr val="86EFAC"/>
                </a:solidFill>
                <a:latin typeface="Calibri" pitchFamily="34" charset="0"/>
                <a:ea typeface="Calibri" pitchFamily="34" charset="-122"/>
                <a:cs typeface="Calibri" pitchFamily="34" charset="-120"/>
              </a:rPr>
              <a:t>≈ 360 tokens</a:t>
            </a:r>
            <a:endParaRPr lang="en-US" sz="1050" dirty="0"/>
          </a:p>
        </p:txBody>
      </p:sp>
      <p:sp>
        <p:nvSpPr>
          <p:cNvPr id="27" name="Shape 25"/>
          <p:cNvSpPr/>
          <p:nvPr/>
        </p:nvSpPr>
        <p:spPr>
          <a:xfrm>
            <a:off x="8275320" y="2057400"/>
            <a:ext cx="822960" cy="457200"/>
          </a:xfrm>
          <a:prstGeom prst="rect">
            <a:avLst/>
          </a:prstGeom>
          <a:solidFill>
            <a:srgbClr val="0F2336"/>
          </a:solidFill>
          <a:ln w="12700">
            <a:solidFill>
              <a:srgbClr val="2A3F55"/>
            </a:solidFill>
            <a:prstDash val="solid"/>
          </a:ln>
        </p:spPr>
      </p:sp>
      <p:sp>
        <p:nvSpPr>
          <p:cNvPr id="28" name="Text 26"/>
          <p:cNvSpPr/>
          <p:nvPr/>
        </p:nvSpPr>
        <p:spPr>
          <a:xfrm>
            <a:off x="8321040" y="2057400"/>
            <a:ext cx="731520" cy="457200"/>
          </a:xfrm>
          <a:prstGeom prst="rect">
            <a:avLst/>
          </a:prstGeom>
          <a:noFill/>
          <a:ln/>
        </p:spPr>
        <p:txBody>
          <a:bodyPr wrap="square" lIns="0" tIns="0" rIns="0" bIns="0" rtlCol="0" anchor="ctr"/>
          <a:lstStyle/>
          <a:p>
            <a:pPr algn="ctr" indent="0" marL="0">
              <a:buNone/>
            </a:pPr>
            <a:r>
              <a:rPr lang="en-US" sz="1050" b="1" dirty="0">
                <a:solidFill>
                  <a:srgbClr val="10B981"/>
                </a:solidFill>
                <a:latin typeface="Calibri" pitchFamily="34" charset="0"/>
                <a:ea typeface="Calibri" pitchFamily="34" charset="-122"/>
                <a:cs typeface="Calibri" pitchFamily="34" charset="-120"/>
              </a:rPr>
              <a:t>93%</a:t>
            </a:r>
            <a:endParaRPr lang="en-US" sz="1050" dirty="0"/>
          </a:p>
        </p:txBody>
      </p:sp>
      <p:sp>
        <p:nvSpPr>
          <p:cNvPr id="29" name="Shape 27"/>
          <p:cNvSpPr/>
          <p:nvPr/>
        </p:nvSpPr>
        <p:spPr>
          <a:xfrm>
            <a:off x="228600" y="2542032"/>
            <a:ext cx="1920240" cy="457200"/>
          </a:xfrm>
          <a:prstGeom prst="rect">
            <a:avLst/>
          </a:prstGeom>
          <a:solidFill>
            <a:srgbClr val="1A2E45"/>
          </a:solidFill>
          <a:ln w="12700">
            <a:solidFill>
              <a:srgbClr val="2A3F55"/>
            </a:solidFill>
            <a:prstDash val="solid"/>
          </a:ln>
        </p:spPr>
      </p:sp>
      <p:sp>
        <p:nvSpPr>
          <p:cNvPr id="30" name="Text 28"/>
          <p:cNvSpPr/>
          <p:nvPr/>
        </p:nvSpPr>
        <p:spPr>
          <a:xfrm>
            <a:off x="274320" y="2542032"/>
            <a:ext cx="1828800" cy="457200"/>
          </a:xfrm>
          <a:prstGeom prst="rect">
            <a:avLst/>
          </a:prstGeom>
          <a:noFill/>
          <a:ln/>
        </p:spPr>
        <p:txBody>
          <a:bodyPr wrap="square" lIns="0" tIns="0" rIns="0" bIns="0" rtlCol="0" anchor="ctr"/>
          <a:lstStyle/>
          <a:p>
            <a:pPr algn="ctr" indent="0" marL="0">
              <a:buNone/>
            </a:pPr>
            <a:r>
              <a:rPr lang="en-US" sz="1050" b="1" dirty="0">
                <a:solidFill>
                  <a:srgbClr val="8EAFC7"/>
                </a:solidFill>
                <a:latin typeface="Calibri" pitchFamily="34" charset="0"/>
                <a:ea typeface="Calibri" pitchFamily="34" charset="-122"/>
                <a:cs typeface="Calibri" pitchFamily="34" charset="-120"/>
              </a:rPr>
              <a:t>Prompt style</a:t>
            </a:r>
            <a:endParaRPr lang="en-US" sz="1050" dirty="0"/>
          </a:p>
        </p:txBody>
      </p:sp>
      <p:sp>
        <p:nvSpPr>
          <p:cNvPr id="31" name="Shape 29"/>
          <p:cNvSpPr/>
          <p:nvPr/>
        </p:nvSpPr>
        <p:spPr>
          <a:xfrm>
            <a:off x="2176272" y="2542032"/>
            <a:ext cx="3017520" cy="457200"/>
          </a:xfrm>
          <a:prstGeom prst="rect">
            <a:avLst/>
          </a:prstGeom>
          <a:solidFill>
            <a:srgbClr val="1A2E45"/>
          </a:solidFill>
          <a:ln w="12700">
            <a:solidFill>
              <a:srgbClr val="2A3F55"/>
            </a:solidFill>
            <a:prstDash val="solid"/>
          </a:ln>
        </p:spPr>
      </p:sp>
      <p:sp>
        <p:nvSpPr>
          <p:cNvPr id="32" name="Text 30"/>
          <p:cNvSpPr/>
          <p:nvPr/>
        </p:nvSpPr>
        <p:spPr>
          <a:xfrm>
            <a:off x="2221992" y="2542032"/>
            <a:ext cx="2926080" cy="457200"/>
          </a:xfrm>
          <a:prstGeom prst="rect">
            <a:avLst/>
          </a:prstGeom>
          <a:noFill/>
          <a:ln/>
        </p:spPr>
        <p:txBody>
          <a:bodyPr wrap="square" lIns="0" tIns="0" rIns="0" bIns="0" rtlCol="0" anchor="ctr"/>
          <a:lstStyle/>
          <a:p>
            <a:pPr algn="ctr" indent="0" marL="0">
              <a:buNone/>
            </a:pPr>
            <a:r>
              <a:rPr lang="en-US" sz="1050" dirty="0">
                <a:solidFill>
                  <a:srgbClr val="FCA5A5"/>
                </a:solidFill>
                <a:latin typeface="Calibri" pitchFamily="34" charset="0"/>
                <a:ea typeface="Calibri" pitchFamily="34" charset="-122"/>
                <a:cs typeface="Calibri" pitchFamily="34" charset="-120"/>
              </a:rPr>
              <a:t>Verbose email-style</a:t>
            </a:r>
            <a:endParaRPr lang="en-US" sz="1050" dirty="0"/>
          </a:p>
          <a:p>
            <a:pPr algn="ctr" indent="0" marL="0">
              <a:buNone/>
            </a:pPr>
            <a:r>
              <a:rPr lang="en-US" sz="1050" dirty="0">
                <a:solidFill>
                  <a:srgbClr val="FCA5A5"/>
                </a:solidFill>
                <a:latin typeface="Calibri" pitchFamily="34" charset="0"/>
                <a:ea typeface="Calibri" pitchFamily="34" charset="-122"/>
                <a:cs typeface="Calibri" pitchFamily="34" charset="-120"/>
              </a:rPr>
              <a:t>≈ 85 tokens</a:t>
            </a:r>
            <a:endParaRPr lang="en-US" sz="1050" dirty="0"/>
          </a:p>
        </p:txBody>
      </p:sp>
      <p:sp>
        <p:nvSpPr>
          <p:cNvPr id="33" name="Shape 31"/>
          <p:cNvSpPr/>
          <p:nvPr/>
        </p:nvSpPr>
        <p:spPr>
          <a:xfrm>
            <a:off x="5230368" y="2542032"/>
            <a:ext cx="3017520" cy="457200"/>
          </a:xfrm>
          <a:prstGeom prst="rect">
            <a:avLst/>
          </a:prstGeom>
          <a:solidFill>
            <a:srgbClr val="1A2E45"/>
          </a:solidFill>
          <a:ln w="12700">
            <a:solidFill>
              <a:srgbClr val="2A3F55"/>
            </a:solidFill>
            <a:prstDash val="solid"/>
          </a:ln>
        </p:spPr>
      </p:sp>
      <p:sp>
        <p:nvSpPr>
          <p:cNvPr id="34" name="Text 32"/>
          <p:cNvSpPr/>
          <p:nvPr/>
        </p:nvSpPr>
        <p:spPr>
          <a:xfrm>
            <a:off x="5276088" y="2542032"/>
            <a:ext cx="2926080" cy="457200"/>
          </a:xfrm>
          <a:prstGeom prst="rect">
            <a:avLst/>
          </a:prstGeom>
          <a:noFill/>
          <a:ln/>
        </p:spPr>
        <p:txBody>
          <a:bodyPr wrap="square" lIns="0" tIns="0" rIns="0" bIns="0" rtlCol="0" anchor="ctr"/>
          <a:lstStyle/>
          <a:p>
            <a:pPr algn="ctr" indent="0" marL="0">
              <a:buNone/>
            </a:pPr>
            <a:r>
              <a:rPr lang="en-US" sz="1050" dirty="0">
                <a:solidFill>
                  <a:srgbClr val="86EFAC"/>
                </a:solidFill>
                <a:latin typeface="Calibri" pitchFamily="34" charset="0"/>
                <a:ea typeface="Calibri" pitchFamily="34" charset="-122"/>
                <a:cs typeface="Calibri" pitchFamily="34" charset="-120"/>
              </a:rPr>
              <a:t>Terse directive</a:t>
            </a:r>
            <a:endParaRPr lang="en-US" sz="1050" dirty="0"/>
          </a:p>
          <a:p>
            <a:pPr algn="ctr" indent="0" marL="0">
              <a:buNone/>
            </a:pPr>
            <a:r>
              <a:rPr lang="en-US" sz="1050" dirty="0">
                <a:solidFill>
                  <a:srgbClr val="86EFAC"/>
                </a:solidFill>
                <a:latin typeface="Calibri" pitchFamily="34" charset="0"/>
                <a:ea typeface="Calibri" pitchFamily="34" charset="-122"/>
                <a:cs typeface="Calibri" pitchFamily="34" charset="-120"/>
              </a:rPr>
              <a:t>≈ 12 tokens</a:t>
            </a:r>
            <a:endParaRPr lang="en-US" sz="1050" dirty="0"/>
          </a:p>
        </p:txBody>
      </p:sp>
      <p:sp>
        <p:nvSpPr>
          <p:cNvPr id="35" name="Shape 33"/>
          <p:cNvSpPr/>
          <p:nvPr/>
        </p:nvSpPr>
        <p:spPr>
          <a:xfrm>
            <a:off x="8275320" y="2542032"/>
            <a:ext cx="822960" cy="457200"/>
          </a:xfrm>
          <a:prstGeom prst="rect">
            <a:avLst/>
          </a:prstGeom>
          <a:solidFill>
            <a:srgbClr val="1A2E45"/>
          </a:solidFill>
          <a:ln w="12700">
            <a:solidFill>
              <a:srgbClr val="2A3F55"/>
            </a:solidFill>
            <a:prstDash val="solid"/>
          </a:ln>
        </p:spPr>
      </p:sp>
      <p:sp>
        <p:nvSpPr>
          <p:cNvPr id="36" name="Text 34"/>
          <p:cNvSpPr/>
          <p:nvPr/>
        </p:nvSpPr>
        <p:spPr>
          <a:xfrm>
            <a:off x="8321040" y="2542032"/>
            <a:ext cx="731520" cy="457200"/>
          </a:xfrm>
          <a:prstGeom prst="rect">
            <a:avLst/>
          </a:prstGeom>
          <a:noFill/>
          <a:ln/>
        </p:spPr>
        <p:txBody>
          <a:bodyPr wrap="square" lIns="0" tIns="0" rIns="0" bIns="0" rtlCol="0" anchor="ctr"/>
          <a:lstStyle/>
          <a:p>
            <a:pPr algn="ctr" indent="0" marL="0">
              <a:buNone/>
            </a:pPr>
            <a:r>
              <a:rPr lang="en-US" sz="1050" b="1" dirty="0">
                <a:solidFill>
                  <a:srgbClr val="10B981"/>
                </a:solidFill>
                <a:latin typeface="Calibri" pitchFamily="34" charset="0"/>
                <a:ea typeface="Calibri" pitchFamily="34" charset="-122"/>
                <a:cs typeface="Calibri" pitchFamily="34" charset="-120"/>
              </a:rPr>
              <a:t>86%</a:t>
            </a:r>
            <a:endParaRPr lang="en-US" sz="1050" dirty="0"/>
          </a:p>
        </p:txBody>
      </p:sp>
      <p:sp>
        <p:nvSpPr>
          <p:cNvPr id="37" name="Shape 35"/>
          <p:cNvSpPr/>
          <p:nvPr/>
        </p:nvSpPr>
        <p:spPr>
          <a:xfrm>
            <a:off x="228600" y="3026664"/>
            <a:ext cx="1920240" cy="457200"/>
          </a:xfrm>
          <a:prstGeom prst="rect">
            <a:avLst/>
          </a:prstGeom>
          <a:solidFill>
            <a:srgbClr val="0F2336"/>
          </a:solidFill>
          <a:ln w="12700">
            <a:solidFill>
              <a:srgbClr val="2A3F55"/>
            </a:solidFill>
            <a:prstDash val="solid"/>
          </a:ln>
        </p:spPr>
      </p:sp>
      <p:sp>
        <p:nvSpPr>
          <p:cNvPr id="38" name="Text 36"/>
          <p:cNvSpPr/>
          <p:nvPr/>
        </p:nvSpPr>
        <p:spPr>
          <a:xfrm>
            <a:off x="274320" y="3026664"/>
            <a:ext cx="1828800" cy="457200"/>
          </a:xfrm>
          <a:prstGeom prst="rect">
            <a:avLst/>
          </a:prstGeom>
          <a:noFill/>
          <a:ln/>
        </p:spPr>
        <p:txBody>
          <a:bodyPr wrap="square" lIns="0" tIns="0" rIns="0" bIns="0" rtlCol="0" anchor="ctr"/>
          <a:lstStyle/>
          <a:p>
            <a:pPr algn="ctr" indent="0" marL="0">
              <a:buNone/>
            </a:pPr>
            <a:r>
              <a:rPr lang="en-US" sz="1050" b="1" dirty="0">
                <a:solidFill>
                  <a:srgbClr val="8EAFC7"/>
                </a:solidFill>
                <a:latin typeface="Calibri" pitchFamily="34" charset="0"/>
                <a:ea typeface="Calibri" pitchFamily="34" charset="-122"/>
                <a:cs typeface="Calibri" pitchFamily="34" charset="-120"/>
              </a:rPr>
              <a:t>Model selected</a:t>
            </a:r>
            <a:endParaRPr lang="en-US" sz="1050" dirty="0"/>
          </a:p>
        </p:txBody>
      </p:sp>
      <p:sp>
        <p:nvSpPr>
          <p:cNvPr id="39" name="Shape 37"/>
          <p:cNvSpPr/>
          <p:nvPr/>
        </p:nvSpPr>
        <p:spPr>
          <a:xfrm>
            <a:off x="2176272" y="3026664"/>
            <a:ext cx="3017520" cy="457200"/>
          </a:xfrm>
          <a:prstGeom prst="rect">
            <a:avLst/>
          </a:prstGeom>
          <a:solidFill>
            <a:srgbClr val="0F2336"/>
          </a:solidFill>
          <a:ln w="12700">
            <a:solidFill>
              <a:srgbClr val="2A3F55"/>
            </a:solidFill>
            <a:prstDash val="solid"/>
          </a:ln>
        </p:spPr>
      </p:sp>
      <p:sp>
        <p:nvSpPr>
          <p:cNvPr id="40" name="Text 38"/>
          <p:cNvSpPr/>
          <p:nvPr/>
        </p:nvSpPr>
        <p:spPr>
          <a:xfrm>
            <a:off x="2221992" y="3026664"/>
            <a:ext cx="2926080" cy="457200"/>
          </a:xfrm>
          <a:prstGeom prst="rect">
            <a:avLst/>
          </a:prstGeom>
          <a:noFill/>
          <a:ln/>
        </p:spPr>
        <p:txBody>
          <a:bodyPr wrap="square" lIns="0" tIns="0" rIns="0" bIns="0" rtlCol="0" anchor="ctr"/>
          <a:lstStyle/>
          <a:p>
            <a:pPr algn="ctr" indent="0" marL="0">
              <a:buNone/>
            </a:pPr>
            <a:r>
              <a:rPr lang="en-US" sz="1050" dirty="0">
                <a:solidFill>
                  <a:srgbClr val="FCA5A5"/>
                </a:solidFill>
                <a:latin typeface="Calibri" pitchFamily="34" charset="0"/>
                <a:ea typeface="Calibri" pitchFamily="34" charset="-122"/>
                <a:cs typeface="Calibri" pitchFamily="34" charset="-120"/>
              </a:rPr>
              <a:t>Claude Opus</a:t>
            </a:r>
            <a:endParaRPr lang="en-US" sz="1050" dirty="0"/>
          </a:p>
          <a:p>
            <a:pPr algn="ctr" indent="0" marL="0">
              <a:buNone/>
            </a:pPr>
            <a:r>
              <a:rPr lang="en-US" sz="1050" dirty="0">
                <a:solidFill>
                  <a:srgbClr val="FCA5A5"/>
                </a:solidFill>
                <a:latin typeface="Calibri" pitchFamily="34" charset="0"/>
                <a:ea typeface="Calibri" pitchFamily="34" charset="-122"/>
                <a:cs typeface="Calibri" pitchFamily="34" charset="-120"/>
              </a:rPr>
              <a:t>(frontier pricing)</a:t>
            </a:r>
            <a:endParaRPr lang="en-US" sz="1050" dirty="0"/>
          </a:p>
        </p:txBody>
      </p:sp>
      <p:sp>
        <p:nvSpPr>
          <p:cNvPr id="41" name="Shape 39"/>
          <p:cNvSpPr/>
          <p:nvPr/>
        </p:nvSpPr>
        <p:spPr>
          <a:xfrm>
            <a:off x="5230368" y="3026664"/>
            <a:ext cx="3017520" cy="457200"/>
          </a:xfrm>
          <a:prstGeom prst="rect">
            <a:avLst/>
          </a:prstGeom>
          <a:solidFill>
            <a:srgbClr val="0F2336"/>
          </a:solidFill>
          <a:ln w="12700">
            <a:solidFill>
              <a:srgbClr val="2A3F55"/>
            </a:solidFill>
            <a:prstDash val="solid"/>
          </a:ln>
        </p:spPr>
      </p:sp>
      <p:sp>
        <p:nvSpPr>
          <p:cNvPr id="42" name="Text 40"/>
          <p:cNvSpPr/>
          <p:nvPr/>
        </p:nvSpPr>
        <p:spPr>
          <a:xfrm>
            <a:off x="5276088" y="3026664"/>
            <a:ext cx="2926080" cy="457200"/>
          </a:xfrm>
          <a:prstGeom prst="rect">
            <a:avLst/>
          </a:prstGeom>
          <a:noFill/>
          <a:ln/>
        </p:spPr>
        <p:txBody>
          <a:bodyPr wrap="square" lIns="0" tIns="0" rIns="0" bIns="0" rtlCol="0" anchor="ctr"/>
          <a:lstStyle/>
          <a:p>
            <a:pPr algn="ctr" indent="0" marL="0">
              <a:buNone/>
            </a:pPr>
            <a:r>
              <a:rPr lang="en-US" sz="1050" dirty="0">
                <a:solidFill>
                  <a:srgbClr val="86EFAC"/>
                </a:solidFill>
                <a:latin typeface="Calibri" pitchFamily="34" charset="0"/>
                <a:ea typeface="Calibri" pitchFamily="34" charset="-122"/>
                <a:cs typeface="Calibri" pitchFamily="34" charset="-120"/>
              </a:rPr>
              <a:t>Claude Sonnet</a:t>
            </a:r>
            <a:endParaRPr lang="en-US" sz="1050" dirty="0"/>
          </a:p>
          <a:p>
            <a:pPr algn="ctr" indent="0" marL="0">
              <a:buNone/>
            </a:pPr>
            <a:r>
              <a:rPr lang="en-US" sz="1050" dirty="0">
                <a:solidFill>
                  <a:srgbClr val="86EFAC"/>
                </a:solidFill>
                <a:latin typeface="Calibri" pitchFamily="34" charset="0"/>
                <a:ea typeface="Calibri" pitchFamily="34" charset="-122"/>
                <a:cs typeface="Calibri" pitchFamily="34" charset="-120"/>
              </a:rPr>
              <a:t>(mid-tier pricing)</a:t>
            </a:r>
            <a:endParaRPr lang="en-US" sz="1050" dirty="0"/>
          </a:p>
        </p:txBody>
      </p:sp>
      <p:sp>
        <p:nvSpPr>
          <p:cNvPr id="43" name="Shape 41"/>
          <p:cNvSpPr/>
          <p:nvPr/>
        </p:nvSpPr>
        <p:spPr>
          <a:xfrm>
            <a:off x="8275320" y="3026664"/>
            <a:ext cx="822960" cy="457200"/>
          </a:xfrm>
          <a:prstGeom prst="rect">
            <a:avLst/>
          </a:prstGeom>
          <a:solidFill>
            <a:srgbClr val="0F2336"/>
          </a:solidFill>
          <a:ln w="12700">
            <a:solidFill>
              <a:srgbClr val="2A3F55"/>
            </a:solidFill>
            <a:prstDash val="solid"/>
          </a:ln>
        </p:spPr>
      </p:sp>
      <p:sp>
        <p:nvSpPr>
          <p:cNvPr id="44" name="Text 42"/>
          <p:cNvSpPr/>
          <p:nvPr/>
        </p:nvSpPr>
        <p:spPr>
          <a:xfrm>
            <a:off x="8321040" y="3026664"/>
            <a:ext cx="731520" cy="457200"/>
          </a:xfrm>
          <a:prstGeom prst="rect">
            <a:avLst/>
          </a:prstGeom>
          <a:noFill/>
          <a:ln/>
        </p:spPr>
        <p:txBody>
          <a:bodyPr wrap="square" lIns="0" tIns="0" rIns="0" bIns="0" rtlCol="0" anchor="ctr"/>
          <a:lstStyle/>
          <a:p>
            <a:pPr algn="ctr" indent="0" marL="0">
              <a:buNone/>
            </a:pPr>
            <a:r>
              <a:rPr lang="en-US" sz="1050" b="1" dirty="0">
                <a:solidFill>
                  <a:srgbClr val="F59E0B"/>
                </a:solidFill>
                <a:latin typeface="Calibri" pitchFamily="34" charset="0"/>
                <a:ea typeface="Calibri" pitchFamily="34" charset="-122"/>
                <a:cs typeface="Calibri" pitchFamily="34" charset="-120"/>
              </a:rPr>
              <a:t>~60%</a:t>
            </a:r>
            <a:endParaRPr lang="en-US" sz="1050" dirty="0"/>
          </a:p>
        </p:txBody>
      </p:sp>
      <p:sp>
        <p:nvSpPr>
          <p:cNvPr id="45" name="Shape 43"/>
          <p:cNvSpPr/>
          <p:nvPr/>
        </p:nvSpPr>
        <p:spPr>
          <a:xfrm>
            <a:off x="228600" y="3511296"/>
            <a:ext cx="1920240" cy="457200"/>
          </a:xfrm>
          <a:prstGeom prst="rect">
            <a:avLst/>
          </a:prstGeom>
          <a:solidFill>
            <a:srgbClr val="1A2E45"/>
          </a:solidFill>
          <a:ln w="12700">
            <a:solidFill>
              <a:srgbClr val="2A3F55"/>
            </a:solidFill>
            <a:prstDash val="solid"/>
          </a:ln>
        </p:spPr>
      </p:sp>
      <p:sp>
        <p:nvSpPr>
          <p:cNvPr id="46" name="Text 44"/>
          <p:cNvSpPr/>
          <p:nvPr/>
        </p:nvSpPr>
        <p:spPr>
          <a:xfrm>
            <a:off x="274320" y="3511296"/>
            <a:ext cx="1828800" cy="457200"/>
          </a:xfrm>
          <a:prstGeom prst="rect">
            <a:avLst/>
          </a:prstGeom>
          <a:noFill/>
          <a:ln/>
        </p:spPr>
        <p:txBody>
          <a:bodyPr wrap="square" lIns="0" tIns="0" rIns="0" bIns="0" rtlCol="0" anchor="ctr"/>
          <a:lstStyle/>
          <a:p>
            <a:pPr algn="ctr" indent="0" marL="0">
              <a:buNone/>
            </a:pPr>
            <a:r>
              <a:rPr lang="en-US" sz="1050" b="1" dirty="0">
                <a:solidFill>
                  <a:srgbClr val="8EAFC7"/>
                </a:solidFill>
                <a:latin typeface="Calibri" pitchFamily="34" charset="0"/>
                <a:ea typeface="Calibri" pitchFamily="34" charset="-122"/>
                <a:cs typeface="Calibri" pitchFamily="34" charset="-120"/>
              </a:rPr>
              <a:t>Mode</a:t>
            </a:r>
            <a:endParaRPr lang="en-US" sz="1050" dirty="0"/>
          </a:p>
        </p:txBody>
      </p:sp>
      <p:sp>
        <p:nvSpPr>
          <p:cNvPr id="47" name="Shape 45"/>
          <p:cNvSpPr/>
          <p:nvPr/>
        </p:nvSpPr>
        <p:spPr>
          <a:xfrm>
            <a:off x="2176272" y="3511296"/>
            <a:ext cx="3017520" cy="457200"/>
          </a:xfrm>
          <a:prstGeom prst="rect">
            <a:avLst/>
          </a:prstGeom>
          <a:solidFill>
            <a:srgbClr val="1A2E45"/>
          </a:solidFill>
          <a:ln w="12700">
            <a:solidFill>
              <a:srgbClr val="2A3F55"/>
            </a:solidFill>
            <a:prstDash val="solid"/>
          </a:ln>
        </p:spPr>
      </p:sp>
      <p:sp>
        <p:nvSpPr>
          <p:cNvPr id="48" name="Text 46"/>
          <p:cNvSpPr/>
          <p:nvPr/>
        </p:nvSpPr>
        <p:spPr>
          <a:xfrm>
            <a:off x="2221992" y="3511296"/>
            <a:ext cx="2926080" cy="457200"/>
          </a:xfrm>
          <a:prstGeom prst="rect">
            <a:avLst/>
          </a:prstGeom>
          <a:noFill/>
          <a:ln/>
        </p:spPr>
        <p:txBody>
          <a:bodyPr wrap="square" lIns="0" tIns="0" rIns="0" bIns="0" rtlCol="0" anchor="ctr"/>
          <a:lstStyle/>
          <a:p>
            <a:pPr algn="ctr" indent="0" marL="0">
              <a:buNone/>
            </a:pPr>
            <a:r>
              <a:rPr lang="en-US" sz="1050" dirty="0">
                <a:solidFill>
                  <a:srgbClr val="FCA5A5"/>
                </a:solidFill>
                <a:latin typeface="Calibri" pitchFamily="34" charset="0"/>
                <a:ea typeface="Calibri" pitchFamily="34" charset="-122"/>
                <a:cs typeface="Calibri" pitchFamily="34" charset="-120"/>
              </a:rPr>
              <a:t>Agent mode</a:t>
            </a:r>
            <a:endParaRPr lang="en-US" sz="1050" dirty="0"/>
          </a:p>
          <a:p>
            <a:pPr algn="ctr" indent="0" marL="0">
              <a:buNone/>
            </a:pPr>
            <a:r>
              <a:rPr lang="en-US" sz="1050" dirty="0">
                <a:solidFill>
                  <a:srgbClr val="FCA5A5"/>
                </a:solidFill>
                <a:latin typeface="Calibri" pitchFamily="34" charset="0"/>
                <a:ea typeface="Calibri" pitchFamily="34" charset="-122"/>
                <a:cs typeface="Calibri" pitchFamily="34" charset="-120"/>
              </a:rPr>
              <a:t>(+ tool overhead)</a:t>
            </a:r>
            <a:endParaRPr lang="en-US" sz="1050" dirty="0"/>
          </a:p>
        </p:txBody>
      </p:sp>
      <p:sp>
        <p:nvSpPr>
          <p:cNvPr id="49" name="Shape 47"/>
          <p:cNvSpPr/>
          <p:nvPr/>
        </p:nvSpPr>
        <p:spPr>
          <a:xfrm>
            <a:off x="5230368" y="3511296"/>
            <a:ext cx="3017520" cy="457200"/>
          </a:xfrm>
          <a:prstGeom prst="rect">
            <a:avLst/>
          </a:prstGeom>
          <a:solidFill>
            <a:srgbClr val="1A2E45"/>
          </a:solidFill>
          <a:ln w="12700">
            <a:solidFill>
              <a:srgbClr val="2A3F55"/>
            </a:solidFill>
            <a:prstDash val="solid"/>
          </a:ln>
        </p:spPr>
      </p:sp>
      <p:sp>
        <p:nvSpPr>
          <p:cNvPr id="50" name="Text 48"/>
          <p:cNvSpPr/>
          <p:nvPr/>
        </p:nvSpPr>
        <p:spPr>
          <a:xfrm>
            <a:off x="5276088" y="3511296"/>
            <a:ext cx="2926080" cy="457200"/>
          </a:xfrm>
          <a:prstGeom prst="rect">
            <a:avLst/>
          </a:prstGeom>
          <a:noFill/>
          <a:ln/>
        </p:spPr>
        <p:txBody>
          <a:bodyPr wrap="square" lIns="0" tIns="0" rIns="0" bIns="0" rtlCol="0" anchor="ctr"/>
          <a:lstStyle/>
          <a:p>
            <a:pPr algn="ctr" indent="0" marL="0">
              <a:buNone/>
            </a:pPr>
            <a:r>
              <a:rPr lang="en-US" sz="1050" dirty="0">
                <a:solidFill>
                  <a:srgbClr val="86EFAC"/>
                </a:solidFill>
                <a:latin typeface="Calibri" pitchFamily="34" charset="0"/>
                <a:ea typeface="Calibri" pitchFamily="34" charset="-122"/>
                <a:cs typeface="Calibri" pitchFamily="34" charset="-120"/>
              </a:rPr>
              <a:t>Ask mode</a:t>
            </a:r>
            <a:endParaRPr lang="en-US" sz="1050" dirty="0"/>
          </a:p>
          <a:p>
            <a:pPr algn="ctr" indent="0" marL="0">
              <a:buNone/>
            </a:pPr>
            <a:r>
              <a:rPr lang="en-US" sz="1050" dirty="0">
                <a:solidFill>
                  <a:srgbClr val="86EFAC"/>
                </a:solidFill>
                <a:latin typeface="Calibri" pitchFamily="34" charset="0"/>
                <a:ea typeface="Calibri" pitchFamily="34" charset="-122"/>
                <a:cs typeface="Calibri" pitchFamily="34" charset="-120"/>
              </a:rPr>
              <a:t>(single response)</a:t>
            </a:r>
            <a:endParaRPr lang="en-US" sz="1050" dirty="0"/>
          </a:p>
        </p:txBody>
      </p:sp>
      <p:sp>
        <p:nvSpPr>
          <p:cNvPr id="51" name="Shape 49"/>
          <p:cNvSpPr/>
          <p:nvPr/>
        </p:nvSpPr>
        <p:spPr>
          <a:xfrm>
            <a:off x="8275320" y="3511296"/>
            <a:ext cx="822960" cy="457200"/>
          </a:xfrm>
          <a:prstGeom prst="rect">
            <a:avLst/>
          </a:prstGeom>
          <a:solidFill>
            <a:srgbClr val="1A2E45"/>
          </a:solidFill>
          <a:ln w="12700">
            <a:solidFill>
              <a:srgbClr val="2A3F55"/>
            </a:solidFill>
            <a:prstDash val="solid"/>
          </a:ln>
        </p:spPr>
      </p:sp>
      <p:sp>
        <p:nvSpPr>
          <p:cNvPr id="52" name="Text 50"/>
          <p:cNvSpPr/>
          <p:nvPr/>
        </p:nvSpPr>
        <p:spPr>
          <a:xfrm>
            <a:off x="8321040" y="3511296"/>
            <a:ext cx="731520" cy="457200"/>
          </a:xfrm>
          <a:prstGeom prst="rect">
            <a:avLst/>
          </a:prstGeom>
          <a:noFill/>
          <a:ln/>
        </p:spPr>
        <p:txBody>
          <a:bodyPr wrap="square" lIns="0" tIns="0" rIns="0" bIns="0" rtlCol="0" anchor="ctr"/>
          <a:lstStyle/>
          <a:p>
            <a:pPr algn="ctr" indent="0" marL="0">
              <a:buNone/>
            </a:pPr>
            <a:r>
              <a:rPr lang="en-US" sz="1050" b="1" dirty="0">
                <a:solidFill>
                  <a:srgbClr val="F59E0B"/>
                </a:solidFill>
                <a:latin typeface="Calibri" pitchFamily="34" charset="0"/>
                <a:ea typeface="Calibri" pitchFamily="34" charset="-122"/>
                <a:cs typeface="Calibri" pitchFamily="34" charset="-120"/>
              </a:rPr>
              <a:t>~10×</a:t>
            </a:r>
            <a:endParaRPr lang="en-US" sz="1050" dirty="0"/>
          </a:p>
        </p:txBody>
      </p:sp>
      <p:sp>
        <p:nvSpPr>
          <p:cNvPr id="53" name="Shape 51"/>
          <p:cNvSpPr/>
          <p:nvPr/>
        </p:nvSpPr>
        <p:spPr>
          <a:xfrm>
            <a:off x="228600" y="3995928"/>
            <a:ext cx="1920240" cy="457200"/>
          </a:xfrm>
          <a:prstGeom prst="rect">
            <a:avLst/>
          </a:prstGeom>
          <a:solidFill>
            <a:srgbClr val="0F2336"/>
          </a:solidFill>
          <a:ln w="12700">
            <a:solidFill>
              <a:srgbClr val="2A3F55"/>
            </a:solidFill>
            <a:prstDash val="solid"/>
          </a:ln>
        </p:spPr>
      </p:sp>
      <p:sp>
        <p:nvSpPr>
          <p:cNvPr id="54" name="Text 52"/>
          <p:cNvSpPr/>
          <p:nvPr/>
        </p:nvSpPr>
        <p:spPr>
          <a:xfrm>
            <a:off x="274320" y="3995928"/>
            <a:ext cx="1828800" cy="457200"/>
          </a:xfrm>
          <a:prstGeom prst="rect">
            <a:avLst/>
          </a:prstGeom>
          <a:noFill/>
          <a:ln/>
        </p:spPr>
        <p:txBody>
          <a:bodyPr wrap="square" lIns="0" tIns="0" rIns="0" bIns="0" rtlCol="0" anchor="ctr"/>
          <a:lstStyle/>
          <a:p>
            <a:pPr algn="ctr" indent="0" marL="0">
              <a:buNone/>
            </a:pPr>
            <a:r>
              <a:rPr lang="en-US" sz="1050" b="1" dirty="0">
                <a:solidFill>
                  <a:srgbClr val="8EAFC7"/>
                </a:solidFill>
                <a:latin typeface="Calibri" pitchFamily="34" charset="0"/>
                <a:ea typeface="Calibri" pitchFamily="34" charset="-122"/>
                <a:cs typeface="Calibri" pitchFamily="34" charset="-120"/>
              </a:rPr>
              <a:t>Output verbosity</a:t>
            </a:r>
            <a:endParaRPr lang="en-US" sz="1050" dirty="0"/>
          </a:p>
        </p:txBody>
      </p:sp>
      <p:sp>
        <p:nvSpPr>
          <p:cNvPr id="55" name="Shape 53"/>
          <p:cNvSpPr/>
          <p:nvPr/>
        </p:nvSpPr>
        <p:spPr>
          <a:xfrm>
            <a:off x="2176272" y="3995928"/>
            <a:ext cx="3017520" cy="457200"/>
          </a:xfrm>
          <a:prstGeom prst="rect">
            <a:avLst/>
          </a:prstGeom>
          <a:solidFill>
            <a:srgbClr val="0F2336"/>
          </a:solidFill>
          <a:ln w="12700">
            <a:solidFill>
              <a:srgbClr val="2A3F55"/>
            </a:solidFill>
            <a:prstDash val="solid"/>
          </a:ln>
        </p:spPr>
      </p:sp>
      <p:sp>
        <p:nvSpPr>
          <p:cNvPr id="56" name="Text 54"/>
          <p:cNvSpPr/>
          <p:nvPr/>
        </p:nvSpPr>
        <p:spPr>
          <a:xfrm>
            <a:off x="2221992" y="3995928"/>
            <a:ext cx="2926080" cy="457200"/>
          </a:xfrm>
          <a:prstGeom prst="rect">
            <a:avLst/>
          </a:prstGeom>
          <a:noFill/>
          <a:ln/>
        </p:spPr>
        <p:txBody>
          <a:bodyPr wrap="square" lIns="0" tIns="0" rIns="0" bIns="0" rtlCol="0" anchor="ctr"/>
          <a:lstStyle/>
          <a:p>
            <a:pPr algn="ctr" indent="0" marL="0">
              <a:buNone/>
            </a:pPr>
            <a:r>
              <a:rPr lang="en-US" sz="1050" dirty="0">
                <a:solidFill>
                  <a:srgbClr val="FCA5A5"/>
                </a:solidFill>
                <a:latin typeface="Calibri" pitchFamily="34" charset="0"/>
                <a:ea typeface="Calibri" pitchFamily="34" charset="-122"/>
                <a:cs typeface="Calibri" pitchFamily="34" charset="-120"/>
              </a:rPr>
              <a:t>No 'code only'</a:t>
            </a:r>
            <a:endParaRPr lang="en-US" sz="1050" dirty="0"/>
          </a:p>
          <a:p>
            <a:pPr algn="ctr" indent="0" marL="0">
              <a:buNone/>
            </a:pPr>
            <a:r>
              <a:rPr lang="en-US" sz="1050" dirty="0">
                <a:solidFill>
                  <a:srgbClr val="FCA5A5"/>
                </a:solidFill>
                <a:latin typeface="Calibri" pitchFamily="34" charset="0"/>
                <a:ea typeface="Calibri" pitchFamily="34" charset="-122"/>
                <a:cs typeface="Calibri" pitchFamily="34" charset="-120"/>
              </a:rPr>
              <a:t>≈ 380 tokens out</a:t>
            </a:r>
            <a:endParaRPr lang="en-US" sz="1050" dirty="0"/>
          </a:p>
        </p:txBody>
      </p:sp>
      <p:sp>
        <p:nvSpPr>
          <p:cNvPr id="57" name="Shape 55"/>
          <p:cNvSpPr/>
          <p:nvPr/>
        </p:nvSpPr>
        <p:spPr>
          <a:xfrm>
            <a:off x="5230368" y="3995928"/>
            <a:ext cx="3017520" cy="457200"/>
          </a:xfrm>
          <a:prstGeom prst="rect">
            <a:avLst/>
          </a:prstGeom>
          <a:solidFill>
            <a:srgbClr val="0F2336"/>
          </a:solidFill>
          <a:ln w="12700">
            <a:solidFill>
              <a:srgbClr val="2A3F55"/>
            </a:solidFill>
            <a:prstDash val="solid"/>
          </a:ln>
        </p:spPr>
      </p:sp>
      <p:sp>
        <p:nvSpPr>
          <p:cNvPr id="58" name="Text 56"/>
          <p:cNvSpPr/>
          <p:nvPr/>
        </p:nvSpPr>
        <p:spPr>
          <a:xfrm>
            <a:off x="5276088" y="3995928"/>
            <a:ext cx="2926080" cy="457200"/>
          </a:xfrm>
          <a:prstGeom prst="rect">
            <a:avLst/>
          </a:prstGeom>
          <a:noFill/>
          <a:ln/>
        </p:spPr>
        <p:txBody>
          <a:bodyPr wrap="square" lIns="0" tIns="0" rIns="0" bIns="0" rtlCol="0" anchor="ctr"/>
          <a:lstStyle/>
          <a:p>
            <a:pPr algn="ctr" indent="0" marL="0">
              <a:buNone/>
            </a:pPr>
            <a:r>
              <a:rPr lang="en-US" sz="1050" dirty="0">
                <a:solidFill>
                  <a:srgbClr val="86EFAC"/>
                </a:solidFill>
                <a:latin typeface="Calibri" pitchFamily="34" charset="0"/>
                <a:ea typeface="Calibri" pitchFamily="34" charset="-122"/>
                <a:cs typeface="Calibri" pitchFamily="34" charset="-120"/>
              </a:rPr>
              <a:t>'code only' set</a:t>
            </a:r>
            <a:endParaRPr lang="en-US" sz="1050" dirty="0"/>
          </a:p>
          <a:p>
            <a:pPr algn="ctr" indent="0" marL="0">
              <a:buNone/>
            </a:pPr>
            <a:r>
              <a:rPr lang="en-US" sz="1050" dirty="0">
                <a:solidFill>
                  <a:srgbClr val="86EFAC"/>
                </a:solidFill>
                <a:latin typeface="Calibri" pitchFamily="34" charset="0"/>
                <a:ea typeface="Calibri" pitchFamily="34" charset="-122"/>
                <a:cs typeface="Calibri" pitchFamily="34" charset="-120"/>
              </a:rPr>
              <a:t>≈ 115 tokens out</a:t>
            </a:r>
            <a:endParaRPr lang="en-US" sz="1050" dirty="0"/>
          </a:p>
        </p:txBody>
      </p:sp>
      <p:sp>
        <p:nvSpPr>
          <p:cNvPr id="59" name="Shape 57"/>
          <p:cNvSpPr/>
          <p:nvPr/>
        </p:nvSpPr>
        <p:spPr>
          <a:xfrm>
            <a:off x="8275320" y="3995928"/>
            <a:ext cx="822960" cy="457200"/>
          </a:xfrm>
          <a:prstGeom prst="rect">
            <a:avLst/>
          </a:prstGeom>
          <a:solidFill>
            <a:srgbClr val="0F2336"/>
          </a:solidFill>
          <a:ln w="12700">
            <a:solidFill>
              <a:srgbClr val="2A3F55"/>
            </a:solidFill>
            <a:prstDash val="solid"/>
          </a:ln>
        </p:spPr>
      </p:sp>
      <p:sp>
        <p:nvSpPr>
          <p:cNvPr id="60" name="Text 58"/>
          <p:cNvSpPr/>
          <p:nvPr/>
        </p:nvSpPr>
        <p:spPr>
          <a:xfrm>
            <a:off x="8321040" y="3995928"/>
            <a:ext cx="731520" cy="457200"/>
          </a:xfrm>
          <a:prstGeom prst="rect">
            <a:avLst/>
          </a:prstGeom>
          <a:noFill/>
          <a:ln/>
        </p:spPr>
        <p:txBody>
          <a:bodyPr wrap="square" lIns="0" tIns="0" rIns="0" bIns="0" rtlCol="0" anchor="ctr"/>
          <a:lstStyle/>
          <a:p>
            <a:pPr algn="ctr" indent="0" marL="0">
              <a:buNone/>
            </a:pPr>
            <a:r>
              <a:rPr lang="en-US" sz="1050" b="1" dirty="0">
                <a:solidFill>
                  <a:srgbClr val="10B981"/>
                </a:solidFill>
                <a:latin typeface="Calibri" pitchFamily="34" charset="0"/>
                <a:ea typeface="Calibri" pitchFamily="34" charset="-122"/>
                <a:cs typeface="Calibri" pitchFamily="34" charset="-120"/>
              </a:rPr>
              <a:t>70%</a:t>
            </a:r>
            <a:endParaRPr lang="en-US" sz="1050" dirty="0"/>
          </a:p>
        </p:txBody>
      </p:sp>
      <p:sp>
        <p:nvSpPr>
          <p:cNvPr id="61" name="Shape 59"/>
          <p:cNvSpPr/>
          <p:nvPr/>
        </p:nvSpPr>
        <p:spPr>
          <a:xfrm>
            <a:off x="228600" y="4480560"/>
            <a:ext cx="7955280" cy="402336"/>
          </a:xfrm>
          <a:prstGeom prst="rect">
            <a:avLst/>
          </a:prstGeom>
          <a:solidFill>
            <a:srgbClr val="0A2040"/>
          </a:solidFill>
          <a:ln w="12700">
            <a:solidFill>
              <a:srgbClr val="00C2CC">
                <a:alpha val="60000"/>
              </a:srgbClr>
            </a:solidFill>
            <a:prstDash val="solid"/>
          </a:ln>
        </p:spPr>
      </p:sp>
      <p:sp>
        <p:nvSpPr>
          <p:cNvPr id="62" name="Text 60"/>
          <p:cNvSpPr/>
          <p:nvPr/>
        </p:nvSpPr>
        <p:spPr>
          <a:xfrm>
            <a:off x="274320" y="4480560"/>
            <a:ext cx="3657600" cy="402336"/>
          </a:xfrm>
          <a:prstGeom prst="rect">
            <a:avLst/>
          </a:prstGeom>
          <a:noFill/>
          <a:ln/>
        </p:spPr>
        <p:txBody>
          <a:bodyPr wrap="square" lIns="0" tIns="0" rIns="0" bIns="0" rtlCol="0" anchor="ctr"/>
          <a:lstStyle/>
          <a:p>
            <a:pPr indent="0" marL="0">
              <a:buNone/>
            </a:pPr>
            <a:r>
              <a:rPr lang="en-US" sz="1150" b="1" dirty="0">
                <a:solidFill>
                  <a:srgbClr val="00C2CC"/>
                </a:solidFill>
                <a:latin typeface="Calibri" pitchFamily="34" charset="0"/>
                <a:ea typeface="Calibri" pitchFamily="34" charset="-122"/>
                <a:cs typeface="Calibri" pitchFamily="34" charset="-120"/>
              </a:rPr>
              <a:t>Combined effect (compounding):</a:t>
            </a:r>
            <a:endParaRPr lang="en-US" sz="1150" dirty="0"/>
          </a:p>
        </p:txBody>
      </p:sp>
      <p:sp>
        <p:nvSpPr>
          <p:cNvPr id="63" name="Text 61"/>
          <p:cNvSpPr/>
          <p:nvPr/>
        </p:nvSpPr>
        <p:spPr>
          <a:xfrm>
            <a:off x="3931920" y="4480560"/>
            <a:ext cx="2103120" cy="420624"/>
          </a:xfrm>
          <a:prstGeom prst="rect">
            <a:avLst/>
          </a:prstGeom>
          <a:noFill/>
          <a:ln/>
        </p:spPr>
        <p:txBody>
          <a:bodyPr wrap="square" lIns="0" tIns="0" rIns="0" bIns="0" rtlCol="0" anchor="ctr"/>
          <a:lstStyle/>
          <a:p>
            <a:pPr algn="ctr" indent="0" marL="0">
              <a:buNone/>
            </a:pPr>
            <a:r>
              <a:rPr lang="en-US" sz="1150" b="1" dirty="0">
                <a:solidFill>
                  <a:srgbClr val="FCA5A5"/>
                </a:solidFill>
                <a:latin typeface="Calibri" pitchFamily="34" charset="0"/>
                <a:ea typeface="Calibri" pitchFamily="34" charset="-122"/>
                <a:cs typeface="Calibri" pitchFamily="34" charset="-120"/>
              </a:rPr>
              <a:t>~5,775 tokens per request</a:t>
            </a:r>
            <a:endParaRPr lang="en-US" sz="1150" dirty="0"/>
          </a:p>
        </p:txBody>
      </p:sp>
      <p:sp>
        <p:nvSpPr>
          <p:cNvPr id="64" name="Text 62"/>
          <p:cNvSpPr/>
          <p:nvPr/>
        </p:nvSpPr>
        <p:spPr>
          <a:xfrm>
            <a:off x="6080760" y="4480560"/>
            <a:ext cx="2103120" cy="420624"/>
          </a:xfrm>
          <a:prstGeom prst="rect">
            <a:avLst/>
          </a:prstGeom>
          <a:noFill/>
          <a:ln/>
        </p:spPr>
        <p:txBody>
          <a:bodyPr wrap="square" lIns="0" tIns="0" rIns="0" bIns="0" rtlCol="0" anchor="ctr"/>
          <a:lstStyle/>
          <a:p>
            <a:pPr algn="ctr" indent="0" marL="0">
              <a:buNone/>
            </a:pPr>
            <a:r>
              <a:rPr lang="en-US" sz="1150" b="1" dirty="0">
                <a:solidFill>
                  <a:srgbClr val="86EFAC"/>
                </a:solidFill>
                <a:latin typeface="Calibri" pitchFamily="34" charset="0"/>
                <a:ea typeface="Calibri" pitchFamily="34" charset="-122"/>
                <a:cs typeface="Calibri" pitchFamily="34" charset="-120"/>
              </a:rPr>
              <a:t>~555 tokens per request</a:t>
            </a:r>
            <a:endParaRPr lang="en-US" sz="1150" dirty="0"/>
          </a:p>
        </p:txBody>
      </p:sp>
      <p:sp>
        <p:nvSpPr>
          <p:cNvPr id="65" name="Text 63"/>
          <p:cNvSpPr/>
          <p:nvPr/>
        </p:nvSpPr>
        <p:spPr>
          <a:xfrm>
            <a:off x="8275320" y="4480560"/>
            <a:ext cx="822960" cy="420624"/>
          </a:xfrm>
          <a:prstGeom prst="rect">
            <a:avLst/>
          </a:prstGeom>
          <a:noFill/>
          <a:ln/>
        </p:spPr>
        <p:txBody>
          <a:bodyPr wrap="square" lIns="0" tIns="0" rIns="0" bIns="0" rtlCol="0" anchor="ctr"/>
          <a:lstStyle/>
          <a:p>
            <a:pPr algn="ctr" indent="0" marL="0">
              <a:buNone/>
            </a:pPr>
            <a:r>
              <a:rPr lang="en-US" sz="1300" b="1" dirty="0">
                <a:solidFill>
                  <a:srgbClr val="10B981"/>
                </a:solidFill>
                <a:latin typeface="Cambria" pitchFamily="34" charset="0"/>
                <a:ea typeface="Cambria" pitchFamily="34" charset="-122"/>
                <a:cs typeface="Cambria" pitchFamily="34" charset="-120"/>
              </a:rPr>
              <a:t>90%+</a:t>
            </a:r>
            <a:endParaRPr lang="en-US" sz="1300" dirty="0"/>
          </a:p>
        </p:txBody>
      </p:sp>
      <p:sp>
        <p:nvSpPr>
          <p:cNvPr id="66" name="Shape 64"/>
          <p:cNvSpPr/>
          <p:nvPr/>
        </p:nvSpPr>
        <p:spPr>
          <a:xfrm>
            <a:off x="0" y="4887468"/>
            <a:ext cx="1143000" cy="256032"/>
          </a:xfrm>
          <a:prstGeom prst="rect">
            <a:avLst/>
          </a:prstGeom>
          <a:solidFill>
            <a:srgbClr val="1A2E45"/>
          </a:solidFill>
          <a:ln w="12700">
            <a:solidFill>
              <a:srgbClr val="1A2E45"/>
            </a:solidFill>
            <a:prstDash val="solid"/>
          </a:ln>
        </p:spPr>
      </p:sp>
      <p:sp>
        <p:nvSpPr>
          <p:cNvPr id="67" name="Text 65"/>
          <p:cNvSpPr/>
          <p:nvPr/>
        </p:nvSpPr>
        <p:spPr>
          <a:xfrm>
            <a:off x="0" y="4887468"/>
            <a:ext cx="1143000" cy="256032"/>
          </a:xfrm>
          <a:prstGeom prst="rect">
            <a:avLst/>
          </a:prstGeom>
          <a:noFill/>
          <a:ln/>
        </p:spPr>
        <p:txBody>
          <a:bodyPr wrap="square" lIns="0" tIns="0" rIns="0" bIns="0" rtlCol="0" anchor="ctr"/>
          <a:lstStyle/>
          <a:p>
            <a:pPr algn="ctr" indent="0" marL="0">
              <a:buNone/>
            </a:pPr>
            <a:r>
              <a:rPr lang="en-US" sz="750" dirty="0">
                <a:solidFill>
                  <a:srgbClr val="3A5068"/>
                </a:solidFill>
                <a:latin typeface="Calibri" pitchFamily="34" charset="0"/>
                <a:ea typeface="Calibri" pitchFamily="34" charset="-122"/>
                <a:cs typeface="Calibri" pitchFamily="34" charset="-120"/>
              </a:rPr>
              <a:t>Overview</a:t>
            </a:r>
            <a:endParaRPr lang="en-US" sz="750" dirty="0"/>
          </a:p>
        </p:txBody>
      </p:sp>
      <p:sp>
        <p:nvSpPr>
          <p:cNvPr id="68" name="Shape 66"/>
          <p:cNvSpPr/>
          <p:nvPr/>
        </p:nvSpPr>
        <p:spPr>
          <a:xfrm>
            <a:off x="1143000" y="4887468"/>
            <a:ext cx="1143000" cy="256032"/>
          </a:xfrm>
          <a:prstGeom prst="rect">
            <a:avLst/>
          </a:prstGeom>
          <a:solidFill>
            <a:srgbClr val="1A2E45"/>
          </a:solidFill>
          <a:ln w="12700">
            <a:solidFill>
              <a:srgbClr val="1A2E45"/>
            </a:solidFill>
            <a:prstDash val="solid"/>
          </a:ln>
        </p:spPr>
      </p:sp>
      <p:sp>
        <p:nvSpPr>
          <p:cNvPr id="69" name="Text 67"/>
          <p:cNvSpPr/>
          <p:nvPr/>
        </p:nvSpPr>
        <p:spPr>
          <a:xfrm>
            <a:off x="1143000" y="4887468"/>
            <a:ext cx="1143000" cy="256032"/>
          </a:xfrm>
          <a:prstGeom prst="rect">
            <a:avLst/>
          </a:prstGeom>
          <a:noFill/>
          <a:ln/>
        </p:spPr>
        <p:txBody>
          <a:bodyPr wrap="square" lIns="0" tIns="0" rIns="0" bIns="0" rtlCol="0" anchor="ctr"/>
          <a:lstStyle/>
          <a:p>
            <a:pPr algn="ctr" indent="0" marL="0">
              <a:buNone/>
            </a:pPr>
            <a:r>
              <a:rPr lang="en-US" sz="750" dirty="0">
                <a:solidFill>
                  <a:srgbClr val="3A5068"/>
                </a:solidFill>
                <a:latin typeface="Calibri" pitchFamily="34" charset="0"/>
                <a:ea typeface="Calibri" pitchFamily="34" charset="-122"/>
                <a:cs typeface="Calibri" pitchFamily="34" charset="-120"/>
              </a:rPr>
              <a:t>Output Control</a:t>
            </a:r>
            <a:endParaRPr lang="en-US" sz="750" dirty="0"/>
          </a:p>
        </p:txBody>
      </p:sp>
      <p:sp>
        <p:nvSpPr>
          <p:cNvPr id="70" name="Shape 68"/>
          <p:cNvSpPr/>
          <p:nvPr/>
        </p:nvSpPr>
        <p:spPr>
          <a:xfrm>
            <a:off x="2286000" y="4887468"/>
            <a:ext cx="1143000" cy="256032"/>
          </a:xfrm>
          <a:prstGeom prst="rect">
            <a:avLst/>
          </a:prstGeom>
          <a:solidFill>
            <a:srgbClr val="1A2E45"/>
          </a:solidFill>
          <a:ln w="12700">
            <a:solidFill>
              <a:srgbClr val="1A2E45"/>
            </a:solidFill>
            <a:prstDash val="solid"/>
          </a:ln>
        </p:spPr>
      </p:sp>
      <p:sp>
        <p:nvSpPr>
          <p:cNvPr id="71" name="Text 69"/>
          <p:cNvSpPr/>
          <p:nvPr/>
        </p:nvSpPr>
        <p:spPr>
          <a:xfrm>
            <a:off x="2286000" y="4887468"/>
            <a:ext cx="1143000" cy="256032"/>
          </a:xfrm>
          <a:prstGeom prst="rect">
            <a:avLst/>
          </a:prstGeom>
          <a:noFill/>
          <a:ln/>
        </p:spPr>
        <p:txBody>
          <a:bodyPr wrap="square" lIns="0" tIns="0" rIns="0" bIns="0" rtlCol="0" anchor="ctr"/>
          <a:lstStyle/>
          <a:p>
            <a:pPr algn="ctr" indent="0" marL="0">
              <a:buNone/>
            </a:pPr>
            <a:r>
              <a:rPr lang="en-US" sz="750" dirty="0">
                <a:solidFill>
                  <a:srgbClr val="3A5068"/>
                </a:solidFill>
                <a:latin typeface="Calibri" pitchFamily="34" charset="0"/>
                <a:ea typeface="Calibri" pitchFamily="34" charset="-122"/>
                <a:cs typeface="Calibri" pitchFamily="34" charset="-120"/>
              </a:rPr>
              <a:t>Context &amp; Prompting</a:t>
            </a:r>
            <a:endParaRPr lang="en-US" sz="750" dirty="0"/>
          </a:p>
        </p:txBody>
      </p:sp>
      <p:sp>
        <p:nvSpPr>
          <p:cNvPr id="72" name="Shape 70"/>
          <p:cNvSpPr/>
          <p:nvPr/>
        </p:nvSpPr>
        <p:spPr>
          <a:xfrm>
            <a:off x="3429000" y="4887468"/>
            <a:ext cx="1143000" cy="256032"/>
          </a:xfrm>
          <a:prstGeom prst="rect">
            <a:avLst/>
          </a:prstGeom>
          <a:solidFill>
            <a:srgbClr val="1A2E45"/>
          </a:solidFill>
          <a:ln w="12700">
            <a:solidFill>
              <a:srgbClr val="1A2E45"/>
            </a:solidFill>
            <a:prstDash val="solid"/>
          </a:ln>
        </p:spPr>
      </p:sp>
      <p:sp>
        <p:nvSpPr>
          <p:cNvPr id="73" name="Text 71"/>
          <p:cNvSpPr/>
          <p:nvPr/>
        </p:nvSpPr>
        <p:spPr>
          <a:xfrm>
            <a:off x="3429000" y="4887468"/>
            <a:ext cx="1143000" cy="256032"/>
          </a:xfrm>
          <a:prstGeom prst="rect">
            <a:avLst/>
          </a:prstGeom>
          <a:noFill/>
          <a:ln/>
        </p:spPr>
        <p:txBody>
          <a:bodyPr wrap="square" lIns="0" tIns="0" rIns="0" bIns="0" rtlCol="0" anchor="ctr"/>
          <a:lstStyle/>
          <a:p>
            <a:pPr algn="ctr" indent="0" marL="0">
              <a:buNone/>
            </a:pPr>
            <a:r>
              <a:rPr lang="en-US" sz="750" dirty="0">
                <a:solidFill>
                  <a:srgbClr val="3A5068"/>
                </a:solidFill>
                <a:latin typeface="Calibri" pitchFamily="34" charset="0"/>
                <a:ea typeface="Calibri" pitchFamily="34" charset="-122"/>
                <a:cs typeface="Calibri" pitchFamily="34" charset="-120"/>
              </a:rPr>
              <a:t>Models &amp; Modes</a:t>
            </a:r>
            <a:endParaRPr lang="en-US" sz="750" dirty="0"/>
          </a:p>
        </p:txBody>
      </p:sp>
      <p:sp>
        <p:nvSpPr>
          <p:cNvPr id="74" name="Shape 72"/>
          <p:cNvSpPr/>
          <p:nvPr/>
        </p:nvSpPr>
        <p:spPr>
          <a:xfrm>
            <a:off x="4572000" y="4887468"/>
            <a:ext cx="1143000" cy="256032"/>
          </a:xfrm>
          <a:prstGeom prst="rect">
            <a:avLst/>
          </a:prstGeom>
          <a:solidFill>
            <a:srgbClr val="10B981"/>
          </a:solidFill>
          <a:ln w="12700">
            <a:solidFill>
              <a:srgbClr val="10B981"/>
            </a:solidFill>
            <a:prstDash val="solid"/>
          </a:ln>
        </p:spPr>
      </p:sp>
      <p:sp>
        <p:nvSpPr>
          <p:cNvPr id="75" name="Text 73"/>
          <p:cNvSpPr/>
          <p:nvPr/>
        </p:nvSpPr>
        <p:spPr>
          <a:xfrm>
            <a:off x="4572000" y="4887468"/>
            <a:ext cx="1143000" cy="256032"/>
          </a:xfrm>
          <a:prstGeom prst="rect">
            <a:avLst/>
          </a:prstGeom>
          <a:noFill/>
          <a:ln/>
        </p:spPr>
        <p:txBody>
          <a:bodyPr wrap="square" lIns="0" tIns="0" rIns="0" bIns="0" rtlCol="0" anchor="ctr"/>
          <a:lstStyle/>
          <a:p>
            <a:pPr algn="ctr" indent="0" marL="0">
              <a:buNone/>
            </a:pPr>
            <a:r>
              <a:rPr lang="en-US" sz="750" b="1" dirty="0">
                <a:solidFill>
                  <a:srgbClr val="0D1B2A"/>
                </a:solidFill>
                <a:latin typeface="Calibri" pitchFamily="34" charset="0"/>
                <a:ea typeface="Calibri" pitchFamily="34" charset="-122"/>
                <a:cs typeface="Calibri" pitchFamily="34" charset="-120"/>
              </a:rPr>
              <a:t>Governance</a:t>
            </a:r>
            <a:endParaRPr lang="en-US" sz="750" dirty="0"/>
          </a:p>
        </p:txBody>
      </p:sp>
      <p:sp>
        <p:nvSpPr>
          <p:cNvPr id="76" name="Shape 74"/>
          <p:cNvSpPr/>
          <p:nvPr/>
        </p:nvSpPr>
        <p:spPr>
          <a:xfrm>
            <a:off x="5715000" y="4887468"/>
            <a:ext cx="1143000" cy="256032"/>
          </a:xfrm>
          <a:prstGeom prst="rect">
            <a:avLst/>
          </a:prstGeom>
          <a:solidFill>
            <a:srgbClr val="1A2E45"/>
          </a:solidFill>
          <a:ln w="12700">
            <a:solidFill>
              <a:srgbClr val="1A2E45"/>
            </a:solidFill>
            <a:prstDash val="solid"/>
          </a:ln>
        </p:spPr>
      </p:sp>
      <p:sp>
        <p:nvSpPr>
          <p:cNvPr id="77" name="Text 75"/>
          <p:cNvSpPr/>
          <p:nvPr/>
        </p:nvSpPr>
        <p:spPr>
          <a:xfrm>
            <a:off x="5715000" y="4887468"/>
            <a:ext cx="1143000" cy="256032"/>
          </a:xfrm>
          <a:prstGeom prst="rect">
            <a:avLst/>
          </a:prstGeom>
          <a:noFill/>
          <a:ln/>
        </p:spPr>
        <p:txBody>
          <a:bodyPr wrap="square" lIns="0" tIns="0" rIns="0" bIns="0" rtlCol="0" anchor="ctr"/>
          <a:lstStyle/>
          <a:p>
            <a:pPr algn="ctr" indent="0" marL="0">
              <a:buNone/>
            </a:pPr>
            <a:r>
              <a:rPr lang="en-US" sz="750" dirty="0">
                <a:solidFill>
                  <a:srgbClr val="3A5068"/>
                </a:solidFill>
                <a:latin typeface="Calibri" pitchFamily="34" charset="0"/>
                <a:ea typeface="Calibri" pitchFamily="34" charset="-122"/>
                <a:cs typeface="Calibri" pitchFamily="34" charset="-120"/>
              </a:rPr>
              <a:t>Architecture</a:t>
            </a:r>
            <a:endParaRPr lang="en-US" sz="750" dirty="0"/>
          </a:p>
        </p:txBody>
      </p:sp>
      <p:sp>
        <p:nvSpPr>
          <p:cNvPr id="78" name="Shape 76"/>
          <p:cNvSpPr/>
          <p:nvPr/>
        </p:nvSpPr>
        <p:spPr>
          <a:xfrm>
            <a:off x="6858000" y="4887468"/>
            <a:ext cx="1143000" cy="256032"/>
          </a:xfrm>
          <a:prstGeom prst="rect">
            <a:avLst/>
          </a:prstGeom>
          <a:solidFill>
            <a:srgbClr val="1A2E45"/>
          </a:solidFill>
          <a:ln w="12700">
            <a:solidFill>
              <a:srgbClr val="1A2E45"/>
            </a:solidFill>
            <a:prstDash val="solid"/>
          </a:ln>
        </p:spPr>
      </p:sp>
      <p:sp>
        <p:nvSpPr>
          <p:cNvPr id="79" name="Text 77"/>
          <p:cNvSpPr/>
          <p:nvPr/>
        </p:nvSpPr>
        <p:spPr>
          <a:xfrm>
            <a:off x="6858000" y="4887468"/>
            <a:ext cx="1143000" cy="256032"/>
          </a:xfrm>
          <a:prstGeom prst="rect">
            <a:avLst/>
          </a:prstGeom>
          <a:noFill/>
          <a:ln/>
        </p:spPr>
        <p:txBody>
          <a:bodyPr wrap="square" lIns="0" tIns="0" rIns="0" bIns="0" rtlCol="0" anchor="ctr"/>
          <a:lstStyle/>
          <a:p>
            <a:pPr algn="ctr" indent="0" marL="0">
              <a:buNone/>
            </a:pPr>
            <a:r>
              <a:rPr lang="en-US" sz="750" dirty="0">
                <a:solidFill>
                  <a:srgbClr val="3A5068"/>
                </a:solidFill>
                <a:latin typeface="Calibri" pitchFamily="34" charset="0"/>
                <a:ea typeface="Calibri" pitchFamily="34" charset="-122"/>
                <a:cs typeface="Calibri" pitchFamily="34" charset="-120"/>
              </a:rPr>
              <a:t>Best Practices</a:t>
            </a:r>
            <a:endParaRPr lang="en-US" sz="750" dirty="0"/>
          </a:p>
        </p:txBody>
      </p:sp>
      <p:sp>
        <p:nvSpPr>
          <p:cNvPr id="80" name="Shape 78"/>
          <p:cNvSpPr/>
          <p:nvPr/>
        </p:nvSpPr>
        <p:spPr>
          <a:xfrm>
            <a:off x="8001000" y="4887468"/>
            <a:ext cx="1143000" cy="256032"/>
          </a:xfrm>
          <a:prstGeom prst="rect">
            <a:avLst/>
          </a:prstGeom>
          <a:solidFill>
            <a:srgbClr val="1A2E45"/>
          </a:solidFill>
          <a:ln w="12700">
            <a:solidFill>
              <a:srgbClr val="1A2E45"/>
            </a:solidFill>
            <a:prstDash val="solid"/>
          </a:ln>
        </p:spPr>
      </p:sp>
      <p:sp>
        <p:nvSpPr>
          <p:cNvPr id="81" name="Text 79"/>
          <p:cNvSpPr/>
          <p:nvPr/>
        </p:nvSpPr>
        <p:spPr>
          <a:xfrm>
            <a:off x="8001000" y="4887468"/>
            <a:ext cx="1143000" cy="256032"/>
          </a:xfrm>
          <a:prstGeom prst="rect">
            <a:avLst/>
          </a:prstGeom>
          <a:noFill/>
          <a:ln/>
        </p:spPr>
        <p:txBody>
          <a:bodyPr wrap="square" lIns="0" tIns="0" rIns="0" bIns="0" rtlCol="0" anchor="ctr"/>
          <a:lstStyle/>
          <a:p>
            <a:pPr algn="ctr" indent="0" marL="0">
              <a:buNone/>
            </a:pPr>
            <a:r>
              <a:rPr lang="en-US" sz="750" dirty="0">
                <a:solidFill>
                  <a:srgbClr val="3A5068"/>
                </a:solidFill>
                <a:latin typeface="Calibri" pitchFamily="34" charset="0"/>
                <a:ea typeface="Calibri" pitchFamily="34" charset="-122"/>
                <a:cs typeface="Calibri" pitchFamily="34" charset="-120"/>
              </a:rPr>
              <a:t>Reference</a:t>
            </a:r>
            <a:endParaRPr lang="en-US" sz="7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49808"/>
          </a:xfrm>
          <a:prstGeom prst="rect">
            <a:avLst/>
          </a:prstGeom>
          <a:solidFill>
            <a:srgbClr val="1A2E45"/>
          </a:solidFill>
          <a:ln w="12700">
            <a:solidFill>
              <a:srgbClr val="1A2E45"/>
            </a:solidFill>
            <a:prstDash val="solid"/>
          </a:ln>
        </p:spPr>
      </p:sp>
      <p:sp>
        <p:nvSpPr>
          <p:cNvPr id="3" name="Text 1"/>
          <p:cNvSpPr/>
          <p:nvPr/>
        </p:nvSpPr>
        <p:spPr>
          <a:xfrm>
            <a:off x="365760" y="0"/>
            <a:ext cx="8412480" cy="749808"/>
          </a:xfrm>
          <a:prstGeom prst="rect">
            <a:avLst/>
          </a:prstGeom>
          <a:noFill/>
          <a:ln/>
        </p:spPr>
        <p:txBody>
          <a:bodyPr wrap="square" lIns="0" tIns="0" rIns="0" bIns="0" rtlCol="0" anchor="ctr"/>
          <a:lstStyle/>
          <a:p>
            <a:pPr indent="0" marL="0">
              <a:buNone/>
            </a:pPr>
            <a:r>
              <a:rPr lang="en-US" sz="2000" b="1" dirty="0">
                <a:solidFill>
                  <a:srgbClr val="FFFFFF"/>
                </a:solidFill>
                <a:latin typeface="Cambria" pitchFamily="34" charset="0"/>
                <a:ea typeface="Cambria" pitchFamily="34" charset="-122"/>
                <a:cs typeface="Cambria" pitchFamily="34" charset="-120"/>
              </a:rPr>
              <a:t>VS Code Settings &amp; File Structure Reference</a:t>
            </a:r>
            <a:endParaRPr lang="en-US" sz="2000" dirty="0"/>
          </a:p>
        </p:txBody>
      </p:sp>
      <p:sp>
        <p:nvSpPr>
          <p:cNvPr id="4" name="Text 2"/>
          <p:cNvSpPr/>
          <p:nvPr/>
        </p:nvSpPr>
        <p:spPr>
          <a:xfrm>
            <a:off x="365760" y="786384"/>
            <a:ext cx="8412480" cy="292608"/>
          </a:xfrm>
          <a:prstGeom prst="rect">
            <a:avLst/>
          </a:prstGeom>
          <a:noFill/>
          <a:ln/>
        </p:spPr>
        <p:txBody>
          <a:bodyPr wrap="square" rtlCol="0" anchor="ctr"/>
          <a:lstStyle/>
          <a:p>
            <a:pPr indent="0" marL="0">
              <a:buNone/>
            </a:pPr>
            <a:r>
              <a:rPr lang="en-US" sz="1150" i="1" dirty="0">
                <a:solidFill>
                  <a:srgbClr val="008C94"/>
                </a:solidFill>
                <a:latin typeface="Calibri" pitchFamily="34" charset="0"/>
                <a:ea typeface="Calibri" pitchFamily="34" charset="-122"/>
                <a:cs typeface="Calibri" pitchFamily="34" charset="-120"/>
              </a:rPr>
              <a:t>Exactly where each file lives and what VS Code settings control Copilot behaviour</a:t>
            </a:r>
            <a:endParaRPr lang="en-US" sz="1150" dirty="0"/>
          </a:p>
        </p:txBody>
      </p:sp>
      <p:sp>
        <p:nvSpPr>
          <p:cNvPr id="5" name="Shape 3"/>
          <p:cNvSpPr/>
          <p:nvPr/>
        </p:nvSpPr>
        <p:spPr>
          <a:xfrm>
            <a:off x="274320" y="1143000"/>
            <a:ext cx="4023360" cy="3520440"/>
          </a:xfrm>
          <a:prstGeom prst="roundRect">
            <a:avLst>
              <a:gd name="adj" fmla="val 2597"/>
            </a:avLst>
          </a:prstGeom>
          <a:solidFill>
            <a:srgbClr val="0D1B2A"/>
          </a:solidFill>
          <a:ln w="12700">
            <a:solidFill>
              <a:srgbClr val="2A3F55"/>
            </a:solidFill>
            <a:prstDash val="solid"/>
          </a:ln>
          <a:effectLst>
            <a:outerShdw sx="100000" sy="100000" kx="0" ky="0" algn="bl" rotWithShape="0" blurRad="101600" dist="38100" dir="2700000">
              <a:srgbClr val="000000">
                <a:alpha val="12000"/>
              </a:srgbClr>
            </a:outerShdw>
          </a:effectLst>
        </p:spPr>
      </p:sp>
      <p:sp>
        <p:nvSpPr>
          <p:cNvPr id="6" name="Shape 4"/>
          <p:cNvSpPr/>
          <p:nvPr/>
        </p:nvSpPr>
        <p:spPr>
          <a:xfrm>
            <a:off x="274320" y="1143000"/>
            <a:ext cx="4023360" cy="365760"/>
          </a:xfrm>
          <a:prstGeom prst="roundRect">
            <a:avLst>
              <a:gd name="adj" fmla="val 25000"/>
            </a:avLst>
          </a:prstGeom>
          <a:solidFill>
            <a:srgbClr val="2A3F55"/>
          </a:solidFill>
          <a:ln w="12700">
            <a:solidFill>
              <a:srgbClr val="2A3F55"/>
            </a:solidFill>
            <a:prstDash val="solid"/>
          </a:ln>
        </p:spPr>
      </p:sp>
      <p:sp>
        <p:nvSpPr>
          <p:cNvPr id="7" name="Text 5"/>
          <p:cNvSpPr/>
          <p:nvPr/>
        </p:nvSpPr>
        <p:spPr>
          <a:xfrm>
            <a:off x="411480" y="1143000"/>
            <a:ext cx="3749040" cy="365760"/>
          </a:xfrm>
          <a:prstGeom prst="rect">
            <a:avLst/>
          </a:prstGeom>
          <a:noFill/>
          <a:ln/>
        </p:spPr>
        <p:txBody>
          <a:bodyPr wrap="square" lIns="0" tIns="0" rIns="0" bIns="0" rtlCol="0" anchor="ctr"/>
          <a:lstStyle/>
          <a:p>
            <a:pPr indent="0" marL="0">
              <a:buNone/>
            </a:pPr>
            <a:r>
              <a:rPr lang="en-US" sz="1100" b="1" dirty="0">
                <a:solidFill>
                  <a:srgbClr val="00C2CC"/>
                </a:solidFill>
                <a:latin typeface="Courier New" pitchFamily="34" charset="0"/>
                <a:ea typeface="Courier New" pitchFamily="34" charset="-122"/>
                <a:cs typeface="Courier New" pitchFamily="34" charset="-120"/>
              </a:rPr>
              <a:t>📁  Project Root</a:t>
            </a:r>
            <a:endParaRPr lang="en-US" sz="1100" dirty="0"/>
          </a:p>
        </p:txBody>
      </p:sp>
      <p:sp>
        <p:nvSpPr>
          <p:cNvPr id="8" name="Text 6"/>
          <p:cNvSpPr/>
          <p:nvPr/>
        </p:nvSpPr>
        <p:spPr>
          <a:xfrm>
            <a:off x="457200" y="1581912"/>
            <a:ext cx="2377440" cy="246888"/>
          </a:xfrm>
          <a:prstGeom prst="rect">
            <a:avLst/>
          </a:prstGeom>
          <a:noFill/>
          <a:ln/>
        </p:spPr>
        <p:txBody>
          <a:bodyPr wrap="square" lIns="0" tIns="0" rIns="0" bIns="0" rtlCol="0" anchor="ctr"/>
          <a:lstStyle/>
          <a:p>
            <a:pPr indent="0" marL="0">
              <a:buNone/>
            </a:pPr>
            <a:r>
              <a:rPr lang="en-US" sz="900" b="1" dirty="0">
                <a:solidFill>
                  <a:srgbClr val="00C2CC"/>
                </a:solidFill>
                <a:latin typeface="Courier New" pitchFamily="34" charset="0"/>
                <a:ea typeface="Courier New" pitchFamily="34" charset="-122"/>
                <a:cs typeface="Courier New" pitchFamily="34" charset="-120"/>
              </a:rPr>
              <a:t>📁 .github/</a:t>
            </a:r>
            <a:endParaRPr lang="en-US" sz="900" dirty="0"/>
          </a:p>
        </p:txBody>
      </p:sp>
      <p:sp>
        <p:nvSpPr>
          <p:cNvPr id="9" name="Text 7"/>
          <p:cNvSpPr/>
          <p:nvPr/>
        </p:nvSpPr>
        <p:spPr>
          <a:xfrm>
            <a:off x="749808" y="1856232"/>
            <a:ext cx="2377440" cy="246888"/>
          </a:xfrm>
          <a:prstGeom prst="rect">
            <a:avLst/>
          </a:prstGeom>
          <a:noFill/>
          <a:ln/>
        </p:spPr>
        <p:txBody>
          <a:bodyPr wrap="square" lIns="0" tIns="0" rIns="0" bIns="0" rtlCol="0" anchor="ctr"/>
          <a:lstStyle/>
          <a:p>
            <a:pPr indent="0" marL="0">
              <a:buNone/>
            </a:pPr>
            <a:r>
              <a:rPr lang="en-US" sz="900" dirty="0">
                <a:solidFill>
                  <a:srgbClr val="EA580C"/>
                </a:solidFill>
                <a:latin typeface="Courier New" pitchFamily="34" charset="0"/>
                <a:ea typeface="Courier New" pitchFamily="34" charset="-122"/>
                <a:cs typeface="Courier New" pitchFamily="34" charset="-120"/>
              </a:rPr>
              <a:t>📄 copilot-instructions.md</a:t>
            </a:r>
            <a:endParaRPr lang="en-US" sz="900" dirty="0"/>
          </a:p>
        </p:txBody>
      </p:sp>
      <p:sp>
        <p:nvSpPr>
          <p:cNvPr id="10" name="Text 8"/>
          <p:cNvSpPr/>
          <p:nvPr/>
        </p:nvSpPr>
        <p:spPr>
          <a:xfrm>
            <a:off x="2834640" y="1856232"/>
            <a:ext cx="1325880" cy="246888"/>
          </a:xfrm>
          <a:prstGeom prst="rect">
            <a:avLst/>
          </a:prstGeom>
          <a:noFill/>
          <a:ln/>
        </p:spPr>
        <p:txBody>
          <a:bodyPr wrap="square" lIns="0" tIns="0" rIns="0" bIns="0" rtlCol="0" anchor="ctr"/>
          <a:lstStyle/>
          <a:p>
            <a:pPr indent="0" marL="0">
              <a:buNone/>
            </a:pPr>
            <a:r>
              <a:rPr lang="en-US" sz="850" i="1" dirty="0">
                <a:solidFill>
                  <a:srgbClr val="3A5068"/>
                </a:solidFill>
                <a:latin typeface="Calibri" pitchFamily="34" charset="0"/>
                <a:ea typeface="Calibri" pitchFamily="34" charset="-122"/>
                <a:cs typeface="Calibri" pitchFamily="34" charset="-120"/>
              </a:rPr>
              <a:t>← L1 global</a:t>
            </a:r>
            <a:endParaRPr lang="en-US" sz="850" dirty="0"/>
          </a:p>
        </p:txBody>
      </p:sp>
      <p:sp>
        <p:nvSpPr>
          <p:cNvPr id="11" name="Text 9"/>
          <p:cNvSpPr/>
          <p:nvPr/>
        </p:nvSpPr>
        <p:spPr>
          <a:xfrm>
            <a:off x="749808" y="2130552"/>
            <a:ext cx="2377440" cy="246888"/>
          </a:xfrm>
          <a:prstGeom prst="rect">
            <a:avLst/>
          </a:prstGeom>
          <a:noFill/>
          <a:ln/>
        </p:spPr>
        <p:txBody>
          <a:bodyPr wrap="square" lIns="0" tIns="0" rIns="0" bIns="0" rtlCol="0" anchor="ctr"/>
          <a:lstStyle/>
          <a:p>
            <a:pPr indent="0" marL="0">
              <a:buNone/>
            </a:pPr>
            <a:r>
              <a:rPr lang="en-US" sz="900" dirty="0">
                <a:solidFill>
                  <a:srgbClr val="3B82F6"/>
                </a:solidFill>
                <a:latin typeface="Courier New" pitchFamily="34" charset="0"/>
                <a:ea typeface="Courier New" pitchFamily="34" charset="-122"/>
                <a:cs typeface="Courier New" pitchFamily="34" charset="-120"/>
              </a:rPr>
              <a:t>📁 instructions/</a:t>
            </a:r>
            <a:endParaRPr lang="en-US" sz="900" dirty="0"/>
          </a:p>
        </p:txBody>
      </p:sp>
      <p:sp>
        <p:nvSpPr>
          <p:cNvPr id="12" name="Text 10"/>
          <p:cNvSpPr/>
          <p:nvPr/>
        </p:nvSpPr>
        <p:spPr>
          <a:xfrm>
            <a:off x="1042416" y="2404872"/>
            <a:ext cx="2377440" cy="246888"/>
          </a:xfrm>
          <a:prstGeom prst="rect">
            <a:avLst/>
          </a:prstGeom>
          <a:noFill/>
          <a:ln/>
        </p:spPr>
        <p:txBody>
          <a:bodyPr wrap="square" lIns="0" tIns="0" rIns="0" bIns="0" rtlCol="0" anchor="ctr"/>
          <a:lstStyle/>
          <a:p>
            <a:pPr indent="0" marL="0">
              <a:buNone/>
            </a:pPr>
            <a:r>
              <a:rPr lang="en-US" sz="900" dirty="0">
                <a:solidFill>
                  <a:srgbClr val="8EAFC7"/>
                </a:solidFill>
                <a:latin typeface="Courier New" pitchFamily="34" charset="0"/>
                <a:ea typeface="Courier New" pitchFamily="34" charset="-122"/>
                <a:cs typeface="Courier New" pitchFamily="34" charset="-120"/>
              </a:rPr>
              <a:t>📄 python.instructions.md</a:t>
            </a:r>
            <a:endParaRPr lang="en-US" sz="900" dirty="0"/>
          </a:p>
        </p:txBody>
      </p:sp>
      <p:sp>
        <p:nvSpPr>
          <p:cNvPr id="13" name="Text 11"/>
          <p:cNvSpPr/>
          <p:nvPr/>
        </p:nvSpPr>
        <p:spPr>
          <a:xfrm>
            <a:off x="2834640" y="2404872"/>
            <a:ext cx="1325880" cy="246888"/>
          </a:xfrm>
          <a:prstGeom prst="rect">
            <a:avLst/>
          </a:prstGeom>
          <a:noFill/>
          <a:ln/>
        </p:spPr>
        <p:txBody>
          <a:bodyPr wrap="square" lIns="0" tIns="0" rIns="0" bIns="0" rtlCol="0" anchor="ctr"/>
          <a:lstStyle/>
          <a:p>
            <a:pPr indent="0" marL="0">
              <a:buNone/>
            </a:pPr>
            <a:r>
              <a:rPr lang="en-US" sz="850" i="1" dirty="0">
                <a:solidFill>
                  <a:srgbClr val="3A5068"/>
                </a:solidFill>
                <a:latin typeface="Calibri" pitchFamily="34" charset="0"/>
                <a:ea typeface="Calibri" pitchFamily="34" charset="-122"/>
                <a:cs typeface="Calibri" pitchFamily="34" charset="-120"/>
              </a:rPr>
              <a:t>← L2 *.py</a:t>
            </a:r>
            <a:endParaRPr lang="en-US" sz="850" dirty="0"/>
          </a:p>
        </p:txBody>
      </p:sp>
      <p:sp>
        <p:nvSpPr>
          <p:cNvPr id="14" name="Text 12"/>
          <p:cNvSpPr/>
          <p:nvPr/>
        </p:nvSpPr>
        <p:spPr>
          <a:xfrm>
            <a:off x="1042416" y="2679192"/>
            <a:ext cx="2377440" cy="246888"/>
          </a:xfrm>
          <a:prstGeom prst="rect">
            <a:avLst/>
          </a:prstGeom>
          <a:noFill/>
          <a:ln/>
        </p:spPr>
        <p:txBody>
          <a:bodyPr wrap="square" lIns="0" tIns="0" rIns="0" bIns="0" rtlCol="0" anchor="ctr"/>
          <a:lstStyle/>
          <a:p>
            <a:pPr indent="0" marL="0">
              <a:buNone/>
            </a:pPr>
            <a:r>
              <a:rPr lang="en-US" sz="900" dirty="0">
                <a:solidFill>
                  <a:srgbClr val="8EAFC7"/>
                </a:solidFill>
                <a:latin typeface="Courier New" pitchFamily="34" charset="0"/>
                <a:ea typeface="Courier New" pitchFamily="34" charset="-122"/>
                <a:cs typeface="Courier New" pitchFamily="34" charset="-120"/>
              </a:rPr>
              <a:t>📄 react.instructions.md</a:t>
            </a:r>
            <a:endParaRPr lang="en-US" sz="900" dirty="0"/>
          </a:p>
        </p:txBody>
      </p:sp>
      <p:sp>
        <p:nvSpPr>
          <p:cNvPr id="15" name="Text 13"/>
          <p:cNvSpPr/>
          <p:nvPr/>
        </p:nvSpPr>
        <p:spPr>
          <a:xfrm>
            <a:off x="2834640" y="2679192"/>
            <a:ext cx="1325880" cy="246888"/>
          </a:xfrm>
          <a:prstGeom prst="rect">
            <a:avLst/>
          </a:prstGeom>
          <a:noFill/>
          <a:ln/>
        </p:spPr>
        <p:txBody>
          <a:bodyPr wrap="square" lIns="0" tIns="0" rIns="0" bIns="0" rtlCol="0" anchor="ctr"/>
          <a:lstStyle/>
          <a:p>
            <a:pPr indent="0" marL="0">
              <a:buNone/>
            </a:pPr>
            <a:r>
              <a:rPr lang="en-US" sz="850" i="1" dirty="0">
                <a:solidFill>
                  <a:srgbClr val="3A5068"/>
                </a:solidFill>
                <a:latin typeface="Calibri" pitchFamily="34" charset="0"/>
                <a:ea typeface="Calibri" pitchFamily="34" charset="-122"/>
                <a:cs typeface="Calibri" pitchFamily="34" charset="-120"/>
              </a:rPr>
              <a:t>← L2 *.tsx</a:t>
            </a:r>
            <a:endParaRPr lang="en-US" sz="850" dirty="0"/>
          </a:p>
        </p:txBody>
      </p:sp>
      <p:sp>
        <p:nvSpPr>
          <p:cNvPr id="16" name="Text 14"/>
          <p:cNvSpPr/>
          <p:nvPr/>
        </p:nvSpPr>
        <p:spPr>
          <a:xfrm>
            <a:off x="1042416" y="2953512"/>
            <a:ext cx="2377440" cy="246888"/>
          </a:xfrm>
          <a:prstGeom prst="rect">
            <a:avLst/>
          </a:prstGeom>
          <a:noFill/>
          <a:ln/>
        </p:spPr>
        <p:txBody>
          <a:bodyPr wrap="square" lIns="0" tIns="0" rIns="0" bIns="0" rtlCol="0" anchor="ctr"/>
          <a:lstStyle/>
          <a:p>
            <a:pPr indent="0" marL="0">
              <a:buNone/>
            </a:pPr>
            <a:r>
              <a:rPr lang="en-US" sz="900" dirty="0">
                <a:solidFill>
                  <a:srgbClr val="8EAFC7"/>
                </a:solidFill>
                <a:latin typeface="Courier New" pitchFamily="34" charset="0"/>
                <a:ea typeface="Courier New" pitchFamily="34" charset="-122"/>
                <a:cs typeface="Courier New" pitchFamily="34" charset="-120"/>
              </a:rPr>
              <a:t>📄 sql.instructions.md</a:t>
            </a:r>
            <a:endParaRPr lang="en-US" sz="900" dirty="0"/>
          </a:p>
        </p:txBody>
      </p:sp>
      <p:sp>
        <p:nvSpPr>
          <p:cNvPr id="17" name="Text 15"/>
          <p:cNvSpPr/>
          <p:nvPr/>
        </p:nvSpPr>
        <p:spPr>
          <a:xfrm>
            <a:off x="2834640" y="2953512"/>
            <a:ext cx="1325880" cy="246888"/>
          </a:xfrm>
          <a:prstGeom prst="rect">
            <a:avLst/>
          </a:prstGeom>
          <a:noFill/>
          <a:ln/>
        </p:spPr>
        <p:txBody>
          <a:bodyPr wrap="square" lIns="0" tIns="0" rIns="0" bIns="0" rtlCol="0" anchor="ctr"/>
          <a:lstStyle/>
          <a:p>
            <a:pPr indent="0" marL="0">
              <a:buNone/>
            </a:pPr>
            <a:r>
              <a:rPr lang="en-US" sz="850" i="1" dirty="0">
                <a:solidFill>
                  <a:srgbClr val="3A5068"/>
                </a:solidFill>
                <a:latin typeface="Calibri" pitchFamily="34" charset="0"/>
                <a:ea typeface="Calibri" pitchFamily="34" charset="-122"/>
                <a:cs typeface="Calibri" pitchFamily="34" charset="-120"/>
              </a:rPr>
              <a:t>← L2 *.sql</a:t>
            </a:r>
            <a:endParaRPr lang="en-US" sz="850" dirty="0"/>
          </a:p>
        </p:txBody>
      </p:sp>
      <p:sp>
        <p:nvSpPr>
          <p:cNvPr id="18" name="Text 16"/>
          <p:cNvSpPr/>
          <p:nvPr/>
        </p:nvSpPr>
        <p:spPr>
          <a:xfrm>
            <a:off x="749808" y="3227832"/>
            <a:ext cx="2377440" cy="246888"/>
          </a:xfrm>
          <a:prstGeom prst="rect">
            <a:avLst/>
          </a:prstGeom>
          <a:noFill/>
          <a:ln/>
        </p:spPr>
        <p:txBody>
          <a:bodyPr wrap="square" lIns="0" tIns="0" rIns="0" bIns="0" rtlCol="0" anchor="ctr"/>
          <a:lstStyle/>
          <a:p>
            <a:pPr indent="0" marL="0">
              <a:buNone/>
            </a:pPr>
            <a:r>
              <a:rPr lang="en-US" sz="900" dirty="0">
                <a:solidFill>
                  <a:srgbClr val="008C94"/>
                </a:solidFill>
                <a:latin typeface="Courier New" pitchFamily="34" charset="0"/>
                <a:ea typeface="Courier New" pitchFamily="34" charset="-122"/>
                <a:cs typeface="Courier New" pitchFamily="34" charset="-120"/>
              </a:rPr>
              <a:t>📁 prompts/</a:t>
            </a:r>
            <a:endParaRPr lang="en-US" sz="900" dirty="0"/>
          </a:p>
        </p:txBody>
      </p:sp>
      <p:sp>
        <p:nvSpPr>
          <p:cNvPr id="19" name="Text 17"/>
          <p:cNvSpPr/>
          <p:nvPr/>
        </p:nvSpPr>
        <p:spPr>
          <a:xfrm>
            <a:off x="1042416" y="3502152"/>
            <a:ext cx="2377440" cy="246888"/>
          </a:xfrm>
          <a:prstGeom prst="rect">
            <a:avLst/>
          </a:prstGeom>
          <a:noFill/>
          <a:ln/>
        </p:spPr>
        <p:txBody>
          <a:bodyPr wrap="square" lIns="0" tIns="0" rIns="0" bIns="0" rtlCol="0" anchor="ctr"/>
          <a:lstStyle/>
          <a:p>
            <a:pPr indent="0" marL="0">
              <a:buNone/>
            </a:pPr>
            <a:r>
              <a:rPr lang="en-US" sz="900" dirty="0">
                <a:solidFill>
                  <a:srgbClr val="8EAFC7"/>
                </a:solidFill>
                <a:latin typeface="Courier New" pitchFamily="34" charset="0"/>
                <a:ea typeface="Courier New" pitchFamily="34" charset="-122"/>
                <a:cs typeface="Courier New" pitchFamily="34" charset="-120"/>
              </a:rPr>
              <a:t>📄 pr-review.prompt.md</a:t>
            </a:r>
            <a:endParaRPr lang="en-US" sz="900" dirty="0"/>
          </a:p>
        </p:txBody>
      </p:sp>
      <p:sp>
        <p:nvSpPr>
          <p:cNvPr id="20" name="Text 18"/>
          <p:cNvSpPr/>
          <p:nvPr/>
        </p:nvSpPr>
        <p:spPr>
          <a:xfrm>
            <a:off x="2834640" y="3502152"/>
            <a:ext cx="1325880" cy="246888"/>
          </a:xfrm>
          <a:prstGeom prst="rect">
            <a:avLst/>
          </a:prstGeom>
          <a:noFill/>
          <a:ln/>
        </p:spPr>
        <p:txBody>
          <a:bodyPr wrap="square" lIns="0" tIns="0" rIns="0" bIns="0" rtlCol="0" anchor="ctr"/>
          <a:lstStyle/>
          <a:p>
            <a:pPr indent="0" marL="0">
              <a:buNone/>
            </a:pPr>
            <a:r>
              <a:rPr lang="en-US" sz="850" i="1" dirty="0">
                <a:solidFill>
                  <a:srgbClr val="3A5068"/>
                </a:solidFill>
                <a:latin typeface="Calibri" pitchFamily="34" charset="0"/>
                <a:ea typeface="Calibri" pitchFamily="34" charset="-122"/>
                <a:cs typeface="Calibri" pitchFamily="34" charset="-120"/>
              </a:rPr>
              <a:t>← L3 skill</a:t>
            </a:r>
            <a:endParaRPr lang="en-US" sz="850" dirty="0"/>
          </a:p>
        </p:txBody>
      </p:sp>
      <p:sp>
        <p:nvSpPr>
          <p:cNvPr id="21" name="Text 19"/>
          <p:cNvSpPr/>
          <p:nvPr/>
        </p:nvSpPr>
        <p:spPr>
          <a:xfrm>
            <a:off x="1042416" y="3776472"/>
            <a:ext cx="2377440" cy="246888"/>
          </a:xfrm>
          <a:prstGeom prst="rect">
            <a:avLst/>
          </a:prstGeom>
          <a:noFill/>
          <a:ln/>
        </p:spPr>
        <p:txBody>
          <a:bodyPr wrap="square" lIns="0" tIns="0" rIns="0" bIns="0" rtlCol="0" anchor="ctr"/>
          <a:lstStyle/>
          <a:p>
            <a:pPr indent="0" marL="0">
              <a:buNone/>
            </a:pPr>
            <a:r>
              <a:rPr lang="en-US" sz="900" dirty="0">
                <a:solidFill>
                  <a:srgbClr val="8EAFC7"/>
                </a:solidFill>
                <a:latin typeface="Courier New" pitchFamily="34" charset="0"/>
                <a:ea typeface="Courier New" pitchFamily="34" charset="-122"/>
                <a:cs typeface="Courier New" pitchFamily="34" charset="-120"/>
              </a:rPr>
              <a:t>📄 security.prompt.md</a:t>
            </a:r>
            <a:endParaRPr lang="en-US" sz="900" dirty="0"/>
          </a:p>
        </p:txBody>
      </p:sp>
      <p:sp>
        <p:nvSpPr>
          <p:cNvPr id="22" name="Text 20"/>
          <p:cNvSpPr/>
          <p:nvPr/>
        </p:nvSpPr>
        <p:spPr>
          <a:xfrm>
            <a:off x="2834640" y="3776472"/>
            <a:ext cx="1325880" cy="246888"/>
          </a:xfrm>
          <a:prstGeom prst="rect">
            <a:avLst/>
          </a:prstGeom>
          <a:noFill/>
          <a:ln/>
        </p:spPr>
        <p:txBody>
          <a:bodyPr wrap="square" lIns="0" tIns="0" rIns="0" bIns="0" rtlCol="0" anchor="ctr"/>
          <a:lstStyle/>
          <a:p>
            <a:pPr indent="0" marL="0">
              <a:buNone/>
            </a:pPr>
            <a:r>
              <a:rPr lang="en-US" sz="850" i="1" dirty="0">
                <a:solidFill>
                  <a:srgbClr val="3A5068"/>
                </a:solidFill>
                <a:latin typeface="Calibri" pitchFamily="34" charset="0"/>
                <a:ea typeface="Calibri" pitchFamily="34" charset="-122"/>
                <a:cs typeface="Calibri" pitchFamily="34" charset="-120"/>
              </a:rPr>
              <a:t>← L3 skill</a:t>
            </a:r>
            <a:endParaRPr lang="en-US" sz="850" dirty="0"/>
          </a:p>
        </p:txBody>
      </p:sp>
      <p:sp>
        <p:nvSpPr>
          <p:cNvPr id="23" name="Text 21"/>
          <p:cNvSpPr/>
          <p:nvPr/>
        </p:nvSpPr>
        <p:spPr>
          <a:xfrm>
            <a:off x="457200" y="4050792"/>
            <a:ext cx="2377440" cy="246888"/>
          </a:xfrm>
          <a:prstGeom prst="rect">
            <a:avLst/>
          </a:prstGeom>
          <a:noFill/>
          <a:ln/>
        </p:spPr>
        <p:txBody>
          <a:bodyPr wrap="square" lIns="0" tIns="0" rIns="0" bIns="0" rtlCol="0" anchor="ctr"/>
          <a:lstStyle/>
          <a:p>
            <a:pPr indent="0" marL="0">
              <a:buNone/>
            </a:pPr>
            <a:r>
              <a:rPr lang="en-US" sz="900" b="1" dirty="0">
                <a:solidFill>
                  <a:srgbClr val="00C2CC"/>
                </a:solidFill>
                <a:latin typeface="Courier New" pitchFamily="34" charset="0"/>
                <a:ea typeface="Courier New" pitchFamily="34" charset="-122"/>
                <a:cs typeface="Courier New" pitchFamily="34" charset="-120"/>
              </a:rPr>
              <a:t>📁 .vscode/</a:t>
            </a:r>
            <a:endParaRPr lang="en-US" sz="900" dirty="0"/>
          </a:p>
        </p:txBody>
      </p:sp>
      <p:sp>
        <p:nvSpPr>
          <p:cNvPr id="24" name="Text 22"/>
          <p:cNvSpPr/>
          <p:nvPr/>
        </p:nvSpPr>
        <p:spPr>
          <a:xfrm>
            <a:off x="749808" y="4325112"/>
            <a:ext cx="2377440" cy="246888"/>
          </a:xfrm>
          <a:prstGeom prst="rect">
            <a:avLst/>
          </a:prstGeom>
          <a:noFill/>
          <a:ln/>
        </p:spPr>
        <p:txBody>
          <a:bodyPr wrap="square" lIns="0" tIns="0" rIns="0" bIns="0" rtlCol="0" anchor="ctr"/>
          <a:lstStyle/>
          <a:p>
            <a:pPr indent="0" marL="0">
              <a:buNone/>
            </a:pPr>
            <a:r>
              <a:rPr lang="en-US" sz="900" dirty="0">
                <a:solidFill>
                  <a:srgbClr val="F59E0B"/>
                </a:solidFill>
                <a:latin typeface="Courier New" pitchFamily="34" charset="0"/>
                <a:ea typeface="Courier New" pitchFamily="34" charset="-122"/>
                <a:cs typeface="Courier New" pitchFamily="34" charset="-120"/>
              </a:rPr>
              <a:t>📄 settings.json</a:t>
            </a:r>
            <a:endParaRPr lang="en-US" sz="900" dirty="0"/>
          </a:p>
        </p:txBody>
      </p:sp>
      <p:sp>
        <p:nvSpPr>
          <p:cNvPr id="25" name="Text 23"/>
          <p:cNvSpPr/>
          <p:nvPr/>
        </p:nvSpPr>
        <p:spPr>
          <a:xfrm>
            <a:off x="2834640" y="4325112"/>
            <a:ext cx="1325880" cy="246888"/>
          </a:xfrm>
          <a:prstGeom prst="rect">
            <a:avLst/>
          </a:prstGeom>
          <a:noFill/>
          <a:ln/>
        </p:spPr>
        <p:txBody>
          <a:bodyPr wrap="square" lIns="0" tIns="0" rIns="0" bIns="0" rtlCol="0" anchor="ctr"/>
          <a:lstStyle/>
          <a:p>
            <a:pPr indent="0" marL="0">
              <a:buNone/>
            </a:pPr>
            <a:r>
              <a:rPr lang="en-US" sz="850" i="1" dirty="0">
                <a:solidFill>
                  <a:srgbClr val="3A5068"/>
                </a:solidFill>
                <a:latin typeface="Calibri" pitchFamily="34" charset="0"/>
                <a:ea typeface="Calibri" pitchFamily="34" charset="-122"/>
                <a:cs typeface="Calibri" pitchFamily="34" charset="-120"/>
              </a:rPr>
              <a:t>← key settings</a:t>
            </a:r>
            <a:endParaRPr lang="en-US" sz="850" dirty="0"/>
          </a:p>
        </p:txBody>
      </p:sp>
      <p:sp>
        <p:nvSpPr>
          <p:cNvPr id="26" name="Shape 24"/>
          <p:cNvSpPr/>
          <p:nvPr/>
        </p:nvSpPr>
        <p:spPr>
          <a:xfrm>
            <a:off x="4480560" y="1143000"/>
            <a:ext cx="4389120" cy="3520440"/>
          </a:xfrm>
          <a:prstGeom prst="roundRect">
            <a:avLst>
              <a:gd name="adj" fmla="val 2597"/>
            </a:avLst>
          </a:prstGeom>
          <a:solidFill>
            <a:srgbClr val="0D1B2A"/>
          </a:solidFill>
          <a:ln w="12700">
            <a:solidFill>
              <a:srgbClr val="2A3F55"/>
            </a:solidFill>
            <a:prstDash val="solid"/>
          </a:ln>
          <a:effectLst>
            <a:outerShdw sx="100000" sy="100000" kx="0" ky="0" algn="bl" rotWithShape="0" blurRad="101600" dist="38100" dir="2700000">
              <a:srgbClr val="000000">
                <a:alpha val="12000"/>
              </a:srgbClr>
            </a:outerShdw>
          </a:effectLst>
        </p:spPr>
      </p:sp>
      <p:sp>
        <p:nvSpPr>
          <p:cNvPr id="27" name="Shape 25"/>
          <p:cNvSpPr/>
          <p:nvPr/>
        </p:nvSpPr>
        <p:spPr>
          <a:xfrm>
            <a:off x="4480560" y="1143000"/>
            <a:ext cx="4389120" cy="365760"/>
          </a:xfrm>
          <a:prstGeom prst="roundRect">
            <a:avLst>
              <a:gd name="adj" fmla="val 25000"/>
            </a:avLst>
          </a:prstGeom>
          <a:solidFill>
            <a:srgbClr val="2A3F55"/>
          </a:solidFill>
          <a:ln w="12700">
            <a:solidFill>
              <a:srgbClr val="2A3F55"/>
            </a:solidFill>
            <a:prstDash val="solid"/>
          </a:ln>
        </p:spPr>
      </p:sp>
      <p:sp>
        <p:nvSpPr>
          <p:cNvPr id="28" name="Text 26"/>
          <p:cNvSpPr/>
          <p:nvPr/>
        </p:nvSpPr>
        <p:spPr>
          <a:xfrm>
            <a:off x="4617720" y="1143000"/>
            <a:ext cx="4114800" cy="365760"/>
          </a:xfrm>
          <a:prstGeom prst="rect">
            <a:avLst/>
          </a:prstGeom>
          <a:noFill/>
          <a:ln/>
        </p:spPr>
        <p:txBody>
          <a:bodyPr wrap="square" lIns="0" tIns="0" rIns="0" bIns="0" rtlCol="0" anchor="ctr"/>
          <a:lstStyle/>
          <a:p>
            <a:pPr indent="0" marL="0">
              <a:buNone/>
            </a:pPr>
            <a:r>
              <a:rPr lang="en-US" sz="1100" b="1" dirty="0">
                <a:solidFill>
                  <a:srgbClr val="00C2CC"/>
                </a:solidFill>
                <a:latin typeface="Courier New" pitchFamily="34" charset="0"/>
                <a:ea typeface="Courier New" pitchFamily="34" charset="-122"/>
                <a:cs typeface="Courier New" pitchFamily="34" charset="-120"/>
              </a:rPr>
              <a:t>⚙️  .vscode/settings.json</a:t>
            </a:r>
            <a:endParaRPr lang="en-US" sz="1100" dirty="0"/>
          </a:p>
        </p:txBody>
      </p:sp>
      <p:sp>
        <p:nvSpPr>
          <p:cNvPr id="29" name="Text 27"/>
          <p:cNvSpPr/>
          <p:nvPr/>
        </p:nvSpPr>
        <p:spPr>
          <a:xfrm>
            <a:off x="4617720" y="1572768"/>
            <a:ext cx="4206240" cy="210312"/>
          </a:xfrm>
          <a:prstGeom prst="rect">
            <a:avLst/>
          </a:prstGeom>
          <a:noFill/>
          <a:ln/>
        </p:spPr>
        <p:txBody>
          <a:bodyPr wrap="square" lIns="0" tIns="0" rIns="0" bIns="0" rtlCol="0" anchor="ctr"/>
          <a:lstStyle/>
          <a:p>
            <a:pPr indent="0" marL="0">
              <a:buNone/>
            </a:pPr>
            <a:r>
              <a:rPr lang="en-US" sz="880" dirty="0">
                <a:solidFill>
                  <a:srgbClr val="FFFFFF"/>
                </a:solidFill>
                <a:latin typeface="Courier New" pitchFamily="34" charset="0"/>
                <a:ea typeface="Courier New" pitchFamily="34" charset="-122"/>
                <a:cs typeface="Courier New" pitchFamily="34" charset="-120"/>
              </a:rPr>
              <a:t>{</a:t>
            </a:r>
            <a:endParaRPr lang="en-US" sz="880" dirty="0"/>
          </a:p>
        </p:txBody>
      </p:sp>
      <p:sp>
        <p:nvSpPr>
          <p:cNvPr id="30" name="Text 28"/>
          <p:cNvSpPr/>
          <p:nvPr/>
        </p:nvSpPr>
        <p:spPr>
          <a:xfrm>
            <a:off x="4617720" y="1792224"/>
            <a:ext cx="4206240" cy="210312"/>
          </a:xfrm>
          <a:prstGeom prst="rect">
            <a:avLst/>
          </a:prstGeom>
          <a:noFill/>
          <a:ln/>
        </p:spPr>
        <p:txBody>
          <a:bodyPr wrap="square" lIns="0" tIns="0" rIns="0" bIns="0" rtlCol="0" anchor="ctr"/>
          <a:lstStyle/>
          <a:p>
            <a:pPr indent="0" marL="0">
              <a:buNone/>
            </a:pPr>
            <a:r>
              <a:rPr lang="en-US" sz="880" i="1" dirty="0">
                <a:solidFill>
                  <a:srgbClr val="4A6080"/>
                </a:solidFill>
                <a:latin typeface="Courier New" pitchFamily="34" charset="0"/>
                <a:ea typeface="Courier New" pitchFamily="34" charset="-122"/>
                <a:cs typeface="Courier New" pitchFamily="34" charset="-120"/>
              </a:rPr>
              <a:t>  // Limit context to open editors only</a:t>
            </a:r>
            <a:endParaRPr lang="en-US" sz="880" dirty="0"/>
          </a:p>
        </p:txBody>
      </p:sp>
      <p:sp>
        <p:nvSpPr>
          <p:cNvPr id="31" name="Text 29"/>
          <p:cNvSpPr/>
          <p:nvPr/>
        </p:nvSpPr>
        <p:spPr>
          <a:xfrm>
            <a:off x="4617720" y="2011680"/>
            <a:ext cx="4206240" cy="210312"/>
          </a:xfrm>
          <a:prstGeom prst="rect">
            <a:avLst/>
          </a:prstGeom>
          <a:noFill/>
          <a:ln/>
        </p:spPr>
        <p:txBody>
          <a:bodyPr wrap="square" lIns="0" tIns="0" rIns="0" bIns="0" rtlCol="0" anchor="ctr"/>
          <a:lstStyle/>
          <a:p>
            <a:pPr indent="0" marL="0">
              <a:buNone/>
            </a:pPr>
            <a:r>
              <a:rPr lang="en-US" sz="880" dirty="0">
                <a:solidFill>
                  <a:srgbClr val="00C2CC"/>
                </a:solidFill>
                <a:latin typeface="Courier New" pitchFamily="34" charset="0"/>
                <a:ea typeface="Courier New" pitchFamily="34" charset="-122"/>
                <a:cs typeface="Courier New" pitchFamily="34" charset="-120"/>
              </a:rPr>
              <a:t>  "github.copilot.chat.codeGeneration</a:t>
            </a:r>
            <a:endParaRPr lang="en-US" sz="880" dirty="0"/>
          </a:p>
        </p:txBody>
      </p:sp>
      <p:sp>
        <p:nvSpPr>
          <p:cNvPr id="32" name="Text 30"/>
          <p:cNvSpPr/>
          <p:nvPr/>
        </p:nvSpPr>
        <p:spPr>
          <a:xfrm>
            <a:off x="4617720" y="2231136"/>
            <a:ext cx="4206240" cy="210312"/>
          </a:xfrm>
          <a:prstGeom prst="rect">
            <a:avLst/>
          </a:prstGeom>
          <a:noFill/>
          <a:ln/>
        </p:spPr>
        <p:txBody>
          <a:bodyPr wrap="square" lIns="0" tIns="0" rIns="0" bIns="0" rtlCol="0" anchor="ctr"/>
          <a:lstStyle/>
          <a:p>
            <a:pPr indent="0" marL="0">
              <a:buNone/>
            </a:pPr>
            <a:r>
              <a:rPr lang="en-US" sz="880" dirty="0">
                <a:solidFill>
                  <a:srgbClr val="FFFFFF"/>
                </a:solidFill>
                <a:latin typeface="Courier New" pitchFamily="34" charset="0"/>
                <a:ea typeface="Courier New" pitchFamily="34" charset="-122"/>
                <a:cs typeface="Courier New" pitchFamily="34" charset="-120"/>
              </a:rPr>
              <a:t>    .useInstructionFiles": true,</a:t>
            </a:r>
            <a:endParaRPr lang="en-US" sz="880" dirty="0"/>
          </a:p>
        </p:txBody>
      </p:sp>
      <p:sp>
        <p:nvSpPr>
          <p:cNvPr id="33" name="Text 31"/>
          <p:cNvSpPr/>
          <p:nvPr/>
        </p:nvSpPr>
        <p:spPr>
          <a:xfrm>
            <a:off x="4617720" y="2450592"/>
            <a:ext cx="4206240" cy="210312"/>
          </a:xfrm>
          <a:prstGeom prst="rect">
            <a:avLst/>
          </a:prstGeom>
          <a:noFill/>
          <a:ln/>
        </p:spPr>
        <p:txBody>
          <a:bodyPr wrap="square" lIns="0" tIns="0" rIns="0" bIns="0" rtlCol="0" anchor="ctr"/>
          <a:lstStyle/>
          <a:p>
            <a:pPr indent="0" marL="0">
              <a:buNone/>
            </a:pPr>
            <a:r>
              <a:rPr lang="en-US" sz="880" i="1" dirty="0">
                <a:solidFill>
                  <a:srgbClr val="4A6080"/>
                </a:solidFill>
                <a:latin typeface="Courier New" pitchFamily="34" charset="0"/>
                <a:ea typeface="Courier New" pitchFamily="34" charset="-122"/>
                <a:cs typeface="Courier New" pitchFamily="34" charset="-120"/>
              </a:rPr>
              <a:t>  // Set default model per task type</a:t>
            </a:r>
            <a:endParaRPr lang="en-US" sz="880" dirty="0"/>
          </a:p>
        </p:txBody>
      </p:sp>
      <p:sp>
        <p:nvSpPr>
          <p:cNvPr id="34" name="Text 32"/>
          <p:cNvSpPr/>
          <p:nvPr/>
        </p:nvSpPr>
        <p:spPr>
          <a:xfrm>
            <a:off x="4617720" y="2670048"/>
            <a:ext cx="4206240" cy="210312"/>
          </a:xfrm>
          <a:prstGeom prst="rect">
            <a:avLst/>
          </a:prstGeom>
          <a:noFill/>
          <a:ln/>
        </p:spPr>
        <p:txBody>
          <a:bodyPr wrap="square" lIns="0" tIns="0" rIns="0" bIns="0" rtlCol="0" anchor="ctr"/>
          <a:lstStyle/>
          <a:p>
            <a:pPr indent="0" marL="0">
              <a:buNone/>
            </a:pPr>
            <a:r>
              <a:rPr lang="en-US" sz="880" dirty="0">
                <a:solidFill>
                  <a:srgbClr val="00C2CC"/>
                </a:solidFill>
                <a:latin typeface="Courier New" pitchFamily="34" charset="0"/>
                <a:ea typeface="Courier New" pitchFamily="34" charset="-122"/>
                <a:cs typeface="Courier New" pitchFamily="34" charset="-120"/>
              </a:rPr>
              <a:t>  "github.copilot.selectedCompletionModel":</a:t>
            </a:r>
            <a:endParaRPr lang="en-US" sz="880" dirty="0"/>
          </a:p>
        </p:txBody>
      </p:sp>
      <p:sp>
        <p:nvSpPr>
          <p:cNvPr id="35" name="Text 33"/>
          <p:cNvSpPr/>
          <p:nvPr/>
        </p:nvSpPr>
        <p:spPr>
          <a:xfrm>
            <a:off x="4617720" y="2889504"/>
            <a:ext cx="4206240" cy="210312"/>
          </a:xfrm>
          <a:prstGeom prst="rect">
            <a:avLst/>
          </a:prstGeom>
          <a:noFill/>
          <a:ln/>
        </p:spPr>
        <p:txBody>
          <a:bodyPr wrap="square" lIns="0" tIns="0" rIns="0" bIns="0" rtlCol="0" anchor="ctr"/>
          <a:lstStyle/>
          <a:p>
            <a:pPr indent="0" marL="0">
              <a:buNone/>
            </a:pPr>
            <a:r>
              <a:rPr lang="en-US" sz="880" dirty="0">
                <a:solidFill>
                  <a:srgbClr val="F59E0B"/>
                </a:solidFill>
                <a:latin typeface="Courier New" pitchFamily="34" charset="0"/>
                <a:ea typeface="Courier New" pitchFamily="34" charset="-122"/>
                <a:cs typeface="Courier New" pitchFamily="34" charset="-120"/>
              </a:rPr>
              <a:t>    "gpt-4o-mini",</a:t>
            </a:r>
            <a:endParaRPr lang="en-US" sz="880" dirty="0"/>
          </a:p>
        </p:txBody>
      </p:sp>
      <p:sp>
        <p:nvSpPr>
          <p:cNvPr id="36" name="Text 34"/>
          <p:cNvSpPr/>
          <p:nvPr/>
        </p:nvSpPr>
        <p:spPr>
          <a:xfrm>
            <a:off x="4617720" y="3108960"/>
            <a:ext cx="4206240" cy="210312"/>
          </a:xfrm>
          <a:prstGeom prst="rect">
            <a:avLst/>
          </a:prstGeom>
          <a:noFill/>
          <a:ln/>
        </p:spPr>
        <p:txBody>
          <a:bodyPr wrap="square" lIns="0" tIns="0" rIns="0" bIns="0" rtlCol="0" anchor="ctr"/>
          <a:lstStyle/>
          <a:p>
            <a:pPr indent="0" marL="0">
              <a:buNone/>
            </a:pPr>
            <a:r>
              <a:rPr lang="en-US" sz="880" i="1" dirty="0">
                <a:solidFill>
                  <a:srgbClr val="4A6080"/>
                </a:solidFill>
                <a:latin typeface="Courier New" pitchFamily="34" charset="0"/>
                <a:ea typeface="Courier New" pitchFamily="34" charset="-122"/>
                <a:cs typeface="Courier New" pitchFamily="34" charset="-120"/>
              </a:rPr>
              <a:t>  // Disable next-line completions in tests</a:t>
            </a:r>
            <a:endParaRPr lang="en-US" sz="880" dirty="0"/>
          </a:p>
        </p:txBody>
      </p:sp>
      <p:sp>
        <p:nvSpPr>
          <p:cNvPr id="37" name="Text 35"/>
          <p:cNvSpPr/>
          <p:nvPr/>
        </p:nvSpPr>
        <p:spPr>
          <a:xfrm>
            <a:off x="4617720" y="3328416"/>
            <a:ext cx="4206240" cy="210312"/>
          </a:xfrm>
          <a:prstGeom prst="rect">
            <a:avLst/>
          </a:prstGeom>
          <a:noFill/>
          <a:ln/>
        </p:spPr>
        <p:txBody>
          <a:bodyPr wrap="square" lIns="0" tIns="0" rIns="0" bIns="0" rtlCol="0" anchor="ctr"/>
          <a:lstStyle/>
          <a:p>
            <a:pPr indent="0" marL="0">
              <a:buNone/>
            </a:pPr>
            <a:r>
              <a:rPr lang="en-US" sz="880" dirty="0">
                <a:solidFill>
                  <a:srgbClr val="00C2CC"/>
                </a:solidFill>
                <a:latin typeface="Courier New" pitchFamily="34" charset="0"/>
                <a:ea typeface="Courier New" pitchFamily="34" charset="-122"/>
                <a:cs typeface="Courier New" pitchFamily="34" charset="-120"/>
              </a:rPr>
              <a:t>  "github.copilot.enable": {</a:t>
            </a:r>
            <a:endParaRPr lang="en-US" sz="880" dirty="0"/>
          </a:p>
        </p:txBody>
      </p:sp>
      <p:sp>
        <p:nvSpPr>
          <p:cNvPr id="38" name="Text 36"/>
          <p:cNvSpPr/>
          <p:nvPr/>
        </p:nvSpPr>
        <p:spPr>
          <a:xfrm>
            <a:off x="4617720" y="3547872"/>
            <a:ext cx="4206240" cy="210312"/>
          </a:xfrm>
          <a:prstGeom prst="rect">
            <a:avLst/>
          </a:prstGeom>
          <a:noFill/>
          <a:ln/>
        </p:spPr>
        <p:txBody>
          <a:bodyPr wrap="square" lIns="0" tIns="0" rIns="0" bIns="0" rtlCol="0" anchor="ctr"/>
          <a:lstStyle/>
          <a:p>
            <a:pPr indent="0" marL="0">
              <a:buNone/>
            </a:pPr>
            <a:r>
              <a:rPr lang="en-US" sz="880" dirty="0">
                <a:solidFill>
                  <a:srgbClr val="8EAFC7"/>
                </a:solidFill>
                <a:latin typeface="Courier New" pitchFamily="34" charset="0"/>
                <a:ea typeface="Courier New" pitchFamily="34" charset="-122"/>
                <a:cs typeface="Courier New" pitchFamily="34" charset="-120"/>
              </a:rPr>
              <a:t>    "*.test.ts": false</a:t>
            </a:r>
            <a:endParaRPr lang="en-US" sz="880" dirty="0"/>
          </a:p>
        </p:txBody>
      </p:sp>
      <p:sp>
        <p:nvSpPr>
          <p:cNvPr id="39" name="Text 37"/>
          <p:cNvSpPr/>
          <p:nvPr/>
        </p:nvSpPr>
        <p:spPr>
          <a:xfrm>
            <a:off x="4617720" y="3767328"/>
            <a:ext cx="4206240" cy="210312"/>
          </a:xfrm>
          <a:prstGeom prst="rect">
            <a:avLst/>
          </a:prstGeom>
          <a:noFill/>
          <a:ln/>
        </p:spPr>
        <p:txBody>
          <a:bodyPr wrap="square" lIns="0" tIns="0" rIns="0" bIns="0" rtlCol="0" anchor="ctr"/>
          <a:lstStyle/>
          <a:p>
            <a:pPr indent="0" marL="0">
              <a:buNone/>
            </a:pPr>
            <a:r>
              <a:rPr lang="en-US" sz="880" dirty="0">
                <a:solidFill>
                  <a:srgbClr val="FFFFFF"/>
                </a:solidFill>
                <a:latin typeface="Courier New" pitchFamily="34" charset="0"/>
                <a:ea typeface="Courier New" pitchFamily="34" charset="-122"/>
                <a:cs typeface="Courier New" pitchFamily="34" charset="-120"/>
              </a:rPr>
              <a:t>  },</a:t>
            </a:r>
            <a:endParaRPr lang="en-US" sz="880" dirty="0"/>
          </a:p>
        </p:txBody>
      </p:sp>
      <p:sp>
        <p:nvSpPr>
          <p:cNvPr id="40" name="Text 38"/>
          <p:cNvSpPr/>
          <p:nvPr/>
        </p:nvSpPr>
        <p:spPr>
          <a:xfrm>
            <a:off x="4617720" y="3986784"/>
            <a:ext cx="4206240" cy="210312"/>
          </a:xfrm>
          <a:prstGeom prst="rect">
            <a:avLst/>
          </a:prstGeom>
          <a:noFill/>
          <a:ln/>
        </p:spPr>
        <p:txBody>
          <a:bodyPr wrap="square" lIns="0" tIns="0" rIns="0" bIns="0" rtlCol="0" anchor="ctr"/>
          <a:lstStyle/>
          <a:p>
            <a:pPr indent="0" marL="0">
              <a:buNone/>
            </a:pPr>
            <a:r>
              <a:rPr lang="en-US" sz="880" i="1" dirty="0">
                <a:solidFill>
                  <a:srgbClr val="4A6080"/>
                </a:solidFill>
                <a:latin typeface="Courier New" pitchFamily="34" charset="0"/>
                <a:ea typeface="Courier New" pitchFamily="34" charset="-122"/>
                <a:cs typeface="Courier New" pitchFamily="34" charset="-120"/>
              </a:rPr>
              <a:t>  // Enable prompt files (skills)</a:t>
            </a:r>
            <a:endParaRPr lang="en-US" sz="880" dirty="0"/>
          </a:p>
        </p:txBody>
      </p:sp>
      <p:sp>
        <p:nvSpPr>
          <p:cNvPr id="41" name="Text 39"/>
          <p:cNvSpPr/>
          <p:nvPr/>
        </p:nvSpPr>
        <p:spPr>
          <a:xfrm>
            <a:off x="4617720" y="4206240"/>
            <a:ext cx="4206240" cy="210312"/>
          </a:xfrm>
          <a:prstGeom prst="rect">
            <a:avLst/>
          </a:prstGeom>
          <a:noFill/>
          <a:ln/>
        </p:spPr>
        <p:txBody>
          <a:bodyPr wrap="square" lIns="0" tIns="0" rIns="0" bIns="0" rtlCol="0" anchor="ctr"/>
          <a:lstStyle/>
          <a:p>
            <a:pPr indent="0" marL="0">
              <a:buNone/>
            </a:pPr>
            <a:r>
              <a:rPr lang="en-US" sz="880" dirty="0">
                <a:solidFill>
                  <a:srgbClr val="00C2CC"/>
                </a:solidFill>
                <a:latin typeface="Courier New" pitchFamily="34" charset="0"/>
                <a:ea typeface="Courier New" pitchFamily="34" charset="-122"/>
                <a:cs typeface="Courier New" pitchFamily="34" charset="-120"/>
              </a:rPr>
              <a:t>  "chat.promptFiles": true</a:t>
            </a:r>
            <a:endParaRPr lang="en-US" sz="880" dirty="0"/>
          </a:p>
        </p:txBody>
      </p:sp>
      <p:sp>
        <p:nvSpPr>
          <p:cNvPr id="42" name="Text 40"/>
          <p:cNvSpPr/>
          <p:nvPr/>
        </p:nvSpPr>
        <p:spPr>
          <a:xfrm>
            <a:off x="4617720" y="4425696"/>
            <a:ext cx="4206240" cy="210312"/>
          </a:xfrm>
          <a:prstGeom prst="rect">
            <a:avLst/>
          </a:prstGeom>
          <a:noFill/>
          <a:ln/>
        </p:spPr>
        <p:txBody>
          <a:bodyPr wrap="square" lIns="0" tIns="0" rIns="0" bIns="0" rtlCol="0" anchor="ctr"/>
          <a:lstStyle/>
          <a:p>
            <a:pPr indent="0" marL="0">
              <a:buNone/>
            </a:pPr>
            <a:r>
              <a:rPr lang="en-US" sz="880" dirty="0">
                <a:solidFill>
                  <a:srgbClr val="FFFFFF"/>
                </a:solidFill>
                <a:latin typeface="Courier New" pitchFamily="34" charset="0"/>
                <a:ea typeface="Courier New" pitchFamily="34" charset="-122"/>
                <a:cs typeface="Courier New" pitchFamily="34" charset="-120"/>
              </a:rPr>
              <a:t>}</a:t>
            </a:r>
            <a:endParaRPr lang="en-US" sz="880" dirty="0"/>
          </a:p>
        </p:txBody>
      </p:sp>
      <p:sp>
        <p:nvSpPr>
          <p:cNvPr id="43" name="Shape 41"/>
          <p:cNvSpPr/>
          <p:nvPr/>
        </p:nvSpPr>
        <p:spPr>
          <a:xfrm>
            <a:off x="0" y="4887468"/>
            <a:ext cx="1143000" cy="256032"/>
          </a:xfrm>
          <a:prstGeom prst="rect">
            <a:avLst/>
          </a:prstGeom>
          <a:solidFill>
            <a:srgbClr val="1A2E45"/>
          </a:solidFill>
          <a:ln w="12700">
            <a:solidFill>
              <a:srgbClr val="1A2E45"/>
            </a:solidFill>
            <a:prstDash val="solid"/>
          </a:ln>
        </p:spPr>
      </p:sp>
      <p:sp>
        <p:nvSpPr>
          <p:cNvPr id="44" name="Text 42"/>
          <p:cNvSpPr/>
          <p:nvPr/>
        </p:nvSpPr>
        <p:spPr>
          <a:xfrm>
            <a:off x="0" y="4887468"/>
            <a:ext cx="1143000" cy="256032"/>
          </a:xfrm>
          <a:prstGeom prst="rect">
            <a:avLst/>
          </a:prstGeom>
          <a:noFill/>
          <a:ln/>
        </p:spPr>
        <p:txBody>
          <a:bodyPr wrap="square" lIns="0" tIns="0" rIns="0" bIns="0" rtlCol="0" anchor="ctr"/>
          <a:lstStyle/>
          <a:p>
            <a:pPr algn="ctr" indent="0" marL="0">
              <a:buNone/>
            </a:pPr>
            <a:r>
              <a:rPr lang="en-US" sz="750" dirty="0">
                <a:solidFill>
                  <a:srgbClr val="3A5068"/>
                </a:solidFill>
                <a:latin typeface="Calibri" pitchFamily="34" charset="0"/>
                <a:ea typeface="Calibri" pitchFamily="34" charset="-122"/>
                <a:cs typeface="Calibri" pitchFamily="34" charset="-120"/>
              </a:rPr>
              <a:t>Overview</a:t>
            </a:r>
            <a:endParaRPr lang="en-US" sz="750" dirty="0"/>
          </a:p>
        </p:txBody>
      </p:sp>
      <p:sp>
        <p:nvSpPr>
          <p:cNvPr id="45" name="Shape 43"/>
          <p:cNvSpPr/>
          <p:nvPr/>
        </p:nvSpPr>
        <p:spPr>
          <a:xfrm>
            <a:off x="1143000" y="4887468"/>
            <a:ext cx="1143000" cy="256032"/>
          </a:xfrm>
          <a:prstGeom prst="rect">
            <a:avLst/>
          </a:prstGeom>
          <a:solidFill>
            <a:srgbClr val="1A2E45"/>
          </a:solidFill>
          <a:ln w="12700">
            <a:solidFill>
              <a:srgbClr val="1A2E45"/>
            </a:solidFill>
            <a:prstDash val="solid"/>
          </a:ln>
        </p:spPr>
      </p:sp>
      <p:sp>
        <p:nvSpPr>
          <p:cNvPr id="46" name="Text 44"/>
          <p:cNvSpPr/>
          <p:nvPr/>
        </p:nvSpPr>
        <p:spPr>
          <a:xfrm>
            <a:off x="1143000" y="4887468"/>
            <a:ext cx="1143000" cy="256032"/>
          </a:xfrm>
          <a:prstGeom prst="rect">
            <a:avLst/>
          </a:prstGeom>
          <a:noFill/>
          <a:ln/>
        </p:spPr>
        <p:txBody>
          <a:bodyPr wrap="square" lIns="0" tIns="0" rIns="0" bIns="0" rtlCol="0" anchor="ctr"/>
          <a:lstStyle/>
          <a:p>
            <a:pPr algn="ctr" indent="0" marL="0">
              <a:buNone/>
            </a:pPr>
            <a:r>
              <a:rPr lang="en-US" sz="750" dirty="0">
                <a:solidFill>
                  <a:srgbClr val="3A5068"/>
                </a:solidFill>
                <a:latin typeface="Calibri" pitchFamily="34" charset="0"/>
                <a:ea typeface="Calibri" pitchFamily="34" charset="-122"/>
                <a:cs typeface="Calibri" pitchFamily="34" charset="-120"/>
              </a:rPr>
              <a:t>Output Control</a:t>
            </a:r>
            <a:endParaRPr lang="en-US" sz="750" dirty="0"/>
          </a:p>
        </p:txBody>
      </p:sp>
      <p:sp>
        <p:nvSpPr>
          <p:cNvPr id="47" name="Shape 45"/>
          <p:cNvSpPr/>
          <p:nvPr/>
        </p:nvSpPr>
        <p:spPr>
          <a:xfrm>
            <a:off x="2286000" y="4887468"/>
            <a:ext cx="1143000" cy="256032"/>
          </a:xfrm>
          <a:prstGeom prst="rect">
            <a:avLst/>
          </a:prstGeom>
          <a:solidFill>
            <a:srgbClr val="1A2E45"/>
          </a:solidFill>
          <a:ln w="12700">
            <a:solidFill>
              <a:srgbClr val="1A2E45"/>
            </a:solidFill>
            <a:prstDash val="solid"/>
          </a:ln>
        </p:spPr>
      </p:sp>
      <p:sp>
        <p:nvSpPr>
          <p:cNvPr id="48" name="Text 46"/>
          <p:cNvSpPr/>
          <p:nvPr/>
        </p:nvSpPr>
        <p:spPr>
          <a:xfrm>
            <a:off x="2286000" y="4887468"/>
            <a:ext cx="1143000" cy="256032"/>
          </a:xfrm>
          <a:prstGeom prst="rect">
            <a:avLst/>
          </a:prstGeom>
          <a:noFill/>
          <a:ln/>
        </p:spPr>
        <p:txBody>
          <a:bodyPr wrap="square" lIns="0" tIns="0" rIns="0" bIns="0" rtlCol="0" anchor="ctr"/>
          <a:lstStyle/>
          <a:p>
            <a:pPr algn="ctr" indent="0" marL="0">
              <a:buNone/>
            </a:pPr>
            <a:r>
              <a:rPr lang="en-US" sz="750" dirty="0">
                <a:solidFill>
                  <a:srgbClr val="3A5068"/>
                </a:solidFill>
                <a:latin typeface="Calibri" pitchFamily="34" charset="0"/>
                <a:ea typeface="Calibri" pitchFamily="34" charset="-122"/>
                <a:cs typeface="Calibri" pitchFamily="34" charset="-120"/>
              </a:rPr>
              <a:t>Context &amp; Prompting</a:t>
            </a:r>
            <a:endParaRPr lang="en-US" sz="750" dirty="0"/>
          </a:p>
        </p:txBody>
      </p:sp>
      <p:sp>
        <p:nvSpPr>
          <p:cNvPr id="49" name="Shape 47"/>
          <p:cNvSpPr/>
          <p:nvPr/>
        </p:nvSpPr>
        <p:spPr>
          <a:xfrm>
            <a:off x="3429000" y="4887468"/>
            <a:ext cx="1143000" cy="256032"/>
          </a:xfrm>
          <a:prstGeom prst="rect">
            <a:avLst/>
          </a:prstGeom>
          <a:solidFill>
            <a:srgbClr val="1A2E45"/>
          </a:solidFill>
          <a:ln w="12700">
            <a:solidFill>
              <a:srgbClr val="1A2E45"/>
            </a:solidFill>
            <a:prstDash val="solid"/>
          </a:ln>
        </p:spPr>
      </p:sp>
      <p:sp>
        <p:nvSpPr>
          <p:cNvPr id="50" name="Text 48"/>
          <p:cNvSpPr/>
          <p:nvPr/>
        </p:nvSpPr>
        <p:spPr>
          <a:xfrm>
            <a:off x="3429000" y="4887468"/>
            <a:ext cx="1143000" cy="256032"/>
          </a:xfrm>
          <a:prstGeom prst="rect">
            <a:avLst/>
          </a:prstGeom>
          <a:noFill/>
          <a:ln/>
        </p:spPr>
        <p:txBody>
          <a:bodyPr wrap="square" lIns="0" tIns="0" rIns="0" bIns="0" rtlCol="0" anchor="ctr"/>
          <a:lstStyle/>
          <a:p>
            <a:pPr algn="ctr" indent="0" marL="0">
              <a:buNone/>
            </a:pPr>
            <a:r>
              <a:rPr lang="en-US" sz="750" dirty="0">
                <a:solidFill>
                  <a:srgbClr val="3A5068"/>
                </a:solidFill>
                <a:latin typeface="Calibri" pitchFamily="34" charset="0"/>
                <a:ea typeface="Calibri" pitchFamily="34" charset="-122"/>
                <a:cs typeface="Calibri" pitchFamily="34" charset="-120"/>
              </a:rPr>
              <a:t>Models &amp; Modes</a:t>
            </a:r>
            <a:endParaRPr lang="en-US" sz="750" dirty="0"/>
          </a:p>
        </p:txBody>
      </p:sp>
      <p:sp>
        <p:nvSpPr>
          <p:cNvPr id="51" name="Shape 49"/>
          <p:cNvSpPr/>
          <p:nvPr/>
        </p:nvSpPr>
        <p:spPr>
          <a:xfrm>
            <a:off x="4572000" y="4887468"/>
            <a:ext cx="1143000" cy="256032"/>
          </a:xfrm>
          <a:prstGeom prst="rect">
            <a:avLst/>
          </a:prstGeom>
          <a:solidFill>
            <a:srgbClr val="1A2E45"/>
          </a:solidFill>
          <a:ln w="12700">
            <a:solidFill>
              <a:srgbClr val="1A2E45"/>
            </a:solidFill>
            <a:prstDash val="solid"/>
          </a:ln>
        </p:spPr>
      </p:sp>
      <p:sp>
        <p:nvSpPr>
          <p:cNvPr id="52" name="Text 50"/>
          <p:cNvSpPr/>
          <p:nvPr/>
        </p:nvSpPr>
        <p:spPr>
          <a:xfrm>
            <a:off x="4572000" y="4887468"/>
            <a:ext cx="1143000" cy="256032"/>
          </a:xfrm>
          <a:prstGeom prst="rect">
            <a:avLst/>
          </a:prstGeom>
          <a:noFill/>
          <a:ln/>
        </p:spPr>
        <p:txBody>
          <a:bodyPr wrap="square" lIns="0" tIns="0" rIns="0" bIns="0" rtlCol="0" anchor="ctr"/>
          <a:lstStyle/>
          <a:p>
            <a:pPr algn="ctr" indent="0" marL="0">
              <a:buNone/>
            </a:pPr>
            <a:r>
              <a:rPr lang="en-US" sz="750" dirty="0">
                <a:solidFill>
                  <a:srgbClr val="3A5068"/>
                </a:solidFill>
                <a:latin typeface="Calibri" pitchFamily="34" charset="0"/>
                <a:ea typeface="Calibri" pitchFamily="34" charset="-122"/>
                <a:cs typeface="Calibri" pitchFamily="34" charset="-120"/>
              </a:rPr>
              <a:t>Governance</a:t>
            </a:r>
            <a:endParaRPr lang="en-US" sz="750" dirty="0"/>
          </a:p>
        </p:txBody>
      </p:sp>
      <p:sp>
        <p:nvSpPr>
          <p:cNvPr id="53" name="Shape 51"/>
          <p:cNvSpPr/>
          <p:nvPr/>
        </p:nvSpPr>
        <p:spPr>
          <a:xfrm>
            <a:off x="5715000" y="4887468"/>
            <a:ext cx="1143000" cy="256032"/>
          </a:xfrm>
          <a:prstGeom prst="rect">
            <a:avLst/>
          </a:prstGeom>
          <a:solidFill>
            <a:srgbClr val="1A2E45"/>
          </a:solidFill>
          <a:ln w="12700">
            <a:solidFill>
              <a:srgbClr val="1A2E45"/>
            </a:solidFill>
            <a:prstDash val="solid"/>
          </a:ln>
        </p:spPr>
      </p:sp>
      <p:sp>
        <p:nvSpPr>
          <p:cNvPr id="54" name="Text 52"/>
          <p:cNvSpPr/>
          <p:nvPr/>
        </p:nvSpPr>
        <p:spPr>
          <a:xfrm>
            <a:off x="5715000" y="4887468"/>
            <a:ext cx="1143000" cy="256032"/>
          </a:xfrm>
          <a:prstGeom prst="rect">
            <a:avLst/>
          </a:prstGeom>
          <a:noFill/>
          <a:ln/>
        </p:spPr>
        <p:txBody>
          <a:bodyPr wrap="square" lIns="0" tIns="0" rIns="0" bIns="0" rtlCol="0" anchor="ctr"/>
          <a:lstStyle/>
          <a:p>
            <a:pPr algn="ctr" indent="0" marL="0">
              <a:buNone/>
            </a:pPr>
            <a:r>
              <a:rPr lang="en-US" sz="750" dirty="0">
                <a:solidFill>
                  <a:srgbClr val="3A5068"/>
                </a:solidFill>
                <a:latin typeface="Calibri" pitchFamily="34" charset="0"/>
                <a:ea typeface="Calibri" pitchFamily="34" charset="-122"/>
                <a:cs typeface="Calibri" pitchFamily="34" charset="-120"/>
              </a:rPr>
              <a:t>Architecture</a:t>
            </a:r>
            <a:endParaRPr lang="en-US" sz="750" dirty="0"/>
          </a:p>
        </p:txBody>
      </p:sp>
      <p:sp>
        <p:nvSpPr>
          <p:cNvPr id="55" name="Shape 53"/>
          <p:cNvSpPr/>
          <p:nvPr/>
        </p:nvSpPr>
        <p:spPr>
          <a:xfrm>
            <a:off x="6858000" y="4887468"/>
            <a:ext cx="1143000" cy="256032"/>
          </a:xfrm>
          <a:prstGeom prst="rect">
            <a:avLst/>
          </a:prstGeom>
          <a:solidFill>
            <a:srgbClr val="1A2E45"/>
          </a:solidFill>
          <a:ln w="12700">
            <a:solidFill>
              <a:srgbClr val="1A2E45"/>
            </a:solidFill>
            <a:prstDash val="solid"/>
          </a:ln>
        </p:spPr>
      </p:sp>
      <p:sp>
        <p:nvSpPr>
          <p:cNvPr id="56" name="Text 54"/>
          <p:cNvSpPr/>
          <p:nvPr/>
        </p:nvSpPr>
        <p:spPr>
          <a:xfrm>
            <a:off x="6858000" y="4887468"/>
            <a:ext cx="1143000" cy="256032"/>
          </a:xfrm>
          <a:prstGeom prst="rect">
            <a:avLst/>
          </a:prstGeom>
          <a:noFill/>
          <a:ln/>
        </p:spPr>
        <p:txBody>
          <a:bodyPr wrap="square" lIns="0" tIns="0" rIns="0" bIns="0" rtlCol="0" anchor="ctr"/>
          <a:lstStyle/>
          <a:p>
            <a:pPr algn="ctr" indent="0" marL="0">
              <a:buNone/>
            </a:pPr>
            <a:r>
              <a:rPr lang="en-US" sz="750" dirty="0">
                <a:solidFill>
                  <a:srgbClr val="3A5068"/>
                </a:solidFill>
                <a:latin typeface="Calibri" pitchFamily="34" charset="0"/>
                <a:ea typeface="Calibri" pitchFamily="34" charset="-122"/>
                <a:cs typeface="Calibri" pitchFamily="34" charset="-120"/>
              </a:rPr>
              <a:t>Best Practices</a:t>
            </a:r>
            <a:endParaRPr lang="en-US" sz="750" dirty="0"/>
          </a:p>
        </p:txBody>
      </p:sp>
      <p:sp>
        <p:nvSpPr>
          <p:cNvPr id="57" name="Shape 55"/>
          <p:cNvSpPr/>
          <p:nvPr/>
        </p:nvSpPr>
        <p:spPr>
          <a:xfrm>
            <a:off x="8001000" y="4887468"/>
            <a:ext cx="1143000" cy="256032"/>
          </a:xfrm>
          <a:prstGeom prst="rect">
            <a:avLst/>
          </a:prstGeom>
          <a:solidFill>
            <a:srgbClr val="00C2CC"/>
          </a:solidFill>
          <a:ln w="12700">
            <a:solidFill>
              <a:srgbClr val="00C2CC"/>
            </a:solidFill>
            <a:prstDash val="solid"/>
          </a:ln>
        </p:spPr>
      </p:sp>
      <p:sp>
        <p:nvSpPr>
          <p:cNvPr id="58" name="Text 56"/>
          <p:cNvSpPr/>
          <p:nvPr/>
        </p:nvSpPr>
        <p:spPr>
          <a:xfrm>
            <a:off x="8001000" y="4887468"/>
            <a:ext cx="1143000" cy="256032"/>
          </a:xfrm>
          <a:prstGeom prst="rect">
            <a:avLst/>
          </a:prstGeom>
          <a:noFill/>
          <a:ln/>
        </p:spPr>
        <p:txBody>
          <a:bodyPr wrap="square" lIns="0" tIns="0" rIns="0" bIns="0" rtlCol="0" anchor="ctr"/>
          <a:lstStyle/>
          <a:p>
            <a:pPr algn="ctr" indent="0" marL="0">
              <a:buNone/>
            </a:pPr>
            <a:r>
              <a:rPr lang="en-US" sz="750" b="1" dirty="0">
                <a:solidFill>
                  <a:srgbClr val="0D1B2A"/>
                </a:solidFill>
                <a:latin typeface="Calibri" pitchFamily="34" charset="0"/>
                <a:ea typeface="Calibri" pitchFamily="34" charset="-122"/>
                <a:cs typeface="Calibri" pitchFamily="34" charset="-120"/>
              </a:rPr>
              <a:t>Reference</a:t>
            </a:r>
            <a:endParaRPr lang="en-US" sz="7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0C2CC"/>
          </a:solidFill>
          <a:ln w="12700">
            <a:solidFill>
              <a:srgbClr val="00C2CC"/>
            </a:solidFill>
            <a:prstDash val="solid"/>
          </a:ln>
        </p:spPr>
      </p:sp>
      <p:sp>
        <p:nvSpPr>
          <p:cNvPr id="3" name="Text 1"/>
          <p:cNvSpPr/>
          <p:nvPr/>
        </p:nvSpPr>
        <p:spPr>
          <a:xfrm>
            <a:off x="365760" y="0"/>
            <a:ext cx="8412480" cy="658368"/>
          </a:xfrm>
          <a:prstGeom prst="rect">
            <a:avLst/>
          </a:prstGeom>
          <a:noFill/>
          <a:ln/>
        </p:spPr>
        <p:txBody>
          <a:bodyPr wrap="square" lIns="0" tIns="0" rIns="0" bIns="0" rtlCol="0" anchor="ctr"/>
          <a:lstStyle/>
          <a:p>
            <a:pPr indent="0" marL="0">
              <a:buNone/>
            </a:pPr>
            <a:r>
              <a:rPr lang="en-US" sz="1800" b="1" dirty="0">
                <a:solidFill>
                  <a:srgbClr val="0D1B2A"/>
                </a:solidFill>
                <a:latin typeface="Cambria" pitchFamily="34" charset="0"/>
                <a:ea typeface="Cambria" pitchFamily="34" charset="-122"/>
                <a:cs typeface="Cambria" pitchFamily="34" charset="-120"/>
              </a:rPr>
              <a:t>⚡  Quick Reference Cheat Sheet  —  Screenshot &amp; Keep</a:t>
            </a:r>
            <a:endParaRPr lang="en-US" sz="1800" dirty="0"/>
          </a:p>
        </p:txBody>
      </p:sp>
      <p:sp>
        <p:nvSpPr>
          <p:cNvPr id="4" name="Shape 2"/>
          <p:cNvSpPr/>
          <p:nvPr/>
        </p:nvSpPr>
        <p:spPr>
          <a:xfrm>
            <a:off x="228600" y="749808"/>
            <a:ext cx="2834640" cy="3977640"/>
          </a:xfrm>
          <a:prstGeom prst="roundRect">
            <a:avLst>
              <a:gd name="adj" fmla="val 3226"/>
            </a:avLst>
          </a:prstGeom>
          <a:solidFill>
            <a:srgbClr val="1A2E45"/>
          </a:solidFill>
          <a:ln w="12700">
            <a:solidFill>
              <a:srgbClr val="EA580C">
                <a:alpha val="30000"/>
              </a:srgbClr>
            </a:solidFill>
            <a:prstDash val="solid"/>
          </a:ln>
          <a:effectLst>
            <a:outerShdw sx="100000" sy="100000" kx="0" ky="0" algn="bl" rotWithShape="0" blurRad="101600" dist="38100" dir="2700000">
              <a:srgbClr val="000000">
                <a:alpha val="12000"/>
              </a:srgbClr>
            </a:outerShdw>
          </a:effectLst>
        </p:spPr>
      </p:sp>
      <p:sp>
        <p:nvSpPr>
          <p:cNvPr id="5" name="Shape 3"/>
          <p:cNvSpPr/>
          <p:nvPr/>
        </p:nvSpPr>
        <p:spPr>
          <a:xfrm>
            <a:off x="228600" y="749808"/>
            <a:ext cx="2834640" cy="420624"/>
          </a:xfrm>
          <a:prstGeom prst="roundRect">
            <a:avLst>
              <a:gd name="adj" fmla="val 21739"/>
            </a:avLst>
          </a:prstGeom>
          <a:solidFill>
            <a:srgbClr val="EA580C"/>
          </a:solidFill>
          <a:ln w="12700">
            <a:solidFill>
              <a:srgbClr val="EA580C"/>
            </a:solidFill>
            <a:prstDash val="solid"/>
          </a:ln>
        </p:spPr>
      </p:sp>
      <p:sp>
        <p:nvSpPr>
          <p:cNvPr id="6" name="Text 4"/>
          <p:cNvSpPr/>
          <p:nvPr/>
        </p:nvSpPr>
        <p:spPr>
          <a:xfrm>
            <a:off x="228600" y="749808"/>
            <a:ext cx="2834640"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  One-Time Setup</a:t>
            </a:r>
            <a:endParaRPr lang="en-US" sz="1200" dirty="0"/>
          </a:p>
        </p:txBody>
      </p:sp>
      <p:sp>
        <p:nvSpPr>
          <p:cNvPr id="7" name="Shape 5"/>
          <p:cNvSpPr/>
          <p:nvPr/>
        </p:nvSpPr>
        <p:spPr>
          <a:xfrm>
            <a:off x="365760" y="1261872"/>
            <a:ext cx="2560320" cy="566928"/>
          </a:xfrm>
          <a:prstGeom prst="roundRect">
            <a:avLst>
              <a:gd name="adj" fmla="val 9677"/>
            </a:avLst>
          </a:prstGeom>
          <a:solidFill>
            <a:srgbClr val="0D2035"/>
          </a:solidFill>
          <a:ln w="12700">
            <a:solidFill>
              <a:srgbClr val="EA580C">
                <a:alpha val="20000"/>
              </a:srgbClr>
            </a:solidFill>
            <a:prstDash val="solid"/>
          </a:ln>
        </p:spPr>
      </p:sp>
      <p:sp>
        <p:nvSpPr>
          <p:cNvPr id="8" name="Text 6"/>
          <p:cNvSpPr/>
          <p:nvPr/>
        </p:nvSpPr>
        <p:spPr>
          <a:xfrm>
            <a:off x="429768" y="1298448"/>
            <a:ext cx="2432304" cy="228600"/>
          </a:xfrm>
          <a:prstGeom prst="rect">
            <a:avLst/>
          </a:prstGeom>
          <a:noFill/>
          <a:ln/>
        </p:spPr>
        <p:txBody>
          <a:bodyPr wrap="square" lIns="0" tIns="0" rIns="0" bIns="0" rtlCol="0" anchor="ctr"/>
          <a:lstStyle/>
          <a:p>
            <a:pPr indent="0" marL="0">
              <a:buNone/>
            </a:pPr>
            <a:r>
              <a:rPr lang="en-US" sz="1100" b="1" dirty="0">
                <a:solidFill>
                  <a:srgbClr val="EA580C"/>
                </a:solidFill>
                <a:latin typeface="Calibri" pitchFamily="34" charset="0"/>
                <a:ea typeface="Calibri" pitchFamily="34" charset="-122"/>
                <a:cs typeface="Calibri" pitchFamily="34" charset="-120"/>
              </a:rPr>
              <a:t>instructions.md</a:t>
            </a:r>
            <a:endParaRPr lang="en-US" sz="1100" dirty="0"/>
          </a:p>
        </p:txBody>
      </p:sp>
      <p:sp>
        <p:nvSpPr>
          <p:cNvPr id="9" name="Text 7"/>
          <p:cNvSpPr/>
          <p:nvPr/>
        </p:nvSpPr>
        <p:spPr>
          <a:xfrm>
            <a:off x="429768" y="1536192"/>
            <a:ext cx="2432304" cy="219456"/>
          </a:xfrm>
          <a:prstGeom prst="rect">
            <a:avLst/>
          </a:prstGeom>
          <a:noFill/>
          <a:ln/>
        </p:spPr>
        <p:txBody>
          <a:bodyPr wrap="square" lIns="0" tIns="0" rIns="0" bIns="0" rtlCol="0" anchor="ctr"/>
          <a:lstStyle/>
          <a:p>
            <a:pPr indent="0" marL="0">
              <a:buNone/>
            </a:pPr>
            <a:r>
              <a:rPr lang="en-US" sz="950" i="1" dirty="0">
                <a:solidFill>
                  <a:srgbClr val="8EAFC7"/>
                </a:solidFill>
                <a:latin typeface="Calibri" pitchFamily="34" charset="0"/>
                <a:ea typeface="Calibri" pitchFamily="34" charset="-122"/>
                <a:cs typeface="Calibri" pitchFamily="34" charset="-120"/>
              </a:rPr>
              <a:t>under 20 lines, essentials only</a:t>
            </a:r>
            <a:endParaRPr lang="en-US" sz="950" dirty="0"/>
          </a:p>
        </p:txBody>
      </p:sp>
      <p:sp>
        <p:nvSpPr>
          <p:cNvPr id="10" name="Shape 8"/>
          <p:cNvSpPr/>
          <p:nvPr/>
        </p:nvSpPr>
        <p:spPr>
          <a:xfrm>
            <a:off x="365760" y="1901952"/>
            <a:ext cx="2560320" cy="566928"/>
          </a:xfrm>
          <a:prstGeom prst="roundRect">
            <a:avLst>
              <a:gd name="adj" fmla="val 9677"/>
            </a:avLst>
          </a:prstGeom>
          <a:solidFill>
            <a:srgbClr val="0D2035"/>
          </a:solidFill>
          <a:ln w="12700">
            <a:solidFill>
              <a:srgbClr val="EA580C">
                <a:alpha val="20000"/>
              </a:srgbClr>
            </a:solidFill>
            <a:prstDash val="solid"/>
          </a:ln>
        </p:spPr>
      </p:sp>
      <p:sp>
        <p:nvSpPr>
          <p:cNvPr id="11" name="Text 9"/>
          <p:cNvSpPr/>
          <p:nvPr/>
        </p:nvSpPr>
        <p:spPr>
          <a:xfrm>
            <a:off x="429768" y="1938528"/>
            <a:ext cx="2432304" cy="228600"/>
          </a:xfrm>
          <a:prstGeom prst="rect">
            <a:avLst/>
          </a:prstGeom>
          <a:noFill/>
          <a:ln/>
        </p:spPr>
        <p:txBody>
          <a:bodyPr wrap="square" lIns="0" tIns="0" rIns="0" bIns="0" rtlCol="0" anchor="ctr"/>
          <a:lstStyle/>
          <a:p>
            <a:pPr indent="0" marL="0">
              <a:buNone/>
            </a:pPr>
            <a:r>
              <a:rPr lang="en-US" sz="1100" b="1" dirty="0">
                <a:solidFill>
                  <a:srgbClr val="EA580C"/>
                </a:solidFill>
                <a:latin typeface="Calibri" pitchFamily="34" charset="0"/>
                <a:ea typeface="Calibri" pitchFamily="34" charset="-122"/>
                <a:cs typeface="Calibri" pitchFamily="34" charset="-120"/>
              </a:rPr>
              <a:t>"code only"</a:t>
            </a:r>
            <a:endParaRPr lang="en-US" sz="1100" dirty="0"/>
          </a:p>
        </p:txBody>
      </p:sp>
      <p:sp>
        <p:nvSpPr>
          <p:cNvPr id="12" name="Text 10"/>
          <p:cNvSpPr/>
          <p:nvPr/>
        </p:nvSpPr>
        <p:spPr>
          <a:xfrm>
            <a:off x="429768" y="2176272"/>
            <a:ext cx="2432304" cy="219456"/>
          </a:xfrm>
          <a:prstGeom prst="rect">
            <a:avLst/>
          </a:prstGeom>
          <a:noFill/>
          <a:ln/>
        </p:spPr>
        <p:txBody>
          <a:bodyPr wrap="square" lIns="0" tIns="0" rIns="0" bIns="0" rtlCol="0" anchor="ctr"/>
          <a:lstStyle/>
          <a:p>
            <a:pPr indent="0" marL="0">
              <a:buNone/>
            </a:pPr>
            <a:r>
              <a:rPr lang="en-US" sz="950" i="1" dirty="0">
                <a:solidFill>
                  <a:srgbClr val="8EAFC7"/>
                </a:solidFill>
                <a:latin typeface="Calibri" pitchFamily="34" charset="0"/>
                <a:ea typeface="Calibri" pitchFamily="34" charset="-122"/>
                <a:cs typeface="Calibri" pitchFamily="34" charset="-120"/>
              </a:rPr>
              <a:t>add to main instruction file</a:t>
            </a:r>
            <a:endParaRPr lang="en-US" sz="950" dirty="0"/>
          </a:p>
        </p:txBody>
      </p:sp>
      <p:sp>
        <p:nvSpPr>
          <p:cNvPr id="13" name="Shape 11"/>
          <p:cNvSpPr/>
          <p:nvPr/>
        </p:nvSpPr>
        <p:spPr>
          <a:xfrm>
            <a:off x="365760" y="2542032"/>
            <a:ext cx="2560320" cy="566928"/>
          </a:xfrm>
          <a:prstGeom prst="roundRect">
            <a:avLst>
              <a:gd name="adj" fmla="val 9677"/>
            </a:avLst>
          </a:prstGeom>
          <a:solidFill>
            <a:srgbClr val="0D2035"/>
          </a:solidFill>
          <a:ln w="12700">
            <a:solidFill>
              <a:srgbClr val="EA580C">
                <a:alpha val="20000"/>
              </a:srgbClr>
            </a:solidFill>
            <a:prstDash val="solid"/>
          </a:ln>
        </p:spPr>
      </p:sp>
      <p:sp>
        <p:nvSpPr>
          <p:cNvPr id="14" name="Text 12"/>
          <p:cNvSpPr/>
          <p:nvPr/>
        </p:nvSpPr>
        <p:spPr>
          <a:xfrm>
            <a:off x="429768" y="2578608"/>
            <a:ext cx="2432304" cy="228600"/>
          </a:xfrm>
          <a:prstGeom prst="rect">
            <a:avLst/>
          </a:prstGeom>
          <a:noFill/>
          <a:ln/>
        </p:spPr>
        <p:txBody>
          <a:bodyPr wrap="square" lIns="0" tIns="0" rIns="0" bIns="0" rtlCol="0" anchor="ctr"/>
          <a:lstStyle/>
          <a:p>
            <a:pPr indent="0" marL="0">
              <a:buNone/>
            </a:pPr>
            <a:r>
              <a:rPr lang="en-US" sz="1100" b="1" dirty="0">
                <a:solidFill>
                  <a:srgbClr val="EA580C"/>
                </a:solidFill>
                <a:latin typeface="Calibri" pitchFamily="34" charset="0"/>
                <a:ea typeface="Calibri" pitchFamily="34" charset="-122"/>
                <a:cs typeface="Calibri" pitchFamily="34" charset="-120"/>
              </a:rPr>
              <a:t>applyTo scoping</a:t>
            </a:r>
            <a:endParaRPr lang="en-US" sz="1100" dirty="0"/>
          </a:p>
        </p:txBody>
      </p:sp>
      <p:sp>
        <p:nvSpPr>
          <p:cNvPr id="15" name="Text 13"/>
          <p:cNvSpPr/>
          <p:nvPr/>
        </p:nvSpPr>
        <p:spPr>
          <a:xfrm>
            <a:off x="429768" y="2816352"/>
            <a:ext cx="2432304" cy="219456"/>
          </a:xfrm>
          <a:prstGeom prst="rect">
            <a:avLst/>
          </a:prstGeom>
          <a:noFill/>
          <a:ln/>
        </p:spPr>
        <p:txBody>
          <a:bodyPr wrap="square" lIns="0" tIns="0" rIns="0" bIns="0" rtlCol="0" anchor="ctr"/>
          <a:lstStyle/>
          <a:p>
            <a:pPr indent="0" marL="0">
              <a:buNone/>
            </a:pPr>
            <a:r>
              <a:rPr lang="en-US" sz="950" i="1" dirty="0">
                <a:solidFill>
                  <a:srgbClr val="8EAFC7"/>
                </a:solidFill>
                <a:latin typeface="Calibri" pitchFamily="34" charset="0"/>
                <a:ea typeface="Calibri" pitchFamily="34" charset="-122"/>
                <a:cs typeface="Calibri" pitchFamily="34" charset="-120"/>
              </a:rPr>
              <a:t>language rules in /instructions/</a:t>
            </a:r>
            <a:endParaRPr lang="en-US" sz="950" dirty="0"/>
          </a:p>
        </p:txBody>
      </p:sp>
      <p:sp>
        <p:nvSpPr>
          <p:cNvPr id="16" name="Shape 14"/>
          <p:cNvSpPr/>
          <p:nvPr/>
        </p:nvSpPr>
        <p:spPr>
          <a:xfrm>
            <a:off x="365760" y="3182112"/>
            <a:ext cx="2560320" cy="566928"/>
          </a:xfrm>
          <a:prstGeom prst="roundRect">
            <a:avLst>
              <a:gd name="adj" fmla="val 9677"/>
            </a:avLst>
          </a:prstGeom>
          <a:solidFill>
            <a:srgbClr val="0D2035"/>
          </a:solidFill>
          <a:ln w="12700">
            <a:solidFill>
              <a:srgbClr val="EA580C">
                <a:alpha val="20000"/>
              </a:srgbClr>
            </a:solidFill>
            <a:prstDash val="solid"/>
          </a:ln>
        </p:spPr>
      </p:sp>
      <p:sp>
        <p:nvSpPr>
          <p:cNvPr id="17" name="Text 15"/>
          <p:cNvSpPr/>
          <p:nvPr/>
        </p:nvSpPr>
        <p:spPr>
          <a:xfrm>
            <a:off x="429768" y="3218688"/>
            <a:ext cx="2432304" cy="228600"/>
          </a:xfrm>
          <a:prstGeom prst="rect">
            <a:avLst/>
          </a:prstGeom>
          <a:noFill/>
          <a:ln/>
        </p:spPr>
        <p:txBody>
          <a:bodyPr wrap="square" lIns="0" tIns="0" rIns="0" bIns="0" rtlCol="0" anchor="ctr"/>
          <a:lstStyle/>
          <a:p>
            <a:pPr indent="0" marL="0">
              <a:buNone/>
            </a:pPr>
            <a:r>
              <a:rPr lang="en-US" sz="1100" b="1" dirty="0">
                <a:solidFill>
                  <a:srgbClr val="EA580C"/>
                </a:solidFill>
                <a:latin typeface="Calibri" pitchFamily="34" charset="0"/>
                <a:ea typeface="Calibri" pitchFamily="34" charset="-122"/>
                <a:cs typeface="Calibri" pitchFamily="34" charset="-120"/>
              </a:rPr>
              <a:t>skills folder</a:t>
            </a:r>
            <a:endParaRPr lang="en-US" sz="1100" dirty="0"/>
          </a:p>
        </p:txBody>
      </p:sp>
      <p:sp>
        <p:nvSpPr>
          <p:cNvPr id="18" name="Text 16"/>
          <p:cNvSpPr/>
          <p:nvPr/>
        </p:nvSpPr>
        <p:spPr>
          <a:xfrm>
            <a:off x="429768" y="3456432"/>
            <a:ext cx="2432304" cy="219456"/>
          </a:xfrm>
          <a:prstGeom prst="rect">
            <a:avLst/>
          </a:prstGeom>
          <a:noFill/>
          <a:ln/>
        </p:spPr>
        <p:txBody>
          <a:bodyPr wrap="square" lIns="0" tIns="0" rIns="0" bIns="0" rtlCol="0" anchor="ctr"/>
          <a:lstStyle/>
          <a:p>
            <a:pPr indent="0" marL="0">
              <a:buNone/>
            </a:pPr>
            <a:r>
              <a:rPr lang="en-US" sz="950" i="1" dirty="0">
                <a:solidFill>
                  <a:srgbClr val="8EAFC7"/>
                </a:solidFill>
                <a:latin typeface="Calibri" pitchFamily="34" charset="0"/>
                <a:ea typeface="Calibri" pitchFamily="34" charset="-122"/>
                <a:cs typeface="Calibri" pitchFamily="34" charset="-120"/>
              </a:rPr>
              <a:t>.github/prompts/ for workflows</a:t>
            </a:r>
            <a:endParaRPr lang="en-US" sz="950" dirty="0"/>
          </a:p>
        </p:txBody>
      </p:sp>
      <p:sp>
        <p:nvSpPr>
          <p:cNvPr id="19" name="Shape 17"/>
          <p:cNvSpPr/>
          <p:nvPr/>
        </p:nvSpPr>
        <p:spPr>
          <a:xfrm>
            <a:off x="365760" y="3822192"/>
            <a:ext cx="2560320" cy="566928"/>
          </a:xfrm>
          <a:prstGeom prst="roundRect">
            <a:avLst>
              <a:gd name="adj" fmla="val 9677"/>
            </a:avLst>
          </a:prstGeom>
          <a:solidFill>
            <a:srgbClr val="0D2035"/>
          </a:solidFill>
          <a:ln w="12700">
            <a:solidFill>
              <a:srgbClr val="EA580C">
                <a:alpha val="20000"/>
              </a:srgbClr>
            </a:solidFill>
            <a:prstDash val="solid"/>
          </a:ln>
        </p:spPr>
      </p:sp>
      <p:sp>
        <p:nvSpPr>
          <p:cNvPr id="20" name="Text 18"/>
          <p:cNvSpPr/>
          <p:nvPr/>
        </p:nvSpPr>
        <p:spPr>
          <a:xfrm>
            <a:off x="429768" y="3858768"/>
            <a:ext cx="2432304" cy="228600"/>
          </a:xfrm>
          <a:prstGeom prst="rect">
            <a:avLst/>
          </a:prstGeom>
          <a:noFill/>
          <a:ln/>
        </p:spPr>
        <p:txBody>
          <a:bodyPr wrap="square" lIns="0" tIns="0" rIns="0" bIns="0" rtlCol="0" anchor="ctr"/>
          <a:lstStyle/>
          <a:p>
            <a:pPr indent="0" marL="0">
              <a:buNone/>
            </a:pPr>
            <a:r>
              <a:rPr lang="en-US" sz="1100" b="1" dirty="0">
                <a:solidFill>
                  <a:srgbClr val="EA580C"/>
                </a:solidFill>
                <a:latin typeface="Calibri" pitchFamily="34" charset="0"/>
                <a:ea typeface="Calibri" pitchFamily="34" charset="-122"/>
                <a:cs typeface="Calibri" pitchFamily="34" charset="-120"/>
              </a:rPr>
              <a:t>settings.json</a:t>
            </a:r>
            <a:endParaRPr lang="en-US" sz="1100" dirty="0"/>
          </a:p>
        </p:txBody>
      </p:sp>
      <p:sp>
        <p:nvSpPr>
          <p:cNvPr id="21" name="Text 19"/>
          <p:cNvSpPr/>
          <p:nvPr/>
        </p:nvSpPr>
        <p:spPr>
          <a:xfrm>
            <a:off x="429768" y="4096512"/>
            <a:ext cx="2432304" cy="219456"/>
          </a:xfrm>
          <a:prstGeom prst="rect">
            <a:avLst/>
          </a:prstGeom>
          <a:noFill/>
          <a:ln/>
        </p:spPr>
        <p:txBody>
          <a:bodyPr wrap="square" lIns="0" tIns="0" rIns="0" bIns="0" rtlCol="0" anchor="ctr"/>
          <a:lstStyle/>
          <a:p>
            <a:pPr indent="0" marL="0">
              <a:buNone/>
            </a:pPr>
            <a:r>
              <a:rPr lang="en-US" sz="950" i="1" dirty="0">
                <a:solidFill>
                  <a:srgbClr val="8EAFC7"/>
                </a:solidFill>
                <a:latin typeface="Calibri" pitchFamily="34" charset="0"/>
                <a:ea typeface="Calibri" pitchFamily="34" charset="-122"/>
                <a:cs typeface="Calibri" pitchFamily="34" charset="-120"/>
              </a:rPr>
              <a:t>enable promptFiles &amp; instructions</a:t>
            </a:r>
            <a:endParaRPr lang="en-US" sz="950" dirty="0"/>
          </a:p>
        </p:txBody>
      </p:sp>
      <p:sp>
        <p:nvSpPr>
          <p:cNvPr id="22" name="Shape 20"/>
          <p:cNvSpPr/>
          <p:nvPr/>
        </p:nvSpPr>
        <p:spPr>
          <a:xfrm>
            <a:off x="3154680" y="749808"/>
            <a:ext cx="2834640" cy="3977640"/>
          </a:xfrm>
          <a:prstGeom prst="roundRect">
            <a:avLst>
              <a:gd name="adj" fmla="val 3226"/>
            </a:avLst>
          </a:prstGeom>
          <a:solidFill>
            <a:srgbClr val="1A2E45"/>
          </a:solidFill>
          <a:ln w="12700">
            <a:solidFill>
              <a:srgbClr val="3B82F6">
                <a:alpha val="30000"/>
              </a:srgbClr>
            </a:solidFill>
            <a:prstDash val="solid"/>
          </a:ln>
          <a:effectLst>
            <a:outerShdw sx="100000" sy="100000" kx="0" ky="0" algn="bl" rotWithShape="0" blurRad="101600" dist="38100" dir="2700000">
              <a:srgbClr val="000000">
                <a:alpha val="12000"/>
              </a:srgbClr>
            </a:outerShdw>
          </a:effectLst>
        </p:spPr>
      </p:sp>
      <p:sp>
        <p:nvSpPr>
          <p:cNvPr id="23" name="Shape 21"/>
          <p:cNvSpPr/>
          <p:nvPr/>
        </p:nvSpPr>
        <p:spPr>
          <a:xfrm>
            <a:off x="3154680" y="749808"/>
            <a:ext cx="2834640" cy="420624"/>
          </a:xfrm>
          <a:prstGeom prst="roundRect">
            <a:avLst>
              <a:gd name="adj" fmla="val 21739"/>
            </a:avLst>
          </a:prstGeom>
          <a:solidFill>
            <a:srgbClr val="3B82F6"/>
          </a:solidFill>
          <a:ln w="12700">
            <a:solidFill>
              <a:srgbClr val="3B82F6"/>
            </a:solidFill>
            <a:prstDash val="solid"/>
          </a:ln>
        </p:spPr>
      </p:sp>
      <p:sp>
        <p:nvSpPr>
          <p:cNvPr id="24" name="Text 22"/>
          <p:cNvSpPr/>
          <p:nvPr/>
        </p:nvSpPr>
        <p:spPr>
          <a:xfrm>
            <a:off x="3154680" y="749808"/>
            <a:ext cx="2834640"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  Every Session</a:t>
            </a:r>
            <a:endParaRPr lang="en-US" sz="1200" dirty="0"/>
          </a:p>
        </p:txBody>
      </p:sp>
      <p:sp>
        <p:nvSpPr>
          <p:cNvPr id="25" name="Shape 23"/>
          <p:cNvSpPr/>
          <p:nvPr/>
        </p:nvSpPr>
        <p:spPr>
          <a:xfrm>
            <a:off x="3291840" y="1261872"/>
            <a:ext cx="2560320" cy="566928"/>
          </a:xfrm>
          <a:prstGeom prst="roundRect">
            <a:avLst>
              <a:gd name="adj" fmla="val 9677"/>
            </a:avLst>
          </a:prstGeom>
          <a:solidFill>
            <a:srgbClr val="0D2035"/>
          </a:solidFill>
          <a:ln w="12700">
            <a:solidFill>
              <a:srgbClr val="3B82F6">
                <a:alpha val="20000"/>
              </a:srgbClr>
            </a:solidFill>
            <a:prstDash val="solid"/>
          </a:ln>
        </p:spPr>
      </p:sp>
      <p:sp>
        <p:nvSpPr>
          <p:cNvPr id="26" name="Text 24"/>
          <p:cNvSpPr/>
          <p:nvPr/>
        </p:nvSpPr>
        <p:spPr>
          <a:xfrm>
            <a:off x="3355848" y="1298448"/>
            <a:ext cx="2432304" cy="228600"/>
          </a:xfrm>
          <a:prstGeom prst="rect">
            <a:avLst/>
          </a:prstGeom>
          <a:noFill/>
          <a:ln/>
        </p:spPr>
        <p:txBody>
          <a:bodyPr wrap="square" lIns="0" tIns="0" rIns="0" bIns="0" rtlCol="0" anchor="ctr"/>
          <a:lstStyle/>
          <a:p>
            <a:pPr indent="0" marL="0">
              <a:buNone/>
            </a:pPr>
            <a:r>
              <a:rPr lang="en-US" sz="1100" b="1" dirty="0">
                <a:solidFill>
                  <a:srgbClr val="3B82F6"/>
                </a:solidFill>
                <a:latin typeface="Calibri" pitchFamily="34" charset="0"/>
                <a:ea typeface="Calibri" pitchFamily="34" charset="-122"/>
                <a:cs typeface="Calibri" pitchFamily="34" charset="-120"/>
              </a:rPr>
              <a:t>Max 5 tabs</a:t>
            </a:r>
            <a:endParaRPr lang="en-US" sz="1100" dirty="0"/>
          </a:p>
        </p:txBody>
      </p:sp>
      <p:sp>
        <p:nvSpPr>
          <p:cNvPr id="27" name="Text 25"/>
          <p:cNvSpPr/>
          <p:nvPr/>
        </p:nvSpPr>
        <p:spPr>
          <a:xfrm>
            <a:off x="3355848" y="1536192"/>
            <a:ext cx="2432304" cy="219456"/>
          </a:xfrm>
          <a:prstGeom prst="rect">
            <a:avLst/>
          </a:prstGeom>
          <a:noFill/>
          <a:ln/>
        </p:spPr>
        <p:txBody>
          <a:bodyPr wrap="square" lIns="0" tIns="0" rIns="0" bIns="0" rtlCol="0" anchor="ctr"/>
          <a:lstStyle/>
          <a:p>
            <a:pPr indent="0" marL="0">
              <a:buNone/>
            </a:pPr>
            <a:r>
              <a:rPr lang="en-US" sz="950" i="1" dirty="0">
                <a:solidFill>
                  <a:srgbClr val="8EAFC7"/>
                </a:solidFill>
                <a:latin typeface="Calibri" pitchFamily="34" charset="0"/>
                <a:ea typeface="Calibri" pitchFamily="34" charset="-122"/>
                <a:cs typeface="Calibri" pitchFamily="34" charset="-120"/>
              </a:rPr>
              <a:t>close everything irrelevant</a:t>
            </a:r>
            <a:endParaRPr lang="en-US" sz="950" dirty="0"/>
          </a:p>
        </p:txBody>
      </p:sp>
      <p:sp>
        <p:nvSpPr>
          <p:cNvPr id="28" name="Shape 26"/>
          <p:cNvSpPr/>
          <p:nvPr/>
        </p:nvSpPr>
        <p:spPr>
          <a:xfrm>
            <a:off x="3291840" y="1901952"/>
            <a:ext cx="2560320" cy="566928"/>
          </a:xfrm>
          <a:prstGeom prst="roundRect">
            <a:avLst>
              <a:gd name="adj" fmla="val 9677"/>
            </a:avLst>
          </a:prstGeom>
          <a:solidFill>
            <a:srgbClr val="0D2035"/>
          </a:solidFill>
          <a:ln w="12700">
            <a:solidFill>
              <a:srgbClr val="3B82F6">
                <a:alpha val="20000"/>
              </a:srgbClr>
            </a:solidFill>
            <a:prstDash val="solid"/>
          </a:ln>
        </p:spPr>
      </p:sp>
      <p:sp>
        <p:nvSpPr>
          <p:cNvPr id="29" name="Text 27"/>
          <p:cNvSpPr/>
          <p:nvPr/>
        </p:nvSpPr>
        <p:spPr>
          <a:xfrm>
            <a:off x="3355848" y="1938528"/>
            <a:ext cx="2432304" cy="228600"/>
          </a:xfrm>
          <a:prstGeom prst="rect">
            <a:avLst/>
          </a:prstGeom>
          <a:noFill/>
          <a:ln/>
        </p:spPr>
        <p:txBody>
          <a:bodyPr wrap="square" lIns="0" tIns="0" rIns="0" bIns="0" rtlCol="0" anchor="ctr"/>
          <a:lstStyle/>
          <a:p>
            <a:pPr indent="0" marL="0">
              <a:buNone/>
            </a:pPr>
            <a:r>
              <a:rPr lang="en-US" sz="1100" b="1" dirty="0">
                <a:solidFill>
                  <a:srgbClr val="3B82F6"/>
                </a:solidFill>
                <a:latin typeface="Calibri" pitchFamily="34" charset="0"/>
                <a:ea typeface="Calibri" pitchFamily="34" charset="-122"/>
                <a:cs typeface="Calibri" pitchFamily="34" charset="-120"/>
              </a:rPr>
              <a:t>Ask mode default</a:t>
            </a:r>
            <a:endParaRPr lang="en-US" sz="1100" dirty="0"/>
          </a:p>
        </p:txBody>
      </p:sp>
      <p:sp>
        <p:nvSpPr>
          <p:cNvPr id="30" name="Text 28"/>
          <p:cNvSpPr/>
          <p:nvPr/>
        </p:nvSpPr>
        <p:spPr>
          <a:xfrm>
            <a:off x="3355848" y="2176272"/>
            <a:ext cx="2432304" cy="219456"/>
          </a:xfrm>
          <a:prstGeom prst="rect">
            <a:avLst/>
          </a:prstGeom>
          <a:noFill/>
          <a:ln/>
        </p:spPr>
        <p:txBody>
          <a:bodyPr wrap="square" lIns="0" tIns="0" rIns="0" bIns="0" rtlCol="0" anchor="ctr"/>
          <a:lstStyle/>
          <a:p>
            <a:pPr indent="0" marL="0">
              <a:buNone/>
            </a:pPr>
            <a:r>
              <a:rPr lang="en-US" sz="950" i="1" dirty="0">
                <a:solidFill>
                  <a:srgbClr val="8EAFC7"/>
                </a:solidFill>
                <a:latin typeface="Calibri" pitchFamily="34" charset="0"/>
                <a:ea typeface="Calibri" pitchFamily="34" charset="-122"/>
                <a:cs typeface="Calibri" pitchFamily="34" charset="-120"/>
              </a:rPr>
              <a:t>switch to Agent only when needed</a:t>
            </a:r>
            <a:endParaRPr lang="en-US" sz="950" dirty="0"/>
          </a:p>
        </p:txBody>
      </p:sp>
      <p:sp>
        <p:nvSpPr>
          <p:cNvPr id="31" name="Shape 29"/>
          <p:cNvSpPr/>
          <p:nvPr/>
        </p:nvSpPr>
        <p:spPr>
          <a:xfrm>
            <a:off x="3291840" y="2542032"/>
            <a:ext cx="2560320" cy="566928"/>
          </a:xfrm>
          <a:prstGeom prst="roundRect">
            <a:avLst>
              <a:gd name="adj" fmla="val 9677"/>
            </a:avLst>
          </a:prstGeom>
          <a:solidFill>
            <a:srgbClr val="0D2035"/>
          </a:solidFill>
          <a:ln w="12700">
            <a:solidFill>
              <a:srgbClr val="3B82F6">
                <a:alpha val="20000"/>
              </a:srgbClr>
            </a:solidFill>
            <a:prstDash val="solid"/>
          </a:ln>
        </p:spPr>
      </p:sp>
      <p:sp>
        <p:nvSpPr>
          <p:cNvPr id="32" name="Text 30"/>
          <p:cNvSpPr/>
          <p:nvPr/>
        </p:nvSpPr>
        <p:spPr>
          <a:xfrm>
            <a:off x="3355848" y="2578608"/>
            <a:ext cx="2432304" cy="228600"/>
          </a:xfrm>
          <a:prstGeom prst="rect">
            <a:avLst/>
          </a:prstGeom>
          <a:noFill/>
          <a:ln/>
        </p:spPr>
        <p:txBody>
          <a:bodyPr wrap="square" lIns="0" tIns="0" rIns="0" bIns="0" rtlCol="0" anchor="ctr"/>
          <a:lstStyle/>
          <a:p>
            <a:pPr indent="0" marL="0">
              <a:buNone/>
            </a:pPr>
            <a:r>
              <a:rPr lang="en-US" sz="1100" b="1" dirty="0">
                <a:solidFill>
                  <a:srgbClr val="3B82F6"/>
                </a:solidFill>
                <a:latin typeface="Calibri" pitchFamily="34" charset="0"/>
                <a:ea typeface="Calibri" pitchFamily="34" charset="-122"/>
                <a:cs typeface="Calibri" pitchFamily="34" charset="-120"/>
              </a:rPr>
              <a:t>Ctrl+L / Cmd+L</a:t>
            </a:r>
            <a:endParaRPr lang="en-US" sz="1100" dirty="0"/>
          </a:p>
        </p:txBody>
      </p:sp>
      <p:sp>
        <p:nvSpPr>
          <p:cNvPr id="33" name="Text 31"/>
          <p:cNvSpPr/>
          <p:nvPr/>
        </p:nvSpPr>
        <p:spPr>
          <a:xfrm>
            <a:off x="3355848" y="2816352"/>
            <a:ext cx="2432304" cy="219456"/>
          </a:xfrm>
          <a:prstGeom prst="rect">
            <a:avLst/>
          </a:prstGeom>
          <a:noFill/>
          <a:ln/>
        </p:spPr>
        <p:txBody>
          <a:bodyPr wrap="square" lIns="0" tIns="0" rIns="0" bIns="0" rtlCol="0" anchor="ctr"/>
          <a:lstStyle/>
          <a:p>
            <a:pPr indent="0" marL="0">
              <a:buNone/>
            </a:pPr>
            <a:r>
              <a:rPr lang="en-US" sz="950" i="1" dirty="0">
                <a:solidFill>
                  <a:srgbClr val="8EAFC7"/>
                </a:solidFill>
                <a:latin typeface="Calibri" pitchFamily="34" charset="0"/>
                <a:ea typeface="Calibri" pitchFamily="34" charset="-122"/>
                <a:cs typeface="Calibri" pitchFamily="34" charset="-120"/>
              </a:rPr>
              <a:t>new chat = new task, always</a:t>
            </a:r>
            <a:endParaRPr lang="en-US" sz="950" dirty="0"/>
          </a:p>
        </p:txBody>
      </p:sp>
      <p:sp>
        <p:nvSpPr>
          <p:cNvPr id="34" name="Shape 32"/>
          <p:cNvSpPr/>
          <p:nvPr/>
        </p:nvSpPr>
        <p:spPr>
          <a:xfrm>
            <a:off x="3291840" y="3182112"/>
            <a:ext cx="2560320" cy="566928"/>
          </a:xfrm>
          <a:prstGeom prst="roundRect">
            <a:avLst>
              <a:gd name="adj" fmla="val 9677"/>
            </a:avLst>
          </a:prstGeom>
          <a:solidFill>
            <a:srgbClr val="0D2035"/>
          </a:solidFill>
          <a:ln w="12700">
            <a:solidFill>
              <a:srgbClr val="3B82F6">
                <a:alpha val="20000"/>
              </a:srgbClr>
            </a:solidFill>
            <a:prstDash val="solid"/>
          </a:ln>
        </p:spPr>
      </p:sp>
      <p:sp>
        <p:nvSpPr>
          <p:cNvPr id="35" name="Text 33"/>
          <p:cNvSpPr/>
          <p:nvPr/>
        </p:nvSpPr>
        <p:spPr>
          <a:xfrm>
            <a:off x="3355848" y="3218688"/>
            <a:ext cx="2432304" cy="228600"/>
          </a:xfrm>
          <a:prstGeom prst="rect">
            <a:avLst/>
          </a:prstGeom>
          <a:noFill/>
          <a:ln/>
        </p:spPr>
        <p:txBody>
          <a:bodyPr wrap="square" lIns="0" tIns="0" rIns="0" bIns="0" rtlCol="0" anchor="ctr"/>
          <a:lstStyle/>
          <a:p>
            <a:pPr indent="0" marL="0">
              <a:buNone/>
            </a:pPr>
            <a:r>
              <a:rPr lang="en-US" sz="1100" b="1" dirty="0">
                <a:solidFill>
                  <a:srgbClr val="3B82F6"/>
                </a:solidFill>
                <a:latin typeface="Calibri" pitchFamily="34" charset="0"/>
                <a:ea typeface="Calibri" pitchFamily="34" charset="-122"/>
                <a:cs typeface="Calibri" pitchFamily="34" charset="-120"/>
              </a:rPr>
              <a:t>Terse prompts</a:t>
            </a:r>
            <a:endParaRPr lang="en-US" sz="1100" dirty="0"/>
          </a:p>
        </p:txBody>
      </p:sp>
      <p:sp>
        <p:nvSpPr>
          <p:cNvPr id="36" name="Text 34"/>
          <p:cNvSpPr/>
          <p:nvPr/>
        </p:nvSpPr>
        <p:spPr>
          <a:xfrm>
            <a:off x="3355848" y="3456432"/>
            <a:ext cx="2432304" cy="219456"/>
          </a:xfrm>
          <a:prstGeom prst="rect">
            <a:avLst/>
          </a:prstGeom>
          <a:noFill/>
          <a:ln/>
        </p:spPr>
        <p:txBody>
          <a:bodyPr wrap="square" lIns="0" tIns="0" rIns="0" bIns="0" rtlCol="0" anchor="ctr"/>
          <a:lstStyle/>
          <a:p>
            <a:pPr indent="0" marL="0">
              <a:buNone/>
            </a:pPr>
            <a:r>
              <a:rPr lang="en-US" sz="950" i="1" dirty="0">
                <a:solidFill>
                  <a:srgbClr val="8EAFC7"/>
                </a:solidFill>
                <a:latin typeface="Calibri" pitchFamily="34" charset="0"/>
                <a:ea typeface="Calibri" pitchFamily="34" charset="-122"/>
                <a:cs typeface="Calibri" pitchFamily="34" charset="-120"/>
              </a:rPr>
              <a:t>fn name args → result, no please</a:t>
            </a:r>
            <a:endParaRPr lang="en-US" sz="950" dirty="0"/>
          </a:p>
        </p:txBody>
      </p:sp>
      <p:sp>
        <p:nvSpPr>
          <p:cNvPr id="37" name="Shape 35"/>
          <p:cNvSpPr/>
          <p:nvPr/>
        </p:nvSpPr>
        <p:spPr>
          <a:xfrm>
            <a:off x="3291840" y="3822192"/>
            <a:ext cx="2560320" cy="566928"/>
          </a:xfrm>
          <a:prstGeom prst="roundRect">
            <a:avLst>
              <a:gd name="adj" fmla="val 9677"/>
            </a:avLst>
          </a:prstGeom>
          <a:solidFill>
            <a:srgbClr val="0D2035"/>
          </a:solidFill>
          <a:ln w="12700">
            <a:solidFill>
              <a:srgbClr val="3B82F6">
                <a:alpha val="20000"/>
              </a:srgbClr>
            </a:solidFill>
            <a:prstDash val="solid"/>
          </a:ln>
        </p:spPr>
      </p:sp>
      <p:sp>
        <p:nvSpPr>
          <p:cNvPr id="38" name="Text 36"/>
          <p:cNvSpPr/>
          <p:nvPr/>
        </p:nvSpPr>
        <p:spPr>
          <a:xfrm>
            <a:off x="3355848" y="3858768"/>
            <a:ext cx="2432304" cy="228600"/>
          </a:xfrm>
          <a:prstGeom prst="rect">
            <a:avLst/>
          </a:prstGeom>
          <a:noFill/>
          <a:ln/>
        </p:spPr>
        <p:txBody>
          <a:bodyPr wrap="square" lIns="0" tIns="0" rIns="0" bIns="0" rtlCol="0" anchor="ctr"/>
          <a:lstStyle/>
          <a:p>
            <a:pPr indent="0" marL="0">
              <a:buNone/>
            </a:pPr>
            <a:r>
              <a:rPr lang="en-US" sz="1100" b="1" dirty="0">
                <a:solidFill>
                  <a:srgbClr val="3B82F6"/>
                </a:solidFill>
                <a:latin typeface="Calibri" pitchFamily="34" charset="0"/>
                <a:ea typeface="Calibri" pitchFamily="34" charset="-122"/>
                <a:cs typeface="Calibri" pitchFamily="34" charset="-120"/>
              </a:rPr>
              <a:t>#file not paste</a:t>
            </a:r>
            <a:endParaRPr lang="en-US" sz="1100" dirty="0"/>
          </a:p>
        </p:txBody>
      </p:sp>
      <p:sp>
        <p:nvSpPr>
          <p:cNvPr id="39" name="Text 37"/>
          <p:cNvSpPr/>
          <p:nvPr/>
        </p:nvSpPr>
        <p:spPr>
          <a:xfrm>
            <a:off x="3355848" y="4096512"/>
            <a:ext cx="2432304" cy="219456"/>
          </a:xfrm>
          <a:prstGeom prst="rect">
            <a:avLst/>
          </a:prstGeom>
          <a:noFill/>
          <a:ln/>
        </p:spPr>
        <p:txBody>
          <a:bodyPr wrap="square" lIns="0" tIns="0" rIns="0" bIns="0" rtlCol="0" anchor="ctr"/>
          <a:lstStyle/>
          <a:p>
            <a:pPr indent="0" marL="0">
              <a:buNone/>
            </a:pPr>
            <a:r>
              <a:rPr lang="en-US" sz="950" i="1" dirty="0">
                <a:solidFill>
                  <a:srgbClr val="8EAFC7"/>
                </a:solidFill>
                <a:latin typeface="Calibri" pitchFamily="34" charset="0"/>
                <a:ea typeface="Calibri" pitchFamily="34" charset="-122"/>
                <a:cs typeface="Calibri" pitchFamily="34" charset="-120"/>
              </a:rPr>
              <a:t>highlight block, not whole file</a:t>
            </a:r>
            <a:endParaRPr lang="en-US" sz="950" dirty="0"/>
          </a:p>
        </p:txBody>
      </p:sp>
      <p:sp>
        <p:nvSpPr>
          <p:cNvPr id="40" name="Shape 38"/>
          <p:cNvSpPr/>
          <p:nvPr/>
        </p:nvSpPr>
        <p:spPr>
          <a:xfrm>
            <a:off x="6080760" y="749808"/>
            <a:ext cx="2834640" cy="3977640"/>
          </a:xfrm>
          <a:prstGeom prst="roundRect">
            <a:avLst>
              <a:gd name="adj" fmla="val 3226"/>
            </a:avLst>
          </a:prstGeom>
          <a:solidFill>
            <a:srgbClr val="1A2E45"/>
          </a:solidFill>
          <a:ln w="12700">
            <a:solidFill>
              <a:srgbClr val="10B981">
                <a:alpha val="30000"/>
              </a:srgbClr>
            </a:solidFill>
            <a:prstDash val="solid"/>
          </a:ln>
          <a:effectLst>
            <a:outerShdw sx="100000" sy="100000" kx="0" ky="0" algn="bl" rotWithShape="0" blurRad="101600" dist="38100" dir="2700000">
              <a:srgbClr val="000000">
                <a:alpha val="12000"/>
              </a:srgbClr>
            </a:outerShdw>
          </a:effectLst>
        </p:spPr>
      </p:sp>
      <p:sp>
        <p:nvSpPr>
          <p:cNvPr id="41" name="Shape 39"/>
          <p:cNvSpPr/>
          <p:nvPr/>
        </p:nvSpPr>
        <p:spPr>
          <a:xfrm>
            <a:off x="6080760" y="749808"/>
            <a:ext cx="2834640" cy="420624"/>
          </a:xfrm>
          <a:prstGeom prst="roundRect">
            <a:avLst>
              <a:gd name="adj" fmla="val 21739"/>
            </a:avLst>
          </a:prstGeom>
          <a:solidFill>
            <a:srgbClr val="10B981"/>
          </a:solidFill>
          <a:ln w="12700">
            <a:solidFill>
              <a:srgbClr val="10B981"/>
            </a:solidFill>
            <a:prstDash val="solid"/>
          </a:ln>
        </p:spPr>
      </p:sp>
      <p:sp>
        <p:nvSpPr>
          <p:cNvPr id="42" name="Text 40"/>
          <p:cNvSpPr/>
          <p:nvPr/>
        </p:nvSpPr>
        <p:spPr>
          <a:xfrm>
            <a:off x="6080760" y="749808"/>
            <a:ext cx="2834640"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  Ongoing Hygiene</a:t>
            </a:r>
            <a:endParaRPr lang="en-US" sz="1200" dirty="0"/>
          </a:p>
        </p:txBody>
      </p:sp>
      <p:sp>
        <p:nvSpPr>
          <p:cNvPr id="43" name="Shape 41"/>
          <p:cNvSpPr/>
          <p:nvPr/>
        </p:nvSpPr>
        <p:spPr>
          <a:xfrm>
            <a:off x="6217920" y="1261872"/>
            <a:ext cx="2560320" cy="566928"/>
          </a:xfrm>
          <a:prstGeom prst="roundRect">
            <a:avLst>
              <a:gd name="adj" fmla="val 9677"/>
            </a:avLst>
          </a:prstGeom>
          <a:solidFill>
            <a:srgbClr val="0D2035"/>
          </a:solidFill>
          <a:ln w="12700">
            <a:solidFill>
              <a:srgbClr val="10B981">
                <a:alpha val="20000"/>
              </a:srgbClr>
            </a:solidFill>
            <a:prstDash val="solid"/>
          </a:ln>
        </p:spPr>
      </p:sp>
      <p:sp>
        <p:nvSpPr>
          <p:cNvPr id="44" name="Text 42"/>
          <p:cNvSpPr/>
          <p:nvPr/>
        </p:nvSpPr>
        <p:spPr>
          <a:xfrm>
            <a:off x="6281928" y="1298448"/>
            <a:ext cx="2432304" cy="228600"/>
          </a:xfrm>
          <a:prstGeom prst="rect">
            <a:avLst/>
          </a:prstGeom>
          <a:noFill/>
          <a:ln/>
        </p:spPr>
        <p:txBody>
          <a:bodyPr wrap="square" lIns="0" tIns="0" rIns="0" bIns="0" rtlCol="0" anchor="ctr"/>
          <a:lstStyle/>
          <a:p>
            <a:pPr indent="0" marL="0">
              <a:buNone/>
            </a:pPr>
            <a:r>
              <a:rPr lang="en-US" sz="1100" b="1" dirty="0">
                <a:solidFill>
                  <a:srgbClr val="10B981"/>
                </a:solidFill>
                <a:latin typeface="Calibri" pitchFamily="34" charset="0"/>
                <a:ea typeface="Calibri" pitchFamily="34" charset="-122"/>
                <a:cs typeface="Calibri" pitchFamily="34" charset="-120"/>
              </a:rPr>
              <a:t>Weekly dashboard</a:t>
            </a:r>
            <a:endParaRPr lang="en-US" sz="1100" dirty="0"/>
          </a:p>
        </p:txBody>
      </p:sp>
      <p:sp>
        <p:nvSpPr>
          <p:cNvPr id="45" name="Text 43"/>
          <p:cNvSpPr/>
          <p:nvPr/>
        </p:nvSpPr>
        <p:spPr>
          <a:xfrm>
            <a:off x="6281928" y="1536192"/>
            <a:ext cx="2432304" cy="219456"/>
          </a:xfrm>
          <a:prstGeom prst="rect">
            <a:avLst/>
          </a:prstGeom>
          <a:noFill/>
          <a:ln/>
        </p:spPr>
        <p:txBody>
          <a:bodyPr wrap="square" lIns="0" tIns="0" rIns="0" bIns="0" rtlCol="0" anchor="ctr"/>
          <a:lstStyle/>
          <a:p>
            <a:pPr indent="0" marL="0">
              <a:buNone/>
            </a:pPr>
            <a:r>
              <a:rPr lang="en-US" sz="950" i="1" dirty="0">
                <a:solidFill>
                  <a:srgbClr val="8EAFC7"/>
                </a:solidFill>
                <a:latin typeface="Calibri" pitchFamily="34" charset="0"/>
                <a:ea typeface="Calibri" pitchFamily="34" charset="-122"/>
                <a:cs typeface="Calibri" pitchFamily="34" charset="-120"/>
              </a:rPr>
              <a:t>check credit burn vs allotment</a:t>
            </a:r>
            <a:endParaRPr lang="en-US" sz="950" dirty="0"/>
          </a:p>
        </p:txBody>
      </p:sp>
      <p:sp>
        <p:nvSpPr>
          <p:cNvPr id="46" name="Shape 44"/>
          <p:cNvSpPr/>
          <p:nvPr/>
        </p:nvSpPr>
        <p:spPr>
          <a:xfrm>
            <a:off x="6217920" y="1901952"/>
            <a:ext cx="2560320" cy="566928"/>
          </a:xfrm>
          <a:prstGeom prst="roundRect">
            <a:avLst>
              <a:gd name="adj" fmla="val 9677"/>
            </a:avLst>
          </a:prstGeom>
          <a:solidFill>
            <a:srgbClr val="0D2035"/>
          </a:solidFill>
          <a:ln w="12700">
            <a:solidFill>
              <a:srgbClr val="10B981">
                <a:alpha val="20000"/>
              </a:srgbClr>
            </a:solidFill>
            <a:prstDash val="solid"/>
          </a:ln>
        </p:spPr>
      </p:sp>
      <p:sp>
        <p:nvSpPr>
          <p:cNvPr id="47" name="Text 45"/>
          <p:cNvSpPr/>
          <p:nvPr/>
        </p:nvSpPr>
        <p:spPr>
          <a:xfrm>
            <a:off x="6281928" y="1938528"/>
            <a:ext cx="2432304" cy="228600"/>
          </a:xfrm>
          <a:prstGeom prst="rect">
            <a:avLst/>
          </a:prstGeom>
          <a:noFill/>
          <a:ln/>
        </p:spPr>
        <p:txBody>
          <a:bodyPr wrap="square" lIns="0" tIns="0" rIns="0" bIns="0" rtlCol="0" anchor="ctr"/>
          <a:lstStyle/>
          <a:p>
            <a:pPr indent="0" marL="0">
              <a:buNone/>
            </a:pPr>
            <a:r>
              <a:rPr lang="en-US" sz="1100" b="1" dirty="0">
                <a:solidFill>
                  <a:srgbClr val="10B981"/>
                </a:solidFill>
                <a:latin typeface="Calibri" pitchFamily="34" charset="0"/>
                <a:ea typeface="Calibri" pitchFamily="34" charset="-122"/>
                <a:cs typeface="Calibri" pitchFamily="34" charset="-120"/>
              </a:rPr>
              <a:t>Right model</a:t>
            </a:r>
            <a:endParaRPr lang="en-US" sz="1100" dirty="0"/>
          </a:p>
        </p:txBody>
      </p:sp>
      <p:sp>
        <p:nvSpPr>
          <p:cNvPr id="48" name="Text 46"/>
          <p:cNvSpPr/>
          <p:nvPr/>
        </p:nvSpPr>
        <p:spPr>
          <a:xfrm>
            <a:off x="6281928" y="2176272"/>
            <a:ext cx="2432304" cy="219456"/>
          </a:xfrm>
          <a:prstGeom prst="rect">
            <a:avLst/>
          </a:prstGeom>
          <a:noFill/>
          <a:ln/>
        </p:spPr>
        <p:txBody>
          <a:bodyPr wrap="square" lIns="0" tIns="0" rIns="0" bIns="0" rtlCol="0" anchor="ctr"/>
          <a:lstStyle/>
          <a:p>
            <a:pPr indent="0" marL="0">
              <a:buNone/>
            </a:pPr>
            <a:r>
              <a:rPr lang="en-US" sz="950" i="1" dirty="0">
                <a:solidFill>
                  <a:srgbClr val="8EAFC7"/>
                </a:solidFill>
                <a:latin typeface="Calibri" pitchFamily="34" charset="0"/>
                <a:ea typeface="Calibri" pitchFamily="34" charset="-122"/>
                <a:cs typeface="Calibri" pitchFamily="34" charset="-120"/>
              </a:rPr>
              <a:t>Haiku/Mini for simple, Opus for hard</a:t>
            </a:r>
            <a:endParaRPr lang="en-US" sz="950" dirty="0"/>
          </a:p>
        </p:txBody>
      </p:sp>
      <p:sp>
        <p:nvSpPr>
          <p:cNvPr id="49" name="Shape 47"/>
          <p:cNvSpPr/>
          <p:nvPr/>
        </p:nvSpPr>
        <p:spPr>
          <a:xfrm>
            <a:off x="6217920" y="2542032"/>
            <a:ext cx="2560320" cy="566928"/>
          </a:xfrm>
          <a:prstGeom prst="roundRect">
            <a:avLst>
              <a:gd name="adj" fmla="val 9677"/>
            </a:avLst>
          </a:prstGeom>
          <a:solidFill>
            <a:srgbClr val="0D2035"/>
          </a:solidFill>
          <a:ln w="12700">
            <a:solidFill>
              <a:srgbClr val="10B981">
                <a:alpha val="20000"/>
              </a:srgbClr>
            </a:solidFill>
            <a:prstDash val="solid"/>
          </a:ln>
        </p:spPr>
      </p:sp>
      <p:sp>
        <p:nvSpPr>
          <p:cNvPr id="50" name="Text 48"/>
          <p:cNvSpPr/>
          <p:nvPr/>
        </p:nvSpPr>
        <p:spPr>
          <a:xfrm>
            <a:off x="6281928" y="2578608"/>
            <a:ext cx="2432304" cy="228600"/>
          </a:xfrm>
          <a:prstGeom prst="rect">
            <a:avLst/>
          </a:prstGeom>
          <a:noFill/>
          <a:ln/>
        </p:spPr>
        <p:txBody>
          <a:bodyPr wrap="square" lIns="0" tIns="0" rIns="0" bIns="0" rtlCol="0" anchor="ctr"/>
          <a:lstStyle/>
          <a:p>
            <a:pPr indent="0" marL="0">
              <a:buNone/>
            </a:pPr>
            <a:r>
              <a:rPr lang="en-US" sz="1100" b="1" dirty="0">
                <a:solidFill>
                  <a:srgbClr val="10B981"/>
                </a:solidFill>
                <a:latin typeface="Calibri" pitchFamily="34" charset="0"/>
                <a:ea typeface="Calibri" pitchFamily="34" charset="-122"/>
                <a:cs typeface="Calibri" pitchFamily="34" charset="-120"/>
              </a:rPr>
              <a:t>Monthly audit</a:t>
            </a:r>
            <a:endParaRPr lang="en-US" sz="1100" dirty="0"/>
          </a:p>
        </p:txBody>
      </p:sp>
      <p:sp>
        <p:nvSpPr>
          <p:cNvPr id="51" name="Text 49"/>
          <p:cNvSpPr/>
          <p:nvPr/>
        </p:nvSpPr>
        <p:spPr>
          <a:xfrm>
            <a:off x="6281928" y="2816352"/>
            <a:ext cx="2432304" cy="219456"/>
          </a:xfrm>
          <a:prstGeom prst="rect">
            <a:avLst/>
          </a:prstGeom>
          <a:noFill/>
          <a:ln/>
        </p:spPr>
        <p:txBody>
          <a:bodyPr wrap="square" lIns="0" tIns="0" rIns="0" bIns="0" rtlCol="0" anchor="ctr"/>
          <a:lstStyle/>
          <a:p>
            <a:pPr indent="0" marL="0">
              <a:buNone/>
            </a:pPr>
            <a:r>
              <a:rPr lang="en-US" sz="950" i="1" dirty="0">
                <a:solidFill>
                  <a:srgbClr val="8EAFC7"/>
                </a:solidFill>
                <a:latin typeface="Calibri" pitchFamily="34" charset="0"/>
                <a:ea typeface="Calibri" pitchFamily="34" charset="-122"/>
                <a:cs typeface="Calibri" pitchFamily="34" charset="-120"/>
              </a:rPr>
              <a:t>review instruction files for creep</a:t>
            </a:r>
            <a:endParaRPr lang="en-US" sz="950" dirty="0"/>
          </a:p>
        </p:txBody>
      </p:sp>
      <p:sp>
        <p:nvSpPr>
          <p:cNvPr id="52" name="Shape 50"/>
          <p:cNvSpPr/>
          <p:nvPr/>
        </p:nvSpPr>
        <p:spPr>
          <a:xfrm>
            <a:off x="6217920" y="3182112"/>
            <a:ext cx="2560320" cy="566928"/>
          </a:xfrm>
          <a:prstGeom prst="roundRect">
            <a:avLst>
              <a:gd name="adj" fmla="val 9677"/>
            </a:avLst>
          </a:prstGeom>
          <a:solidFill>
            <a:srgbClr val="0D2035"/>
          </a:solidFill>
          <a:ln w="12700">
            <a:solidFill>
              <a:srgbClr val="10B981">
                <a:alpha val="20000"/>
              </a:srgbClr>
            </a:solidFill>
            <a:prstDash val="solid"/>
          </a:ln>
        </p:spPr>
      </p:sp>
      <p:sp>
        <p:nvSpPr>
          <p:cNvPr id="53" name="Text 51"/>
          <p:cNvSpPr/>
          <p:nvPr/>
        </p:nvSpPr>
        <p:spPr>
          <a:xfrm>
            <a:off x="6281928" y="3218688"/>
            <a:ext cx="2432304" cy="228600"/>
          </a:xfrm>
          <a:prstGeom prst="rect">
            <a:avLst/>
          </a:prstGeom>
          <a:noFill/>
          <a:ln/>
        </p:spPr>
        <p:txBody>
          <a:bodyPr wrap="square" lIns="0" tIns="0" rIns="0" bIns="0" rtlCol="0" anchor="ctr"/>
          <a:lstStyle/>
          <a:p>
            <a:pPr indent="0" marL="0">
              <a:buNone/>
            </a:pPr>
            <a:r>
              <a:rPr lang="en-US" sz="1100" b="1" dirty="0">
                <a:solidFill>
                  <a:srgbClr val="10B981"/>
                </a:solidFill>
                <a:latin typeface="Calibri" pitchFamily="34" charset="0"/>
                <a:ea typeface="Calibri" pitchFamily="34" charset="-122"/>
                <a:cs typeface="Calibri" pitchFamily="34" charset="-120"/>
              </a:rPr>
              <a:t>Fresh threads</a:t>
            </a:r>
            <a:endParaRPr lang="en-US" sz="1100" dirty="0"/>
          </a:p>
        </p:txBody>
      </p:sp>
      <p:sp>
        <p:nvSpPr>
          <p:cNvPr id="54" name="Text 52"/>
          <p:cNvSpPr/>
          <p:nvPr/>
        </p:nvSpPr>
        <p:spPr>
          <a:xfrm>
            <a:off x="6281928" y="3456432"/>
            <a:ext cx="2432304" cy="219456"/>
          </a:xfrm>
          <a:prstGeom prst="rect">
            <a:avLst/>
          </a:prstGeom>
          <a:noFill/>
          <a:ln/>
        </p:spPr>
        <p:txBody>
          <a:bodyPr wrap="square" lIns="0" tIns="0" rIns="0" bIns="0" rtlCol="0" anchor="ctr"/>
          <a:lstStyle/>
          <a:p>
            <a:pPr indent="0" marL="0">
              <a:buNone/>
            </a:pPr>
            <a:r>
              <a:rPr lang="en-US" sz="950" i="1" dirty="0">
                <a:solidFill>
                  <a:srgbClr val="8EAFC7"/>
                </a:solidFill>
                <a:latin typeface="Calibri" pitchFamily="34" charset="0"/>
                <a:ea typeface="Calibri" pitchFamily="34" charset="-122"/>
                <a:cs typeface="Calibri" pitchFamily="34" charset="-120"/>
              </a:rPr>
              <a:t>don't let threads grow past 5 msgs</a:t>
            </a:r>
            <a:endParaRPr lang="en-US" sz="950" dirty="0"/>
          </a:p>
        </p:txBody>
      </p:sp>
      <p:sp>
        <p:nvSpPr>
          <p:cNvPr id="55" name="Shape 53"/>
          <p:cNvSpPr/>
          <p:nvPr/>
        </p:nvSpPr>
        <p:spPr>
          <a:xfrm>
            <a:off x="6217920" y="3822192"/>
            <a:ext cx="2560320" cy="566928"/>
          </a:xfrm>
          <a:prstGeom prst="roundRect">
            <a:avLst>
              <a:gd name="adj" fmla="val 9677"/>
            </a:avLst>
          </a:prstGeom>
          <a:solidFill>
            <a:srgbClr val="0D2035"/>
          </a:solidFill>
          <a:ln w="12700">
            <a:solidFill>
              <a:srgbClr val="10B981">
                <a:alpha val="20000"/>
              </a:srgbClr>
            </a:solidFill>
            <a:prstDash val="solid"/>
          </a:ln>
        </p:spPr>
      </p:sp>
      <p:sp>
        <p:nvSpPr>
          <p:cNvPr id="56" name="Text 54"/>
          <p:cNvSpPr/>
          <p:nvPr/>
        </p:nvSpPr>
        <p:spPr>
          <a:xfrm>
            <a:off x="6281928" y="3858768"/>
            <a:ext cx="2432304" cy="228600"/>
          </a:xfrm>
          <a:prstGeom prst="rect">
            <a:avLst/>
          </a:prstGeom>
          <a:noFill/>
          <a:ln/>
        </p:spPr>
        <p:txBody>
          <a:bodyPr wrap="square" lIns="0" tIns="0" rIns="0" bIns="0" rtlCol="0" anchor="ctr"/>
          <a:lstStyle/>
          <a:p>
            <a:pPr indent="0" marL="0">
              <a:buNone/>
            </a:pPr>
            <a:r>
              <a:rPr lang="en-US" sz="1100" b="1" dirty="0">
                <a:solidFill>
                  <a:srgbClr val="10B981"/>
                </a:solidFill>
                <a:latin typeface="Calibri" pitchFamily="34" charset="0"/>
                <a:ea typeface="Calibri" pitchFamily="34" charset="-122"/>
                <a:cs typeface="Calibri" pitchFamily="34" charset="-120"/>
              </a:rPr>
              <a:t>Layer check</a:t>
            </a:r>
            <a:endParaRPr lang="en-US" sz="1100" dirty="0"/>
          </a:p>
        </p:txBody>
      </p:sp>
      <p:sp>
        <p:nvSpPr>
          <p:cNvPr id="57" name="Text 55"/>
          <p:cNvSpPr/>
          <p:nvPr/>
        </p:nvSpPr>
        <p:spPr>
          <a:xfrm>
            <a:off x="6281928" y="4096512"/>
            <a:ext cx="2432304" cy="219456"/>
          </a:xfrm>
          <a:prstGeom prst="rect">
            <a:avLst/>
          </a:prstGeom>
          <a:noFill/>
          <a:ln/>
        </p:spPr>
        <p:txBody>
          <a:bodyPr wrap="square" lIns="0" tIns="0" rIns="0" bIns="0" rtlCol="0" anchor="ctr"/>
          <a:lstStyle/>
          <a:p>
            <a:pPr indent="0" marL="0">
              <a:buNone/>
            </a:pPr>
            <a:r>
              <a:rPr lang="en-US" sz="950" i="1" dirty="0">
                <a:solidFill>
                  <a:srgbClr val="8EAFC7"/>
                </a:solidFill>
                <a:latin typeface="Calibri" pitchFamily="34" charset="0"/>
                <a:ea typeface="Calibri" pitchFamily="34" charset="-122"/>
                <a:cs typeface="Calibri" pitchFamily="34" charset="-120"/>
              </a:rPr>
              <a:t>new rule? run the L1/L2/L3 flow</a:t>
            </a:r>
            <a:endParaRPr lang="en-US" sz="950" dirty="0"/>
          </a:p>
        </p:txBody>
      </p:sp>
      <p:sp>
        <p:nvSpPr>
          <p:cNvPr id="58" name="Shape 56"/>
          <p:cNvSpPr/>
          <p:nvPr/>
        </p:nvSpPr>
        <p:spPr>
          <a:xfrm>
            <a:off x="228600" y="4800600"/>
            <a:ext cx="8686800" cy="274320"/>
          </a:xfrm>
          <a:prstGeom prst="roundRect">
            <a:avLst>
              <a:gd name="adj" fmla="val 16667"/>
            </a:avLst>
          </a:prstGeom>
          <a:solidFill>
            <a:srgbClr val="0A1A2A"/>
          </a:solidFill>
          <a:ln w="12700">
            <a:solidFill>
              <a:srgbClr val="2A3F55"/>
            </a:solidFill>
            <a:prstDash val="solid"/>
          </a:ln>
        </p:spPr>
      </p:sp>
      <p:sp>
        <p:nvSpPr>
          <p:cNvPr id="59" name="Text 57"/>
          <p:cNvSpPr/>
          <p:nvPr/>
        </p:nvSpPr>
        <p:spPr>
          <a:xfrm>
            <a:off x="274320" y="4800600"/>
            <a:ext cx="1691640" cy="274320"/>
          </a:xfrm>
          <a:prstGeom prst="rect">
            <a:avLst/>
          </a:prstGeom>
          <a:noFill/>
          <a:ln/>
        </p:spPr>
        <p:txBody>
          <a:bodyPr wrap="square" lIns="0" tIns="0" rIns="0" bIns="0" rtlCol="0" anchor="ctr"/>
          <a:lstStyle/>
          <a:p>
            <a:pPr indent="0" marL="0">
              <a:buNone/>
            </a:pPr>
            <a:r>
              <a:rPr lang="en-US" sz="850" b="1" dirty="0">
                <a:solidFill>
                  <a:srgbClr val="00C2CC"/>
                </a:solidFill>
                <a:latin typeface="Calibri" pitchFamily="34" charset="0"/>
                <a:ea typeface="Calibri" pitchFamily="34" charset="-122"/>
                <a:cs typeface="Calibri" pitchFamily="34" charset="-120"/>
              </a:rPr>
              <a:t>• Output = 5× input</a:t>
            </a:r>
            <a:endParaRPr lang="en-US" sz="850" dirty="0"/>
          </a:p>
        </p:txBody>
      </p:sp>
      <p:sp>
        <p:nvSpPr>
          <p:cNvPr id="60" name="Text 58"/>
          <p:cNvSpPr/>
          <p:nvPr/>
        </p:nvSpPr>
        <p:spPr>
          <a:xfrm>
            <a:off x="2011680" y="4800600"/>
            <a:ext cx="1691640" cy="274320"/>
          </a:xfrm>
          <a:prstGeom prst="rect">
            <a:avLst/>
          </a:prstGeom>
          <a:noFill/>
          <a:ln/>
        </p:spPr>
        <p:txBody>
          <a:bodyPr wrap="square" lIns="0" tIns="0" rIns="0" bIns="0" rtlCol="0" anchor="ctr"/>
          <a:lstStyle/>
          <a:p>
            <a:pPr indent="0" marL="0">
              <a:buNone/>
            </a:pPr>
            <a:r>
              <a:rPr lang="en-US" sz="850" dirty="0">
                <a:solidFill>
                  <a:srgbClr val="00C2CC"/>
                </a:solidFill>
                <a:latin typeface="Calibri" pitchFamily="34" charset="0"/>
                <a:ea typeface="Calibri" pitchFamily="34" charset="-122"/>
                <a:cs typeface="Calibri" pitchFamily="34" charset="-120"/>
              </a:rPr>
              <a:t>• Instruction file = per-line multiplier</a:t>
            </a:r>
            <a:endParaRPr lang="en-US" sz="850" dirty="0"/>
          </a:p>
        </p:txBody>
      </p:sp>
      <p:sp>
        <p:nvSpPr>
          <p:cNvPr id="61" name="Text 59"/>
          <p:cNvSpPr/>
          <p:nvPr/>
        </p:nvSpPr>
        <p:spPr>
          <a:xfrm>
            <a:off x="3749040" y="4800600"/>
            <a:ext cx="1691640" cy="274320"/>
          </a:xfrm>
          <a:prstGeom prst="rect">
            <a:avLst/>
          </a:prstGeom>
          <a:noFill/>
          <a:ln/>
        </p:spPr>
        <p:txBody>
          <a:bodyPr wrap="square" lIns="0" tIns="0" rIns="0" bIns="0" rtlCol="0" anchor="ctr"/>
          <a:lstStyle/>
          <a:p>
            <a:pPr indent="0" marL="0">
              <a:buNone/>
            </a:pPr>
            <a:r>
              <a:rPr lang="en-US" sz="850" dirty="0">
                <a:solidFill>
                  <a:srgbClr val="00C2CC"/>
                </a:solidFill>
                <a:latin typeface="Calibri" pitchFamily="34" charset="0"/>
                <a:ea typeface="Calibri" pitchFamily="34" charset="-122"/>
                <a:cs typeface="Calibri" pitchFamily="34" charset="-120"/>
              </a:rPr>
              <a:t>• Agent = 10× Ask</a:t>
            </a:r>
            <a:endParaRPr lang="en-US" sz="850" dirty="0"/>
          </a:p>
        </p:txBody>
      </p:sp>
      <p:sp>
        <p:nvSpPr>
          <p:cNvPr id="62" name="Text 60"/>
          <p:cNvSpPr/>
          <p:nvPr/>
        </p:nvSpPr>
        <p:spPr>
          <a:xfrm>
            <a:off x="5486400" y="4800600"/>
            <a:ext cx="1691640" cy="274320"/>
          </a:xfrm>
          <a:prstGeom prst="rect">
            <a:avLst/>
          </a:prstGeom>
          <a:noFill/>
          <a:ln/>
        </p:spPr>
        <p:txBody>
          <a:bodyPr wrap="square" lIns="0" tIns="0" rIns="0" bIns="0" rtlCol="0" anchor="ctr"/>
          <a:lstStyle/>
          <a:p>
            <a:pPr indent="0" marL="0">
              <a:buNone/>
            </a:pPr>
            <a:r>
              <a:rPr lang="en-US" sz="850" dirty="0">
                <a:solidFill>
                  <a:srgbClr val="00C2CC"/>
                </a:solidFill>
                <a:latin typeface="Calibri" pitchFamily="34" charset="0"/>
                <a:ea typeface="Calibri" pitchFamily="34" charset="-122"/>
                <a:cs typeface="Calibri" pitchFamily="34" charset="-120"/>
              </a:rPr>
              <a:t>• Thread msg 10 = 10× msg 1</a:t>
            </a:r>
            <a:endParaRPr lang="en-US" sz="850" dirty="0"/>
          </a:p>
        </p:txBody>
      </p:sp>
      <p:sp>
        <p:nvSpPr>
          <p:cNvPr id="63" name="Text 61"/>
          <p:cNvSpPr/>
          <p:nvPr/>
        </p:nvSpPr>
        <p:spPr>
          <a:xfrm>
            <a:off x="7223760" y="4800600"/>
            <a:ext cx="1691640" cy="274320"/>
          </a:xfrm>
          <a:prstGeom prst="rect">
            <a:avLst/>
          </a:prstGeom>
          <a:noFill/>
          <a:ln/>
        </p:spPr>
        <p:txBody>
          <a:bodyPr wrap="square" lIns="0" tIns="0" rIns="0" bIns="0" rtlCol="0" anchor="ctr"/>
          <a:lstStyle/>
          <a:p>
            <a:pPr indent="0" marL="0">
              <a:buNone/>
            </a:pPr>
            <a:r>
              <a:rPr lang="en-US" sz="850" dirty="0">
                <a:solidFill>
                  <a:srgbClr val="00C2CC"/>
                </a:solidFill>
                <a:latin typeface="Calibri" pitchFamily="34" charset="0"/>
                <a:ea typeface="Calibri" pitchFamily="34" charset="-122"/>
                <a:cs typeface="Calibri" pitchFamily="34" charset="-120"/>
              </a:rPr>
              <a:t>• L1 &gt; L2 &gt; L3 = decreasing cost</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D1B2A"/>
          </a:solidFill>
          <a:ln w="12700">
            <a:solidFill>
              <a:srgbClr val="0D1B2A"/>
            </a:solidFill>
            <a:prstDash val="solid"/>
          </a:ln>
        </p:spPr>
      </p:sp>
      <p:sp>
        <p:nvSpPr>
          <p:cNvPr id="3" name="Text 1"/>
          <p:cNvSpPr/>
          <p:nvPr/>
        </p:nvSpPr>
        <p:spPr>
          <a:xfrm>
            <a:off x="457200" y="0"/>
            <a:ext cx="8229600" cy="822960"/>
          </a:xfrm>
          <a:prstGeom prst="rect">
            <a:avLst/>
          </a:prstGeom>
          <a:noFill/>
          <a:ln/>
        </p:spPr>
        <p:txBody>
          <a:bodyPr wrap="square" lIns="0" tIns="0" rIns="0" bIns="0" rtlCol="0" anchor="ctr"/>
          <a:lstStyle/>
          <a:p>
            <a:pPr indent="0" marL="0">
              <a:buNone/>
            </a:pPr>
            <a:r>
              <a:rPr lang="en-US" sz="2200" b="1" dirty="0">
                <a:solidFill>
                  <a:srgbClr val="FFFFFF"/>
                </a:solidFill>
                <a:latin typeface="Cambria" pitchFamily="34" charset="0"/>
                <a:ea typeface="Cambria" pitchFamily="34" charset="-122"/>
                <a:cs typeface="Cambria" pitchFamily="34" charset="-120"/>
              </a:rPr>
              <a:t>Recommended Action Plan</a:t>
            </a:r>
            <a:endParaRPr lang="en-US" sz="2200" dirty="0"/>
          </a:p>
        </p:txBody>
      </p:sp>
      <p:sp>
        <p:nvSpPr>
          <p:cNvPr id="4" name="Shape 2"/>
          <p:cNvSpPr/>
          <p:nvPr/>
        </p:nvSpPr>
        <p:spPr>
          <a:xfrm>
            <a:off x="320040" y="914400"/>
            <a:ext cx="2834640" cy="3931920"/>
          </a:xfrm>
          <a:prstGeom prst="roundRect">
            <a:avLst>
              <a:gd name="adj" fmla="val 3226"/>
            </a:avLst>
          </a:prstGeom>
          <a:solidFill>
            <a:srgbClr val="EFF6F7"/>
          </a:solidFill>
          <a:ln w="12700">
            <a:solidFill>
              <a:srgbClr val="E2E8F0"/>
            </a:solidFill>
            <a:prstDash val="solid"/>
          </a:ln>
          <a:effectLst>
            <a:outerShdw sx="100000" sy="100000" kx="0" ky="0" algn="bl" rotWithShape="0" blurRad="101600" dist="38100" dir="2700000">
              <a:srgbClr val="000000">
                <a:alpha val="12000"/>
              </a:srgbClr>
            </a:outerShdw>
          </a:effectLst>
        </p:spPr>
      </p:sp>
      <p:sp>
        <p:nvSpPr>
          <p:cNvPr id="5" name="Shape 3"/>
          <p:cNvSpPr/>
          <p:nvPr/>
        </p:nvSpPr>
        <p:spPr>
          <a:xfrm>
            <a:off x="320040" y="914400"/>
            <a:ext cx="2834640" cy="548640"/>
          </a:xfrm>
          <a:prstGeom prst="roundRect">
            <a:avLst>
              <a:gd name="adj" fmla="val 16667"/>
            </a:avLst>
          </a:prstGeom>
          <a:solidFill>
            <a:srgbClr val="EF4444"/>
          </a:solidFill>
          <a:ln w="12700">
            <a:solidFill>
              <a:srgbClr val="EF4444"/>
            </a:solidFill>
            <a:prstDash val="solid"/>
          </a:ln>
        </p:spPr>
      </p:sp>
      <p:sp>
        <p:nvSpPr>
          <p:cNvPr id="6" name="Text 4"/>
          <p:cNvSpPr/>
          <p:nvPr/>
        </p:nvSpPr>
        <p:spPr>
          <a:xfrm>
            <a:off x="320040" y="914400"/>
            <a:ext cx="2834640" cy="54864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Today</a:t>
            </a:r>
            <a:endParaRPr lang="en-US" sz="1600" dirty="0"/>
          </a:p>
        </p:txBody>
      </p:sp>
      <p:sp>
        <p:nvSpPr>
          <p:cNvPr id="7" name="Shape 5"/>
          <p:cNvSpPr/>
          <p:nvPr/>
        </p:nvSpPr>
        <p:spPr>
          <a:xfrm>
            <a:off x="502920" y="1581912"/>
            <a:ext cx="292608" cy="292608"/>
          </a:xfrm>
          <a:prstGeom prst="ellipse">
            <a:avLst/>
          </a:prstGeom>
          <a:solidFill>
            <a:srgbClr val="EF4444"/>
          </a:solidFill>
          <a:ln w="12700">
            <a:solidFill>
              <a:srgbClr val="EF4444"/>
            </a:solidFill>
            <a:prstDash val="solid"/>
          </a:ln>
        </p:spPr>
      </p:sp>
      <p:sp>
        <p:nvSpPr>
          <p:cNvPr id="8" name="Text 6"/>
          <p:cNvSpPr/>
          <p:nvPr/>
        </p:nvSpPr>
        <p:spPr>
          <a:xfrm>
            <a:off x="502920" y="1581912"/>
            <a:ext cx="29260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9" name="Text 7"/>
          <p:cNvSpPr/>
          <p:nvPr/>
        </p:nvSpPr>
        <p:spPr>
          <a:xfrm>
            <a:off x="868680" y="1554480"/>
            <a:ext cx="2148840" cy="777240"/>
          </a:xfrm>
          <a:prstGeom prst="rect">
            <a:avLst/>
          </a:prstGeom>
          <a:noFill/>
          <a:ln/>
        </p:spPr>
        <p:txBody>
          <a:bodyPr wrap="square" lIns="0" tIns="0" rIns="0" bIns="0" rtlCol="0" anchor="ctr"/>
          <a:lstStyle/>
          <a:p>
            <a:pPr indent="0" marL="0">
              <a:buNone/>
            </a:pPr>
            <a:r>
              <a:rPr lang="en-US" sz="1200" dirty="0">
                <a:solidFill>
                  <a:srgbClr val="64748B"/>
                </a:solidFill>
                <a:latin typeface="Calibri" pitchFamily="34" charset="0"/>
                <a:ea typeface="Calibri" pitchFamily="34" charset="-122"/>
                <a:cs typeface="Calibri" pitchFamily="34" charset="-120"/>
              </a:rPr>
              <a:t>Add 'Code Only' directive to settings file</a:t>
            </a:r>
            <a:endParaRPr lang="en-US" sz="1200" dirty="0"/>
          </a:p>
        </p:txBody>
      </p:sp>
      <p:sp>
        <p:nvSpPr>
          <p:cNvPr id="10" name="Shape 8"/>
          <p:cNvSpPr/>
          <p:nvPr/>
        </p:nvSpPr>
        <p:spPr>
          <a:xfrm>
            <a:off x="502920" y="2587752"/>
            <a:ext cx="292608" cy="292608"/>
          </a:xfrm>
          <a:prstGeom prst="ellipse">
            <a:avLst/>
          </a:prstGeom>
          <a:solidFill>
            <a:srgbClr val="EF4444"/>
          </a:solidFill>
          <a:ln w="12700">
            <a:solidFill>
              <a:srgbClr val="EF4444"/>
            </a:solidFill>
            <a:prstDash val="solid"/>
          </a:ln>
        </p:spPr>
      </p:sp>
      <p:sp>
        <p:nvSpPr>
          <p:cNvPr id="11" name="Text 9"/>
          <p:cNvSpPr/>
          <p:nvPr/>
        </p:nvSpPr>
        <p:spPr>
          <a:xfrm>
            <a:off x="502920" y="2587752"/>
            <a:ext cx="29260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12" name="Text 10"/>
          <p:cNvSpPr/>
          <p:nvPr/>
        </p:nvSpPr>
        <p:spPr>
          <a:xfrm>
            <a:off x="868680" y="2560320"/>
            <a:ext cx="2148840" cy="777240"/>
          </a:xfrm>
          <a:prstGeom prst="rect">
            <a:avLst/>
          </a:prstGeom>
          <a:noFill/>
          <a:ln/>
        </p:spPr>
        <p:txBody>
          <a:bodyPr wrap="square" lIns="0" tIns="0" rIns="0" bIns="0" rtlCol="0" anchor="ctr"/>
          <a:lstStyle/>
          <a:p>
            <a:pPr indent="0" marL="0">
              <a:buNone/>
            </a:pPr>
            <a:r>
              <a:rPr lang="en-US" sz="1200" dirty="0">
                <a:solidFill>
                  <a:srgbClr val="64748B"/>
                </a:solidFill>
                <a:latin typeface="Calibri" pitchFamily="34" charset="0"/>
                <a:ea typeface="Calibri" pitchFamily="34" charset="-122"/>
                <a:cs typeface="Calibri" pitchFamily="34" charset="-120"/>
              </a:rPr>
              <a:t>Trim .instructions.mmd to under 20 lines</a:t>
            </a:r>
            <a:endParaRPr lang="en-US" sz="1200" dirty="0"/>
          </a:p>
        </p:txBody>
      </p:sp>
      <p:sp>
        <p:nvSpPr>
          <p:cNvPr id="13" name="Shape 11"/>
          <p:cNvSpPr/>
          <p:nvPr/>
        </p:nvSpPr>
        <p:spPr>
          <a:xfrm>
            <a:off x="502920" y="3593592"/>
            <a:ext cx="292608" cy="292608"/>
          </a:xfrm>
          <a:prstGeom prst="ellipse">
            <a:avLst/>
          </a:prstGeom>
          <a:solidFill>
            <a:srgbClr val="EF4444"/>
          </a:solidFill>
          <a:ln w="12700">
            <a:solidFill>
              <a:srgbClr val="EF4444"/>
            </a:solidFill>
            <a:prstDash val="solid"/>
          </a:ln>
        </p:spPr>
      </p:sp>
      <p:sp>
        <p:nvSpPr>
          <p:cNvPr id="14" name="Text 12"/>
          <p:cNvSpPr/>
          <p:nvPr/>
        </p:nvSpPr>
        <p:spPr>
          <a:xfrm>
            <a:off x="502920" y="3593592"/>
            <a:ext cx="29260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15" name="Text 13"/>
          <p:cNvSpPr/>
          <p:nvPr/>
        </p:nvSpPr>
        <p:spPr>
          <a:xfrm>
            <a:off x="868680" y="3566160"/>
            <a:ext cx="2148840" cy="777240"/>
          </a:xfrm>
          <a:prstGeom prst="rect">
            <a:avLst/>
          </a:prstGeom>
          <a:noFill/>
          <a:ln/>
        </p:spPr>
        <p:txBody>
          <a:bodyPr wrap="square" lIns="0" tIns="0" rIns="0" bIns="0" rtlCol="0" anchor="ctr"/>
          <a:lstStyle/>
          <a:p>
            <a:pPr indent="0" marL="0">
              <a:buNone/>
            </a:pPr>
            <a:r>
              <a:rPr lang="en-US" sz="1200" dirty="0">
                <a:solidFill>
                  <a:srgbClr val="64748B"/>
                </a:solidFill>
                <a:latin typeface="Calibri" pitchFamily="34" charset="0"/>
                <a:ea typeface="Calibri" pitchFamily="34" charset="-122"/>
                <a:cs typeface="Calibri" pitchFamily="34" charset="-120"/>
              </a:rPr>
              <a:t>Close all unused editor tabs</a:t>
            </a:r>
            <a:endParaRPr lang="en-US" sz="1200" dirty="0"/>
          </a:p>
        </p:txBody>
      </p:sp>
      <p:sp>
        <p:nvSpPr>
          <p:cNvPr id="16" name="Shape 14"/>
          <p:cNvSpPr/>
          <p:nvPr/>
        </p:nvSpPr>
        <p:spPr>
          <a:xfrm>
            <a:off x="3246120" y="914400"/>
            <a:ext cx="2834640" cy="3931920"/>
          </a:xfrm>
          <a:prstGeom prst="roundRect">
            <a:avLst>
              <a:gd name="adj" fmla="val 3226"/>
            </a:avLst>
          </a:prstGeom>
          <a:solidFill>
            <a:srgbClr val="EFF6F7"/>
          </a:solidFill>
          <a:ln w="12700">
            <a:solidFill>
              <a:srgbClr val="E2E8F0"/>
            </a:solidFill>
            <a:prstDash val="solid"/>
          </a:ln>
          <a:effectLst>
            <a:outerShdw sx="100000" sy="100000" kx="0" ky="0" algn="bl" rotWithShape="0" blurRad="101600" dist="38100" dir="2700000">
              <a:srgbClr val="000000">
                <a:alpha val="12000"/>
              </a:srgbClr>
            </a:outerShdw>
          </a:effectLst>
        </p:spPr>
      </p:sp>
      <p:sp>
        <p:nvSpPr>
          <p:cNvPr id="17" name="Shape 15"/>
          <p:cNvSpPr/>
          <p:nvPr/>
        </p:nvSpPr>
        <p:spPr>
          <a:xfrm>
            <a:off x="3246120" y="914400"/>
            <a:ext cx="2834640" cy="548640"/>
          </a:xfrm>
          <a:prstGeom prst="roundRect">
            <a:avLst>
              <a:gd name="adj" fmla="val 16667"/>
            </a:avLst>
          </a:prstGeom>
          <a:solidFill>
            <a:srgbClr val="F59E0B"/>
          </a:solidFill>
          <a:ln w="12700">
            <a:solidFill>
              <a:srgbClr val="F59E0B"/>
            </a:solidFill>
            <a:prstDash val="solid"/>
          </a:ln>
        </p:spPr>
      </p:sp>
      <p:sp>
        <p:nvSpPr>
          <p:cNvPr id="18" name="Text 16"/>
          <p:cNvSpPr/>
          <p:nvPr/>
        </p:nvSpPr>
        <p:spPr>
          <a:xfrm>
            <a:off x="3246120" y="914400"/>
            <a:ext cx="2834640" cy="54864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This Week</a:t>
            </a:r>
            <a:endParaRPr lang="en-US" sz="1600" dirty="0"/>
          </a:p>
        </p:txBody>
      </p:sp>
      <p:sp>
        <p:nvSpPr>
          <p:cNvPr id="19" name="Shape 17"/>
          <p:cNvSpPr/>
          <p:nvPr/>
        </p:nvSpPr>
        <p:spPr>
          <a:xfrm>
            <a:off x="3429000" y="1581912"/>
            <a:ext cx="292608" cy="292608"/>
          </a:xfrm>
          <a:prstGeom prst="ellipse">
            <a:avLst/>
          </a:prstGeom>
          <a:solidFill>
            <a:srgbClr val="F59E0B"/>
          </a:solidFill>
          <a:ln w="12700">
            <a:solidFill>
              <a:srgbClr val="F59E0B"/>
            </a:solidFill>
            <a:prstDash val="solid"/>
          </a:ln>
        </p:spPr>
      </p:sp>
      <p:sp>
        <p:nvSpPr>
          <p:cNvPr id="20" name="Text 18"/>
          <p:cNvSpPr/>
          <p:nvPr/>
        </p:nvSpPr>
        <p:spPr>
          <a:xfrm>
            <a:off x="3429000" y="1581912"/>
            <a:ext cx="29260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21" name="Text 19"/>
          <p:cNvSpPr/>
          <p:nvPr/>
        </p:nvSpPr>
        <p:spPr>
          <a:xfrm>
            <a:off x="3794760" y="1554480"/>
            <a:ext cx="2148840" cy="777240"/>
          </a:xfrm>
          <a:prstGeom prst="rect">
            <a:avLst/>
          </a:prstGeom>
          <a:noFill/>
          <a:ln/>
        </p:spPr>
        <p:txBody>
          <a:bodyPr wrap="square" lIns="0" tIns="0" rIns="0" bIns="0" rtlCol="0" anchor="ctr"/>
          <a:lstStyle/>
          <a:p>
            <a:pPr indent="0" marL="0">
              <a:buNone/>
            </a:pPr>
            <a:r>
              <a:rPr lang="en-US" sz="1200" dirty="0">
                <a:solidFill>
                  <a:srgbClr val="64748B"/>
                </a:solidFill>
                <a:latin typeface="Calibri" pitchFamily="34" charset="0"/>
                <a:ea typeface="Calibri" pitchFamily="34" charset="-122"/>
                <a:cs typeface="Calibri" pitchFamily="34" charset="-120"/>
              </a:rPr>
              <a:t>Add 'apply to' scoping to language-specific rules</a:t>
            </a:r>
            <a:endParaRPr lang="en-US" sz="1200" dirty="0"/>
          </a:p>
        </p:txBody>
      </p:sp>
      <p:sp>
        <p:nvSpPr>
          <p:cNvPr id="22" name="Shape 20"/>
          <p:cNvSpPr/>
          <p:nvPr/>
        </p:nvSpPr>
        <p:spPr>
          <a:xfrm>
            <a:off x="3429000" y="2587752"/>
            <a:ext cx="292608" cy="292608"/>
          </a:xfrm>
          <a:prstGeom prst="ellipse">
            <a:avLst/>
          </a:prstGeom>
          <a:solidFill>
            <a:srgbClr val="F59E0B"/>
          </a:solidFill>
          <a:ln w="12700">
            <a:solidFill>
              <a:srgbClr val="F59E0B"/>
            </a:solidFill>
            <a:prstDash val="solid"/>
          </a:ln>
        </p:spPr>
      </p:sp>
      <p:sp>
        <p:nvSpPr>
          <p:cNvPr id="23" name="Text 21"/>
          <p:cNvSpPr/>
          <p:nvPr/>
        </p:nvSpPr>
        <p:spPr>
          <a:xfrm>
            <a:off x="3429000" y="2587752"/>
            <a:ext cx="29260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24" name="Text 22"/>
          <p:cNvSpPr/>
          <p:nvPr/>
        </p:nvSpPr>
        <p:spPr>
          <a:xfrm>
            <a:off x="3794760" y="2560320"/>
            <a:ext cx="2148840" cy="777240"/>
          </a:xfrm>
          <a:prstGeom prst="rect">
            <a:avLst/>
          </a:prstGeom>
          <a:noFill/>
          <a:ln/>
        </p:spPr>
        <p:txBody>
          <a:bodyPr wrap="square" lIns="0" tIns="0" rIns="0" bIns="0" rtlCol="0" anchor="ctr"/>
          <a:lstStyle/>
          <a:p>
            <a:pPr indent="0" marL="0">
              <a:buNone/>
            </a:pPr>
            <a:r>
              <a:rPr lang="en-US" sz="1200" dirty="0">
                <a:solidFill>
                  <a:srgbClr val="64748B"/>
                </a:solidFill>
                <a:latin typeface="Calibri" pitchFamily="34" charset="0"/>
                <a:ea typeface="Calibri" pitchFamily="34" charset="-122"/>
                <a:cs typeface="Calibri" pitchFamily="34" charset="-120"/>
              </a:rPr>
              <a:t>Default to Ask Mode for simple queries</a:t>
            </a:r>
            <a:endParaRPr lang="en-US" sz="1200" dirty="0"/>
          </a:p>
        </p:txBody>
      </p:sp>
      <p:sp>
        <p:nvSpPr>
          <p:cNvPr id="25" name="Shape 23"/>
          <p:cNvSpPr/>
          <p:nvPr/>
        </p:nvSpPr>
        <p:spPr>
          <a:xfrm>
            <a:off x="3429000" y="3593592"/>
            <a:ext cx="292608" cy="292608"/>
          </a:xfrm>
          <a:prstGeom prst="ellipse">
            <a:avLst/>
          </a:prstGeom>
          <a:solidFill>
            <a:srgbClr val="F59E0B"/>
          </a:solidFill>
          <a:ln w="12700">
            <a:solidFill>
              <a:srgbClr val="F59E0B"/>
            </a:solidFill>
            <a:prstDash val="solid"/>
          </a:ln>
        </p:spPr>
      </p:sp>
      <p:sp>
        <p:nvSpPr>
          <p:cNvPr id="26" name="Text 24"/>
          <p:cNvSpPr/>
          <p:nvPr/>
        </p:nvSpPr>
        <p:spPr>
          <a:xfrm>
            <a:off x="3429000" y="3593592"/>
            <a:ext cx="29260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27" name="Text 25"/>
          <p:cNvSpPr/>
          <p:nvPr/>
        </p:nvSpPr>
        <p:spPr>
          <a:xfrm>
            <a:off x="3794760" y="3566160"/>
            <a:ext cx="2148840" cy="777240"/>
          </a:xfrm>
          <a:prstGeom prst="rect">
            <a:avLst/>
          </a:prstGeom>
          <a:noFill/>
          <a:ln/>
        </p:spPr>
        <p:txBody>
          <a:bodyPr wrap="square" lIns="0" tIns="0" rIns="0" bIns="0" rtlCol="0" anchor="ctr"/>
          <a:lstStyle/>
          <a:p>
            <a:pPr indent="0" marL="0">
              <a:buNone/>
            </a:pPr>
            <a:r>
              <a:rPr lang="en-US" sz="1200" dirty="0">
                <a:solidFill>
                  <a:srgbClr val="64748B"/>
                </a:solidFill>
                <a:latin typeface="Calibri" pitchFamily="34" charset="0"/>
                <a:ea typeface="Calibri" pitchFamily="34" charset="-122"/>
                <a:cs typeface="Calibri" pitchFamily="34" charset="-120"/>
              </a:rPr>
              <a:t>Use Cmd/Ctrl+L for new task = new chat</a:t>
            </a:r>
            <a:endParaRPr lang="en-US" sz="1200" dirty="0"/>
          </a:p>
        </p:txBody>
      </p:sp>
      <p:sp>
        <p:nvSpPr>
          <p:cNvPr id="28" name="Shape 26"/>
          <p:cNvSpPr/>
          <p:nvPr/>
        </p:nvSpPr>
        <p:spPr>
          <a:xfrm>
            <a:off x="6172200" y="914400"/>
            <a:ext cx="2834640" cy="3931920"/>
          </a:xfrm>
          <a:prstGeom prst="roundRect">
            <a:avLst>
              <a:gd name="adj" fmla="val 3226"/>
            </a:avLst>
          </a:prstGeom>
          <a:solidFill>
            <a:srgbClr val="EFF6F7"/>
          </a:solidFill>
          <a:ln w="12700">
            <a:solidFill>
              <a:srgbClr val="E2E8F0"/>
            </a:solidFill>
            <a:prstDash val="solid"/>
          </a:ln>
          <a:effectLst>
            <a:outerShdw sx="100000" sy="100000" kx="0" ky="0" algn="bl" rotWithShape="0" blurRad="101600" dist="38100" dir="2700000">
              <a:srgbClr val="000000">
                <a:alpha val="12000"/>
              </a:srgbClr>
            </a:outerShdw>
          </a:effectLst>
        </p:spPr>
      </p:sp>
      <p:sp>
        <p:nvSpPr>
          <p:cNvPr id="29" name="Shape 27"/>
          <p:cNvSpPr/>
          <p:nvPr/>
        </p:nvSpPr>
        <p:spPr>
          <a:xfrm>
            <a:off x="6172200" y="914400"/>
            <a:ext cx="2834640" cy="548640"/>
          </a:xfrm>
          <a:prstGeom prst="roundRect">
            <a:avLst>
              <a:gd name="adj" fmla="val 16667"/>
            </a:avLst>
          </a:prstGeom>
          <a:solidFill>
            <a:srgbClr val="10B981"/>
          </a:solidFill>
          <a:ln w="12700">
            <a:solidFill>
              <a:srgbClr val="10B981"/>
            </a:solidFill>
            <a:prstDash val="solid"/>
          </a:ln>
        </p:spPr>
      </p:sp>
      <p:sp>
        <p:nvSpPr>
          <p:cNvPr id="30" name="Text 28"/>
          <p:cNvSpPr/>
          <p:nvPr/>
        </p:nvSpPr>
        <p:spPr>
          <a:xfrm>
            <a:off x="6172200" y="914400"/>
            <a:ext cx="2834640" cy="54864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Monthly</a:t>
            </a:r>
            <a:endParaRPr lang="en-US" sz="1600" dirty="0"/>
          </a:p>
        </p:txBody>
      </p:sp>
      <p:sp>
        <p:nvSpPr>
          <p:cNvPr id="31" name="Shape 29"/>
          <p:cNvSpPr/>
          <p:nvPr/>
        </p:nvSpPr>
        <p:spPr>
          <a:xfrm>
            <a:off x="6355080" y="1581912"/>
            <a:ext cx="292608" cy="292608"/>
          </a:xfrm>
          <a:prstGeom prst="ellipse">
            <a:avLst/>
          </a:prstGeom>
          <a:solidFill>
            <a:srgbClr val="10B981"/>
          </a:solidFill>
          <a:ln w="12700">
            <a:solidFill>
              <a:srgbClr val="10B981"/>
            </a:solidFill>
            <a:prstDash val="solid"/>
          </a:ln>
        </p:spPr>
      </p:sp>
      <p:sp>
        <p:nvSpPr>
          <p:cNvPr id="32" name="Text 30"/>
          <p:cNvSpPr/>
          <p:nvPr/>
        </p:nvSpPr>
        <p:spPr>
          <a:xfrm>
            <a:off x="6355080" y="1581912"/>
            <a:ext cx="29260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33" name="Text 31"/>
          <p:cNvSpPr/>
          <p:nvPr/>
        </p:nvSpPr>
        <p:spPr>
          <a:xfrm>
            <a:off x="6720840" y="1554480"/>
            <a:ext cx="2148840" cy="777240"/>
          </a:xfrm>
          <a:prstGeom prst="rect">
            <a:avLst/>
          </a:prstGeom>
          <a:noFill/>
          <a:ln/>
        </p:spPr>
        <p:txBody>
          <a:bodyPr wrap="square" lIns="0" tIns="0" rIns="0" bIns="0" rtlCol="0" anchor="ctr"/>
          <a:lstStyle/>
          <a:p>
            <a:pPr indent="0" marL="0">
              <a:buNone/>
            </a:pPr>
            <a:r>
              <a:rPr lang="en-US" sz="1200" dirty="0">
                <a:solidFill>
                  <a:srgbClr val="64748B"/>
                </a:solidFill>
                <a:latin typeface="Calibri" pitchFamily="34" charset="0"/>
                <a:ea typeface="Calibri" pitchFamily="34" charset="-122"/>
                <a:cs typeface="Calibri" pitchFamily="34" charset="-120"/>
              </a:rPr>
              <a:t>Review usage dashboard weekly</a:t>
            </a:r>
            <a:endParaRPr lang="en-US" sz="1200" dirty="0"/>
          </a:p>
        </p:txBody>
      </p:sp>
      <p:sp>
        <p:nvSpPr>
          <p:cNvPr id="34" name="Shape 32"/>
          <p:cNvSpPr/>
          <p:nvPr/>
        </p:nvSpPr>
        <p:spPr>
          <a:xfrm>
            <a:off x="6355080" y="2587752"/>
            <a:ext cx="292608" cy="292608"/>
          </a:xfrm>
          <a:prstGeom prst="ellipse">
            <a:avLst/>
          </a:prstGeom>
          <a:solidFill>
            <a:srgbClr val="10B981"/>
          </a:solidFill>
          <a:ln w="12700">
            <a:solidFill>
              <a:srgbClr val="10B981"/>
            </a:solidFill>
            <a:prstDash val="solid"/>
          </a:ln>
        </p:spPr>
      </p:sp>
      <p:sp>
        <p:nvSpPr>
          <p:cNvPr id="35" name="Text 33"/>
          <p:cNvSpPr/>
          <p:nvPr/>
        </p:nvSpPr>
        <p:spPr>
          <a:xfrm>
            <a:off x="6355080" y="2587752"/>
            <a:ext cx="29260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6" name="Text 34"/>
          <p:cNvSpPr/>
          <p:nvPr/>
        </p:nvSpPr>
        <p:spPr>
          <a:xfrm>
            <a:off x="6720840" y="2560320"/>
            <a:ext cx="2148840" cy="777240"/>
          </a:xfrm>
          <a:prstGeom prst="rect">
            <a:avLst/>
          </a:prstGeom>
          <a:noFill/>
          <a:ln/>
        </p:spPr>
        <p:txBody>
          <a:bodyPr wrap="square" lIns="0" tIns="0" rIns="0" bIns="0" rtlCol="0" anchor="ctr"/>
          <a:lstStyle/>
          <a:p>
            <a:pPr indent="0" marL="0">
              <a:buNone/>
            </a:pPr>
            <a:r>
              <a:rPr lang="en-US" sz="1200" dirty="0">
                <a:solidFill>
                  <a:srgbClr val="64748B"/>
                </a:solidFill>
                <a:latin typeface="Calibri" pitchFamily="34" charset="0"/>
                <a:ea typeface="Calibri" pitchFamily="34" charset="-122"/>
                <a:cs typeface="Calibri" pitchFamily="34" charset="-120"/>
              </a:rPr>
              <a:t>Monthly audit of settings &amp; instruction files</a:t>
            </a:r>
            <a:endParaRPr lang="en-US" sz="1200" dirty="0"/>
          </a:p>
        </p:txBody>
      </p:sp>
      <p:sp>
        <p:nvSpPr>
          <p:cNvPr id="37" name="Shape 35"/>
          <p:cNvSpPr/>
          <p:nvPr/>
        </p:nvSpPr>
        <p:spPr>
          <a:xfrm>
            <a:off x="6355080" y="3593592"/>
            <a:ext cx="292608" cy="292608"/>
          </a:xfrm>
          <a:prstGeom prst="ellipse">
            <a:avLst/>
          </a:prstGeom>
          <a:solidFill>
            <a:srgbClr val="10B981"/>
          </a:solidFill>
          <a:ln w="12700">
            <a:solidFill>
              <a:srgbClr val="10B981"/>
            </a:solidFill>
            <a:prstDash val="solid"/>
          </a:ln>
        </p:spPr>
      </p:sp>
      <p:sp>
        <p:nvSpPr>
          <p:cNvPr id="38" name="Text 36"/>
          <p:cNvSpPr/>
          <p:nvPr/>
        </p:nvSpPr>
        <p:spPr>
          <a:xfrm>
            <a:off x="6355080" y="3593592"/>
            <a:ext cx="29260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39" name="Text 37"/>
          <p:cNvSpPr/>
          <p:nvPr/>
        </p:nvSpPr>
        <p:spPr>
          <a:xfrm>
            <a:off x="6720840" y="3566160"/>
            <a:ext cx="2148840" cy="777240"/>
          </a:xfrm>
          <a:prstGeom prst="rect">
            <a:avLst/>
          </a:prstGeom>
          <a:noFill/>
          <a:ln/>
        </p:spPr>
        <p:txBody>
          <a:bodyPr wrap="square" lIns="0" tIns="0" rIns="0" bIns="0" rtlCol="0" anchor="ctr"/>
          <a:lstStyle/>
          <a:p>
            <a:pPr indent="0" marL="0">
              <a:buNone/>
            </a:pPr>
            <a:r>
              <a:rPr lang="en-US" sz="1200" dirty="0">
                <a:solidFill>
                  <a:srgbClr val="64748B"/>
                </a:solidFill>
                <a:latin typeface="Calibri" pitchFamily="34" charset="0"/>
                <a:ea typeface="Calibri" pitchFamily="34" charset="-122"/>
                <a:cs typeface="Calibri" pitchFamily="34" charset="-120"/>
              </a:rPr>
              <a:t>Watch for 'instruction creep'</a:t>
            </a:r>
            <a:endParaRPr lang="en-US" sz="1200" dirty="0"/>
          </a:p>
        </p:txBody>
      </p:sp>
      <p:sp>
        <p:nvSpPr>
          <p:cNvPr id="40" name="Shape 38"/>
          <p:cNvSpPr/>
          <p:nvPr/>
        </p:nvSpPr>
        <p:spPr>
          <a:xfrm>
            <a:off x="0" y="4887468"/>
            <a:ext cx="1143000" cy="256032"/>
          </a:xfrm>
          <a:prstGeom prst="rect">
            <a:avLst/>
          </a:prstGeom>
          <a:solidFill>
            <a:srgbClr val="1A2E45"/>
          </a:solidFill>
          <a:ln w="12700">
            <a:solidFill>
              <a:srgbClr val="1A2E45"/>
            </a:solidFill>
            <a:prstDash val="solid"/>
          </a:ln>
        </p:spPr>
      </p:sp>
      <p:sp>
        <p:nvSpPr>
          <p:cNvPr id="41" name="Text 39"/>
          <p:cNvSpPr/>
          <p:nvPr/>
        </p:nvSpPr>
        <p:spPr>
          <a:xfrm>
            <a:off x="0" y="4887468"/>
            <a:ext cx="1143000" cy="256032"/>
          </a:xfrm>
          <a:prstGeom prst="rect">
            <a:avLst/>
          </a:prstGeom>
          <a:noFill/>
          <a:ln/>
        </p:spPr>
        <p:txBody>
          <a:bodyPr wrap="square" lIns="0" tIns="0" rIns="0" bIns="0" rtlCol="0" anchor="ctr"/>
          <a:lstStyle/>
          <a:p>
            <a:pPr algn="ctr" indent="0" marL="0">
              <a:buNone/>
            </a:pPr>
            <a:r>
              <a:rPr lang="en-US" sz="750" dirty="0">
                <a:solidFill>
                  <a:srgbClr val="3A5068"/>
                </a:solidFill>
                <a:latin typeface="Calibri" pitchFamily="34" charset="0"/>
                <a:ea typeface="Calibri" pitchFamily="34" charset="-122"/>
                <a:cs typeface="Calibri" pitchFamily="34" charset="-120"/>
              </a:rPr>
              <a:t>Overview</a:t>
            </a:r>
            <a:endParaRPr lang="en-US" sz="750" dirty="0"/>
          </a:p>
        </p:txBody>
      </p:sp>
      <p:sp>
        <p:nvSpPr>
          <p:cNvPr id="42" name="Shape 40"/>
          <p:cNvSpPr/>
          <p:nvPr/>
        </p:nvSpPr>
        <p:spPr>
          <a:xfrm>
            <a:off x="1143000" y="4887468"/>
            <a:ext cx="1143000" cy="256032"/>
          </a:xfrm>
          <a:prstGeom prst="rect">
            <a:avLst/>
          </a:prstGeom>
          <a:solidFill>
            <a:srgbClr val="1A2E45"/>
          </a:solidFill>
          <a:ln w="12700">
            <a:solidFill>
              <a:srgbClr val="1A2E45"/>
            </a:solidFill>
            <a:prstDash val="solid"/>
          </a:ln>
        </p:spPr>
      </p:sp>
      <p:sp>
        <p:nvSpPr>
          <p:cNvPr id="43" name="Text 41"/>
          <p:cNvSpPr/>
          <p:nvPr/>
        </p:nvSpPr>
        <p:spPr>
          <a:xfrm>
            <a:off x="1143000" y="4887468"/>
            <a:ext cx="1143000" cy="256032"/>
          </a:xfrm>
          <a:prstGeom prst="rect">
            <a:avLst/>
          </a:prstGeom>
          <a:noFill/>
          <a:ln/>
        </p:spPr>
        <p:txBody>
          <a:bodyPr wrap="square" lIns="0" tIns="0" rIns="0" bIns="0" rtlCol="0" anchor="ctr"/>
          <a:lstStyle/>
          <a:p>
            <a:pPr algn="ctr" indent="0" marL="0">
              <a:buNone/>
            </a:pPr>
            <a:r>
              <a:rPr lang="en-US" sz="750" dirty="0">
                <a:solidFill>
                  <a:srgbClr val="3A5068"/>
                </a:solidFill>
                <a:latin typeface="Calibri" pitchFamily="34" charset="0"/>
                <a:ea typeface="Calibri" pitchFamily="34" charset="-122"/>
                <a:cs typeface="Calibri" pitchFamily="34" charset="-120"/>
              </a:rPr>
              <a:t>Output Control</a:t>
            </a:r>
            <a:endParaRPr lang="en-US" sz="750" dirty="0"/>
          </a:p>
        </p:txBody>
      </p:sp>
      <p:sp>
        <p:nvSpPr>
          <p:cNvPr id="44" name="Shape 42"/>
          <p:cNvSpPr/>
          <p:nvPr/>
        </p:nvSpPr>
        <p:spPr>
          <a:xfrm>
            <a:off x="2286000" y="4887468"/>
            <a:ext cx="1143000" cy="256032"/>
          </a:xfrm>
          <a:prstGeom prst="rect">
            <a:avLst/>
          </a:prstGeom>
          <a:solidFill>
            <a:srgbClr val="1A2E45"/>
          </a:solidFill>
          <a:ln w="12700">
            <a:solidFill>
              <a:srgbClr val="1A2E45"/>
            </a:solidFill>
            <a:prstDash val="solid"/>
          </a:ln>
        </p:spPr>
      </p:sp>
      <p:sp>
        <p:nvSpPr>
          <p:cNvPr id="45" name="Text 43"/>
          <p:cNvSpPr/>
          <p:nvPr/>
        </p:nvSpPr>
        <p:spPr>
          <a:xfrm>
            <a:off x="2286000" y="4887468"/>
            <a:ext cx="1143000" cy="256032"/>
          </a:xfrm>
          <a:prstGeom prst="rect">
            <a:avLst/>
          </a:prstGeom>
          <a:noFill/>
          <a:ln/>
        </p:spPr>
        <p:txBody>
          <a:bodyPr wrap="square" lIns="0" tIns="0" rIns="0" bIns="0" rtlCol="0" anchor="ctr"/>
          <a:lstStyle/>
          <a:p>
            <a:pPr algn="ctr" indent="0" marL="0">
              <a:buNone/>
            </a:pPr>
            <a:r>
              <a:rPr lang="en-US" sz="750" dirty="0">
                <a:solidFill>
                  <a:srgbClr val="3A5068"/>
                </a:solidFill>
                <a:latin typeface="Calibri" pitchFamily="34" charset="0"/>
                <a:ea typeface="Calibri" pitchFamily="34" charset="-122"/>
                <a:cs typeface="Calibri" pitchFamily="34" charset="-120"/>
              </a:rPr>
              <a:t>Context &amp; Prompting</a:t>
            </a:r>
            <a:endParaRPr lang="en-US" sz="750" dirty="0"/>
          </a:p>
        </p:txBody>
      </p:sp>
      <p:sp>
        <p:nvSpPr>
          <p:cNvPr id="46" name="Shape 44"/>
          <p:cNvSpPr/>
          <p:nvPr/>
        </p:nvSpPr>
        <p:spPr>
          <a:xfrm>
            <a:off x="3429000" y="4887468"/>
            <a:ext cx="1143000" cy="256032"/>
          </a:xfrm>
          <a:prstGeom prst="rect">
            <a:avLst/>
          </a:prstGeom>
          <a:solidFill>
            <a:srgbClr val="1A2E45"/>
          </a:solidFill>
          <a:ln w="12700">
            <a:solidFill>
              <a:srgbClr val="1A2E45"/>
            </a:solidFill>
            <a:prstDash val="solid"/>
          </a:ln>
        </p:spPr>
      </p:sp>
      <p:sp>
        <p:nvSpPr>
          <p:cNvPr id="47" name="Text 45"/>
          <p:cNvSpPr/>
          <p:nvPr/>
        </p:nvSpPr>
        <p:spPr>
          <a:xfrm>
            <a:off x="3429000" y="4887468"/>
            <a:ext cx="1143000" cy="256032"/>
          </a:xfrm>
          <a:prstGeom prst="rect">
            <a:avLst/>
          </a:prstGeom>
          <a:noFill/>
          <a:ln/>
        </p:spPr>
        <p:txBody>
          <a:bodyPr wrap="square" lIns="0" tIns="0" rIns="0" bIns="0" rtlCol="0" anchor="ctr"/>
          <a:lstStyle/>
          <a:p>
            <a:pPr algn="ctr" indent="0" marL="0">
              <a:buNone/>
            </a:pPr>
            <a:r>
              <a:rPr lang="en-US" sz="750" dirty="0">
                <a:solidFill>
                  <a:srgbClr val="3A5068"/>
                </a:solidFill>
                <a:latin typeface="Calibri" pitchFamily="34" charset="0"/>
                <a:ea typeface="Calibri" pitchFamily="34" charset="-122"/>
                <a:cs typeface="Calibri" pitchFamily="34" charset="-120"/>
              </a:rPr>
              <a:t>Models &amp; Modes</a:t>
            </a:r>
            <a:endParaRPr lang="en-US" sz="750" dirty="0"/>
          </a:p>
        </p:txBody>
      </p:sp>
      <p:sp>
        <p:nvSpPr>
          <p:cNvPr id="48" name="Shape 46"/>
          <p:cNvSpPr/>
          <p:nvPr/>
        </p:nvSpPr>
        <p:spPr>
          <a:xfrm>
            <a:off x="4572000" y="4887468"/>
            <a:ext cx="1143000" cy="256032"/>
          </a:xfrm>
          <a:prstGeom prst="rect">
            <a:avLst/>
          </a:prstGeom>
          <a:solidFill>
            <a:srgbClr val="1A2E45"/>
          </a:solidFill>
          <a:ln w="12700">
            <a:solidFill>
              <a:srgbClr val="1A2E45"/>
            </a:solidFill>
            <a:prstDash val="solid"/>
          </a:ln>
        </p:spPr>
      </p:sp>
      <p:sp>
        <p:nvSpPr>
          <p:cNvPr id="49" name="Text 47"/>
          <p:cNvSpPr/>
          <p:nvPr/>
        </p:nvSpPr>
        <p:spPr>
          <a:xfrm>
            <a:off x="4572000" y="4887468"/>
            <a:ext cx="1143000" cy="256032"/>
          </a:xfrm>
          <a:prstGeom prst="rect">
            <a:avLst/>
          </a:prstGeom>
          <a:noFill/>
          <a:ln/>
        </p:spPr>
        <p:txBody>
          <a:bodyPr wrap="square" lIns="0" tIns="0" rIns="0" bIns="0" rtlCol="0" anchor="ctr"/>
          <a:lstStyle/>
          <a:p>
            <a:pPr algn="ctr" indent="0" marL="0">
              <a:buNone/>
            </a:pPr>
            <a:r>
              <a:rPr lang="en-US" sz="750" dirty="0">
                <a:solidFill>
                  <a:srgbClr val="3A5068"/>
                </a:solidFill>
                <a:latin typeface="Calibri" pitchFamily="34" charset="0"/>
                <a:ea typeface="Calibri" pitchFamily="34" charset="-122"/>
                <a:cs typeface="Calibri" pitchFamily="34" charset="-120"/>
              </a:rPr>
              <a:t>Governance</a:t>
            </a:r>
            <a:endParaRPr lang="en-US" sz="750" dirty="0"/>
          </a:p>
        </p:txBody>
      </p:sp>
      <p:sp>
        <p:nvSpPr>
          <p:cNvPr id="50" name="Shape 48"/>
          <p:cNvSpPr/>
          <p:nvPr/>
        </p:nvSpPr>
        <p:spPr>
          <a:xfrm>
            <a:off x="5715000" y="4887468"/>
            <a:ext cx="1143000" cy="256032"/>
          </a:xfrm>
          <a:prstGeom prst="rect">
            <a:avLst/>
          </a:prstGeom>
          <a:solidFill>
            <a:srgbClr val="1A2E45"/>
          </a:solidFill>
          <a:ln w="12700">
            <a:solidFill>
              <a:srgbClr val="1A2E45"/>
            </a:solidFill>
            <a:prstDash val="solid"/>
          </a:ln>
        </p:spPr>
      </p:sp>
      <p:sp>
        <p:nvSpPr>
          <p:cNvPr id="51" name="Text 49"/>
          <p:cNvSpPr/>
          <p:nvPr/>
        </p:nvSpPr>
        <p:spPr>
          <a:xfrm>
            <a:off x="5715000" y="4887468"/>
            <a:ext cx="1143000" cy="256032"/>
          </a:xfrm>
          <a:prstGeom prst="rect">
            <a:avLst/>
          </a:prstGeom>
          <a:noFill/>
          <a:ln/>
        </p:spPr>
        <p:txBody>
          <a:bodyPr wrap="square" lIns="0" tIns="0" rIns="0" bIns="0" rtlCol="0" anchor="ctr"/>
          <a:lstStyle/>
          <a:p>
            <a:pPr algn="ctr" indent="0" marL="0">
              <a:buNone/>
            </a:pPr>
            <a:r>
              <a:rPr lang="en-US" sz="750" dirty="0">
                <a:solidFill>
                  <a:srgbClr val="3A5068"/>
                </a:solidFill>
                <a:latin typeface="Calibri" pitchFamily="34" charset="0"/>
                <a:ea typeface="Calibri" pitchFamily="34" charset="-122"/>
                <a:cs typeface="Calibri" pitchFamily="34" charset="-120"/>
              </a:rPr>
              <a:t>Architecture</a:t>
            </a:r>
            <a:endParaRPr lang="en-US" sz="750" dirty="0"/>
          </a:p>
        </p:txBody>
      </p:sp>
      <p:sp>
        <p:nvSpPr>
          <p:cNvPr id="52" name="Shape 50"/>
          <p:cNvSpPr/>
          <p:nvPr/>
        </p:nvSpPr>
        <p:spPr>
          <a:xfrm>
            <a:off x="6858000" y="4887468"/>
            <a:ext cx="1143000" cy="256032"/>
          </a:xfrm>
          <a:prstGeom prst="rect">
            <a:avLst/>
          </a:prstGeom>
          <a:solidFill>
            <a:srgbClr val="1A2E45"/>
          </a:solidFill>
          <a:ln w="12700">
            <a:solidFill>
              <a:srgbClr val="1A2E45"/>
            </a:solidFill>
            <a:prstDash val="solid"/>
          </a:ln>
        </p:spPr>
      </p:sp>
      <p:sp>
        <p:nvSpPr>
          <p:cNvPr id="53" name="Text 51"/>
          <p:cNvSpPr/>
          <p:nvPr/>
        </p:nvSpPr>
        <p:spPr>
          <a:xfrm>
            <a:off x="6858000" y="4887468"/>
            <a:ext cx="1143000" cy="256032"/>
          </a:xfrm>
          <a:prstGeom prst="rect">
            <a:avLst/>
          </a:prstGeom>
          <a:noFill/>
          <a:ln/>
        </p:spPr>
        <p:txBody>
          <a:bodyPr wrap="square" lIns="0" tIns="0" rIns="0" bIns="0" rtlCol="0" anchor="ctr"/>
          <a:lstStyle/>
          <a:p>
            <a:pPr algn="ctr" indent="0" marL="0">
              <a:buNone/>
            </a:pPr>
            <a:r>
              <a:rPr lang="en-US" sz="750" dirty="0">
                <a:solidFill>
                  <a:srgbClr val="3A5068"/>
                </a:solidFill>
                <a:latin typeface="Calibri" pitchFamily="34" charset="0"/>
                <a:ea typeface="Calibri" pitchFamily="34" charset="-122"/>
                <a:cs typeface="Calibri" pitchFamily="34" charset="-120"/>
              </a:rPr>
              <a:t>Best Practices</a:t>
            </a:r>
            <a:endParaRPr lang="en-US" sz="750" dirty="0"/>
          </a:p>
        </p:txBody>
      </p:sp>
      <p:sp>
        <p:nvSpPr>
          <p:cNvPr id="54" name="Shape 52"/>
          <p:cNvSpPr/>
          <p:nvPr/>
        </p:nvSpPr>
        <p:spPr>
          <a:xfrm>
            <a:off x="8001000" y="4887468"/>
            <a:ext cx="1143000" cy="256032"/>
          </a:xfrm>
          <a:prstGeom prst="rect">
            <a:avLst/>
          </a:prstGeom>
          <a:solidFill>
            <a:srgbClr val="00C2CC"/>
          </a:solidFill>
          <a:ln w="12700">
            <a:solidFill>
              <a:srgbClr val="00C2CC"/>
            </a:solidFill>
            <a:prstDash val="solid"/>
          </a:ln>
        </p:spPr>
      </p:sp>
      <p:sp>
        <p:nvSpPr>
          <p:cNvPr id="55" name="Text 53"/>
          <p:cNvSpPr/>
          <p:nvPr/>
        </p:nvSpPr>
        <p:spPr>
          <a:xfrm>
            <a:off x="8001000" y="4887468"/>
            <a:ext cx="1143000" cy="256032"/>
          </a:xfrm>
          <a:prstGeom prst="rect">
            <a:avLst/>
          </a:prstGeom>
          <a:noFill/>
          <a:ln/>
        </p:spPr>
        <p:txBody>
          <a:bodyPr wrap="square" lIns="0" tIns="0" rIns="0" bIns="0" rtlCol="0" anchor="ctr"/>
          <a:lstStyle/>
          <a:p>
            <a:pPr algn="ctr" indent="0" marL="0">
              <a:buNone/>
            </a:pPr>
            <a:r>
              <a:rPr lang="en-US" sz="750" b="1" dirty="0">
                <a:solidFill>
                  <a:srgbClr val="0D1B2A"/>
                </a:solidFill>
                <a:latin typeface="Calibri" pitchFamily="34" charset="0"/>
                <a:ea typeface="Calibri" pitchFamily="34" charset="-122"/>
                <a:cs typeface="Calibri" pitchFamily="34" charset="-120"/>
              </a:rPr>
              <a:t>Reference</a:t>
            </a:r>
            <a:endParaRPr lang="en-US" sz="7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6858000" y="-457200"/>
            <a:ext cx="3657600" cy="3657600"/>
          </a:xfrm>
          <a:prstGeom prst="ellipse">
            <a:avLst/>
          </a:prstGeom>
          <a:solidFill>
            <a:srgbClr val="00C2CC">
              <a:alpha val="12000"/>
            </a:srgbClr>
          </a:solidFill>
          <a:ln w="12700">
            <a:solidFill>
              <a:srgbClr val="00C2CC">
                <a:alpha val="12000"/>
              </a:srgbClr>
            </a:solidFill>
            <a:prstDash val="solid"/>
          </a:ln>
        </p:spPr>
      </p:sp>
      <p:sp>
        <p:nvSpPr>
          <p:cNvPr id="3" name="Text 1"/>
          <p:cNvSpPr/>
          <p:nvPr/>
        </p:nvSpPr>
        <p:spPr>
          <a:xfrm>
            <a:off x="548640" y="548640"/>
            <a:ext cx="7772400" cy="548640"/>
          </a:xfrm>
          <a:prstGeom prst="rect">
            <a:avLst/>
          </a:prstGeom>
          <a:noFill/>
          <a:ln/>
        </p:spPr>
        <p:txBody>
          <a:bodyPr wrap="square" rtlCol="0" anchor="ctr"/>
          <a:lstStyle/>
          <a:p>
            <a:pPr indent="0" marL="0">
              <a:buNone/>
            </a:pPr>
            <a:r>
              <a:rPr lang="en-US" sz="3200" b="1" dirty="0">
                <a:solidFill>
                  <a:srgbClr val="00C2CC"/>
                </a:solidFill>
                <a:latin typeface="Cambria" pitchFamily="34" charset="0"/>
                <a:ea typeface="Cambria" pitchFamily="34" charset="-122"/>
                <a:cs typeface="Cambria" pitchFamily="34" charset="-120"/>
              </a:rPr>
              <a:t>Key Takeaways</a:t>
            </a:r>
            <a:endParaRPr lang="en-US" sz="3200" dirty="0"/>
          </a:p>
        </p:txBody>
      </p:sp>
      <p:sp>
        <p:nvSpPr>
          <p:cNvPr id="4" name="Shape 2"/>
          <p:cNvSpPr/>
          <p:nvPr/>
        </p:nvSpPr>
        <p:spPr>
          <a:xfrm>
            <a:off x="457200" y="1188720"/>
            <a:ext cx="201168" cy="201168"/>
          </a:xfrm>
          <a:prstGeom prst="ellipse">
            <a:avLst/>
          </a:prstGeom>
          <a:solidFill>
            <a:srgbClr val="00C2CC"/>
          </a:solidFill>
          <a:ln w="12700">
            <a:solidFill>
              <a:srgbClr val="00C2CC"/>
            </a:solidFill>
            <a:prstDash val="solid"/>
          </a:ln>
        </p:spPr>
      </p:sp>
      <p:sp>
        <p:nvSpPr>
          <p:cNvPr id="5" name="Text 3"/>
          <p:cNvSpPr/>
          <p:nvPr/>
        </p:nvSpPr>
        <p:spPr>
          <a:xfrm>
            <a:off x="777240" y="1097280"/>
            <a:ext cx="7955280" cy="530352"/>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Output tokens cost 5× input tokens</a:t>
            </a:r>
            <a:pPr indent="0" marL="0">
              <a:buNone/>
            </a:pPr>
            <a:r>
              <a:rPr lang="en-US" sz="1350" i="1" dirty="0">
                <a:solidFill>
                  <a:srgbClr val="8EAFC7"/>
                </a:solidFill>
                <a:latin typeface="Calibri" pitchFamily="34" charset="0"/>
                <a:ea typeface="Calibri" pitchFamily="34" charset="-122"/>
                <a:cs typeface="Calibri" pitchFamily="34" charset="-120"/>
              </a:rPr>
              <a:t>— tackle output reduction first, always</a:t>
            </a:r>
            <a:endParaRPr lang="en-US" sz="1350" dirty="0"/>
          </a:p>
        </p:txBody>
      </p:sp>
      <p:sp>
        <p:nvSpPr>
          <p:cNvPr id="6" name="Shape 4"/>
          <p:cNvSpPr/>
          <p:nvPr/>
        </p:nvSpPr>
        <p:spPr>
          <a:xfrm>
            <a:off x="457200" y="1755648"/>
            <a:ext cx="201168" cy="201168"/>
          </a:xfrm>
          <a:prstGeom prst="ellipse">
            <a:avLst/>
          </a:prstGeom>
          <a:solidFill>
            <a:srgbClr val="00C2CC"/>
          </a:solidFill>
          <a:ln w="12700">
            <a:solidFill>
              <a:srgbClr val="00C2CC"/>
            </a:solidFill>
            <a:prstDash val="solid"/>
          </a:ln>
        </p:spPr>
      </p:sp>
      <p:sp>
        <p:nvSpPr>
          <p:cNvPr id="7" name="Text 5"/>
          <p:cNvSpPr/>
          <p:nvPr/>
        </p:nvSpPr>
        <p:spPr>
          <a:xfrm>
            <a:off x="777240" y="1664208"/>
            <a:ext cx="7955280" cy="530352"/>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"Code Only" directive</a:t>
            </a:r>
            <a:pPr indent="0" marL="0">
              <a:buNone/>
            </a:pPr>
            <a:r>
              <a:rPr lang="en-US" sz="1350" i="1" dirty="0">
                <a:solidFill>
                  <a:srgbClr val="8EAFC7"/>
                </a:solidFill>
                <a:latin typeface="Calibri" pitchFamily="34" charset="0"/>
                <a:ea typeface="Calibri" pitchFamily="34" charset="-122"/>
                <a:cs typeface="Calibri" pitchFamily="34" charset="-120"/>
              </a:rPr>
              <a:t>— single biggest lever, implement today</a:t>
            </a:r>
            <a:endParaRPr lang="en-US" sz="1350" dirty="0"/>
          </a:p>
        </p:txBody>
      </p:sp>
      <p:sp>
        <p:nvSpPr>
          <p:cNvPr id="8" name="Shape 6"/>
          <p:cNvSpPr/>
          <p:nvPr/>
        </p:nvSpPr>
        <p:spPr>
          <a:xfrm>
            <a:off x="457200" y="2322576"/>
            <a:ext cx="201168" cy="201168"/>
          </a:xfrm>
          <a:prstGeom prst="ellipse">
            <a:avLst/>
          </a:prstGeom>
          <a:solidFill>
            <a:srgbClr val="00C2CC"/>
          </a:solidFill>
          <a:ln w="12700">
            <a:solidFill>
              <a:srgbClr val="00C2CC"/>
            </a:solidFill>
            <a:prstDash val="solid"/>
          </a:ln>
        </p:spPr>
      </p:sp>
      <p:sp>
        <p:nvSpPr>
          <p:cNvPr id="9" name="Text 7"/>
          <p:cNvSpPr/>
          <p:nvPr/>
        </p:nvSpPr>
        <p:spPr>
          <a:xfrm>
            <a:off x="777240" y="2231136"/>
            <a:ext cx="7955280" cy="530352"/>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Instruction file = always-on cost multiplier</a:t>
            </a:r>
            <a:pPr indent="0" marL="0">
              <a:buNone/>
            </a:pPr>
            <a:r>
              <a:rPr lang="en-US" sz="1350" i="1" dirty="0">
                <a:solidFill>
                  <a:srgbClr val="8EAFC7"/>
                </a:solidFill>
                <a:latin typeface="Calibri" pitchFamily="34" charset="0"/>
                <a:ea typeface="Calibri" pitchFamily="34" charset="-122"/>
                <a:cs typeface="Calibri" pitchFamily="34" charset="-120"/>
              </a:rPr>
              <a:t>— keep it under 20 lines of essentials</a:t>
            </a:r>
            <a:endParaRPr lang="en-US" sz="1350" dirty="0"/>
          </a:p>
        </p:txBody>
      </p:sp>
      <p:sp>
        <p:nvSpPr>
          <p:cNvPr id="10" name="Shape 8"/>
          <p:cNvSpPr/>
          <p:nvPr/>
        </p:nvSpPr>
        <p:spPr>
          <a:xfrm>
            <a:off x="457200" y="2889504"/>
            <a:ext cx="201168" cy="201168"/>
          </a:xfrm>
          <a:prstGeom prst="ellipse">
            <a:avLst/>
          </a:prstGeom>
          <a:solidFill>
            <a:srgbClr val="00C2CC"/>
          </a:solidFill>
          <a:ln w="12700">
            <a:solidFill>
              <a:srgbClr val="00C2CC"/>
            </a:solidFill>
            <a:prstDash val="solid"/>
          </a:ln>
        </p:spPr>
      </p:sp>
      <p:sp>
        <p:nvSpPr>
          <p:cNvPr id="11" name="Text 9"/>
          <p:cNvSpPr/>
          <p:nvPr/>
        </p:nvSpPr>
        <p:spPr>
          <a:xfrm>
            <a:off x="777240" y="2798064"/>
            <a:ext cx="7955280" cy="530352"/>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Skills = progressive disclosure</a:t>
            </a:r>
            <a:pPr indent="0" marL="0">
              <a:buNone/>
            </a:pPr>
            <a:r>
              <a:rPr lang="en-US" sz="1350" i="1" dirty="0">
                <a:solidFill>
                  <a:srgbClr val="8EAFC7"/>
                </a:solidFill>
                <a:latin typeface="Calibri" pitchFamily="34" charset="0"/>
                <a:ea typeface="Calibri" pitchFamily="34" charset="-122"/>
                <a:cs typeface="Calibri" pitchFamily="34" charset="-120"/>
              </a:rPr>
              <a:t>— pay only when triggered, not upfront</a:t>
            </a:r>
            <a:endParaRPr lang="en-US" sz="1350" dirty="0"/>
          </a:p>
        </p:txBody>
      </p:sp>
      <p:sp>
        <p:nvSpPr>
          <p:cNvPr id="12" name="Shape 10"/>
          <p:cNvSpPr/>
          <p:nvPr/>
        </p:nvSpPr>
        <p:spPr>
          <a:xfrm>
            <a:off x="457200" y="3456432"/>
            <a:ext cx="201168" cy="201168"/>
          </a:xfrm>
          <a:prstGeom prst="ellipse">
            <a:avLst/>
          </a:prstGeom>
          <a:solidFill>
            <a:srgbClr val="00C2CC"/>
          </a:solidFill>
          <a:ln w="12700">
            <a:solidFill>
              <a:srgbClr val="00C2CC"/>
            </a:solidFill>
            <a:prstDash val="solid"/>
          </a:ln>
        </p:spPr>
      </p:sp>
      <p:sp>
        <p:nvSpPr>
          <p:cNvPr id="13" name="Text 11"/>
          <p:cNvSpPr/>
          <p:nvPr/>
        </p:nvSpPr>
        <p:spPr>
          <a:xfrm>
            <a:off x="777240" y="3364992"/>
            <a:ext cx="7955280" cy="530352"/>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Start a new chat for every new task</a:t>
            </a:r>
            <a:pPr indent="0" marL="0">
              <a:buNone/>
            </a:pPr>
            <a:r>
              <a:rPr lang="en-US" sz="1350" i="1" dirty="0">
                <a:solidFill>
                  <a:srgbClr val="8EAFC7"/>
                </a:solidFill>
                <a:latin typeface="Calibri" pitchFamily="34" charset="0"/>
                <a:ea typeface="Calibri" pitchFamily="34" charset="-122"/>
                <a:cs typeface="Calibri" pitchFamily="34" charset="-120"/>
              </a:rPr>
              <a:t>— thread history compounds cost exponentially</a:t>
            </a:r>
            <a:endParaRPr lang="en-US" sz="1350" dirty="0"/>
          </a:p>
        </p:txBody>
      </p:sp>
      <p:sp>
        <p:nvSpPr>
          <p:cNvPr id="14" name="Shape 12"/>
          <p:cNvSpPr/>
          <p:nvPr/>
        </p:nvSpPr>
        <p:spPr>
          <a:xfrm>
            <a:off x="457200" y="4023360"/>
            <a:ext cx="201168" cy="201168"/>
          </a:xfrm>
          <a:prstGeom prst="ellipse">
            <a:avLst/>
          </a:prstGeom>
          <a:solidFill>
            <a:srgbClr val="00C2CC"/>
          </a:solidFill>
          <a:ln w="12700">
            <a:solidFill>
              <a:srgbClr val="00C2CC"/>
            </a:solidFill>
            <a:prstDash val="solid"/>
          </a:ln>
        </p:spPr>
      </p:sp>
      <p:sp>
        <p:nvSpPr>
          <p:cNvPr id="15" name="Text 13"/>
          <p:cNvSpPr/>
          <p:nvPr/>
        </p:nvSpPr>
        <p:spPr>
          <a:xfrm>
            <a:off x="777240" y="3931920"/>
            <a:ext cx="7955280" cy="530352"/>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Match model to task complexity</a:t>
            </a:r>
            <a:pPr indent="0" marL="0">
              <a:buNone/>
            </a:pPr>
            <a:r>
              <a:rPr lang="en-US" sz="1350" i="1" dirty="0">
                <a:solidFill>
                  <a:srgbClr val="8EAFC7"/>
                </a:solidFill>
                <a:latin typeface="Calibri" pitchFamily="34" charset="0"/>
                <a:ea typeface="Calibri" pitchFamily="34" charset="-122"/>
                <a:cs typeface="Calibri" pitchFamily="34" charset="-120"/>
              </a:rPr>
              <a:t>— don't route simple queries to frontier models</a:t>
            </a:r>
            <a:endParaRPr lang="en-US" sz="1350" dirty="0"/>
          </a:p>
        </p:txBody>
      </p:sp>
      <p:sp>
        <p:nvSpPr>
          <p:cNvPr id="16" name="Shape 14"/>
          <p:cNvSpPr/>
          <p:nvPr/>
        </p:nvSpPr>
        <p:spPr>
          <a:xfrm>
            <a:off x="457200" y="4480560"/>
            <a:ext cx="8229600" cy="347472"/>
          </a:xfrm>
          <a:prstGeom prst="roundRect">
            <a:avLst>
              <a:gd name="adj" fmla="val 18421"/>
            </a:avLst>
          </a:prstGeom>
          <a:solidFill>
            <a:srgbClr val="00C2CC">
              <a:alpha val="15000"/>
            </a:srgbClr>
          </a:solidFill>
          <a:ln w="12700">
            <a:solidFill>
              <a:srgbClr val="00C2CC">
                <a:alpha val="40000"/>
              </a:srgbClr>
            </a:solidFill>
            <a:prstDash val="solid"/>
          </a:ln>
        </p:spPr>
      </p:sp>
      <p:sp>
        <p:nvSpPr>
          <p:cNvPr id="17" name="Text 15"/>
          <p:cNvSpPr/>
          <p:nvPr/>
        </p:nvSpPr>
        <p:spPr>
          <a:xfrm>
            <a:off x="457200" y="4480560"/>
            <a:ext cx="8229600" cy="347472"/>
          </a:xfrm>
          <a:prstGeom prst="rect">
            <a:avLst/>
          </a:prstGeom>
          <a:noFill/>
          <a:ln/>
        </p:spPr>
        <p:txBody>
          <a:bodyPr wrap="square" lIns="0" tIns="0" rIns="0" bIns="0" rtlCol="0" anchor="ctr"/>
          <a:lstStyle/>
          <a:p>
            <a:pPr algn="ctr" indent="0" marL="0">
              <a:buNone/>
            </a:pPr>
            <a:r>
              <a:rPr lang="en-US" sz="1150" i="1" dirty="0">
                <a:solidFill>
                  <a:srgbClr val="00C2CC"/>
                </a:solidFill>
                <a:latin typeface="Calibri" pitchFamily="34" charset="0"/>
                <a:ea typeface="Calibri" pitchFamily="34" charset="-122"/>
                <a:cs typeface="Calibri" pitchFamily="34" charset="-120"/>
              </a:rPr>
              <a:t>Strategic token management is the new engineering discipline for AI-augmented teams.</a:t>
            </a:r>
            <a:endParaRPr lang="en-US" sz="1150" dirty="0"/>
          </a:p>
        </p:txBody>
      </p:sp>
      <p:sp>
        <p:nvSpPr>
          <p:cNvPr id="18" name="Shape 16"/>
          <p:cNvSpPr/>
          <p:nvPr/>
        </p:nvSpPr>
        <p:spPr>
          <a:xfrm>
            <a:off x="0" y="4887468"/>
            <a:ext cx="1143000" cy="256032"/>
          </a:xfrm>
          <a:prstGeom prst="rect">
            <a:avLst/>
          </a:prstGeom>
          <a:solidFill>
            <a:srgbClr val="1A2E45"/>
          </a:solidFill>
          <a:ln w="12700">
            <a:solidFill>
              <a:srgbClr val="1A2E45"/>
            </a:solidFill>
            <a:prstDash val="solid"/>
          </a:ln>
        </p:spPr>
      </p:sp>
      <p:sp>
        <p:nvSpPr>
          <p:cNvPr id="19" name="Text 17"/>
          <p:cNvSpPr/>
          <p:nvPr/>
        </p:nvSpPr>
        <p:spPr>
          <a:xfrm>
            <a:off x="0" y="4887468"/>
            <a:ext cx="1143000" cy="256032"/>
          </a:xfrm>
          <a:prstGeom prst="rect">
            <a:avLst/>
          </a:prstGeom>
          <a:noFill/>
          <a:ln/>
        </p:spPr>
        <p:txBody>
          <a:bodyPr wrap="square" lIns="0" tIns="0" rIns="0" bIns="0" rtlCol="0" anchor="ctr"/>
          <a:lstStyle/>
          <a:p>
            <a:pPr algn="ctr" indent="0" marL="0">
              <a:buNone/>
            </a:pPr>
            <a:r>
              <a:rPr lang="en-US" sz="750" dirty="0">
                <a:solidFill>
                  <a:srgbClr val="3A5068"/>
                </a:solidFill>
                <a:latin typeface="Calibri" pitchFamily="34" charset="0"/>
                <a:ea typeface="Calibri" pitchFamily="34" charset="-122"/>
                <a:cs typeface="Calibri" pitchFamily="34" charset="-120"/>
              </a:rPr>
              <a:t>Overview</a:t>
            </a:r>
            <a:endParaRPr lang="en-US" sz="750" dirty="0"/>
          </a:p>
        </p:txBody>
      </p:sp>
      <p:sp>
        <p:nvSpPr>
          <p:cNvPr id="20" name="Shape 18"/>
          <p:cNvSpPr/>
          <p:nvPr/>
        </p:nvSpPr>
        <p:spPr>
          <a:xfrm>
            <a:off x="1143000" y="4887468"/>
            <a:ext cx="1143000" cy="256032"/>
          </a:xfrm>
          <a:prstGeom prst="rect">
            <a:avLst/>
          </a:prstGeom>
          <a:solidFill>
            <a:srgbClr val="1A2E45"/>
          </a:solidFill>
          <a:ln w="12700">
            <a:solidFill>
              <a:srgbClr val="1A2E45"/>
            </a:solidFill>
            <a:prstDash val="solid"/>
          </a:ln>
        </p:spPr>
      </p:sp>
      <p:sp>
        <p:nvSpPr>
          <p:cNvPr id="21" name="Text 19"/>
          <p:cNvSpPr/>
          <p:nvPr/>
        </p:nvSpPr>
        <p:spPr>
          <a:xfrm>
            <a:off x="1143000" y="4887468"/>
            <a:ext cx="1143000" cy="256032"/>
          </a:xfrm>
          <a:prstGeom prst="rect">
            <a:avLst/>
          </a:prstGeom>
          <a:noFill/>
          <a:ln/>
        </p:spPr>
        <p:txBody>
          <a:bodyPr wrap="square" lIns="0" tIns="0" rIns="0" bIns="0" rtlCol="0" anchor="ctr"/>
          <a:lstStyle/>
          <a:p>
            <a:pPr algn="ctr" indent="0" marL="0">
              <a:buNone/>
            </a:pPr>
            <a:r>
              <a:rPr lang="en-US" sz="750" dirty="0">
                <a:solidFill>
                  <a:srgbClr val="3A5068"/>
                </a:solidFill>
                <a:latin typeface="Calibri" pitchFamily="34" charset="0"/>
                <a:ea typeface="Calibri" pitchFamily="34" charset="-122"/>
                <a:cs typeface="Calibri" pitchFamily="34" charset="-120"/>
              </a:rPr>
              <a:t>Output Control</a:t>
            </a:r>
            <a:endParaRPr lang="en-US" sz="750" dirty="0"/>
          </a:p>
        </p:txBody>
      </p:sp>
      <p:sp>
        <p:nvSpPr>
          <p:cNvPr id="22" name="Shape 20"/>
          <p:cNvSpPr/>
          <p:nvPr/>
        </p:nvSpPr>
        <p:spPr>
          <a:xfrm>
            <a:off x="2286000" y="4887468"/>
            <a:ext cx="1143000" cy="256032"/>
          </a:xfrm>
          <a:prstGeom prst="rect">
            <a:avLst/>
          </a:prstGeom>
          <a:solidFill>
            <a:srgbClr val="1A2E45"/>
          </a:solidFill>
          <a:ln w="12700">
            <a:solidFill>
              <a:srgbClr val="1A2E45"/>
            </a:solidFill>
            <a:prstDash val="solid"/>
          </a:ln>
        </p:spPr>
      </p:sp>
      <p:sp>
        <p:nvSpPr>
          <p:cNvPr id="23" name="Text 21"/>
          <p:cNvSpPr/>
          <p:nvPr/>
        </p:nvSpPr>
        <p:spPr>
          <a:xfrm>
            <a:off x="2286000" y="4887468"/>
            <a:ext cx="1143000" cy="256032"/>
          </a:xfrm>
          <a:prstGeom prst="rect">
            <a:avLst/>
          </a:prstGeom>
          <a:noFill/>
          <a:ln/>
        </p:spPr>
        <p:txBody>
          <a:bodyPr wrap="square" lIns="0" tIns="0" rIns="0" bIns="0" rtlCol="0" anchor="ctr"/>
          <a:lstStyle/>
          <a:p>
            <a:pPr algn="ctr" indent="0" marL="0">
              <a:buNone/>
            </a:pPr>
            <a:r>
              <a:rPr lang="en-US" sz="750" dirty="0">
                <a:solidFill>
                  <a:srgbClr val="3A5068"/>
                </a:solidFill>
                <a:latin typeface="Calibri" pitchFamily="34" charset="0"/>
                <a:ea typeface="Calibri" pitchFamily="34" charset="-122"/>
                <a:cs typeface="Calibri" pitchFamily="34" charset="-120"/>
              </a:rPr>
              <a:t>Context &amp; Prompting</a:t>
            </a:r>
            <a:endParaRPr lang="en-US" sz="750" dirty="0"/>
          </a:p>
        </p:txBody>
      </p:sp>
      <p:sp>
        <p:nvSpPr>
          <p:cNvPr id="24" name="Shape 22"/>
          <p:cNvSpPr/>
          <p:nvPr/>
        </p:nvSpPr>
        <p:spPr>
          <a:xfrm>
            <a:off x="3429000" y="4887468"/>
            <a:ext cx="1143000" cy="256032"/>
          </a:xfrm>
          <a:prstGeom prst="rect">
            <a:avLst/>
          </a:prstGeom>
          <a:solidFill>
            <a:srgbClr val="1A2E45"/>
          </a:solidFill>
          <a:ln w="12700">
            <a:solidFill>
              <a:srgbClr val="1A2E45"/>
            </a:solidFill>
            <a:prstDash val="solid"/>
          </a:ln>
        </p:spPr>
      </p:sp>
      <p:sp>
        <p:nvSpPr>
          <p:cNvPr id="25" name="Text 23"/>
          <p:cNvSpPr/>
          <p:nvPr/>
        </p:nvSpPr>
        <p:spPr>
          <a:xfrm>
            <a:off x="3429000" y="4887468"/>
            <a:ext cx="1143000" cy="256032"/>
          </a:xfrm>
          <a:prstGeom prst="rect">
            <a:avLst/>
          </a:prstGeom>
          <a:noFill/>
          <a:ln/>
        </p:spPr>
        <p:txBody>
          <a:bodyPr wrap="square" lIns="0" tIns="0" rIns="0" bIns="0" rtlCol="0" anchor="ctr"/>
          <a:lstStyle/>
          <a:p>
            <a:pPr algn="ctr" indent="0" marL="0">
              <a:buNone/>
            </a:pPr>
            <a:r>
              <a:rPr lang="en-US" sz="750" dirty="0">
                <a:solidFill>
                  <a:srgbClr val="3A5068"/>
                </a:solidFill>
                <a:latin typeface="Calibri" pitchFamily="34" charset="0"/>
                <a:ea typeface="Calibri" pitchFamily="34" charset="-122"/>
                <a:cs typeface="Calibri" pitchFamily="34" charset="-120"/>
              </a:rPr>
              <a:t>Models &amp; Modes</a:t>
            </a:r>
            <a:endParaRPr lang="en-US" sz="750" dirty="0"/>
          </a:p>
        </p:txBody>
      </p:sp>
      <p:sp>
        <p:nvSpPr>
          <p:cNvPr id="26" name="Shape 24"/>
          <p:cNvSpPr/>
          <p:nvPr/>
        </p:nvSpPr>
        <p:spPr>
          <a:xfrm>
            <a:off x="4572000" y="4887468"/>
            <a:ext cx="1143000" cy="256032"/>
          </a:xfrm>
          <a:prstGeom prst="rect">
            <a:avLst/>
          </a:prstGeom>
          <a:solidFill>
            <a:srgbClr val="1A2E45"/>
          </a:solidFill>
          <a:ln w="12700">
            <a:solidFill>
              <a:srgbClr val="1A2E45"/>
            </a:solidFill>
            <a:prstDash val="solid"/>
          </a:ln>
        </p:spPr>
      </p:sp>
      <p:sp>
        <p:nvSpPr>
          <p:cNvPr id="27" name="Text 25"/>
          <p:cNvSpPr/>
          <p:nvPr/>
        </p:nvSpPr>
        <p:spPr>
          <a:xfrm>
            <a:off x="4572000" y="4887468"/>
            <a:ext cx="1143000" cy="256032"/>
          </a:xfrm>
          <a:prstGeom prst="rect">
            <a:avLst/>
          </a:prstGeom>
          <a:noFill/>
          <a:ln/>
        </p:spPr>
        <p:txBody>
          <a:bodyPr wrap="square" lIns="0" tIns="0" rIns="0" bIns="0" rtlCol="0" anchor="ctr"/>
          <a:lstStyle/>
          <a:p>
            <a:pPr algn="ctr" indent="0" marL="0">
              <a:buNone/>
            </a:pPr>
            <a:r>
              <a:rPr lang="en-US" sz="750" dirty="0">
                <a:solidFill>
                  <a:srgbClr val="3A5068"/>
                </a:solidFill>
                <a:latin typeface="Calibri" pitchFamily="34" charset="0"/>
                <a:ea typeface="Calibri" pitchFamily="34" charset="-122"/>
                <a:cs typeface="Calibri" pitchFamily="34" charset="-120"/>
              </a:rPr>
              <a:t>Governance</a:t>
            </a:r>
            <a:endParaRPr lang="en-US" sz="750" dirty="0"/>
          </a:p>
        </p:txBody>
      </p:sp>
      <p:sp>
        <p:nvSpPr>
          <p:cNvPr id="28" name="Shape 26"/>
          <p:cNvSpPr/>
          <p:nvPr/>
        </p:nvSpPr>
        <p:spPr>
          <a:xfrm>
            <a:off x="5715000" y="4887468"/>
            <a:ext cx="1143000" cy="256032"/>
          </a:xfrm>
          <a:prstGeom prst="rect">
            <a:avLst/>
          </a:prstGeom>
          <a:solidFill>
            <a:srgbClr val="1A2E45"/>
          </a:solidFill>
          <a:ln w="12700">
            <a:solidFill>
              <a:srgbClr val="1A2E45"/>
            </a:solidFill>
            <a:prstDash val="solid"/>
          </a:ln>
        </p:spPr>
      </p:sp>
      <p:sp>
        <p:nvSpPr>
          <p:cNvPr id="29" name="Text 27"/>
          <p:cNvSpPr/>
          <p:nvPr/>
        </p:nvSpPr>
        <p:spPr>
          <a:xfrm>
            <a:off x="5715000" y="4887468"/>
            <a:ext cx="1143000" cy="256032"/>
          </a:xfrm>
          <a:prstGeom prst="rect">
            <a:avLst/>
          </a:prstGeom>
          <a:noFill/>
          <a:ln/>
        </p:spPr>
        <p:txBody>
          <a:bodyPr wrap="square" lIns="0" tIns="0" rIns="0" bIns="0" rtlCol="0" anchor="ctr"/>
          <a:lstStyle/>
          <a:p>
            <a:pPr algn="ctr" indent="0" marL="0">
              <a:buNone/>
            </a:pPr>
            <a:r>
              <a:rPr lang="en-US" sz="750" dirty="0">
                <a:solidFill>
                  <a:srgbClr val="3A5068"/>
                </a:solidFill>
                <a:latin typeface="Calibri" pitchFamily="34" charset="0"/>
                <a:ea typeface="Calibri" pitchFamily="34" charset="-122"/>
                <a:cs typeface="Calibri" pitchFamily="34" charset="-120"/>
              </a:rPr>
              <a:t>Architecture</a:t>
            </a:r>
            <a:endParaRPr lang="en-US" sz="750" dirty="0"/>
          </a:p>
        </p:txBody>
      </p:sp>
      <p:sp>
        <p:nvSpPr>
          <p:cNvPr id="30" name="Shape 28"/>
          <p:cNvSpPr/>
          <p:nvPr/>
        </p:nvSpPr>
        <p:spPr>
          <a:xfrm>
            <a:off x="6858000" y="4887468"/>
            <a:ext cx="1143000" cy="256032"/>
          </a:xfrm>
          <a:prstGeom prst="rect">
            <a:avLst/>
          </a:prstGeom>
          <a:solidFill>
            <a:srgbClr val="1A2E45"/>
          </a:solidFill>
          <a:ln w="12700">
            <a:solidFill>
              <a:srgbClr val="1A2E45"/>
            </a:solidFill>
            <a:prstDash val="solid"/>
          </a:ln>
        </p:spPr>
      </p:sp>
      <p:sp>
        <p:nvSpPr>
          <p:cNvPr id="31" name="Text 29"/>
          <p:cNvSpPr/>
          <p:nvPr/>
        </p:nvSpPr>
        <p:spPr>
          <a:xfrm>
            <a:off x="6858000" y="4887468"/>
            <a:ext cx="1143000" cy="256032"/>
          </a:xfrm>
          <a:prstGeom prst="rect">
            <a:avLst/>
          </a:prstGeom>
          <a:noFill/>
          <a:ln/>
        </p:spPr>
        <p:txBody>
          <a:bodyPr wrap="square" lIns="0" tIns="0" rIns="0" bIns="0" rtlCol="0" anchor="ctr"/>
          <a:lstStyle/>
          <a:p>
            <a:pPr algn="ctr" indent="0" marL="0">
              <a:buNone/>
            </a:pPr>
            <a:r>
              <a:rPr lang="en-US" sz="750" dirty="0">
                <a:solidFill>
                  <a:srgbClr val="3A5068"/>
                </a:solidFill>
                <a:latin typeface="Calibri" pitchFamily="34" charset="0"/>
                <a:ea typeface="Calibri" pitchFamily="34" charset="-122"/>
                <a:cs typeface="Calibri" pitchFamily="34" charset="-120"/>
              </a:rPr>
              <a:t>Best Practices</a:t>
            </a:r>
            <a:endParaRPr lang="en-US" sz="750" dirty="0"/>
          </a:p>
        </p:txBody>
      </p:sp>
      <p:sp>
        <p:nvSpPr>
          <p:cNvPr id="32" name="Shape 30"/>
          <p:cNvSpPr/>
          <p:nvPr/>
        </p:nvSpPr>
        <p:spPr>
          <a:xfrm>
            <a:off x="8001000" y="4887468"/>
            <a:ext cx="1143000" cy="256032"/>
          </a:xfrm>
          <a:prstGeom prst="rect">
            <a:avLst/>
          </a:prstGeom>
          <a:solidFill>
            <a:srgbClr val="00C2CC"/>
          </a:solidFill>
          <a:ln w="12700">
            <a:solidFill>
              <a:srgbClr val="00C2CC"/>
            </a:solidFill>
            <a:prstDash val="solid"/>
          </a:ln>
        </p:spPr>
      </p:sp>
      <p:sp>
        <p:nvSpPr>
          <p:cNvPr id="33" name="Text 31"/>
          <p:cNvSpPr/>
          <p:nvPr/>
        </p:nvSpPr>
        <p:spPr>
          <a:xfrm>
            <a:off x="8001000" y="4887468"/>
            <a:ext cx="1143000" cy="256032"/>
          </a:xfrm>
          <a:prstGeom prst="rect">
            <a:avLst/>
          </a:prstGeom>
          <a:noFill/>
          <a:ln/>
        </p:spPr>
        <p:txBody>
          <a:bodyPr wrap="square" lIns="0" tIns="0" rIns="0" bIns="0" rtlCol="0" anchor="ctr"/>
          <a:lstStyle/>
          <a:p>
            <a:pPr algn="ctr" indent="0" marL="0">
              <a:buNone/>
            </a:pPr>
            <a:r>
              <a:rPr lang="en-US" sz="750" b="1" dirty="0">
                <a:solidFill>
                  <a:srgbClr val="0D1B2A"/>
                </a:solidFill>
                <a:latin typeface="Calibri" pitchFamily="34" charset="0"/>
                <a:ea typeface="Calibri" pitchFamily="34" charset="-122"/>
                <a:cs typeface="Calibri" pitchFamily="34" charset="-120"/>
              </a:rPr>
              <a:t>Reference</a:t>
            </a:r>
            <a:endParaRPr lang="en-US" sz="7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Strategic Token Optimization for GitHub Copilot</dc:title>
  <dc:subject>PptxGenJS Presentation</dc:subject>
  <dc:creator>PptxGenJS</dc:creator>
  <cp:lastModifiedBy>PptxGenJS</cp:lastModifiedBy>
  <cp:revision>1</cp:revision>
  <dcterms:created xsi:type="dcterms:W3CDTF">2026-06-13T06:21:03Z</dcterms:created>
  <dcterms:modified xsi:type="dcterms:W3CDTF">2026-06-13T06:21:03Z</dcterms:modified>
</cp:coreProperties>
</file>