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Copilot Plugin is simply a folder containing a plugin.json manifest and your resource files (skills, instructions, hooks, MCP server configs). You can build one yourself with no special SDK. The manifest tells VS Code what to load. You install it via 'Install Plugin from Source' pointing to a local path or a Git repo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solve the team coordination problem. Without plugins, every developer manually copies .github/ files, sets up MCP servers, and configures settings — and they drift. With a plugin, one URL installs everything consistently.
Common marketplace plugins: GitHub (official), Sentry, Docker, Datadog, Atlassian. But the most powerful use case is building your own internal plugin that encodes your company's specific workflows, internal APIs, and team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the automation layer of the Copilot agent system. They're scripts that fire at specific lifecycle events — before a request is sent, after a response comes back, when a file is edited, when a chat session opens.
A pre-request hook is the most powerful for token efficiency: you can inject dynamic context (current date, git branch, sprint info) without hardcoding it in your instruction files. A post-response hook can enforce compliance — for example, stripping API keys from suggestions before they're shown, or logging all AI edits for audit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complete real-world plugin example. The plugin.json manifest is the only required file — it points to all the other resources.
The pre-request hook shown here injects live git context (current branch, last commit, changed files, today's date) into every request automatically. This means you never need to manually tell Copilot what branch you're on or what you changed — the hook does it for free.
To install: create the folder, push to Git, then in VS Code go to Agent Customizations → Plugins → Install Plugin from Source and paste the Git URL or local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3B82F6"/>
          </a:solidFill>
          <a:ln w="12700">
            <a:solidFill>
              <a:srgbClr val="3B82F6"/>
            </a:solidFill>
            <a:prstDash val="solid"/>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a Copilot Plugin — and Can I Build One?</a:t>
            </a:r>
            <a:endParaRPr lang="en-US" sz="2000" dirty="0"/>
          </a:p>
        </p:txBody>
      </p:sp>
      <p:sp>
        <p:nvSpPr>
          <p:cNvPr id="4" name="Text 2"/>
          <p:cNvSpPr/>
          <p:nvPr/>
        </p:nvSpPr>
        <p:spPr>
          <a:xfrm>
            <a:off x="365760" y="795528"/>
            <a:ext cx="8412480" cy="292608"/>
          </a:xfrm>
          <a:prstGeom prst="rect">
            <a:avLst/>
          </a:prstGeom>
          <a:noFill/>
          <a:ln/>
        </p:spPr>
        <p:txBody>
          <a:bodyPr wrap="square" rtlCol="0" anchor="ctr"/>
          <a:lstStyle/>
          <a:p>
            <a:pPr indent="0" marL="0">
              <a:buNone/>
            </a:pPr>
            <a:r>
              <a:rPr lang="en-US" sz="1150" i="1" dirty="0">
                <a:solidFill>
                  <a:srgbClr val="3B82F6"/>
                </a:solidFill>
                <a:latin typeface="Calibri" pitchFamily="34" charset="0"/>
                <a:ea typeface="Calibri" pitchFamily="34" charset="-122"/>
                <a:cs typeface="Calibri" pitchFamily="34" charset="-120"/>
              </a:rPr>
              <a:t>A plugin is a reusable package that bundles skills, instructions, agents, hooks &amp; MCP servers in one install</a:t>
            </a:r>
            <a:endParaRPr lang="en-US" sz="1150" dirty="0"/>
          </a:p>
        </p:txBody>
      </p:sp>
      <p:sp>
        <p:nvSpPr>
          <p:cNvPr id="5" name="Shape 3"/>
          <p:cNvSpPr/>
          <p:nvPr/>
        </p:nvSpPr>
        <p:spPr>
          <a:xfrm>
            <a:off x="274320" y="1143000"/>
            <a:ext cx="8595360" cy="566928"/>
          </a:xfrm>
          <a:prstGeom prst="roundRect">
            <a:avLst>
              <a:gd name="adj" fmla="val 14516"/>
            </a:avLst>
          </a:prstGeom>
          <a:solidFill>
            <a:srgbClr val="10B981">
              <a:alpha val="12000"/>
            </a:srgbClr>
          </a:solidFill>
          <a:ln w="12700">
            <a:solidFill>
              <a:srgbClr val="10B981">
                <a:alpha val="50000"/>
              </a:srgbClr>
            </a:solidFill>
            <a:prstDash val="solid"/>
          </a:ln>
        </p:spPr>
      </p:sp>
      <p:sp>
        <p:nvSpPr>
          <p:cNvPr id="6" name="Text 4"/>
          <p:cNvSpPr/>
          <p:nvPr/>
        </p:nvSpPr>
        <p:spPr>
          <a:xfrm>
            <a:off x="365760" y="1143000"/>
            <a:ext cx="8412480" cy="566928"/>
          </a:xfrm>
          <a:prstGeom prst="rect">
            <a:avLst/>
          </a:prstGeom>
          <a:noFill/>
          <a:ln/>
        </p:spPr>
        <p:txBody>
          <a:bodyPr wrap="square" lIns="0" tIns="0" rIns="0" bIns="0" rtlCol="0" anchor="ctr"/>
          <a:lstStyle/>
          <a:p>
            <a:pPr indent="0" marL="0">
              <a:buNone/>
            </a:pPr>
            <a:r>
              <a:rPr lang="en-US" sz="1300" b="1" dirty="0">
                <a:solidFill>
                  <a:srgbClr val="166534"/>
                </a:solidFill>
                <a:latin typeface="Calibri" pitchFamily="34" charset="0"/>
                <a:ea typeface="Calibri" pitchFamily="34" charset="-122"/>
                <a:cs typeface="Calibri" pitchFamily="34" charset="-120"/>
              </a:rPr>
              <a:t>✅  YES — Anyone can build a plugin. It is just a folder + a manifest JSON file. No special SDK or tooling required.</a:t>
            </a:r>
            <a:endParaRPr lang="en-US" sz="1300" dirty="0"/>
          </a:p>
        </p:txBody>
      </p:sp>
      <p:sp>
        <p:nvSpPr>
          <p:cNvPr id="7" name="Text 5"/>
          <p:cNvSpPr/>
          <p:nvPr/>
        </p:nvSpPr>
        <p:spPr>
          <a:xfrm>
            <a:off x="274320" y="1828800"/>
            <a:ext cx="4114800" cy="32004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What a Plugin Bundles Together</a:t>
            </a:r>
            <a:endParaRPr lang="en-US" sz="1400" dirty="0"/>
          </a:p>
        </p:txBody>
      </p:sp>
      <p:sp>
        <p:nvSpPr>
          <p:cNvPr id="8" name="Shape 6"/>
          <p:cNvSpPr/>
          <p:nvPr/>
        </p:nvSpPr>
        <p:spPr>
          <a:xfrm>
            <a:off x="274320" y="2212848"/>
            <a:ext cx="4114800" cy="457200"/>
          </a:xfrm>
          <a:prstGeom prst="roundRect">
            <a:avLst>
              <a:gd name="adj" fmla="val 14000"/>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274320" y="2212848"/>
            <a:ext cx="201168" cy="457200"/>
          </a:xfrm>
          <a:prstGeom prst="roundRect">
            <a:avLst>
              <a:gd name="adj" fmla="val 22727"/>
            </a:avLst>
          </a:prstGeom>
          <a:solidFill>
            <a:srgbClr val="008C94"/>
          </a:solidFill>
          <a:ln w="12700">
            <a:solidFill>
              <a:srgbClr val="008C94"/>
            </a:solidFill>
            <a:prstDash val="solid"/>
          </a:ln>
        </p:spPr>
      </p:sp>
      <p:sp>
        <p:nvSpPr>
          <p:cNvPr id="10" name="Text 8"/>
          <p:cNvSpPr/>
          <p:nvPr/>
        </p:nvSpPr>
        <p:spPr>
          <a:xfrm>
            <a:off x="502920" y="2212848"/>
            <a:ext cx="41148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1" name="Text 9"/>
          <p:cNvSpPr/>
          <p:nvPr/>
        </p:nvSpPr>
        <p:spPr>
          <a:xfrm>
            <a:off x="960120" y="2249424"/>
            <a:ext cx="1188720" cy="219456"/>
          </a:xfrm>
          <a:prstGeom prst="rect">
            <a:avLst/>
          </a:prstGeom>
          <a:noFill/>
          <a:ln/>
        </p:spPr>
        <p:txBody>
          <a:bodyPr wrap="square" lIns="0" tIns="0" rIns="0" bIns="0" rtlCol="0" anchor="ctr"/>
          <a:lstStyle/>
          <a:p>
            <a:pPr indent="0" marL="0">
              <a:buNone/>
            </a:pPr>
            <a:r>
              <a:rPr lang="en-US" sz="1200" b="1" dirty="0">
                <a:solidFill>
                  <a:srgbClr val="008C94"/>
                </a:solidFill>
                <a:latin typeface="Calibri" pitchFamily="34" charset="0"/>
                <a:ea typeface="Calibri" pitchFamily="34" charset="-122"/>
                <a:cs typeface="Calibri" pitchFamily="34" charset="-120"/>
              </a:rPr>
              <a:t>Skills</a:t>
            </a:r>
            <a:endParaRPr lang="en-US" sz="1200" dirty="0"/>
          </a:p>
        </p:txBody>
      </p:sp>
      <p:sp>
        <p:nvSpPr>
          <p:cNvPr id="12" name="Text 10"/>
          <p:cNvSpPr/>
          <p:nvPr/>
        </p:nvSpPr>
        <p:spPr>
          <a:xfrm>
            <a:off x="960120" y="2450592"/>
            <a:ext cx="3291840" cy="1828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Task-specific prompt files (.prompt.md)</a:t>
            </a:r>
            <a:endParaRPr lang="en-US" sz="1000" dirty="0"/>
          </a:p>
        </p:txBody>
      </p:sp>
      <p:sp>
        <p:nvSpPr>
          <p:cNvPr id="13" name="Shape 11"/>
          <p:cNvSpPr/>
          <p:nvPr/>
        </p:nvSpPr>
        <p:spPr>
          <a:xfrm>
            <a:off x="274320" y="2724912"/>
            <a:ext cx="4114800" cy="457200"/>
          </a:xfrm>
          <a:prstGeom prst="roundRect">
            <a:avLst>
              <a:gd name="adj" fmla="val 14000"/>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274320" y="2724912"/>
            <a:ext cx="201168" cy="457200"/>
          </a:xfrm>
          <a:prstGeom prst="roundRect">
            <a:avLst>
              <a:gd name="adj" fmla="val 22727"/>
            </a:avLst>
          </a:prstGeom>
          <a:solidFill>
            <a:srgbClr val="EA580C"/>
          </a:solidFill>
          <a:ln w="12700">
            <a:solidFill>
              <a:srgbClr val="EA580C"/>
            </a:solidFill>
            <a:prstDash val="solid"/>
          </a:ln>
        </p:spPr>
      </p:sp>
      <p:sp>
        <p:nvSpPr>
          <p:cNvPr id="15" name="Text 13"/>
          <p:cNvSpPr/>
          <p:nvPr/>
        </p:nvSpPr>
        <p:spPr>
          <a:xfrm>
            <a:off x="502920" y="2724912"/>
            <a:ext cx="41148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6" name="Text 14"/>
          <p:cNvSpPr/>
          <p:nvPr/>
        </p:nvSpPr>
        <p:spPr>
          <a:xfrm>
            <a:off x="960120" y="2761488"/>
            <a:ext cx="1188720" cy="219456"/>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Instructions</a:t>
            </a:r>
            <a:endParaRPr lang="en-US" sz="1200" dirty="0"/>
          </a:p>
        </p:txBody>
      </p:sp>
      <p:sp>
        <p:nvSpPr>
          <p:cNvPr id="17" name="Text 15"/>
          <p:cNvSpPr/>
          <p:nvPr/>
        </p:nvSpPr>
        <p:spPr>
          <a:xfrm>
            <a:off x="960120" y="2962656"/>
            <a:ext cx="3291840" cy="1828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Scoped instruction files with applyTo rules</a:t>
            </a:r>
            <a:endParaRPr lang="en-US" sz="1000" dirty="0"/>
          </a:p>
        </p:txBody>
      </p:sp>
      <p:sp>
        <p:nvSpPr>
          <p:cNvPr id="18" name="Shape 16"/>
          <p:cNvSpPr/>
          <p:nvPr/>
        </p:nvSpPr>
        <p:spPr>
          <a:xfrm>
            <a:off x="274320" y="3236976"/>
            <a:ext cx="4114800" cy="457200"/>
          </a:xfrm>
          <a:prstGeom prst="roundRect">
            <a:avLst>
              <a:gd name="adj" fmla="val 14000"/>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274320" y="3236976"/>
            <a:ext cx="201168" cy="457200"/>
          </a:xfrm>
          <a:prstGeom prst="roundRect">
            <a:avLst>
              <a:gd name="adj" fmla="val 22727"/>
            </a:avLst>
          </a:prstGeom>
          <a:solidFill>
            <a:srgbClr val="3B82F6"/>
          </a:solidFill>
          <a:ln w="12700">
            <a:solidFill>
              <a:srgbClr val="3B82F6"/>
            </a:solidFill>
            <a:prstDash val="solid"/>
          </a:ln>
        </p:spPr>
      </p:sp>
      <p:sp>
        <p:nvSpPr>
          <p:cNvPr id="20" name="Text 18"/>
          <p:cNvSpPr/>
          <p:nvPr/>
        </p:nvSpPr>
        <p:spPr>
          <a:xfrm>
            <a:off x="502920" y="3236976"/>
            <a:ext cx="41148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1" name="Text 19"/>
          <p:cNvSpPr/>
          <p:nvPr/>
        </p:nvSpPr>
        <p:spPr>
          <a:xfrm>
            <a:off x="960120" y="3273552"/>
            <a:ext cx="1188720" cy="219456"/>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MCP Servers</a:t>
            </a:r>
            <a:endParaRPr lang="en-US" sz="1200" dirty="0"/>
          </a:p>
        </p:txBody>
      </p:sp>
      <p:sp>
        <p:nvSpPr>
          <p:cNvPr id="22" name="Text 20"/>
          <p:cNvSpPr/>
          <p:nvPr/>
        </p:nvSpPr>
        <p:spPr>
          <a:xfrm>
            <a:off x="960120" y="3474720"/>
            <a:ext cx="3291840" cy="1828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Tool definitions for agentic workflows</a:t>
            </a:r>
            <a:endParaRPr lang="en-US" sz="1000" dirty="0"/>
          </a:p>
        </p:txBody>
      </p:sp>
      <p:sp>
        <p:nvSpPr>
          <p:cNvPr id="23" name="Shape 21"/>
          <p:cNvSpPr/>
          <p:nvPr/>
        </p:nvSpPr>
        <p:spPr>
          <a:xfrm>
            <a:off x="274320" y="3749040"/>
            <a:ext cx="4114800" cy="457200"/>
          </a:xfrm>
          <a:prstGeom prst="roundRect">
            <a:avLst>
              <a:gd name="adj" fmla="val 14000"/>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4" name="Shape 22"/>
          <p:cNvSpPr/>
          <p:nvPr/>
        </p:nvSpPr>
        <p:spPr>
          <a:xfrm>
            <a:off x="274320" y="3749040"/>
            <a:ext cx="201168" cy="457200"/>
          </a:xfrm>
          <a:prstGeom prst="roundRect">
            <a:avLst>
              <a:gd name="adj" fmla="val 22727"/>
            </a:avLst>
          </a:prstGeom>
          <a:solidFill>
            <a:srgbClr val="7C3AED"/>
          </a:solidFill>
          <a:ln w="12700">
            <a:solidFill>
              <a:srgbClr val="7C3AED"/>
            </a:solidFill>
            <a:prstDash val="solid"/>
          </a:ln>
        </p:spPr>
      </p:sp>
      <p:sp>
        <p:nvSpPr>
          <p:cNvPr id="25" name="Text 23"/>
          <p:cNvSpPr/>
          <p:nvPr/>
        </p:nvSpPr>
        <p:spPr>
          <a:xfrm>
            <a:off x="502920" y="3749040"/>
            <a:ext cx="41148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6" name="Text 24"/>
          <p:cNvSpPr/>
          <p:nvPr/>
        </p:nvSpPr>
        <p:spPr>
          <a:xfrm>
            <a:off x="960120" y="3785616"/>
            <a:ext cx="1188720" cy="219456"/>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Hooks</a:t>
            </a:r>
            <a:endParaRPr lang="en-US" sz="1200" dirty="0"/>
          </a:p>
        </p:txBody>
      </p:sp>
      <p:sp>
        <p:nvSpPr>
          <p:cNvPr id="27" name="Text 25"/>
          <p:cNvSpPr/>
          <p:nvPr/>
        </p:nvSpPr>
        <p:spPr>
          <a:xfrm>
            <a:off x="960120" y="3986784"/>
            <a:ext cx="3291840" cy="1828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Event triggers (pre/post actions)</a:t>
            </a:r>
            <a:endParaRPr lang="en-US" sz="1000" dirty="0"/>
          </a:p>
        </p:txBody>
      </p:sp>
      <p:sp>
        <p:nvSpPr>
          <p:cNvPr id="28" name="Shape 26"/>
          <p:cNvSpPr/>
          <p:nvPr/>
        </p:nvSpPr>
        <p:spPr>
          <a:xfrm>
            <a:off x="274320" y="4261104"/>
            <a:ext cx="4114800" cy="457200"/>
          </a:xfrm>
          <a:prstGeom prst="roundRect">
            <a:avLst>
              <a:gd name="adj" fmla="val 14000"/>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9" name="Shape 27"/>
          <p:cNvSpPr/>
          <p:nvPr/>
        </p:nvSpPr>
        <p:spPr>
          <a:xfrm>
            <a:off x="274320" y="4261104"/>
            <a:ext cx="201168" cy="457200"/>
          </a:xfrm>
          <a:prstGeom prst="roundRect">
            <a:avLst>
              <a:gd name="adj" fmla="val 22727"/>
            </a:avLst>
          </a:prstGeom>
          <a:solidFill>
            <a:srgbClr val="EC4899"/>
          </a:solidFill>
          <a:ln w="12700">
            <a:solidFill>
              <a:srgbClr val="EC4899"/>
            </a:solidFill>
            <a:prstDash val="solid"/>
          </a:ln>
        </p:spPr>
      </p:sp>
      <p:sp>
        <p:nvSpPr>
          <p:cNvPr id="30" name="Text 28"/>
          <p:cNvSpPr/>
          <p:nvPr/>
        </p:nvSpPr>
        <p:spPr>
          <a:xfrm>
            <a:off x="502920" y="4261104"/>
            <a:ext cx="41148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1" name="Text 29"/>
          <p:cNvSpPr/>
          <p:nvPr/>
        </p:nvSpPr>
        <p:spPr>
          <a:xfrm>
            <a:off x="960120" y="4297680"/>
            <a:ext cx="1188720" cy="219456"/>
          </a:xfrm>
          <a:prstGeom prst="rect">
            <a:avLst/>
          </a:prstGeom>
          <a:noFill/>
          <a:ln/>
        </p:spPr>
        <p:txBody>
          <a:bodyPr wrap="square" lIns="0" tIns="0" rIns="0" bIns="0" rtlCol="0" anchor="ctr"/>
          <a:lstStyle/>
          <a:p>
            <a:pPr indent="0" marL="0">
              <a:buNone/>
            </a:pPr>
            <a:r>
              <a:rPr lang="en-US" sz="1200" b="1" dirty="0">
                <a:solidFill>
                  <a:srgbClr val="EC4899"/>
                </a:solidFill>
                <a:latin typeface="Calibri" pitchFamily="34" charset="0"/>
                <a:ea typeface="Calibri" pitchFamily="34" charset="-122"/>
                <a:cs typeface="Calibri" pitchFamily="34" charset="-120"/>
              </a:rPr>
              <a:t>Agents</a:t>
            </a:r>
            <a:endParaRPr lang="en-US" sz="1200" dirty="0"/>
          </a:p>
        </p:txBody>
      </p:sp>
      <p:sp>
        <p:nvSpPr>
          <p:cNvPr id="32" name="Text 30"/>
          <p:cNvSpPr/>
          <p:nvPr/>
        </p:nvSpPr>
        <p:spPr>
          <a:xfrm>
            <a:off x="960120" y="4498848"/>
            <a:ext cx="3291840" cy="1828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Custom chat participants (@agent-name)</a:t>
            </a:r>
            <a:endParaRPr lang="en-US" sz="1000" dirty="0"/>
          </a:p>
        </p:txBody>
      </p:sp>
      <p:sp>
        <p:nvSpPr>
          <p:cNvPr id="33" name="Text 31"/>
          <p:cNvSpPr/>
          <p:nvPr/>
        </p:nvSpPr>
        <p:spPr>
          <a:xfrm>
            <a:off x="4663440" y="1828800"/>
            <a:ext cx="4206240" cy="32004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Minimal Plugin Structure</a:t>
            </a:r>
            <a:endParaRPr lang="en-US" sz="1400" dirty="0"/>
          </a:p>
        </p:txBody>
      </p:sp>
      <p:sp>
        <p:nvSpPr>
          <p:cNvPr id="34" name="Shape 32"/>
          <p:cNvSpPr/>
          <p:nvPr/>
        </p:nvSpPr>
        <p:spPr>
          <a:xfrm>
            <a:off x="4663440" y="2194560"/>
            <a:ext cx="4206240" cy="2423160"/>
          </a:xfrm>
          <a:prstGeom prst="roundRect">
            <a:avLst>
              <a:gd name="adj" fmla="val 3774"/>
            </a:avLst>
          </a:prstGeom>
          <a:solidFill>
            <a:srgbClr val="0D1B2A"/>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35" name="Text 33"/>
          <p:cNvSpPr/>
          <p:nvPr/>
        </p:nvSpPr>
        <p:spPr>
          <a:xfrm>
            <a:off x="4800600" y="2286000"/>
            <a:ext cx="3931920" cy="228600"/>
          </a:xfrm>
          <a:prstGeom prst="rect">
            <a:avLst/>
          </a:prstGeom>
          <a:noFill/>
          <a:ln/>
        </p:spPr>
        <p:txBody>
          <a:bodyPr wrap="square" lIns="0" tIns="0" rIns="0" bIns="0" rtlCol="0" anchor="ctr"/>
          <a:lstStyle/>
          <a:p>
            <a:pPr indent="0" marL="0">
              <a:buNone/>
            </a:pPr>
            <a:r>
              <a:rPr lang="en-US" sz="950" dirty="0">
                <a:solidFill>
                  <a:srgbClr val="00C2CC"/>
                </a:solidFill>
                <a:latin typeface="Courier New" pitchFamily="34" charset="0"/>
                <a:ea typeface="Courier New" pitchFamily="34" charset="-122"/>
                <a:cs typeface="Courier New" pitchFamily="34" charset="-120"/>
              </a:rPr>
              <a:t>my-team-plugin/</a:t>
            </a:r>
            <a:endParaRPr lang="en-US" sz="950" dirty="0"/>
          </a:p>
        </p:txBody>
      </p:sp>
      <p:sp>
        <p:nvSpPr>
          <p:cNvPr id="36" name="Text 34"/>
          <p:cNvSpPr/>
          <p:nvPr/>
        </p:nvSpPr>
        <p:spPr>
          <a:xfrm>
            <a:off x="4892040" y="2532888"/>
            <a:ext cx="3931920" cy="228600"/>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 plugin.json       ← manifest</a:t>
            </a:r>
            <a:endParaRPr lang="en-US" sz="950" dirty="0"/>
          </a:p>
        </p:txBody>
      </p:sp>
      <p:sp>
        <p:nvSpPr>
          <p:cNvPr id="37" name="Text 35"/>
          <p:cNvSpPr/>
          <p:nvPr/>
        </p:nvSpPr>
        <p:spPr>
          <a:xfrm>
            <a:off x="4892040" y="2779776"/>
            <a:ext cx="3931920" cy="228600"/>
          </a:xfrm>
          <a:prstGeom prst="rect">
            <a:avLst/>
          </a:prstGeom>
          <a:noFill/>
          <a:ln/>
        </p:spPr>
        <p:txBody>
          <a:bodyPr wrap="square" lIns="0" tIns="0" rIns="0" bIns="0" rtlCol="0" anchor="ctr"/>
          <a:lstStyle/>
          <a:p>
            <a:pPr indent="0" marL="0">
              <a:buNone/>
            </a:pPr>
            <a:r>
              <a:rPr lang="en-US" sz="950" dirty="0">
                <a:solidFill>
                  <a:srgbClr val="008C94"/>
                </a:solidFill>
                <a:latin typeface="Courier New" pitchFamily="34" charset="0"/>
                <a:ea typeface="Courier New" pitchFamily="34" charset="-122"/>
                <a:cs typeface="Courier New" pitchFamily="34" charset="-120"/>
              </a:rPr>
              <a:t>├── skills/</a:t>
            </a:r>
            <a:endParaRPr lang="en-US" sz="950" dirty="0"/>
          </a:p>
        </p:txBody>
      </p:sp>
      <p:sp>
        <p:nvSpPr>
          <p:cNvPr id="38" name="Text 36"/>
          <p:cNvSpPr/>
          <p:nvPr/>
        </p:nvSpPr>
        <p:spPr>
          <a:xfrm>
            <a:off x="4983480" y="3026664"/>
            <a:ext cx="3931920" cy="228600"/>
          </a:xfrm>
          <a:prstGeom prst="rect">
            <a:avLst/>
          </a:prstGeom>
          <a:noFill/>
          <a:ln/>
        </p:spPr>
        <p:txBody>
          <a:bodyPr wrap="square" lIns="0" tIns="0" rIns="0" bIns="0" rtlCol="0" anchor="ctr"/>
          <a:lstStyle/>
          <a:p>
            <a:pPr indent="0" marL="0">
              <a:buNone/>
            </a:pPr>
            <a:r>
              <a:rPr lang="en-US" sz="950" dirty="0">
                <a:solidFill>
                  <a:srgbClr val="8EAFC7"/>
                </a:solidFill>
                <a:latin typeface="Courier New" pitchFamily="34" charset="0"/>
                <a:ea typeface="Courier New" pitchFamily="34" charset="-122"/>
                <a:cs typeface="Courier New" pitchFamily="34" charset="-120"/>
              </a:rPr>
              <a:t>│   ├── pr-review.prompt.md</a:t>
            </a:r>
            <a:endParaRPr lang="en-US" sz="950" dirty="0"/>
          </a:p>
        </p:txBody>
      </p:sp>
      <p:sp>
        <p:nvSpPr>
          <p:cNvPr id="39" name="Text 37"/>
          <p:cNvSpPr/>
          <p:nvPr/>
        </p:nvSpPr>
        <p:spPr>
          <a:xfrm>
            <a:off x="4983480" y="3273552"/>
            <a:ext cx="3931920" cy="228600"/>
          </a:xfrm>
          <a:prstGeom prst="rect">
            <a:avLst/>
          </a:prstGeom>
          <a:noFill/>
          <a:ln/>
        </p:spPr>
        <p:txBody>
          <a:bodyPr wrap="square" lIns="0" tIns="0" rIns="0" bIns="0" rtlCol="0" anchor="ctr"/>
          <a:lstStyle/>
          <a:p>
            <a:pPr indent="0" marL="0">
              <a:buNone/>
            </a:pPr>
            <a:r>
              <a:rPr lang="en-US" sz="950" dirty="0">
                <a:solidFill>
                  <a:srgbClr val="8EAFC7"/>
                </a:solidFill>
                <a:latin typeface="Courier New" pitchFamily="34" charset="0"/>
                <a:ea typeface="Courier New" pitchFamily="34" charset="-122"/>
                <a:cs typeface="Courier New" pitchFamily="34" charset="-120"/>
              </a:rPr>
              <a:t>│   └── deploy.prompt.md</a:t>
            </a:r>
            <a:endParaRPr lang="en-US" sz="950" dirty="0"/>
          </a:p>
        </p:txBody>
      </p:sp>
      <p:sp>
        <p:nvSpPr>
          <p:cNvPr id="40" name="Text 38"/>
          <p:cNvSpPr/>
          <p:nvPr/>
        </p:nvSpPr>
        <p:spPr>
          <a:xfrm>
            <a:off x="4892040" y="3520440"/>
            <a:ext cx="3931920" cy="228600"/>
          </a:xfrm>
          <a:prstGeom prst="rect">
            <a:avLst/>
          </a:prstGeom>
          <a:noFill/>
          <a:ln/>
        </p:spPr>
        <p:txBody>
          <a:bodyPr wrap="square" lIns="0" tIns="0" rIns="0" bIns="0" rtlCol="0" anchor="ctr"/>
          <a:lstStyle/>
          <a:p>
            <a:pPr indent="0" marL="0">
              <a:buNone/>
            </a:pPr>
            <a:r>
              <a:rPr lang="en-US" sz="950" dirty="0">
                <a:solidFill>
                  <a:srgbClr val="EA580C"/>
                </a:solidFill>
                <a:latin typeface="Courier New" pitchFamily="34" charset="0"/>
                <a:ea typeface="Courier New" pitchFamily="34" charset="-122"/>
                <a:cs typeface="Courier New" pitchFamily="34" charset="-120"/>
              </a:rPr>
              <a:t>├── instructions/</a:t>
            </a:r>
            <a:endParaRPr lang="en-US" sz="950" dirty="0"/>
          </a:p>
        </p:txBody>
      </p:sp>
      <p:sp>
        <p:nvSpPr>
          <p:cNvPr id="41" name="Text 39"/>
          <p:cNvSpPr/>
          <p:nvPr/>
        </p:nvSpPr>
        <p:spPr>
          <a:xfrm>
            <a:off x="4983480" y="3767328"/>
            <a:ext cx="3931920" cy="228600"/>
          </a:xfrm>
          <a:prstGeom prst="rect">
            <a:avLst/>
          </a:prstGeom>
          <a:noFill/>
          <a:ln/>
        </p:spPr>
        <p:txBody>
          <a:bodyPr wrap="square" lIns="0" tIns="0" rIns="0" bIns="0" rtlCol="0" anchor="ctr"/>
          <a:lstStyle/>
          <a:p>
            <a:pPr indent="0" marL="0">
              <a:buNone/>
            </a:pPr>
            <a:r>
              <a:rPr lang="en-US" sz="950" dirty="0">
                <a:solidFill>
                  <a:srgbClr val="8EAFC7"/>
                </a:solidFill>
                <a:latin typeface="Courier New" pitchFamily="34" charset="0"/>
                <a:ea typeface="Courier New" pitchFamily="34" charset="-122"/>
                <a:cs typeface="Courier New" pitchFamily="34" charset="-120"/>
              </a:rPr>
              <a:t>│   └── python.instructions.md</a:t>
            </a:r>
            <a:endParaRPr lang="en-US" sz="950" dirty="0"/>
          </a:p>
        </p:txBody>
      </p:sp>
      <p:sp>
        <p:nvSpPr>
          <p:cNvPr id="42" name="Text 40"/>
          <p:cNvSpPr/>
          <p:nvPr/>
        </p:nvSpPr>
        <p:spPr>
          <a:xfrm>
            <a:off x="4892040" y="4014216"/>
            <a:ext cx="3931920" cy="228600"/>
          </a:xfrm>
          <a:prstGeom prst="rect">
            <a:avLst/>
          </a:prstGeom>
          <a:noFill/>
          <a:ln/>
        </p:spPr>
        <p:txBody>
          <a:bodyPr wrap="square" lIns="0" tIns="0" rIns="0" bIns="0" rtlCol="0" anchor="ctr"/>
          <a:lstStyle/>
          <a:p>
            <a:pPr indent="0" marL="0">
              <a:buNone/>
            </a:pPr>
            <a:r>
              <a:rPr lang="en-US" sz="950" dirty="0">
                <a:solidFill>
                  <a:srgbClr val="7C3AED"/>
                </a:solidFill>
                <a:latin typeface="Courier New" pitchFamily="34" charset="0"/>
                <a:ea typeface="Courier New" pitchFamily="34" charset="-122"/>
                <a:cs typeface="Courier New" pitchFamily="34" charset="-120"/>
              </a:rPr>
              <a:t>└── hooks/</a:t>
            </a:r>
            <a:endParaRPr lang="en-US" sz="950" dirty="0"/>
          </a:p>
        </p:txBody>
      </p:sp>
      <p:sp>
        <p:nvSpPr>
          <p:cNvPr id="43" name="Text 41"/>
          <p:cNvSpPr/>
          <p:nvPr/>
        </p:nvSpPr>
        <p:spPr>
          <a:xfrm>
            <a:off x="4983480" y="4261104"/>
            <a:ext cx="3931920" cy="228600"/>
          </a:xfrm>
          <a:prstGeom prst="rect">
            <a:avLst/>
          </a:prstGeom>
          <a:noFill/>
          <a:ln/>
        </p:spPr>
        <p:txBody>
          <a:bodyPr wrap="square" lIns="0" tIns="0" rIns="0" bIns="0" rtlCol="0" anchor="ctr"/>
          <a:lstStyle/>
          <a:p>
            <a:pPr indent="0" marL="0">
              <a:buNone/>
            </a:pPr>
            <a:r>
              <a:rPr lang="en-US" sz="950" dirty="0">
                <a:solidFill>
                  <a:srgbClr val="8EAFC7"/>
                </a:solidFill>
                <a:latin typeface="Courier New" pitchFamily="34" charset="0"/>
                <a:ea typeface="Courier New" pitchFamily="34" charset="-122"/>
                <a:cs typeface="Courier New" pitchFamily="34" charset="-120"/>
              </a:rPr>
              <a:t>    └── pre-commit.sh</a:t>
            </a:r>
            <a:endParaRPr lang="en-US" sz="950" dirty="0"/>
          </a:p>
        </p:txBody>
      </p:sp>
      <p:sp>
        <p:nvSpPr>
          <p:cNvPr id="44" name="Shape 42"/>
          <p:cNvSpPr/>
          <p:nvPr/>
        </p:nvSpPr>
        <p:spPr>
          <a:xfrm>
            <a:off x="274320" y="4681728"/>
            <a:ext cx="8595360" cy="347472"/>
          </a:xfrm>
          <a:prstGeom prst="roundRect">
            <a:avLst>
              <a:gd name="adj" fmla="val 18421"/>
            </a:avLst>
          </a:prstGeom>
          <a:solidFill>
            <a:srgbClr val="0D1B2A"/>
          </a:solidFill>
          <a:ln w="12700">
            <a:solidFill>
              <a:srgbClr val="0D1B2A"/>
            </a:solidFill>
            <a:prstDash val="solid"/>
          </a:ln>
        </p:spPr>
      </p:sp>
      <p:sp>
        <p:nvSpPr>
          <p:cNvPr id="45" name="Text 43"/>
          <p:cNvSpPr/>
          <p:nvPr/>
        </p:nvSpPr>
        <p:spPr>
          <a:xfrm>
            <a:off x="365760" y="4681728"/>
            <a:ext cx="8412480" cy="347472"/>
          </a:xfrm>
          <a:prstGeom prst="rect">
            <a:avLst/>
          </a:prstGeom>
          <a:noFill/>
          <a:ln/>
        </p:spPr>
        <p:txBody>
          <a:bodyPr wrap="square" lIns="0" tIns="0" rIns="0" bIns="0" rtlCol="0" anchor="ctr"/>
          <a:lstStyle/>
          <a:p>
            <a:pPr indent="0" marL="0">
              <a:buNone/>
            </a:pPr>
            <a:r>
              <a:rPr lang="en-US" sz="1150" b="1" dirty="0">
                <a:solidFill>
                  <a:srgbClr val="00C2CC"/>
                </a:solidFill>
                <a:latin typeface="Calibri" pitchFamily="34" charset="0"/>
                <a:ea typeface="Calibri" pitchFamily="34" charset="-122"/>
                <a:cs typeface="Calibri" pitchFamily="34" charset="-120"/>
              </a:rPr>
              <a:t>📦  Install: VS Code → Agent Customizations → Plugins → Install Plugin from Source → point to folder or Git URL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3B82F6"/>
          </a:solidFill>
          <a:ln w="12700">
            <a:solidFill>
              <a:srgbClr val="3B82F6"/>
            </a:solidFill>
            <a:prstDash val="solid"/>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Plugin Advantages &amp; Common Plugins in the Wild</a:t>
            </a:r>
            <a:endParaRPr lang="en-US" sz="2000" dirty="0"/>
          </a:p>
        </p:txBody>
      </p:sp>
      <p:sp>
        <p:nvSpPr>
          <p:cNvPr id="4" name="Text 2"/>
          <p:cNvSpPr/>
          <p:nvPr/>
        </p:nvSpPr>
        <p:spPr>
          <a:xfrm>
            <a:off x="274320" y="868680"/>
            <a:ext cx="4114800" cy="320040"/>
          </a:xfrm>
          <a:prstGeom prst="rect">
            <a:avLst/>
          </a:prstGeom>
          <a:noFill/>
          <a:ln/>
        </p:spPr>
        <p:txBody>
          <a:bodyPr wrap="square" lIns="0" tIns="0" rIns="0" bIns="0" rtlCol="0" anchor="ctr"/>
          <a:lstStyle/>
          <a:p>
            <a:pPr indent="0" marL="0">
              <a:buNone/>
            </a:pPr>
            <a:r>
              <a:rPr lang="en-US" sz="1400" b="1" dirty="0">
                <a:solidFill>
                  <a:srgbClr val="00C2CC"/>
                </a:solidFill>
                <a:latin typeface="Cambria" pitchFamily="34" charset="0"/>
                <a:ea typeface="Cambria" pitchFamily="34" charset="-122"/>
                <a:cs typeface="Cambria" pitchFamily="34" charset="-120"/>
              </a:rPr>
              <a:t>Why Use Plugins?</a:t>
            </a:r>
            <a:endParaRPr lang="en-US" sz="1400" dirty="0"/>
          </a:p>
        </p:txBody>
      </p:sp>
      <p:sp>
        <p:nvSpPr>
          <p:cNvPr id="5" name="Shape 3"/>
          <p:cNvSpPr/>
          <p:nvPr/>
        </p:nvSpPr>
        <p:spPr>
          <a:xfrm>
            <a:off x="274320" y="1261872"/>
            <a:ext cx="4114800" cy="585216"/>
          </a:xfrm>
          <a:prstGeom prst="roundRect">
            <a:avLst>
              <a:gd name="adj" fmla="val 12500"/>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47472" y="1371600"/>
            <a:ext cx="4114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804672" y="1316736"/>
            <a:ext cx="34747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One-click team setup</a:t>
            </a:r>
            <a:endParaRPr lang="en-US" sz="1200" dirty="0"/>
          </a:p>
        </p:txBody>
      </p:sp>
      <p:sp>
        <p:nvSpPr>
          <p:cNvPr id="8" name="Text 6"/>
          <p:cNvSpPr/>
          <p:nvPr/>
        </p:nvSpPr>
        <p:spPr>
          <a:xfrm>
            <a:off x="804672" y="1554480"/>
            <a:ext cx="3474720" cy="237744"/>
          </a:xfrm>
          <a:prstGeom prst="rect">
            <a:avLst/>
          </a:prstGeom>
          <a:noFill/>
          <a:ln/>
        </p:spPr>
        <p:txBody>
          <a:bodyPr wrap="square" lIns="0" tIns="0" rIns="0" bIns="0" rtlCol="0" anchor="ctr"/>
          <a:lstStyle/>
          <a:p>
            <a:pPr indent="0" marL="0">
              <a:buNone/>
            </a:pPr>
            <a:r>
              <a:rPr lang="en-US" sz="1050" i="1" dirty="0">
                <a:solidFill>
                  <a:srgbClr val="8EAFC7"/>
                </a:solidFill>
                <a:latin typeface="Calibri" pitchFamily="34" charset="0"/>
                <a:ea typeface="Calibri" pitchFamily="34" charset="-122"/>
                <a:cs typeface="Calibri" pitchFamily="34" charset="-120"/>
              </a:rPr>
              <a:t>Share a Git URL — every dev gets identical skills, instructions &amp; MCP servers instantly</a:t>
            </a:r>
            <a:endParaRPr lang="en-US" sz="1050" dirty="0"/>
          </a:p>
        </p:txBody>
      </p:sp>
      <p:sp>
        <p:nvSpPr>
          <p:cNvPr id="9" name="Shape 7"/>
          <p:cNvSpPr/>
          <p:nvPr/>
        </p:nvSpPr>
        <p:spPr>
          <a:xfrm>
            <a:off x="274320" y="1920240"/>
            <a:ext cx="4114800" cy="585216"/>
          </a:xfrm>
          <a:prstGeom prst="roundRect">
            <a:avLst>
              <a:gd name="adj" fmla="val 12500"/>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347472" y="2029968"/>
            <a:ext cx="4114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Text 9"/>
          <p:cNvSpPr/>
          <p:nvPr/>
        </p:nvSpPr>
        <p:spPr>
          <a:xfrm>
            <a:off x="804672" y="1975104"/>
            <a:ext cx="34747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Version control</a:t>
            </a:r>
            <a:endParaRPr lang="en-US" sz="1200" dirty="0"/>
          </a:p>
        </p:txBody>
      </p:sp>
      <p:sp>
        <p:nvSpPr>
          <p:cNvPr id="12" name="Text 10"/>
          <p:cNvSpPr/>
          <p:nvPr/>
        </p:nvSpPr>
        <p:spPr>
          <a:xfrm>
            <a:off x="804672" y="2212848"/>
            <a:ext cx="3474720" cy="237744"/>
          </a:xfrm>
          <a:prstGeom prst="rect">
            <a:avLst/>
          </a:prstGeom>
          <a:noFill/>
          <a:ln/>
        </p:spPr>
        <p:txBody>
          <a:bodyPr wrap="square" lIns="0" tIns="0" rIns="0" bIns="0" rtlCol="0" anchor="ctr"/>
          <a:lstStyle/>
          <a:p>
            <a:pPr indent="0" marL="0">
              <a:buNone/>
            </a:pPr>
            <a:r>
              <a:rPr lang="en-US" sz="1050" i="1" dirty="0">
                <a:solidFill>
                  <a:srgbClr val="8EAFC7"/>
                </a:solidFill>
                <a:latin typeface="Calibri" pitchFamily="34" charset="0"/>
                <a:ea typeface="Calibri" pitchFamily="34" charset="-122"/>
                <a:cs typeface="Calibri" pitchFamily="34" charset="-120"/>
              </a:rPr>
              <a:t>Pin a plugin version so the whole team stays in sync; upgrade deliberately</a:t>
            </a:r>
            <a:endParaRPr lang="en-US" sz="1050" dirty="0"/>
          </a:p>
        </p:txBody>
      </p:sp>
      <p:sp>
        <p:nvSpPr>
          <p:cNvPr id="13" name="Shape 11"/>
          <p:cNvSpPr/>
          <p:nvPr/>
        </p:nvSpPr>
        <p:spPr>
          <a:xfrm>
            <a:off x="274320" y="2578608"/>
            <a:ext cx="4114800" cy="585216"/>
          </a:xfrm>
          <a:prstGeom prst="roundRect">
            <a:avLst>
              <a:gd name="adj" fmla="val 12500"/>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347472" y="2688336"/>
            <a:ext cx="4114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804672" y="2633472"/>
            <a:ext cx="34747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Reusability across repos</a:t>
            </a:r>
            <a:endParaRPr lang="en-US" sz="1200" dirty="0"/>
          </a:p>
        </p:txBody>
      </p:sp>
      <p:sp>
        <p:nvSpPr>
          <p:cNvPr id="16" name="Text 14"/>
          <p:cNvSpPr/>
          <p:nvPr/>
        </p:nvSpPr>
        <p:spPr>
          <a:xfrm>
            <a:off x="804672" y="2871216"/>
            <a:ext cx="3474720" cy="237744"/>
          </a:xfrm>
          <a:prstGeom prst="rect">
            <a:avLst/>
          </a:prstGeom>
          <a:noFill/>
          <a:ln/>
        </p:spPr>
        <p:txBody>
          <a:bodyPr wrap="square" lIns="0" tIns="0" rIns="0" bIns="0" rtlCol="0" anchor="ctr"/>
          <a:lstStyle/>
          <a:p>
            <a:pPr indent="0" marL="0">
              <a:buNone/>
            </a:pPr>
            <a:r>
              <a:rPr lang="en-US" sz="1050" i="1" dirty="0">
                <a:solidFill>
                  <a:srgbClr val="8EAFC7"/>
                </a:solidFill>
                <a:latin typeface="Calibri" pitchFamily="34" charset="0"/>
                <a:ea typeface="Calibri" pitchFamily="34" charset="-122"/>
                <a:cs typeface="Calibri" pitchFamily="34" charset="-120"/>
              </a:rPr>
              <a:t>Install the same plugin in every project repo — no copy-pasting .github/ folders</a:t>
            </a:r>
            <a:endParaRPr lang="en-US" sz="1050" dirty="0"/>
          </a:p>
        </p:txBody>
      </p:sp>
      <p:sp>
        <p:nvSpPr>
          <p:cNvPr id="17" name="Shape 15"/>
          <p:cNvSpPr/>
          <p:nvPr/>
        </p:nvSpPr>
        <p:spPr>
          <a:xfrm>
            <a:off x="274320" y="3236976"/>
            <a:ext cx="4114800" cy="585216"/>
          </a:xfrm>
          <a:prstGeom prst="roundRect">
            <a:avLst>
              <a:gd name="adj" fmla="val 12500"/>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347472" y="3346704"/>
            <a:ext cx="4114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804672" y="3291840"/>
            <a:ext cx="34747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Org-wide standardisation</a:t>
            </a:r>
            <a:endParaRPr lang="en-US" sz="1200" dirty="0"/>
          </a:p>
        </p:txBody>
      </p:sp>
      <p:sp>
        <p:nvSpPr>
          <p:cNvPr id="20" name="Text 18"/>
          <p:cNvSpPr/>
          <p:nvPr/>
        </p:nvSpPr>
        <p:spPr>
          <a:xfrm>
            <a:off x="804672" y="3529584"/>
            <a:ext cx="3474720" cy="237744"/>
          </a:xfrm>
          <a:prstGeom prst="rect">
            <a:avLst/>
          </a:prstGeom>
          <a:noFill/>
          <a:ln/>
        </p:spPr>
        <p:txBody>
          <a:bodyPr wrap="square" lIns="0" tIns="0" rIns="0" bIns="0" rtlCol="0" anchor="ctr"/>
          <a:lstStyle/>
          <a:p>
            <a:pPr indent="0" marL="0">
              <a:buNone/>
            </a:pPr>
            <a:r>
              <a:rPr lang="en-US" sz="1050" i="1" dirty="0">
                <a:solidFill>
                  <a:srgbClr val="8EAFC7"/>
                </a:solidFill>
                <a:latin typeface="Calibri" pitchFamily="34" charset="0"/>
                <a:ea typeface="Calibri" pitchFamily="34" charset="-122"/>
                <a:cs typeface="Calibri" pitchFamily="34" charset="-120"/>
              </a:rPr>
              <a:t>Platform team publishes one internal plugin encoding all company conventions</a:t>
            </a:r>
            <a:endParaRPr lang="en-US" sz="1050" dirty="0"/>
          </a:p>
        </p:txBody>
      </p:sp>
      <p:sp>
        <p:nvSpPr>
          <p:cNvPr id="21" name="Shape 19"/>
          <p:cNvSpPr/>
          <p:nvPr/>
        </p:nvSpPr>
        <p:spPr>
          <a:xfrm>
            <a:off x="274320" y="3895344"/>
            <a:ext cx="4114800" cy="585216"/>
          </a:xfrm>
          <a:prstGeom prst="roundRect">
            <a:avLst>
              <a:gd name="adj" fmla="val 12500"/>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347472" y="4005072"/>
            <a:ext cx="4114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804672" y="3950208"/>
            <a:ext cx="34747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Updatable centrally</a:t>
            </a:r>
            <a:endParaRPr lang="en-US" sz="1200" dirty="0"/>
          </a:p>
        </p:txBody>
      </p:sp>
      <p:sp>
        <p:nvSpPr>
          <p:cNvPr id="24" name="Text 22"/>
          <p:cNvSpPr/>
          <p:nvPr/>
        </p:nvSpPr>
        <p:spPr>
          <a:xfrm>
            <a:off x="804672" y="4187952"/>
            <a:ext cx="3474720" cy="237744"/>
          </a:xfrm>
          <a:prstGeom prst="rect">
            <a:avLst/>
          </a:prstGeom>
          <a:noFill/>
          <a:ln/>
        </p:spPr>
        <p:txBody>
          <a:bodyPr wrap="square" lIns="0" tIns="0" rIns="0" bIns="0" rtlCol="0" anchor="ctr"/>
          <a:lstStyle/>
          <a:p>
            <a:pPr indent="0" marL="0">
              <a:buNone/>
            </a:pPr>
            <a:r>
              <a:rPr lang="en-US" sz="1050" i="1" dirty="0">
                <a:solidFill>
                  <a:srgbClr val="8EAFC7"/>
                </a:solidFill>
                <a:latin typeface="Calibri" pitchFamily="34" charset="0"/>
                <a:ea typeface="Calibri" pitchFamily="34" charset="-122"/>
                <a:cs typeface="Calibri" pitchFamily="34" charset="-120"/>
              </a:rPr>
              <a:t>Update the plugin source once — every developer gets the new version on next sync</a:t>
            </a:r>
            <a:endParaRPr lang="en-US" sz="1050" dirty="0"/>
          </a:p>
        </p:txBody>
      </p:sp>
      <p:sp>
        <p:nvSpPr>
          <p:cNvPr id="25" name="Text 23"/>
          <p:cNvSpPr/>
          <p:nvPr/>
        </p:nvSpPr>
        <p:spPr>
          <a:xfrm>
            <a:off x="4663440" y="868680"/>
            <a:ext cx="4206240" cy="320040"/>
          </a:xfrm>
          <a:prstGeom prst="rect">
            <a:avLst/>
          </a:prstGeom>
          <a:noFill/>
          <a:ln/>
        </p:spPr>
        <p:txBody>
          <a:bodyPr wrap="square" lIns="0" tIns="0" rIns="0" bIns="0" rtlCol="0" anchor="ctr"/>
          <a:lstStyle/>
          <a:p>
            <a:pPr indent="0" marL="0">
              <a:buNone/>
            </a:pPr>
            <a:r>
              <a:rPr lang="en-US" sz="1400" b="1" dirty="0">
                <a:solidFill>
                  <a:srgbClr val="00C2CC"/>
                </a:solidFill>
                <a:latin typeface="Cambria" pitchFamily="34" charset="0"/>
                <a:ea typeface="Cambria" pitchFamily="34" charset="-122"/>
                <a:cs typeface="Cambria" pitchFamily="34" charset="-120"/>
              </a:rPr>
              <a:t>Common Plugins (Marketplace)</a:t>
            </a:r>
            <a:endParaRPr lang="en-US" sz="1400" dirty="0"/>
          </a:p>
        </p:txBody>
      </p:sp>
      <p:sp>
        <p:nvSpPr>
          <p:cNvPr id="26" name="Shape 24"/>
          <p:cNvSpPr/>
          <p:nvPr/>
        </p:nvSpPr>
        <p:spPr>
          <a:xfrm>
            <a:off x="4663440" y="1261872"/>
            <a:ext cx="4206240" cy="484632"/>
          </a:xfrm>
          <a:prstGeom prst="roundRect">
            <a:avLst>
              <a:gd name="adj" fmla="val 15094"/>
            </a:avLst>
          </a:prstGeom>
          <a:solidFill>
            <a:srgbClr val="161B22"/>
          </a:solidFill>
          <a:ln w="12700">
            <a:solidFill>
              <a:srgbClr val="FFFFFF">
                <a:alpha val="30000"/>
              </a:srgbClr>
            </a:solidFill>
            <a:prstDash val="solid"/>
          </a:ln>
          <a:effectLst>
            <a:outerShdw sx="100000" sy="100000" kx="0" ky="0" algn="bl" rotWithShape="0" blurRad="101600" dist="38100" dir="2700000">
              <a:srgbClr val="000000">
                <a:alpha val="12000"/>
              </a:srgbClr>
            </a:outerShdw>
          </a:effectLst>
        </p:spPr>
      </p:sp>
      <p:sp>
        <p:nvSpPr>
          <p:cNvPr id="27" name="Shape 25"/>
          <p:cNvSpPr/>
          <p:nvPr/>
        </p:nvSpPr>
        <p:spPr>
          <a:xfrm>
            <a:off x="4709160" y="1353312"/>
            <a:ext cx="731520" cy="292608"/>
          </a:xfrm>
          <a:prstGeom prst="roundRect">
            <a:avLst>
              <a:gd name="adj" fmla="val 15625"/>
            </a:avLst>
          </a:prstGeom>
          <a:solidFill>
            <a:srgbClr val="FFFFFF">
              <a:alpha val="15000"/>
            </a:srgbClr>
          </a:solidFill>
          <a:ln w="12700">
            <a:solidFill>
              <a:srgbClr val="FFFFFF"/>
            </a:solidFill>
            <a:prstDash val="solid"/>
          </a:ln>
        </p:spPr>
      </p:sp>
      <p:sp>
        <p:nvSpPr>
          <p:cNvPr id="28" name="Text 26"/>
          <p:cNvSpPr/>
          <p:nvPr/>
        </p:nvSpPr>
        <p:spPr>
          <a:xfrm>
            <a:off x="4709160" y="1353312"/>
            <a:ext cx="7315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GitHub</a:t>
            </a:r>
            <a:endParaRPr lang="en-US" sz="900" dirty="0"/>
          </a:p>
        </p:txBody>
      </p:sp>
      <p:sp>
        <p:nvSpPr>
          <p:cNvPr id="29" name="Shape 27"/>
          <p:cNvSpPr/>
          <p:nvPr/>
        </p:nvSpPr>
        <p:spPr>
          <a:xfrm>
            <a:off x="5486400" y="1353312"/>
            <a:ext cx="548640" cy="173736"/>
          </a:xfrm>
          <a:prstGeom prst="roundRect">
            <a:avLst>
              <a:gd name="adj" fmla="val 21053"/>
            </a:avLst>
          </a:prstGeom>
          <a:solidFill>
            <a:srgbClr val="1A2E45"/>
          </a:solidFill>
          <a:ln w="12700">
            <a:solidFill>
              <a:srgbClr val="3A5068"/>
            </a:solidFill>
            <a:prstDash val="solid"/>
          </a:ln>
        </p:spPr>
      </p:sp>
      <p:sp>
        <p:nvSpPr>
          <p:cNvPr id="30" name="Text 28"/>
          <p:cNvSpPr/>
          <p:nvPr/>
        </p:nvSpPr>
        <p:spPr>
          <a:xfrm>
            <a:off x="5486400" y="1353312"/>
            <a:ext cx="548640" cy="173736"/>
          </a:xfrm>
          <a:prstGeom prst="rect">
            <a:avLst/>
          </a:prstGeom>
          <a:noFill/>
          <a:ln/>
        </p:spPr>
        <p:txBody>
          <a:bodyPr wrap="square" lIns="0" tIns="0" rIns="0" bIns="0" rtlCol="0" anchor="ctr"/>
          <a:lstStyle/>
          <a:p>
            <a:pPr algn="ctr" indent="0" marL="0">
              <a:buNone/>
            </a:pPr>
            <a:r>
              <a:rPr lang="en-US" sz="750" dirty="0">
                <a:solidFill>
                  <a:srgbClr val="8EAFC7"/>
                </a:solidFill>
                <a:latin typeface="Calibri" pitchFamily="34" charset="0"/>
                <a:ea typeface="Calibri" pitchFamily="34" charset="-122"/>
                <a:cs typeface="Calibri" pitchFamily="34" charset="-120"/>
              </a:rPr>
              <a:t>Official</a:t>
            </a:r>
            <a:endParaRPr lang="en-US" sz="750" dirty="0"/>
          </a:p>
        </p:txBody>
      </p:sp>
      <p:sp>
        <p:nvSpPr>
          <p:cNvPr id="31" name="Text 29"/>
          <p:cNvSpPr/>
          <p:nvPr/>
        </p:nvSpPr>
        <p:spPr>
          <a:xfrm>
            <a:off x="6108192" y="1353312"/>
            <a:ext cx="2697480" cy="292608"/>
          </a:xfrm>
          <a:prstGeom prst="rect">
            <a:avLst/>
          </a:prstGeom>
          <a:noFill/>
          <a:ln/>
        </p:spPr>
        <p:txBody>
          <a:bodyPr wrap="square" lIns="0" tIns="0" rIns="0" bIns="0" rtlCol="0" anchor="ctr"/>
          <a:lstStyle/>
          <a:p>
            <a:pPr indent="0" marL="0">
              <a:buNone/>
            </a:pPr>
            <a:r>
              <a:rPr lang="en-US" sz="950" dirty="0">
                <a:solidFill>
                  <a:srgbClr val="8EAFC7"/>
                </a:solidFill>
                <a:latin typeface="Calibri" pitchFamily="34" charset="0"/>
                <a:ea typeface="Calibri" pitchFamily="34" charset="-122"/>
                <a:cs typeface="Calibri" pitchFamily="34" charset="-120"/>
              </a:rPr>
              <a:t>PR reviews, issue creation, repo search, branch management skills</a:t>
            </a:r>
            <a:endParaRPr lang="en-US" sz="950" dirty="0"/>
          </a:p>
        </p:txBody>
      </p:sp>
      <p:sp>
        <p:nvSpPr>
          <p:cNvPr id="32" name="Shape 30"/>
          <p:cNvSpPr/>
          <p:nvPr/>
        </p:nvSpPr>
        <p:spPr>
          <a:xfrm>
            <a:off x="4663440" y="1810512"/>
            <a:ext cx="4206240" cy="484632"/>
          </a:xfrm>
          <a:prstGeom prst="roundRect">
            <a:avLst>
              <a:gd name="adj" fmla="val 15094"/>
            </a:avLst>
          </a:prstGeom>
          <a:solidFill>
            <a:srgbClr val="1A0C0A"/>
          </a:solidFill>
          <a:ln w="12700">
            <a:solidFill>
              <a:srgbClr val="FB4226">
                <a:alpha val="30000"/>
              </a:srgbClr>
            </a:solidFill>
            <a:prstDash val="solid"/>
          </a:ln>
          <a:effectLst>
            <a:outerShdw sx="100000" sy="100000" kx="0" ky="0" algn="bl" rotWithShape="0" blurRad="101600" dist="38100" dir="2700000">
              <a:srgbClr val="000000">
                <a:alpha val="12000"/>
              </a:srgbClr>
            </a:outerShdw>
          </a:effectLst>
        </p:spPr>
      </p:sp>
      <p:sp>
        <p:nvSpPr>
          <p:cNvPr id="33" name="Shape 31"/>
          <p:cNvSpPr/>
          <p:nvPr/>
        </p:nvSpPr>
        <p:spPr>
          <a:xfrm>
            <a:off x="4709160" y="1901952"/>
            <a:ext cx="731520" cy="292608"/>
          </a:xfrm>
          <a:prstGeom prst="roundRect">
            <a:avLst>
              <a:gd name="adj" fmla="val 15625"/>
            </a:avLst>
          </a:prstGeom>
          <a:solidFill>
            <a:srgbClr val="FB4226">
              <a:alpha val="15000"/>
            </a:srgbClr>
          </a:solidFill>
          <a:ln w="12700">
            <a:solidFill>
              <a:srgbClr val="FB4226"/>
            </a:solidFill>
            <a:prstDash val="solid"/>
          </a:ln>
        </p:spPr>
      </p:sp>
      <p:sp>
        <p:nvSpPr>
          <p:cNvPr id="34" name="Text 32"/>
          <p:cNvSpPr/>
          <p:nvPr/>
        </p:nvSpPr>
        <p:spPr>
          <a:xfrm>
            <a:off x="4709160" y="1901952"/>
            <a:ext cx="731520" cy="292608"/>
          </a:xfrm>
          <a:prstGeom prst="rect">
            <a:avLst/>
          </a:prstGeom>
          <a:noFill/>
          <a:ln/>
        </p:spPr>
        <p:txBody>
          <a:bodyPr wrap="square" lIns="0" tIns="0" rIns="0" bIns="0" rtlCol="0" anchor="ctr"/>
          <a:lstStyle/>
          <a:p>
            <a:pPr algn="ctr" indent="0" marL="0">
              <a:buNone/>
            </a:pPr>
            <a:r>
              <a:rPr lang="en-US" sz="900" b="1" dirty="0">
                <a:solidFill>
                  <a:srgbClr val="FB4226"/>
                </a:solidFill>
                <a:latin typeface="Calibri" pitchFamily="34" charset="0"/>
                <a:ea typeface="Calibri" pitchFamily="34" charset="-122"/>
                <a:cs typeface="Calibri" pitchFamily="34" charset="-120"/>
              </a:rPr>
              <a:t>Sentry</a:t>
            </a:r>
            <a:endParaRPr lang="en-US" sz="900" dirty="0"/>
          </a:p>
        </p:txBody>
      </p:sp>
      <p:sp>
        <p:nvSpPr>
          <p:cNvPr id="35" name="Shape 33"/>
          <p:cNvSpPr/>
          <p:nvPr/>
        </p:nvSpPr>
        <p:spPr>
          <a:xfrm>
            <a:off x="5486400" y="1901952"/>
            <a:ext cx="548640" cy="173736"/>
          </a:xfrm>
          <a:prstGeom prst="roundRect">
            <a:avLst>
              <a:gd name="adj" fmla="val 21053"/>
            </a:avLst>
          </a:prstGeom>
          <a:solidFill>
            <a:srgbClr val="1A2E45"/>
          </a:solidFill>
          <a:ln w="12700">
            <a:solidFill>
              <a:srgbClr val="3A5068"/>
            </a:solidFill>
            <a:prstDash val="solid"/>
          </a:ln>
        </p:spPr>
      </p:sp>
      <p:sp>
        <p:nvSpPr>
          <p:cNvPr id="36" name="Text 34"/>
          <p:cNvSpPr/>
          <p:nvPr/>
        </p:nvSpPr>
        <p:spPr>
          <a:xfrm>
            <a:off x="5486400" y="1901952"/>
            <a:ext cx="548640" cy="173736"/>
          </a:xfrm>
          <a:prstGeom prst="rect">
            <a:avLst/>
          </a:prstGeom>
          <a:noFill/>
          <a:ln/>
        </p:spPr>
        <p:txBody>
          <a:bodyPr wrap="square" lIns="0" tIns="0" rIns="0" bIns="0" rtlCol="0" anchor="ctr"/>
          <a:lstStyle/>
          <a:p>
            <a:pPr algn="ctr" indent="0" marL="0">
              <a:buNone/>
            </a:pPr>
            <a:r>
              <a:rPr lang="en-US" sz="750" dirty="0">
                <a:solidFill>
                  <a:srgbClr val="8EAFC7"/>
                </a:solidFill>
                <a:latin typeface="Calibri" pitchFamily="34" charset="0"/>
                <a:ea typeface="Calibri" pitchFamily="34" charset="-122"/>
                <a:cs typeface="Calibri" pitchFamily="34" charset="-120"/>
              </a:rPr>
              <a:t>Official</a:t>
            </a:r>
            <a:endParaRPr lang="en-US" sz="750" dirty="0"/>
          </a:p>
        </p:txBody>
      </p:sp>
      <p:sp>
        <p:nvSpPr>
          <p:cNvPr id="37" name="Text 35"/>
          <p:cNvSpPr/>
          <p:nvPr/>
        </p:nvSpPr>
        <p:spPr>
          <a:xfrm>
            <a:off x="6108192" y="1901952"/>
            <a:ext cx="2697480" cy="292608"/>
          </a:xfrm>
          <a:prstGeom prst="rect">
            <a:avLst/>
          </a:prstGeom>
          <a:noFill/>
          <a:ln/>
        </p:spPr>
        <p:txBody>
          <a:bodyPr wrap="square" lIns="0" tIns="0" rIns="0" bIns="0" rtlCol="0" anchor="ctr"/>
          <a:lstStyle/>
          <a:p>
            <a:pPr indent="0" marL="0">
              <a:buNone/>
            </a:pPr>
            <a:r>
              <a:rPr lang="en-US" sz="950" dirty="0">
                <a:solidFill>
                  <a:srgbClr val="8EAFC7"/>
                </a:solidFill>
                <a:latin typeface="Calibri" pitchFamily="34" charset="0"/>
                <a:ea typeface="Calibri" pitchFamily="34" charset="-122"/>
                <a:cs typeface="Calibri" pitchFamily="34" charset="-120"/>
              </a:rPr>
              <a:t>Query errors, view stack traces, link issues to code inline</a:t>
            </a:r>
            <a:endParaRPr lang="en-US" sz="950" dirty="0"/>
          </a:p>
        </p:txBody>
      </p:sp>
      <p:sp>
        <p:nvSpPr>
          <p:cNvPr id="38" name="Shape 36"/>
          <p:cNvSpPr/>
          <p:nvPr/>
        </p:nvSpPr>
        <p:spPr>
          <a:xfrm>
            <a:off x="4663440" y="2359152"/>
            <a:ext cx="4206240" cy="484632"/>
          </a:xfrm>
          <a:prstGeom prst="roundRect">
            <a:avLst>
              <a:gd name="adj" fmla="val 15094"/>
            </a:avLst>
          </a:prstGeom>
          <a:solidFill>
            <a:srgbClr val="0A1520"/>
          </a:solidFill>
          <a:ln w="12700">
            <a:solidFill>
              <a:srgbClr val="2496ED">
                <a:alpha val="30000"/>
              </a:srgbClr>
            </a:solidFill>
            <a:prstDash val="solid"/>
          </a:ln>
          <a:effectLst>
            <a:outerShdw sx="100000" sy="100000" kx="0" ky="0" algn="bl" rotWithShape="0" blurRad="101600" dist="38100" dir="2700000">
              <a:srgbClr val="000000">
                <a:alpha val="12000"/>
              </a:srgbClr>
            </a:outerShdw>
          </a:effectLst>
        </p:spPr>
      </p:sp>
      <p:sp>
        <p:nvSpPr>
          <p:cNvPr id="39" name="Shape 37"/>
          <p:cNvSpPr/>
          <p:nvPr/>
        </p:nvSpPr>
        <p:spPr>
          <a:xfrm>
            <a:off x="4709160" y="2450592"/>
            <a:ext cx="731520" cy="292608"/>
          </a:xfrm>
          <a:prstGeom prst="roundRect">
            <a:avLst>
              <a:gd name="adj" fmla="val 15625"/>
            </a:avLst>
          </a:prstGeom>
          <a:solidFill>
            <a:srgbClr val="2496ED">
              <a:alpha val="15000"/>
            </a:srgbClr>
          </a:solidFill>
          <a:ln w="12700">
            <a:solidFill>
              <a:srgbClr val="2496ED"/>
            </a:solidFill>
            <a:prstDash val="solid"/>
          </a:ln>
        </p:spPr>
      </p:sp>
      <p:sp>
        <p:nvSpPr>
          <p:cNvPr id="40" name="Text 38"/>
          <p:cNvSpPr/>
          <p:nvPr/>
        </p:nvSpPr>
        <p:spPr>
          <a:xfrm>
            <a:off x="4709160" y="2450592"/>
            <a:ext cx="731520" cy="292608"/>
          </a:xfrm>
          <a:prstGeom prst="rect">
            <a:avLst/>
          </a:prstGeom>
          <a:noFill/>
          <a:ln/>
        </p:spPr>
        <p:txBody>
          <a:bodyPr wrap="square" lIns="0" tIns="0" rIns="0" bIns="0" rtlCol="0" anchor="ctr"/>
          <a:lstStyle/>
          <a:p>
            <a:pPr algn="ctr" indent="0" marL="0">
              <a:buNone/>
            </a:pPr>
            <a:r>
              <a:rPr lang="en-US" sz="900" b="1" dirty="0">
                <a:solidFill>
                  <a:srgbClr val="2496ED"/>
                </a:solidFill>
                <a:latin typeface="Calibri" pitchFamily="34" charset="0"/>
                <a:ea typeface="Calibri" pitchFamily="34" charset="-122"/>
                <a:cs typeface="Calibri" pitchFamily="34" charset="-120"/>
              </a:rPr>
              <a:t>Docker</a:t>
            </a:r>
            <a:endParaRPr lang="en-US" sz="900" dirty="0"/>
          </a:p>
        </p:txBody>
      </p:sp>
      <p:sp>
        <p:nvSpPr>
          <p:cNvPr id="41" name="Shape 39"/>
          <p:cNvSpPr/>
          <p:nvPr/>
        </p:nvSpPr>
        <p:spPr>
          <a:xfrm>
            <a:off x="5486400" y="2450592"/>
            <a:ext cx="548640" cy="173736"/>
          </a:xfrm>
          <a:prstGeom prst="roundRect">
            <a:avLst>
              <a:gd name="adj" fmla="val 21053"/>
            </a:avLst>
          </a:prstGeom>
          <a:solidFill>
            <a:srgbClr val="1A2E45"/>
          </a:solidFill>
          <a:ln w="12700">
            <a:solidFill>
              <a:srgbClr val="3A5068"/>
            </a:solidFill>
            <a:prstDash val="solid"/>
          </a:ln>
        </p:spPr>
      </p:sp>
      <p:sp>
        <p:nvSpPr>
          <p:cNvPr id="42" name="Text 40"/>
          <p:cNvSpPr/>
          <p:nvPr/>
        </p:nvSpPr>
        <p:spPr>
          <a:xfrm>
            <a:off x="5486400" y="2450592"/>
            <a:ext cx="548640" cy="173736"/>
          </a:xfrm>
          <a:prstGeom prst="rect">
            <a:avLst/>
          </a:prstGeom>
          <a:noFill/>
          <a:ln/>
        </p:spPr>
        <p:txBody>
          <a:bodyPr wrap="square" lIns="0" tIns="0" rIns="0" bIns="0" rtlCol="0" anchor="ctr"/>
          <a:lstStyle/>
          <a:p>
            <a:pPr algn="ctr" indent="0" marL="0">
              <a:buNone/>
            </a:pPr>
            <a:r>
              <a:rPr lang="en-US" sz="750" dirty="0">
                <a:solidFill>
                  <a:srgbClr val="8EAFC7"/>
                </a:solidFill>
                <a:latin typeface="Calibri" pitchFamily="34" charset="0"/>
                <a:ea typeface="Calibri" pitchFamily="34" charset="-122"/>
                <a:cs typeface="Calibri" pitchFamily="34" charset="-120"/>
              </a:rPr>
              <a:t>Official</a:t>
            </a:r>
            <a:endParaRPr lang="en-US" sz="750" dirty="0"/>
          </a:p>
        </p:txBody>
      </p:sp>
      <p:sp>
        <p:nvSpPr>
          <p:cNvPr id="43" name="Text 41"/>
          <p:cNvSpPr/>
          <p:nvPr/>
        </p:nvSpPr>
        <p:spPr>
          <a:xfrm>
            <a:off x="6108192" y="2450592"/>
            <a:ext cx="2697480" cy="292608"/>
          </a:xfrm>
          <a:prstGeom prst="rect">
            <a:avLst/>
          </a:prstGeom>
          <a:noFill/>
          <a:ln/>
        </p:spPr>
        <p:txBody>
          <a:bodyPr wrap="square" lIns="0" tIns="0" rIns="0" bIns="0" rtlCol="0" anchor="ctr"/>
          <a:lstStyle/>
          <a:p>
            <a:pPr indent="0" marL="0">
              <a:buNone/>
            </a:pPr>
            <a:r>
              <a:rPr lang="en-US" sz="950" dirty="0">
                <a:solidFill>
                  <a:srgbClr val="8EAFC7"/>
                </a:solidFill>
                <a:latin typeface="Calibri" pitchFamily="34" charset="0"/>
                <a:ea typeface="Calibri" pitchFamily="34" charset="-122"/>
                <a:cs typeface="Calibri" pitchFamily="34" charset="-120"/>
              </a:rPr>
              <a:t>Build, run, debug containers + Docker Hub image search skills</a:t>
            </a:r>
            <a:endParaRPr lang="en-US" sz="950" dirty="0"/>
          </a:p>
        </p:txBody>
      </p:sp>
      <p:sp>
        <p:nvSpPr>
          <p:cNvPr id="44" name="Shape 42"/>
          <p:cNvSpPr/>
          <p:nvPr/>
        </p:nvSpPr>
        <p:spPr>
          <a:xfrm>
            <a:off x="4663440" y="2907792"/>
            <a:ext cx="4206240" cy="484632"/>
          </a:xfrm>
          <a:prstGeom prst="roundRect">
            <a:avLst>
              <a:gd name="adj" fmla="val 15094"/>
            </a:avLst>
          </a:prstGeom>
          <a:solidFill>
            <a:srgbClr val="1A1500"/>
          </a:solidFill>
          <a:ln w="12700">
            <a:solidFill>
              <a:srgbClr val="F59E0B">
                <a:alpha val="30000"/>
              </a:srgbClr>
            </a:solidFill>
            <a:prstDash val="solid"/>
          </a:ln>
          <a:effectLst>
            <a:outerShdw sx="100000" sy="100000" kx="0" ky="0" algn="bl" rotWithShape="0" blurRad="101600" dist="38100" dir="2700000">
              <a:srgbClr val="000000">
                <a:alpha val="12000"/>
              </a:srgbClr>
            </a:outerShdw>
          </a:effectLst>
        </p:spPr>
      </p:sp>
      <p:sp>
        <p:nvSpPr>
          <p:cNvPr id="45" name="Shape 43"/>
          <p:cNvSpPr/>
          <p:nvPr/>
        </p:nvSpPr>
        <p:spPr>
          <a:xfrm>
            <a:off x="4709160" y="2999232"/>
            <a:ext cx="731520" cy="292608"/>
          </a:xfrm>
          <a:prstGeom prst="roundRect">
            <a:avLst>
              <a:gd name="adj" fmla="val 15625"/>
            </a:avLst>
          </a:prstGeom>
          <a:solidFill>
            <a:srgbClr val="F59E0B">
              <a:alpha val="15000"/>
            </a:srgbClr>
          </a:solidFill>
          <a:ln w="12700">
            <a:solidFill>
              <a:srgbClr val="F59E0B"/>
            </a:solidFill>
            <a:prstDash val="solid"/>
          </a:ln>
        </p:spPr>
      </p:sp>
      <p:sp>
        <p:nvSpPr>
          <p:cNvPr id="46" name="Text 44"/>
          <p:cNvSpPr/>
          <p:nvPr/>
        </p:nvSpPr>
        <p:spPr>
          <a:xfrm>
            <a:off x="4709160" y="2999232"/>
            <a:ext cx="731520" cy="292608"/>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Datadog</a:t>
            </a:r>
            <a:endParaRPr lang="en-US" sz="900" dirty="0"/>
          </a:p>
        </p:txBody>
      </p:sp>
      <p:sp>
        <p:nvSpPr>
          <p:cNvPr id="47" name="Shape 45"/>
          <p:cNvSpPr/>
          <p:nvPr/>
        </p:nvSpPr>
        <p:spPr>
          <a:xfrm>
            <a:off x="5486400" y="2999232"/>
            <a:ext cx="548640" cy="173736"/>
          </a:xfrm>
          <a:prstGeom prst="roundRect">
            <a:avLst>
              <a:gd name="adj" fmla="val 21053"/>
            </a:avLst>
          </a:prstGeom>
          <a:solidFill>
            <a:srgbClr val="1A2E45"/>
          </a:solidFill>
          <a:ln w="12700">
            <a:solidFill>
              <a:srgbClr val="3A5068"/>
            </a:solidFill>
            <a:prstDash val="solid"/>
          </a:ln>
        </p:spPr>
      </p:sp>
      <p:sp>
        <p:nvSpPr>
          <p:cNvPr id="48" name="Text 46"/>
          <p:cNvSpPr/>
          <p:nvPr/>
        </p:nvSpPr>
        <p:spPr>
          <a:xfrm>
            <a:off x="5486400" y="2999232"/>
            <a:ext cx="548640" cy="173736"/>
          </a:xfrm>
          <a:prstGeom prst="rect">
            <a:avLst/>
          </a:prstGeom>
          <a:noFill/>
          <a:ln/>
        </p:spPr>
        <p:txBody>
          <a:bodyPr wrap="square" lIns="0" tIns="0" rIns="0" bIns="0" rtlCol="0" anchor="ctr"/>
          <a:lstStyle/>
          <a:p>
            <a:pPr algn="ctr" indent="0" marL="0">
              <a:buNone/>
            </a:pPr>
            <a:r>
              <a:rPr lang="en-US" sz="750" dirty="0">
                <a:solidFill>
                  <a:srgbClr val="8EAFC7"/>
                </a:solidFill>
                <a:latin typeface="Calibri" pitchFamily="34" charset="0"/>
                <a:ea typeface="Calibri" pitchFamily="34" charset="-122"/>
                <a:cs typeface="Calibri" pitchFamily="34" charset="-120"/>
              </a:rPr>
              <a:t>Official</a:t>
            </a:r>
            <a:endParaRPr lang="en-US" sz="750" dirty="0"/>
          </a:p>
        </p:txBody>
      </p:sp>
      <p:sp>
        <p:nvSpPr>
          <p:cNvPr id="49" name="Text 47"/>
          <p:cNvSpPr/>
          <p:nvPr/>
        </p:nvSpPr>
        <p:spPr>
          <a:xfrm>
            <a:off x="6108192" y="2999232"/>
            <a:ext cx="2697480" cy="292608"/>
          </a:xfrm>
          <a:prstGeom prst="rect">
            <a:avLst/>
          </a:prstGeom>
          <a:noFill/>
          <a:ln/>
        </p:spPr>
        <p:txBody>
          <a:bodyPr wrap="square" lIns="0" tIns="0" rIns="0" bIns="0" rtlCol="0" anchor="ctr"/>
          <a:lstStyle/>
          <a:p>
            <a:pPr indent="0" marL="0">
              <a:buNone/>
            </a:pPr>
            <a:r>
              <a:rPr lang="en-US" sz="950" dirty="0">
                <a:solidFill>
                  <a:srgbClr val="8EAFC7"/>
                </a:solidFill>
                <a:latin typeface="Calibri" pitchFamily="34" charset="0"/>
                <a:ea typeface="Calibri" pitchFamily="34" charset="-122"/>
                <a:cs typeface="Calibri" pitchFamily="34" charset="-120"/>
              </a:rPr>
              <a:t>Query metrics, view alerts, trace requests from within Copilot Chat</a:t>
            </a:r>
            <a:endParaRPr lang="en-US" sz="950" dirty="0"/>
          </a:p>
        </p:txBody>
      </p:sp>
      <p:sp>
        <p:nvSpPr>
          <p:cNvPr id="50" name="Shape 48"/>
          <p:cNvSpPr/>
          <p:nvPr/>
        </p:nvSpPr>
        <p:spPr>
          <a:xfrm>
            <a:off x="4663440" y="3456432"/>
            <a:ext cx="4206240" cy="484632"/>
          </a:xfrm>
          <a:prstGeom prst="roundRect">
            <a:avLst>
              <a:gd name="adj" fmla="val 15094"/>
            </a:avLst>
          </a:prstGeom>
          <a:solidFill>
            <a:srgbClr val="0A1020"/>
          </a:solidFill>
          <a:ln w="12700">
            <a:solidFill>
              <a:srgbClr val="0052CC">
                <a:alpha val="30000"/>
              </a:srgbClr>
            </a:solidFill>
            <a:prstDash val="solid"/>
          </a:ln>
          <a:effectLst>
            <a:outerShdw sx="100000" sy="100000" kx="0" ky="0" algn="bl" rotWithShape="0" blurRad="101600" dist="38100" dir="2700000">
              <a:srgbClr val="000000">
                <a:alpha val="12000"/>
              </a:srgbClr>
            </a:outerShdw>
          </a:effectLst>
        </p:spPr>
      </p:sp>
      <p:sp>
        <p:nvSpPr>
          <p:cNvPr id="51" name="Shape 49"/>
          <p:cNvSpPr/>
          <p:nvPr/>
        </p:nvSpPr>
        <p:spPr>
          <a:xfrm>
            <a:off x="4709160" y="3547872"/>
            <a:ext cx="731520" cy="292608"/>
          </a:xfrm>
          <a:prstGeom prst="roundRect">
            <a:avLst>
              <a:gd name="adj" fmla="val 15625"/>
            </a:avLst>
          </a:prstGeom>
          <a:solidFill>
            <a:srgbClr val="0052CC">
              <a:alpha val="15000"/>
            </a:srgbClr>
          </a:solidFill>
          <a:ln w="12700">
            <a:solidFill>
              <a:srgbClr val="0052CC"/>
            </a:solidFill>
            <a:prstDash val="solid"/>
          </a:ln>
        </p:spPr>
      </p:sp>
      <p:sp>
        <p:nvSpPr>
          <p:cNvPr id="52" name="Text 50"/>
          <p:cNvSpPr/>
          <p:nvPr/>
        </p:nvSpPr>
        <p:spPr>
          <a:xfrm>
            <a:off x="4709160" y="3547872"/>
            <a:ext cx="731520" cy="292608"/>
          </a:xfrm>
          <a:prstGeom prst="rect">
            <a:avLst/>
          </a:prstGeom>
          <a:noFill/>
          <a:ln/>
        </p:spPr>
        <p:txBody>
          <a:bodyPr wrap="square" lIns="0" tIns="0" rIns="0" bIns="0" rtlCol="0" anchor="ctr"/>
          <a:lstStyle/>
          <a:p>
            <a:pPr algn="ctr" indent="0" marL="0">
              <a:buNone/>
            </a:pPr>
            <a:r>
              <a:rPr lang="en-US" sz="900" b="1" dirty="0">
                <a:solidFill>
                  <a:srgbClr val="0052CC"/>
                </a:solidFill>
                <a:latin typeface="Calibri" pitchFamily="34" charset="0"/>
                <a:ea typeface="Calibri" pitchFamily="34" charset="-122"/>
                <a:cs typeface="Calibri" pitchFamily="34" charset="-120"/>
              </a:rPr>
              <a:t>Atlassian</a:t>
            </a:r>
            <a:endParaRPr lang="en-US" sz="900" dirty="0"/>
          </a:p>
        </p:txBody>
      </p:sp>
      <p:sp>
        <p:nvSpPr>
          <p:cNvPr id="53" name="Shape 51"/>
          <p:cNvSpPr/>
          <p:nvPr/>
        </p:nvSpPr>
        <p:spPr>
          <a:xfrm>
            <a:off x="5486400" y="3547872"/>
            <a:ext cx="548640" cy="173736"/>
          </a:xfrm>
          <a:prstGeom prst="roundRect">
            <a:avLst>
              <a:gd name="adj" fmla="val 21053"/>
            </a:avLst>
          </a:prstGeom>
          <a:solidFill>
            <a:srgbClr val="1A2E45"/>
          </a:solidFill>
          <a:ln w="12700">
            <a:solidFill>
              <a:srgbClr val="3A5068"/>
            </a:solidFill>
            <a:prstDash val="solid"/>
          </a:ln>
        </p:spPr>
      </p:sp>
      <p:sp>
        <p:nvSpPr>
          <p:cNvPr id="54" name="Text 52"/>
          <p:cNvSpPr/>
          <p:nvPr/>
        </p:nvSpPr>
        <p:spPr>
          <a:xfrm>
            <a:off x="5486400" y="3547872"/>
            <a:ext cx="548640" cy="173736"/>
          </a:xfrm>
          <a:prstGeom prst="rect">
            <a:avLst/>
          </a:prstGeom>
          <a:noFill/>
          <a:ln/>
        </p:spPr>
        <p:txBody>
          <a:bodyPr wrap="square" lIns="0" tIns="0" rIns="0" bIns="0" rtlCol="0" anchor="ctr"/>
          <a:lstStyle/>
          <a:p>
            <a:pPr algn="ctr" indent="0" marL="0">
              <a:buNone/>
            </a:pPr>
            <a:r>
              <a:rPr lang="en-US" sz="750" dirty="0">
                <a:solidFill>
                  <a:srgbClr val="8EAFC7"/>
                </a:solidFill>
                <a:latin typeface="Calibri" pitchFamily="34" charset="0"/>
                <a:ea typeface="Calibri" pitchFamily="34" charset="-122"/>
                <a:cs typeface="Calibri" pitchFamily="34" charset="-120"/>
              </a:rPr>
              <a:t>Official</a:t>
            </a:r>
            <a:endParaRPr lang="en-US" sz="750" dirty="0"/>
          </a:p>
        </p:txBody>
      </p:sp>
      <p:sp>
        <p:nvSpPr>
          <p:cNvPr id="55" name="Text 53"/>
          <p:cNvSpPr/>
          <p:nvPr/>
        </p:nvSpPr>
        <p:spPr>
          <a:xfrm>
            <a:off x="6108192" y="3547872"/>
            <a:ext cx="2697480" cy="292608"/>
          </a:xfrm>
          <a:prstGeom prst="rect">
            <a:avLst/>
          </a:prstGeom>
          <a:noFill/>
          <a:ln/>
        </p:spPr>
        <p:txBody>
          <a:bodyPr wrap="square" lIns="0" tIns="0" rIns="0" bIns="0" rtlCol="0" anchor="ctr"/>
          <a:lstStyle/>
          <a:p>
            <a:pPr indent="0" marL="0">
              <a:buNone/>
            </a:pPr>
            <a:r>
              <a:rPr lang="en-US" sz="950" dirty="0">
                <a:solidFill>
                  <a:srgbClr val="8EAFC7"/>
                </a:solidFill>
                <a:latin typeface="Calibri" pitchFamily="34" charset="0"/>
                <a:ea typeface="Calibri" pitchFamily="34" charset="-122"/>
                <a:cs typeface="Calibri" pitchFamily="34" charset="-120"/>
              </a:rPr>
              <a:t>Create/update Jira tickets, Confluence pages, run JQL queries</a:t>
            </a:r>
            <a:endParaRPr lang="en-US" sz="950" dirty="0"/>
          </a:p>
        </p:txBody>
      </p:sp>
      <p:sp>
        <p:nvSpPr>
          <p:cNvPr id="56" name="Shape 54"/>
          <p:cNvSpPr/>
          <p:nvPr/>
        </p:nvSpPr>
        <p:spPr>
          <a:xfrm>
            <a:off x="4663440" y="4005072"/>
            <a:ext cx="4206240" cy="484632"/>
          </a:xfrm>
          <a:prstGeom prst="roundRect">
            <a:avLst>
              <a:gd name="adj" fmla="val 15094"/>
            </a:avLst>
          </a:prstGeom>
          <a:solidFill>
            <a:srgbClr val="0A1A10"/>
          </a:solidFill>
          <a:ln w="12700">
            <a:solidFill>
              <a:srgbClr val="10B981">
                <a:alpha val="30000"/>
              </a:srgbClr>
            </a:solidFill>
            <a:prstDash val="solid"/>
          </a:ln>
          <a:effectLst>
            <a:outerShdw sx="100000" sy="100000" kx="0" ky="0" algn="bl" rotWithShape="0" blurRad="101600" dist="38100" dir="2700000">
              <a:srgbClr val="000000">
                <a:alpha val="12000"/>
              </a:srgbClr>
            </a:outerShdw>
          </a:effectLst>
        </p:spPr>
      </p:sp>
      <p:sp>
        <p:nvSpPr>
          <p:cNvPr id="57" name="Shape 55"/>
          <p:cNvSpPr/>
          <p:nvPr/>
        </p:nvSpPr>
        <p:spPr>
          <a:xfrm>
            <a:off x="4709160" y="4096512"/>
            <a:ext cx="731520" cy="292608"/>
          </a:xfrm>
          <a:prstGeom prst="roundRect">
            <a:avLst>
              <a:gd name="adj" fmla="val 15625"/>
            </a:avLst>
          </a:prstGeom>
          <a:solidFill>
            <a:srgbClr val="10B981"/>
          </a:solidFill>
          <a:ln w="12700">
            <a:solidFill>
              <a:srgbClr val="10B981"/>
            </a:solidFill>
            <a:prstDash val="solid"/>
          </a:ln>
        </p:spPr>
      </p:sp>
      <p:sp>
        <p:nvSpPr>
          <p:cNvPr id="58" name="Text 56"/>
          <p:cNvSpPr/>
          <p:nvPr/>
        </p:nvSpPr>
        <p:spPr>
          <a:xfrm>
            <a:off x="4709160" y="4096512"/>
            <a:ext cx="731520" cy="29260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Your Own</a:t>
            </a:r>
            <a:endParaRPr lang="en-US" sz="900" dirty="0"/>
          </a:p>
        </p:txBody>
      </p:sp>
      <p:sp>
        <p:nvSpPr>
          <p:cNvPr id="59" name="Shape 57"/>
          <p:cNvSpPr/>
          <p:nvPr/>
        </p:nvSpPr>
        <p:spPr>
          <a:xfrm>
            <a:off x="5486400" y="4096512"/>
            <a:ext cx="548640" cy="173736"/>
          </a:xfrm>
          <a:prstGeom prst="roundRect">
            <a:avLst>
              <a:gd name="adj" fmla="val 21053"/>
            </a:avLst>
          </a:prstGeom>
          <a:solidFill>
            <a:srgbClr val="1A2E45"/>
          </a:solidFill>
          <a:ln w="12700">
            <a:solidFill>
              <a:srgbClr val="3A5068"/>
            </a:solidFill>
            <a:prstDash val="solid"/>
          </a:ln>
        </p:spPr>
      </p:sp>
      <p:sp>
        <p:nvSpPr>
          <p:cNvPr id="60" name="Text 58"/>
          <p:cNvSpPr/>
          <p:nvPr/>
        </p:nvSpPr>
        <p:spPr>
          <a:xfrm>
            <a:off x="5486400" y="4096512"/>
            <a:ext cx="548640" cy="173736"/>
          </a:xfrm>
          <a:prstGeom prst="rect">
            <a:avLst/>
          </a:prstGeom>
          <a:noFill/>
          <a:ln/>
        </p:spPr>
        <p:txBody>
          <a:bodyPr wrap="square" lIns="0" tIns="0" rIns="0" bIns="0" rtlCol="0" anchor="ctr"/>
          <a:lstStyle/>
          <a:p>
            <a:pPr algn="ctr" indent="0" marL="0">
              <a:buNone/>
            </a:pPr>
            <a:r>
              <a:rPr lang="en-US" sz="750" dirty="0">
                <a:solidFill>
                  <a:srgbClr val="8EAFC7"/>
                </a:solidFill>
                <a:latin typeface="Calibri" pitchFamily="34" charset="0"/>
                <a:ea typeface="Calibri" pitchFamily="34" charset="-122"/>
                <a:cs typeface="Calibri" pitchFamily="34" charset="-120"/>
              </a:rPr>
              <a:t>Custom</a:t>
            </a:r>
            <a:endParaRPr lang="en-US" sz="750" dirty="0"/>
          </a:p>
        </p:txBody>
      </p:sp>
      <p:sp>
        <p:nvSpPr>
          <p:cNvPr id="61" name="Text 59"/>
          <p:cNvSpPr/>
          <p:nvPr/>
        </p:nvSpPr>
        <p:spPr>
          <a:xfrm>
            <a:off x="6108192" y="4096512"/>
            <a:ext cx="2697480" cy="292608"/>
          </a:xfrm>
          <a:prstGeom prst="rect">
            <a:avLst/>
          </a:prstGeom>
          <a:noFill/>
          <a:ln/>
        </p:spPr>
        <p:txBody>
          <a:bodyPr wrap="square" lIns="0" tIns="0" rIns="0" bIns="0" rtlCol="0" anchor="ctr"/>
          <a:lstStyle/>
          <a:p>
            <a:pPr indent="0" marL="0">
              <a:buNone/>
            </a:pPr>
            <a:r>
              <a:rPr lang="en-US" sz="950" dirty="0">
                <a:solidFill>
                  <a:srgbClr val="8EAFC7"/>
                </a:solidFill>
                <a:latin typeface="Calibri" pitchFamily="34" charset="0"/>
                <a:ea typeface="Calibri" pitchFamily="34" charset="-122"/>
                <a:cs typeface="Calibri" pitchFamily="34" charset="-120"/>
              </a:rPr>
              <a:t>Internal APIs, company playbooks, team-specific tooling — anything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7C3AED"/>
          </a:solidFill>
          <a:ln w="12700">
            <a:solidFill>
              <a:srgbClr val="7C3AED"/>
            </a:solidFill>
            <a:prstDash val="solid"/>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  What Are Hooks — Event-Driven Automation for Copilot</a:t>
            </a:r>
            <a:endParaRPr lang="en-US" sz="1900" dirty="0"/>
          </a:p>
        </p:txBody>
      </p:sp>
      <p:sp>
        <p:nvSpPr>
          <p:cNvPr id="4" name="Text 2"/>
          <p:cNvSpPr/>
          <p:nvPr/>
        </p:nvSpPr>
        <p:spPr>
          <a:xfrm>
            <a:off x="365760" y="795528"/>
            <a:ext cx="8412480" cy="292608"/>
          </a:xfrm>
          <a:prstGeom prst="rect">
            <a:avLst/>
          </a:prstGeom>
          <a:noFill/>
          <a:ln/>
        </p:spPr>
        <p:txBody>
          <a:bodyPr wrap="square" rtlCol="0" anchor="ctr"/>
          <a:lstStyle/>
          <a:p>
            <a:pPr indent="0" marL="0">
              <a:buNone/>
            </a:pPr>
            <a:r>
              <a:rPr lang="en-US" sz="1150" i="1" dirty="0">
                <a:solidFill>
                  <a:srgbClr val="7C3AED"/>
                </a:solidFill>
                <a:latin typeface="Calibri" pitchFamily="34" charset="0"/>
                <a:ea typeface="Calibri" pitchFamily="34" charset="-122"/>
                <a:cs typeface="Calibri" pitchFamily="34" charset="-120"/>
              </a:rPr>
              <a:t>Hooks run a script automatically when a specific Copilot lifecycle event fires — like git hooks but for AI actions</a:t>
            </a:r>
            <a:endParaRPr lang="en-US" sz="1150" dirty="0"/>
          </a:p>
        </p:txBody>
      </p:sp>
      <p:sp>
        <p:nvSpPr>
          <p:cNvPr id="5" name="Text 3"/>
          <p:cNvSpPr/>
          <p:nvPr/>
        </p:nvSpPr>
        <p:spPr>
          <a:xfrm>
            <a:off x="274320" y="1143000"/>
            <a:ext cx="4023360" cy="32004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The Hook Lifecycle</a:t>
            </a:r>
            <a:endParaRPr lang="en-US" sz="1400" dirty="0"/>
          </a:p>
        </p:txBody>
      </p:sp>
      <p:sp>
        <p:nvSpPr>
          <p:cNvPr id="6" name="Shape 4"/>
          <p:cNvSpPr/>
          <p:nvPr/>
        </p:nvSpPr>
        <p:spPr>
          <a:xfrm>
            <a:off x="274320" y="1536192"/>
            <a:ext cx="1508760" cy="1005840"/>
          </a:xfrm>
          <a:prstGeom prst="roundRect">
            <a:avLst>
              <a:gd name="adj" fmla="val 9091"/>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274320" y="1572768"/>
            <a:ext cx="1508760" cy="38404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274320" y="1938528"/>
            <a:ext cx="1508760" cy="530352"/>
          </a:xfrm>
          <a:prstGeom prst="rect">
            <a:avLst/>
          </a:prstGeom>
          <a:noFill/>
          <a:ln/>
        </p:spPr>
        <p:txBody>
          <a:bodyPr wrap="square" lIns="0" tIns="0" rIns="0" bIns="0" rtlCol="0" anchor="ctr"/>
          <a:lstStyle/>
          <a:p>
            <a:pPr algn="ctr" indent="0" marL="0">
              <a:buNone/>
            </a:pPr>
            <a:r>
              <a:rPr lang="en-US" sz="1050" dirty="0">
                <a:solidFill>
                  <a:srgbClr val="8EAFC7"/>
                </a:solidFill>
                <a:latin typeface="Calibri" pitchFamily="34" charset="0"/>
                <a:ea typeface="Calibri" pitchFamily="34" charset="-122"/>
                <a:cs typeface="Calibri" pitchFamily="34" charset="-120"/>
              </a:rPr>
              <a:t>User sends</a:t>
            </a:r>
            <a:endParaRPr lang="en-US" sz="1050" dirty="0"/>
          </a:p>
          <a:p>
            <a:pPr algn="ctr" indent="0" marL="0">
              <a:buNone/>
            </a:pPr>
            <a:r>
              <a:rPr lang="en-US" sz="1050" dirty="0">
                <a:solidFill>
                  <a:srgbClr val="8EAFC7"/>
                </a:solidFill>
                <a:latin typeface="Calibri" pitchFamily="34" charset="0"/>
                <a:ea typeface="Calibri" pitchFamily="34" charset="-122"/>
                <a:cs typeface="Calibri" pitchFamily="34" charset="-120"/>
              </a:rPr>
              <a:t>prompt</a:t>
            </a:r>
            <a:endParaRPr lang="en-US" sz="1050" dirty="0"/>
          </a:p>
        </p:txBody>
      </p:sp>
      <p:sp>
        <p:nvSpPr>
          <p:cNvPr id="9" name="Text 7"/>
          <p:cNvSpPr/>
          <p:nvPr/>
        </p:nvSpPr>
        <p:spPr>
          <a:xfrm>
            <a:off x="1783080" y="1874520"/>
            <a:ext cx="210312" cy="29260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1993392" y="1536192"/>
            <a:ext cx="1508760" cy="1005840"/>
          </a:xfrm>
          <a:prstGeom prst="roundRect">
            <a:avLst>
              <a:gd name="adj" fmla="val 9091"/>
            </a:avLst>
          </a:prstGeom>
          <a:solidFill>
            <a:srgbClr val="7C3AED"/>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1993392" y="1572768"/>
            <a:ext cx="1508760" cy="38404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1993392" y="1938528"/>
            <a:ext cx="150876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pre-request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hook fires</a:t>
            </a:r>
            <a:endParaRPr lang="en-US" sz="1050" dirty="0"/>
          </a:p>
        </p:txBody>
      </p:sp>
      <p:sp>
        <p:nvSpPr>
          <p:cNvPr id="13" name="Text 11"/>
          <p:cNvSpPr/>
          <p:nvPr/>
        </p:nvSpPr>
        <p:spPr>
          <a:xfrm>
            <a:off x="3502152" y="1874520"/>
            <a:ext cx="210312" cy="29260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3712464" y="1536192"/>
            <a:ext cx="1508760" cy="1005840"/>
          </a:xfrm>
          <a:prstGeom prst="roundRect">
            <a:avLst>
              <a:gd name="adj" fmla="val 9091"/>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3712464" y="1572768"/>
            <a:ext cx="1508760" cy="38404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3712464" y="1938528"/>
            <a:ext cx="1508760" cy="530352"/>
          </a:xfrm>
          <a:prstGeom prst="rect">
            <a:avLst/>
          </a:prstGeom>
          <a:noFill/>
          <a:ln/>
        </p:spPr>
        <p:txBody>
          <a:bodyPr wrap="square" lIns="0" tIns="0" rIns="0" bIns="0" rtlCol="0" anchor="ctr"/>
          <a:lstStyle/>
          <a:p>
            <a:pPr algn="ctr" indent="0" marL="0">
              <a:buNone/>
            </a:pPr>
            <a:r>
              <a:rPr lang="en-US" sz="1050" dirty="0">
                <a:solidFill>
                  <a:srgbClr val="8EAFC7"/>
                </a:solidFill>
                <a:latin typeface="Calibri" pitchFamily="34" charset="0"/>
                <a:ea typeface="Calibri" pitchFamily="34" charset="-122"/>
                <a:cs typeface="Calibri" pitchFamily="34" charset="-120"/>
              </a:rPr>
              <a:t>Model</a:t>
            </a:r>
            <a:endParaRPr lang="en-US" sz="1050" dirty="0"/>
          </a:p>
          <a:p>
            <a:pPr algn="ctr" indent="0" marL="0">
              <a:buNone/>
            </a:pPr>
            <a:r>
              <a:rPr lang="en-US" sz="1050" dirty="0">
                <a:solidFill>
                  <a:srgbClr val="8EAFC7"/>
                </a:solidFill>
                <a:latin typeface="Calibri" pitchFamily="34" charset="0"/>
                <a:ea typeface="Calibri" pitchFamily="34" charset="-122"/>
                <a:cs typeface="Calibri" pitchFamily="34" charset="-120"/>
              </a:rPr>
              <a:t>processes</a:t>
            </a:r>
            <a:endParaRPr lang="en-US" sz="1050" dirty="0"/>
          </a:p>
        </p:txBody>
      </p:sp>
      <p:sp>
        <p:nvSpPr>
          <p:cNvPr id="17" name="Text 15"/>
          <p:cNvSpPr/>
          <p:nvPr/>
        </p:nvSpPr>
        <p:spPr>
          <a:xfrm>
            <a:off x="5221224" y="1874520"/>
            <a:ext cx="210312" cy="29260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5431536" y="1536192"/>
            <a:ext cx="1508760" cy="1005840"/>
          </a:xfrm>
          <a:prstGeom prst="roundRect">
            <a:avLst>
              <a:gd name="adj" fmla="val 9091"/>
            </a:avLst>
          </a:prstGeom>
          <a:solidFill>
            <a:srgbClr val="7C3AED"/>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5431536" y="1572768"/>
            <a:ext cx="1508760" cy="38404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5431536" y="1938528"/>
            <a:ext cx="1508760" cy="5303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post-response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hook fires</a:t>
            </a:r>
            <a:endParaRPr lang="en-US" sz="1050" dirty="0"/>
          </a:p>
        </p:txBody>
      </p:sp>
      <p:sp>
        <p:nvSpPr>
          <p:cNvPr id="21" name="Text 19"/>
          <p:cNvSpPr/>
          <p:nvPr/>
        </p:nvSpPr>
        <p:spPr>
          <a:xfrm>
            <a:off x="6940296" y="1874520"/>
            <a:ext cx="210312" cy="29260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7150608" y="1536192"/>
            <a:ext cx="1508760" cy="1005840"/>
          </a:xfrm>
          <a:prstGeom prst="roundRect">
            <a:avLst>
              <a:gd name="adj" fmla="val 9091"/>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23" name="Text 21"/>
          <p:cNvSpPr/>
          <p:nvPr/>
        </p:nvSpPr>
        <p:spPr>
          <a:xfrm>
            <a:off x="7150608" y="1572768"/>
            <a:ext cx="1508760" cy="38404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7150608" y="1938528"/>
            <a:ext cx="1508760" cy="530352"/>
          </a:xfrm>
          <a:prstGeom prst="rect">
            <a:avLst/>
          </a:prstGeom>
          <a:noFill/>
          <a:ln/>
        </p:spPr>
        <p:txBody>
          <a:bodyPr wrap="square" lIns="0" tIns="0" rIns="0" bIns="0" rtlCol="0" anchor="ctr"/>
          <a:lstStyle/>
          <a:p>
            <a:pPr algn="ctr" indent="0" marL="0">
              <a:buNone/>
            </a:pPr>
            <a:r>
              <a:rPr lang="en-US" sz="1050" dirty="0">
                <a:solidFill>
                  <a:srgbClr val="8EAFC7"/>
                </a:solidFill>
                <a:latin typeface="Calibri" pitchFamily="34" charset="0"/>
                <a:ea typeface="Calibri" pitchFamily="34" charset="-122"/>
                <a:cs typeface="Calibri" pitchFamily="34" charset="-120"/>
              </a:rPr>
              <a:t>Response</a:t>
            </a:r>
            <a:endParaRPr lang="en-US" sz="1050" dirty="0"/>
          </a:p>
          <a:p>
            <a:pPr algn="ctr" indent="0" marL="0">
              <a:buNone/>
            </a:pPr>
            <a:r>
              <a:rPr lang="en-US" sz="1050" dirty="0">
                <a:solidFill>
                  <a:srgbClr val="8EAFC7"/>
                </a:solidFill>
                <a:latin typeface="Calibri" pitchFamily="34" charset="0"/>
                <a:ea typeface="Calibri" pitchFamily="34" charset="-122"/>
                <a:cs typeface="Calibri" pitchFamily="34" charset="-120"/>
              </a:rPr>
              <a:t>delivered</a:t>
            </a:r>
            <a:endParaRPr lang="en-US" sz="1050" dirty="0"/>
          </a:p>
        </p:txBody>
      </p:sp>
      <p:sp>
        <p:nvSpPr>
          <p:cNvPr id="25" name="Text 23"/>
          <p:cNvSpPr/>
          <p:nvPr/>
        </p:nvSpPr>
        <p:spPr>
          <a:xfrm>
            <a:off x="274320" y="2670048"/>
            <a:ext cx="8595360" cy="32004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Common Hook Types &amp; Real Examples</a:t>
            </a:r>
            <a:endParaRPr lang="en-US" sz="1400" dirty="0"/>
          </a:p>
        </p:txBody>
      </p:sp>
      <p:sp>
        <p:nvSpPr>
          <p:cNvPr id="26" name="Shape 24"/>
          <p:cNvSpPr/>
          <p:nvPr/>
        </p:nvSpPr>
        <p:spPr>
          <a:xfrm>
            <a:off x="274320" y="3063240"/>
            <a:ext cx="8595360" cy="420624"/>
          </a:xfrm>
          <a:prstGeom prst="roundRect">
            <a:avLst>
              <a:gd name="adj" fmla="val 13043"/>
            </a:avLst>
          </a:prstGeom>
          <a:solidFill>
            <a:srgbClr val="EFF6F7"/>
          </a:solidFill>
          <a:ln w="12700">
            <a:solidFill>
              <a:srgbClr val="E2E8F0"/>
            </a:solidFill>
            <a:prstDash val="solid"/>
          </a:ln>
        </p:spPr>
      </p:sp>
      <p:sp>
        <p:nvSpPr>
          <p:cNvPr id="27" name="Shape 25"/>
          <p:cNvSpPr/>
          <p:nvPr/>
        </p:nvSpPr>
        <p:spPr>
          <a:xfrm>
            <a:off x="274320" y="3063240"/>
            <a:ext cx="164592" cy="420624"/>
          </a:xfrm>
          <a:prstGeom prst="roundRect">
            <a:avLst>
              <a:gd name="adj" fmla="val 22222"/>
            </a:avLst>
          </a:prstGeom>
          <a:solidFill>
            <a:srgbClr val="7C3AED"/>
          </a:solidFill>
          <a:ln w="12700">
            <a:solidFill>
              <a:srgbClr val="7C3AED"/>
            </a:solidFill>
            <a:prstDash val="solid"/>
          </a:ln>
        </p:spPr>
      </p:sp>
      <p:sp>
        <p:nvSpPr>
          <p:cNvPr id="28" name="Text 26"/>
          <p:cNvSpPr/>
          <p:nvPr/>
        </p:nvSpPr>
        <p:spPr>
          <a:xfrm>
            <a:off x="502920" y="3063240"/>
            <a:ext cx="1508760" cy="420624"/>
          </a:xfrm>
          <a:prstGeom prst="rect">
            <a:avLst/>
          </a:prstGeom>
          <a:noFill/>
          <a:ln/>
        </p:spPr>
        <p:txBody>
          <a:bodyPr wrap="square" lIns="0" tIns="0" rIns="0" bIns="0" rtlCol="0" anchor="ctr"/>
          <a:lstStyle/>
          <a:p>
            <a:pPr indent="0" marL="0">
              <a:buNone/>
            </a:pPr>
            <a:r>
              <a:rPr lang="en-US" sz="1100" b="1" dirty="0">
                <a:solidFill>
                  <a:srgbClr val="7C3AED"/>
                </a:solidFill>
                <a:latin typeface="Courier New" pitchFamily="34" charset="0"/>
                <a:ea typeface="Courier New" pitchFamily="34" charset="-122"/>
                <a:cs typeface="Courier New" pitchFamily="34" charset="-120"/>
              </a:rPr>
              <a:t>pre-request</a:t>
            </a:r>
            <a:endParaRPr lang="en-US" sz="1100" dirty="0"/>
          </a:p>
        </p:txBody>
      </p:sp>
      <p:sp>
        <p:nvSpPr>
          <p:cNvPr id="29" name="Text 27"/>
          <p:cNvSpPr/>
          <p:nvPr/>
        </p:nvSpPr>
        <p:spPr>
          <a:xfrm>
            <a:off x="2057400" y="3063240"/>
            <a:ext cx="2331720" cy="42062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Before prompt is sent to model</a:t>
            </a:r>
            <a:endParaRPr lang="en-US" sz="1050" dirty="0"/>
          </a:p>
        </p:txBody>
      </p:sp>
      <p:sp>
        <p:nvSpPr>
          <p:cNvPr id="30" name="Shape 28"/>
          <p:cNvSpPr/>
          <p:nvPr/>
        </p:nvSpPr>
        <p:spPr>
          <a:xfrm>
            <a:off x="4407408" y="3136392"/>
            <a:ext cx="0" cy="274320"/>
          </a:xfrm>
          <a:prstGeom prst="line">
            <a:avLst/>
          </a:prstGeom>
          <a:noFill/>
          <a:ln w="12700">
            <a:solidFill>
              <a:srgbClr val="E2E8F0"/>
            </a:solidFill>
            <a:prstDash val="solid"/>
          </a:ln>
        </p:spPr>
      </p:sp>
      <p:sp>
        <p:nvSpPr>
          <p:cNvPr id="31" name="Text 29"/>
          <p:cNvSpPr/>
          <p:nvPr/>
        </p:nvSpPr>
        <p:spPr>
          <a:xfrm>
            <a:off x="4526280" y="3063240"/>
            <a:ext cx="4251960" cy="420624"/>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Inject today's date, active sprint, or env variables into every prompt automatically</a:t>
            </a:r>
            <a:endParaRPr lang="en-US" sz="1050" dirty="0"/>
          </a:p>
        </p:txBody>
      </p:sp>
      <p:sp>
        <p:nvSpPr>
          <p:cNvPr id="32" name="Shape 30"/>
          <p:cNvSpPr/>
          <p:nvPr/>
        </p:nvSpPr>
        <p:spPr>
          <a:xfrm>
            <a:off x="274320" y="3520440"/>
            <a:ext cx="8595360" cy="420624"/>
          </a:xfrm>
          <a:prstGeom prst="roundRect">
            <a:avLst>
              <a:gd name="adj" fmla="val 13043"/>
            </a:avLst>
          </a:prstGeom>
          <a:solidFill>
            <a:srgbClr val="FFFFFF"/>
          </a:solidFill>
          <a:ln w="12700">
            <a:solidFill>
              <a:srgbClr val="E2E8F0"/>
            </a:solidFill>
            <a:prstDash val="solid"/>
          </a:ln>
        </p:spPr>
      </p:sp>
      <p:sp>
        <p:nvSpPr>
          <p:cNvPr id="33" name="Shape 31"/>
          <p:cNvSpPr/>
          <p:nvPr/>
        </p:nvSpPr>
        <p:spPr>
          <a:xfrm>
            <a:off x="274320" y="3520440"/>
            <a:ext cx="164592" cy="420624"/>
          </a:xfrm>
          <a:prstGeom prst="roundRect">
            <a:avLst>
              <a:gd name="adj" fmla="val 22222"/>
            </a:avLst>
          </a:prstGeom>
          <a:solidFill>
            <a:srgbClr val="3B82F6"/>
          </a:solidFill>
          <a:ln w="12700">
            <a:solidFill>
              <a:srgbClr val="3B82F6"/>
            </a:solidFill>
            <a:prstDash val="solid"/>
          </a:ln>
        </p:spPr>
      </p:sp>
      <p:sp>
        <p:nvSpPr>
          <p:cNvPr id="34" name="Text 32"/>
          <p:cNvSpPr/>
          <p:nvPr/>
        </p:nvSpPr>
        <p:spPr>
          <a:xfrm>
            <a:off x="502920" y="3520440"/>
            <a:ext cx="1508760" cy="420624"/>
          </a:xfrm>
          <a:prstGeom prst="rect">
            <a:avLst/>
          </a:prstGeom>
          <a:noFill/>
          <a:ln/>
        </p:spPr>
        <p:txBody>
          <a:bodyPr wrap="square" lIns="0" tIns="0" rIns="0" bIns="0" rtlCol="0" anchor="ctr"/>
          <a:lstStyle/>
          <a:p>
            <a:pPr indent="0" marL="0">
              <a:buNone/>
            </a:pPr>
            <a:r>
              <a:rPr lang="en-US" sz="1100" b="1" dirty="0">
                <a:solidFill>
                  <a:srgbClr val="3B82F6"/>
                </a:solidFill>
                <a:latin typeface="Courier New" pitchFamily="34" charset="0"/>
                <a:ea typeface="Courier New" pitchFamily="34" charset="-122"/>
                <a:cs typeface="Courier New" pitchFamily="34" charset="-120"/>
              </a:rPr>
              <a:t>post-response</a:t>
            </a:r>
            <a:endParaRPr lang="en-US" sz="1100" dirty="0"/>
          </a:p>
        </p:txBody>
      </p:sp>
      <p:sp>
        <p:nvSpPr>
          <p:cNvPr id="35" name="Text 33"/>
          <p:cNvSpPr/>
          <p:nvPr/>
        </p:nvSpPr>
        <p:spPr>
          <a:xfrm>
            <a:off x="2057400" y="3520440"/>
            <a:ext cx="2331720" cy="42062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After model returns a response</a:t>
            </a:r>
            <a:endParaRPr lang="en-US" sz="1050" dirty="0"/>
          </a:p>
        </p:txBody>
      </p:sp>
      <p:sp>
        <p:nvSpPr>
          <p:cNvPr id="36" name="Shape 34"/>
          <p:cNvSpPr/>
          <p:nvPr/>
        </p:nvSpPr>
        <p:spPr>
          <a:xfrm>
            <a:off x="4407408" y="3593592"/>
            <a:ext cx="0" cy="274320"/>
          </a:xfrm>
          <a:prstGeom prst="line">
            <a:avLst/>
          </a:prstGeom>
          <a:noFill/>
          <a:ln w="12700">
            <a:solidFill>
              <a:srgbClr val="E2E8F0"/>
            </a:solidFill>
            <a:prstDash val="solid"/>
          </a:ln>
        </p:spPr>
      </p:sp>
      <p:sp>
        <p:nvSpPr>
          <p:cNvPr id="37" name="Text 35"/>
          <p:cNvSpPr/>
          <p:nvPr/>
        </p:nvSpPr>
        <p:spPr>
          <a:xfrm>
            <a:off x="4526280" y="3520440"/>
            <a:ext cx="4251960" cy="420624"/>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Auto-log all AI suggestions to a file for audit trail; strip sensitive data from output</a:t>
            </a:r>
            <a:endParaRPr lang="en-US" sz="1050" dirty="0"/>
          </a:p>
        </p:txBody>
      </p:sp>
      <p:sp>
        <p:nvSpPr>
          <p:cNvPr id="38" name="Shape 36"/>
          <p:cNvSpPr/>
          <p:nvPr/>
        </p:nvSpPr>
        <p:spPr>
          <a:xfrm>
            <a:off x="274320" y="3977640"/>
            <a:ext cx="8595360" cy="420624"/>
          </a:xfrm>
          <a:prstGeom prst="roundRect">
            <a:avLst>
              <a:gd name="adj" fmla="val 13043"/>
            </a:avLst>
          </a:prstGeom>
          <a:solidFill>
            <a:srgbClr val="EFF6F7"/>
          </a:solidFill>
          <a:ln w="12700">
            <a:solidFill>
              <a:srgbClr val="E2E8F0"/>
            </a:solidFill>
            <a:prstDash val="solid"/>
          </a:ln>
        </p:spPr>
      </p:sp>
      <p:sp>
        <p:nvSpPr>
          <p:cNvPr id="39" name="Shape 37"/>
          <p:cNvSpPr/>
          <p:nvPr/>
        </p:nvSpPr>
        <p:spPr>
          <a:xfrm>
            <a:off x="274320" y="3977640"/>
            <a:ext cx="164592" cy="420624"/>
          </a:xfrm>
          <a:prstGeom prst="roundRect">
            <a:avLst>
              <a:gd name="adj" fmla="val 22222"/>
            </a:avLst>
          </a:prstGeom>
          <a:solidFill>
            <a:srgbClr val="EA580C"/>
          </a:solidFill>
          <a:ln w="12700">
            <a:solidFill>
              <a:srgbClr val="EA580C"/>
            </a:solidFill>
            <a:prstDash val="solid"/>
          </a:ln>
        </p:spPr>
      </p:sp>
      <p:sp>
        <p:nvSpPr>
          <p:cNvPr id="40" name="Text 38"/>
          <p:cNvSpPr/>
          <p:nvPr/>
        </p:nvSpPr>
        <p:spPr>
          <a:xfrm>
            <a:off x="502920" y="3977640"/>
            <a:ext cx="1508760" cy="420624"/>
          </a:xfrm>
          <a:prstGeom prst="rect">
            <a:avLst/>
          </a:prstGeom>
          <a:noFill/>
          <a:ln/>
        </p:spPr>
        <p:txBody>
          <a:bodyPr wrap="square" lIns="0" tIns="0" rIns="0" bIns="0" rtlCol="0" anchor="ctr"/>
          <a:lstStyle/>
          <a:p>
            <a:pPr indent="0" marL="0">
              <a:buNone/>
            </a:pPr>
            <a:r>
              <a:rPr lang="en-US" sz="1100" b="1" dirty="0">
                <a:solidFill>
                  <a:srgbClr val="EA580C"/>
                </a:solidFill>
                <a:latin typeface="Courier New" pitchFamily="34" charset="0"/>
                <a:ea typeface="Courier New" pitchFamily="34" charset="-122"/>
                <a:cs typeface="Courier New" pitchFamily="34" charset="-120"/>
              </a:rPr>
              <a:t>on-file-edit</a:t>
            </a:r>
            <a:endParaRPr lang="en-US" sz="1100" dirty="0"/>
          </a:p>
        </p:txBody>
      </p:sp>
      <p:sp>
        <p:nvSpPr>
          <p:cNvPr id="41" name="Text 39"/>
          <p:cNvSpPr/>
          <p:nvPr/>
        </p:nvSpPr>
        <p:spPr>
          <a:xfrm>
            <a:off x="2057400" y="3977640"/>
            <a:ext cx="2331720" cy="42062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After Copilot edits a file</a:t>
            </a:r>
            <a:endParaRPr lang="en-US" sz="1050" dirty="0"/>
          </a:p>
        </p:txBody>
      </p:sp>
      <p:sp>
        <p:nvSpPr>
          <p:cNvPr id="42" name="Shape 40"/>
          <p:cNvSpPr/>
          <p:nvPr/>
        </p:nvSpPr>
        <p:spPr>
          <a:xfrm>
            <a:off x="4407408" y="4050792"/>
            <a:ext cx="0" cy="274320"/>
          </a:xfrm>
          <a:prstGeom prst="line">
            <a:avLst/>
          </a:prstGeom>
          <a:noFill/>
          <a:ln w="12700">
            <a:solidFill>
              <a:srgbClr val="E2E8F0"/>
            </a:solidFill>
            <a:prstDash val="solid"/>
          </a:ln>
        </p:spPr>
      </p:sp>
      <p:sp>
        <p:nvSpPr>
          <p:cNvPr id="43" name="Text 41"/>
          <p:cNvSpPr/>
          <p:nvPr/>
        </p:nvSpPr>
        <p:spPr>
          <a:xfrm>
            <a:off x="4526280" y="3977640"/>
            <a:ext cx="4251960" cy="420624"/>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Auto-run linter/formatter; trigger a test run; update a changelog entry</a:t>
            </a:r>
            <a:endParaRPr lang="en-US" sz="1050" dirty="0"/>
          </a:p>
        </p:txBody>
      </p:sp>
      <p:sp>
        <p:nvSpPr>
          <p:cNvPr id="44" name="Shape 42"/>
          <p:cNvSpPr/>
          <p:nvPr/>
        </p:nvSpPr>
        <p:spPr>
          <a:xfrm>
            <a:off x="274320" y="4434840"/>
            <a:ext cx="8595360" cy="420624"/>
          </a:xfrm>
          <a:prstGeom prst="roundRect">
            <a:avLst>
              <a:gd name="adj" fmla="val 13043"/>
            </a:avLst>
          </a:prstGeom>
          <a:solidFill>
            <a:srgbClr val="FFFFFF"/>
          </a:solidFill>
          <a:ln w="12700">
            <a:solidFill>
              <a:srgbClr val="E2E8F0"/>
            </a:solidFill>
            <a:prstDash val="solid"/>
          </a:ln>
        </p:spPr>
      </p:sp>
      <p:sp>
        <p:nvSpPr>
          <p:cNvPr id="45" name="Shape 43"/>
          <p:cNvSpPr/>
          <p:nvPr/>
        </p:nvSpPr>
        <p:spPr>
          <a:xfrm>
            <a:off x="274320" y="4434840"/>
            <a:ext cx="164592" cy="420624"/>
          </a:xfrm>
          <a:prstGeom prst="roundRect">
            <a:avLst>
              <a:gd name="adj" fmla="val 22222"/>
            </a:avLst>
          </a:prstGeom>
          <a:solidFill>
            <a:srgbClr val="10B981"/>
          </a:solidFill>
          <a:ln w="12700">
            <a:solidFill>
              <a:srgbClr val="10B981"/>
            </a:solidFill>
            <a:prstDash val="solid"/>
          </a:ln>
        </p:spPr>
      </p:sp>
      <p:sp>
        <p:nvSpPr>
          <p:cNvPr id="46" name="Text 44"/>
          <p:cNvSpPr/>
          <p:nvPr/>
        </p:nvSpPr>
        <p:spPr>
          <a:xfrm>
            <a:off x="502920" y="4434840"/>
            <a:ext cx="1508760" cy="420624"/>
          </a:xfrm>
          <a:prstGeom prst="rect">
            <a:avLst/>
          </a:prstGeom>
          <a:noFill/>
          <a:ln/>
        </p:spPr>
        <p:txBody>
          <a:bodyPr wrap="square" lIns="0" tIns="0" rIns="0" bIns="0" rtlCol="0" anchor="ctr"/>
          <a:lstStyle/>
          <a:p>
            <a:pPr indent="0" marL="0">
              <a:buNone/>
            </a:pPr>
            <a:r>
              <a:rPr lang="en-US" sz="1100" b="1" dirty="0">
                <a:solidFill>
                  <a:srgbClr val="10B981"/>
                </a:solidFill>
                <a:latin typeface="Courier New" pitchFamily="34" charset="0"/>
                <a:ea typeface="Courier New" pitchFamily="34" charset="-122"/>
                <a:cs typeface="Courier New" pitchFamily="34" charset="-120"/>
              </a:rPr>
              <a:t>on-chat-start</a:t>
            </a:r>
            <a:endParaRPr lang="en-US" sz="1100" dirty="0"/>
          </a:p>
        </p:txBody>
      </p:sp>
      <p:sp>
        <p:nvSpPr>
          <p:cNvPr id="47" name="Text 45"/>
          <p:cNvSpPr/>
          <p:nvPr/>
        </p:nvSpPr>
        <p:spPr>
          <a:xfrm>
            <a:off x="2057400" y="4434840"/>
            <a:ext cx="2331720" cy="42062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When a new chat session opens</a:t>
            </a:r>
            <a:endParaRPr lang="en-US" sz="1050" dirty="0"/>
          </a:p>
        </p:txBody>
      </p:sp>
      <p:sp>
        <p:nvSpPr>
          <p:cNvPr id="48" name="Shape 46"/>
          <p:cNvSpPr/>
          <p:nvPr/>
        </p:nvSpPr>
        <p:spPr>
          <a:xfrm>
            <a:off x="4407408" y="4507992"/>
            <a:ext cx="0" cy="274320"/>
          </a:xfrm>
          <a:prstGeom prst="line">
            <a:avLst/>
          </a:prstGeom>
          <a:noFill/>
          <a:ln w="12700">
            <a:solidFill>
              <a:srgbClr val="E2E8F0"/>
            </a:solidFill>
            <a:prstDash val="solid"/>
          </a:ln>
        </p:spPr>
      </p:sp>
      <p:sp>
        <p:nvSpPr>
          <p:cNvPr id="49" name="Text 47"/>
          <p:cNvSpPr/>
          <p:nvPr/>
        </p:nvSpPr>
        <p:spPr>
          <a:xfrm>
            <a:off x="4526280" y="4434840"/>
            <a:ext cx="4251960" cy="420624"/>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Load current git branch info, last 3 commits, open PRs into context automatically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0B981"/>
          </a:solidFill>
          <a:ln w="12700">
            <a:solidFill>
              <a:srgbClr val="10B981"/>
            </a:solidFill>
            <a:prstDash val="solid"/>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2000" b="1" dirty="0">
                <a:solidFill>
                  <a:srgbClr val="0D1B2A"/>
                </a:solidFill>
                <a:latin typeface="Cambria" pitchFamily="34" charset="0"/>
                <a:ea typeface="Cambria" pitchFamily="34" charset="-122"/>
                <a:cs typeface="Cambria" pitchFamily="34" charset="-120"/>
              </a:rPr>
              <a:t>Build Your Own Plugin — Complete Example</a:t>
            </a:r>
            <a:endParaRPr lang="en-US" sz="2000" dirty="0"/>
          </a:p>
        </p:txBody>
      </p:sp>
      <p:sp>
        <p:nvSpPr>
          <p:cNvPr id="4" name="Text 2"/>
          <p:cNvSpPr/>
          <p:nvPr/>
        </p:nvSpPr>
        <p:spPr>
          <a:xfrm>
            <a:off x="365760" y="795528"/>
            <a:ext cx="8412480" cy="292608"/>
          </a:xfrm>
          <a:prstGeom prst="rect">
            <a:avLst/>
          </a:prstGeom>
          <a:noFill/>
          <a:ln/>
        </p:spPr>
        <p:txBody>
          <a:bodyPr wrap="square" rtlCol="0" anchor="ctr"/>
          <a:lstStyle/>
          <a:p>
            <a:pPr indent="0" marL="0">
              <a:buNone/>
            </a:pPr>
            <a:r>
              <a:rPr lang="en-US" sz="1150" i="1" dirty="0">
                <a:solidFill>
                  <a:srgbClr val="10B981"/>
                </a:solidFill>
                <a:latin typeface="Calibri" pitchFamily="34" charset="0"/>
                <a:ea typeface="Calibri" pitchFamily="34" charset="-122"/>
                <a:cs typeface="Calibri" pitchFamily="34" charset="-120"/>
              </a:rPr>
              <a:t>A real team plugin: bundles Python instructions + PR review skill + pre-request hook + Postgres MCP server</a:t>
            </a:r>
            <a:endParaRPr lang="en-US" sz="1150" dirty="0"/>
          </a:p>
        </p:txBody>
      </p:sp>
      <p:sp>
        <p:nvSpPr>
          <p:cNvPr id="5" name="Shape 3"/>
          <p:cNvSpPr/>
          <p:nvPr/>
        </p:nvSpPr>
        <p:spPr>
          <a:xfrm>
            <a:off x="274320" y="1143000"/>
            <a:ext cx="4160520" cy="3520440"/>
          </a:xfrm>
          <a:prstGeom prst="roundRect">
            <a:avLst>
              <a:gd name="adj" fmla="val 2597"/>
            </a:avLst>
          </a:prstGeom>
          <a:solidFill>
            <a:srgbClr val="0A1A10"/>
          </a:solidFill>
          <a:ln w="12700">
            <a:solidFill>
              <a:srgbClr val="10B981">
                <a:alpha val="40000"/>
              </a:srgbClr>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274320" y="1143000"/>
            <a:ext cx="4160520" cy="347472"/>
          </a:xfrm>
          <a:prstGeom prst="roundRect">
            <a:avLst>
              <a:gd name="adj" fmla="val 26316"/>
            </a:avLst>
          </a:prstGeom>
          <a:solidFill>
            <a:srgbClr val="0F2818"/>
          </a:solidFill>
          <a:ln w="12700">
            <a:solidFill>
              <a:srgbClr val="0F2818"/>
            </a:solidFill>
            <a:prstDash val="solid"/>
          </a:ln>
        </p:spPr>
      </p:sp>
      <p:sp>
        <p:nvSpPr>
          <p:cNvPr id="7" name="Text 5"/>
          <p:cNvSpPr/>
          <p:nvPr/>
        </p:nvSpPr>
        <p:spPr>
          <a:xfrm>
            <a:off x="411480" y="1143000"/>
            <a:ext cx="3840480" cy="347472"/>
          </a:xfrm>
          <a:prstGeom prst="rect">
            <a:avLst/>
          </a:prstGeom>
          <a:noFill/>
          <a:ln/>
        </p:spPr>
        <p:txBody>
          <a:bodyPr wrap="square" lIns="0" tIns="0" rIns="0" bIns="0" rtlCol="0" anchor="ctr"/>
          <a:lstStyle/>
          <a:p>
            <a:pPr indent="0" marL="0">
              <a:buNone/>
            </a:pPr>
            <a:r>
              <a:rPr lang="en-US" sz="1100" b="1" dirty="0">
                <a:solidFill>
                  <a:srgbClr val="10B981"/>
                </a:solidFill>
                <a:latin typeface="Courier New" pitchFamily="34" charset="0"/>
                <a:ea typeface="Courier New" pitchFamily="34" charset="-122"/>
                <a:cs typeface="Courier New" pitchFamily="34" charset="-120"/>
              </a:rPr>
              <a:t>📄  plugin.json</a:t>
            </a:r>
            <a:endParaRPr lang="en-US" sz="1100" dirty="0"/>
          </a:p>
        </p:txBody>
      </p:sp>
      <p:sp>
        <p:nvSpPr>
          <p:cNvPr id="8" name="Text 6"/>
          <p:cNvSpPr/>
          <p:nvPr/>
        </p:nvSpPr>
        <p:spPr>
          <a:xfrm>
            <a:off x="384048" y="1554480"/>
            <a:ext cx="3931920" cy="164592"/>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p:txBody>
      </p:sp>
      <p:sp>
        <p:nvSpPr>
          <p:cNvPr id="9" name="Text 7"/>
          <p:cNvSpPr/>
          <p:nvPr/>
        </p:nvSpPr>
        <p:spPr>
          <a:xfrm>
            <a:off x="384048" y="1728216"/>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"name": "my-team-plugin",</a:t>
            </a:r>
            <a:endParaRPr lang="en-US" sz="850" dirty="0"/>
          </a:p>
        </p:txBody>
      </p:sp>
      <p:sp>
        <p:nvSpPr>
          <p:cNvPr id="10" name="Text 8"/>
          <p:cNvSpPr/>
          <p:nvPr/>
        </p:nvSpPr>
        <p:spPr>
          <a:xfrm>
            <a:off x="384048" y="1901952"/>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"version": "1.0.0",</a:t>
            </a:r>
            <a:endParaRPr lang="en-US" sz="850" dirty="0"/>
          </a:p>
        </p:txBody>
      </p:sp>
      <p:sp>
        <p:nvSpPr>
          <p:cNvPr id="11" name="Text 9"/>
          <p:cNvSpPr/>
          <p:nvPr/>
        </p:nvSpPr>
        <p:spPr>
          <a:xfrm>
            <a:off x="384048" y="2075688"/>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"description": "Team Copilot setup",</a:t>
            </a:r>
            <a:endParaRPr lang="en-US" sz="850" dirty="0"/>
          </a:p>
        </p:txBody>
      </p:sp>
      <p:sp>
        <p:nvSpPr>
          <p:cNvPr id="12" name="Text 10"/>
          <p:cNvSpPr/>
          <p:nvPr/>
        </p:nvSpPr>
        <p:spPr>
          <a:xfrm>
            <a:off x="384048" y="2249424"/>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"contributes": {</a:t>
            </a:r>
            <a:endParaRPr lang="en-US" sz="850" dirty="0"/>
          </a:p>
        </p:txBody>
      </p:sp>
      <p:sp>
        <p:nvSpPr>
          <p:cNvPr id="13" name="Text 11"/>
          <p:cNvSpPr/>
          <p:nvPr/>
        </p:nvSpPr>
        <p:spPr>
          <a:xfrm>
            <a:off x="384048" y="2423160"/>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"instructions": [</a:t>
            </a:r>
            <a:endParaRPr lang="en-US" sz="850" dirty="0"/>
          </a:p>
        </p:txBody>
      </p:sp>
      <p:sp>
        <p:nvSpPr>
          <p:cNvPr id="14" name="Text 12"/>
          <p:cNvSpPr/>
          <p:nvPr/>
        </p:nvSpPr>
        <p:spPr>
          <a:xfrm>
            <a:off x="384048" y="2596896"/>
            <a:ext cx="3931920" cy="164592"/>
          </a:xfrm>
          <a:prstGeom prst="rect">
            <a:avLst/>
          </a:prstGeom>
          <a:noFill/>
          <a:ln/>
        </p:spPr>
        <p:txBody>
          <a:bodyPr wrap="square" lIns="0" tIns="0" rIns="0" bIns="0"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      "./instructions/python.instructions.md"</a:t>
            </a:r>
            <a:endParaRPr lang="en-US" sz="850" dirty="0"/>
          </a:p>
        </p:txBody>
      </p:sp>
      <p:sp>
        <p:nvSpPr>
          <p:cNvPr id="15" name="Text 13"/>
          <p:cNvSpPr/>
          <p:nvPr/>
        </p:nvSpPr>
        <p:spPr>
          <a:xfrm>
            <a:off x="384048" y="2770632"/>
            <a:ext cx="3931920" cy="164592"/>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p:txBody>
      </p:sp>
      <p:sp>
        <p:nvSpPr>
          <p:cNvPr id="16" name="Text 14"/>
          <p:cNvSpPr/>
          <p:nvPr/>
        </p:nvSpPr>
        <p:spPr>
          <a:xfrm>
            <a:off x="384048" y="2944368"/>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"skills": [</a:t>
            </a:r>
            <a:endParaRPr lang="en-US" sz="850" dirty="0"/>
          </a:p>
        </p:txBody>
      </p:sp>
      <p:sp>
        <p:nvSpPr>
          <p:cNvPr id="17" name="Text 15"/>
          <p:cNvSpPr/>
          <p:nvPr/>
        </p:nvSpPr>
        <p:spPr>
          <a:xfrm>
            <a:off x="384048" y="3118104"/>
            <a:ext cx="3931920" cy="164592"/>
          </a:xfrm>
          <a:prstGeom prst="rect">
            <a:avLst/>
          </a:prstGeom>
          <a:noFill/>
          <a:ln/>
        </p:spPr>
        <p:txBody>
          <a:bodyPr wrap="square" lIns="0" tIns="0" rIns="0" bIns="0"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      "./skills/pr-review.prompt.md",</a:t>
            </a:r>
            <a:endParaRPr lang="en-US" sz="850" dirty="0"/>
          </a:p>
        </p:txBody>
      </p:sp>
      <p:sp>
        <p:nvSpPr>
          <p:cNvPr id="18" name="Text 16"/>
          <p:cNvSpPr/>
          <p:nvPr/>
        </p:nvSpPr>
        <p:spPr>
          <a:xfrm>
            <a:off x="384048" y="3291840"/>
            <a:ext cx="3931920" cy="164592"/>
          </a:xfrm>
          <a:prstGeom prst="rect">
            <a:avLst/>
          </a:prstGeom>
          <a:noFill/>
          <a:ln/>
        </p:spPr>
        <p:txBody>
          <a:bodyPr wrap="square" lIns="0" tIns="0" rIns="0" bIns="0"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      "./skills/deploy.prompt.md"</a:t>
            </a:r>
            <a:endParaRPr lang="en-US" sz="850" dirty="0"/>
          </a:p>
        </p:txBody>
      </p:sp>
      <p:sp>
        <p:nvSpPr>
          <p:cNvPr id="19" name="Text 17"/>
          <p:cNvSpPr/>
          <p:nvPr/>
        </p:nvSpPr>
        <p:spPr>
          <a:xfrm>
            <a:off x="384048" y="3465576"/>
            <a:ext cx="3931920" cy="164592"/>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p:txBody>
      </p:sp>
      <p:sp>
        <p:nvSpPr>
          <p:cNvPr id="20" name="Text 18"/>
          <p:cNvSpPr/>
          <p:nvPr/>
        </p:nvSpPr>
        <p:spPr>
          <a:xfrm>
            <a:off x="384048" y="3639312"/>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"hooks": {</a:t>
            </a:r>
            <a:endParaRPr lang="en-US" sz="850" dirty="0"/>
          </a:p>
        </p:txBody>
      </p:sp>
      <p:sp>
        <p:nvSpPr>
          <p:cNvPr id="21" name="Text 19"/>
          <p:cNvSpPr/>
          <p:nvPr/>
        </p:nvSpPr>
        <p:spPr>
          <a:xfrm>
            <a:off x="384048" y="3813048"/>
            <a:ext cx="3931920" cy="164592"/>
          </a:xfrm>
          <a:prstGeom prst="rect">
            <a:avLst/>
          </a:prstGeom>
          <a:noFill/>
          <a:ln/>
        </p:spPr>
        <p:txBody>
          <a:bodyPr wrap="square" lIns="0" tIns="0" rIns="0" bIns="0"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      "pre-request": "./hooks/inject-context.sh"</a:t>
            </a:r>
            <a:endParaRPr lang="en-US" sz="850" dirty="0"/>
          </a:p>
        </p:txBody>
      </p:sp>
      <p:sp>
        <p:nvSpPr>
          <p:cNvPr id="22" name="Text 20"/>
          <p:cNvSpPr/>
          <p:nvPr/>
        </p:nvSpPr>
        <p:spPr>
          <a:xfrm>
            <a:off x="384048" y="3986784"/>
            <a:ext cx="3931920" cy="164592"/>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p:txBody>
      </p:sp>
      <p:sp>
        <p:nvSpPr>
          <p:cNvPr id="23" name="Text 21"/>
          <p:cNvSpPr/>
          <p:nvPr/>
        </p:nvSpPr>
        <p:spPr>
          <a:xfrm>
            <a:off x="384048" y="4160520"/>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"mcpServers": {</a:t>
            </a:r>
            <a:endParaRPr lang="en-US" sz="850" dirty="0"/>
          </a:p>
        </p:txBody>
      </p:sp>
      <p:sp>
        <p:nvSpPr>
          <p:cNvPr id="24" name="Text 22"/>
          <p:cNvSpPr/>
          <p:nvPr/>
        </p:nvSpPr>
        <p:spPr>
          <a:xfrm>
            <a:off x="384048" y="4334256"/>
            <a:ext cx="3931920" cy="164592"/>
          </a:xfrm>
          <a:prstGeom prst="rect">
            <a:avLst/>
          </a:prstGeom>
          <a:noFill/>
          <a:ln/>
        </p:spPr>
        <p:txBody>
          <a:bodyPr wrap="square" lIns="0" tIns="0" rIns="0" bIns="0" rtlCol="0" anchor="ctr"/>
          <a:lstStyle/>
          <a:p>
            <a:pPr indent="0" marL="0">
              <a:buNone/>
            </a:pPr>
            <a:r>
              <a:rPr lang="en-US" sz="850" dirty="0">
                <a:solidFill>
                  <a:srgbClr val="00C2CC"/>
                </a:solidFill>
                <a:latin typeface="Courier New" pitchFamily="34" charset="0"/>
                <a:ea typeface="Courier New" pitchFamily="34" charset="-122"/>
                <a:cs typeface="Courier New" pitchFamily="34" charset="-120"/>
              </a:rPr>
              <a:t>      "postgres": {</a:t>
            </a:r>
            <a:endParaRPr lang="en-US" sz="850" dirty="0"/>
          </a:p>
        </p:txBody>
      </p:sp>
      <p:sp>
        <p:nvSpPr>
          <p:cNvPr id="25" name="Text 23"/>
          <p:cNvSpPr/>
          <p:nvPr/>
        </p:nvSpPr>
        <p:spPr>
          <a:xfrm>
            <a:off x="384048" y="4507992"/>
            <a:ext cx="3931920" cy="164592"/>
          </a:xfrm>
          <a:prstGeom prst="rect">
            <a:avLst/>
          </a:prstGeom>
          <a:noFill/>
          <a:ln/>
        </p:spPr>
        <p:txBody>
          <a:bodyPr wrap="square" lIns="0" tIns="0" rIns="0" bIns="0"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        "command": "npx",</a:t>
            </a:r>
            <a:endParaRPr lang="en-US" sz="850" dirty="0"/>
          </a:p>
        </p:txBody>
      </p:sp>
      <p:sp>
        <p:nvSpPr>
          <p:cNvPr id="26" name="Shape 24"/>
          <p:cNvSpPr/>
          <p:nvPr/>
        </p:nvSpPr>
        <p:spPr>
          <a:xfrm>
            <a:off x="4663440" y="1143000"/>
            <a:ext cx="4206240" cy="1572768"/>
          </a:xfrm>
          <a:prstGeom prst="roundRect">
            <a:avLst>
              <a:gd name="adj" fmla="val 5814"/>
            </a:avLst>
          </a:prstGeom>
          <a:solidFill>
            <a:srgbClr val="120A1A"/>
          </a:solidFill>
          <a:ln w="12700">
            <a:solidFill>
              <a:srgbClr val="7C3AED">
                <a:alpha val="40000"/>
              </a:srgbClr>
            </a:solidFill>
            <a:prstDash val="solid"/>
          </a:ln>
          <a:effectLst>
            <a:outerShdw sx="100000" sy="100000" kx="0" ky="0" algn="bl" rotWithShape="0" blurRad="101600" dist="38100" dir="2700000">
              <a:srgbClr val="000000">
                <a:alpha val="12000"/>
              </a:srgbClr>
            </a:outerShdw>
          </a:effectLst>
        </p:spPr>
      </p:sp>
      <p:sp>
        <p:nvSpPr>
          <p:cNvPr id="27" name="Shape 25"/>
          <p:cNvSpPr/>
          <p:nvPr/>
        </p:nvSpPr>
        <p:spPr>
          <a:xfrm>
            <a:off x="4663440" y="1143000"/>
            <a:ext cx="4206240" cy="347472"/>
          </a:xfrm>
          <a:prstGeom prst="roundRect">
            <a:avLst>
              <a:gd name="adj" fmla="val 26316"/>
            </a:avLst>
          </a:prstGeom>
          <a:solidFill>
            <a:srgbClr val="1E0F2E"/>
          </a:solidFill>
          <a:ln w="12700">
            <a:solidFill>
              <a:srgbClr val="1E0F2E"/>
            </a:solidFill>
            <a:prstDash val="solid"/>
          </a:ln>
        </p:spPr>
      </p:sp>
      <p:sp>
        <p:nvSpPr>
          <p:cNvPr id="28" name="Text 26"/>
          <p:cNvSpPr/>
          <p:nvPr/>
        </p:nvSpPr>
        <p:spPr>
          <a:xfrm>
            <a:off x="4800600" y="1143000"/>
            <a:ext cx="3931920" cy="347472"/>
          </a:xfrm>
          <a:prstGeom prst="rect">
            <a:avLst/>
          </a:prstGeom>
          <a:noFill/>
          <a:ln/>
        </p:spPr>
        <p:txBody>
          <a:bodyPr wrap="square" lIns="0" tIns="0" rIns="0" bIns="0" rtlCol="0" anchor="ctr"/>
          <a:lstStyle/>
          <a:p>
            <a:pPr indent="0" marL="0">
              <a:buNone/>
            </a:pPr>
            <a:r>
              <a:rPr lang="en-US" sz="1100" b="1" dirty="0">
                <a:solidFill>
                  <a:srgbClr val="7C3AED"/>
                </a:solidFill>
                <a:latin typeface="Courier New" pitchFamily="34" charset="0"/>
                <a:ea typeface="Courier New" pitchFamily="34" charset="-122"/>
                <a:cs typeface="Courier New" pitchFamily="34" charset="-120"/>
              </a:rPr>
              <a:t>🪝  hooks/inject-context.sh</a:t>
            </a:r>
            <a:endParaRPr lang="en-US" sz="1100" dirty="0"/>
          </a:p>
        </p:txBody>
      </p:sp>
      <p:sp>
        <p:nvSpPr>
          <p:cNvPr id="29" name="Text 27"/>
          <p:cNvSpPr/>
          <p:nvPr/>
        </p:nvSpPr>
        <p:spPr>
          <a:xfrm>
            <a:off x="4800600" y="1554480"/>
            <a:ext cx="3931920" cy="182880"/>
          </a:xfrm>
          <a:prstGeom prst="rect">
            <a:avLst/>
          </a:prstGeom>
          <a:noFill/>
          <a:ln/>
        </p:spPr>
        <p:txBody>
          <a:bodyPr wrap="square" lIns="0" tIns="0" rIns="0" bIns="0" rtlCol="0" anchor="ctr"/>
          <a:lstStyle/>
          <a:p>
            <a:pPr indent="0" marL="0">
              <a:buNone/>
            </a:pPr>
            <a:r>
              <a:rPr lang="en-US" sz="850" i="1" dirty="0">
                <a:solidFill>
                  <a:srgbClr val="4A6080"/>
                </a:solidFill>
                <a:latin typeface="Courier New" pitchFamily="34" charset="0"/>
                <a:ea typeface="Courier New" pitchFamily="34" charset="-122"/>
                <a:cs typeface="Courier New" pitchFamily="34" charset="-120"/>
              </a:rPr>
              <a:t>#!/bin/bash</a:t>
            </a:r>
            <a:endParaRPr lang="en-US" sz="850" dirty="0"/>
          </a:p>
        </p:txBody>
      </p:sp>
      <p:sp>
        <p:nvSpPr>
          <p:cNvPr id="30" name="Text 28"/>
          <p:cNvSpPr/>
          <p:nvPr/>
        </p:nvSpPr>
        <p:spPr>
          <a:xfrm>
            <a:off x="4800600" y="1746504"/>
            <a:ext cx="3931920" cy="182880"/>
          </a:xfrm>
          <a:prstGeom prst="rect">
            <a:avLst/>
          </a:prstGeom>
          <a:noFill/>
          <a:ln/>
        </p:spPr>
        <p:txBody>
          <a:bodyPr wrap="square" lIns="0" tIns="0" rIns="0" bIns="0" rtlCol="0" anchor="ctr"/>
          <a:lstStyle/>
          <a:p>
            <a:pPr indent="0" marL="0">
              <a:buNone/>
            </a:pPr>
            <a:r>
              <a:rPr lang="en-US" sz="850" i="1" dirty="0">
                <a:solidFill>
                  <a:srgbClr val="4A6080"/>
                </a:solidFill>
                <a:latin typeface="Courier New" pitchFamily="34" charset="0"/>
                <a:ea typeface="Courier New" pitchFamily="34" charset="-122"/>
                <a:cs typeface="Courier New" pitchFamily="34" charset="-120"/>
              </a:rPr>
              <a:t># Pre-request hook — auto-inject git context</a:t>
            </a:r>
            <a:endParaRPr lang="en-US" sz="850" dirty="0"/>
          </a:p>
        </p:txBody>
      </p:sp>
      <p:sp>
        <p:nvSpPr>
          <p:cNvPr id="31" name="Text 29"/>
          <p:cNvSpPr/>
          <p:nvPr/>
        </p:nvSpPr>
        <p:spPr>
          <a:xfrm>
            <a:off x="4800600" y="1938528"/>
            <a:ext cx="3931920" cy="182880"/>
          </a:xfrm>
          <a:prstGeom prst="rect">
            <a:avLst/>
          </a:prstGeom>
          <a:noFill/>
          <a:ln/>
        </p:spPr>
        <p:txBody>
          <a:bodyPr wrap="square" lIns="0" tIns="0" rIns="0" bIns="0" rtlCol="0" anchor="ctr"/>
          <a:lstStyle/>
          <a:p>
            <a:pPr indent="0" marL="0">
              <a:buNone/>
            </a:pPr>
            <a:r>
              <a:rPr lang="en-US" sz="850" dirty="0">
                <a:solidFill>
                  <a:srgbClr val="10B981"/>
                </a:solidFill>
                <a:latin typeface="Courier New" pitchFamily="34" charset="0"/>
                <a:ea typeface="Courier New" pitchFamily="34" charset="-122"/>
                <a:cs typeface="Courier New" pitchFamily="34" charset="-120"/>
              </a:rPr>
              <a:t>echo "Current branch: $(git branch --show-current)"</a:t>
            </a:r>
            <a:endParaRPr lang="en-US" sz="850" dirty="0"/>
          </a:p>
        </p:txBody>
      </p:sp>
      <p:sp>
        <p:nvSpPr>
          <p:cNvPr id="32" name="Text 30"/>
          <p:cNvSpPr/>
          <p:nvPr/>
        </p:nvSpPr>
        <p:spPr>
          <a:xfrm>
            <a:off x="4800600" y="2130552"/>
            <a:ext cx="3931920" cy="182880"/>
          </a:xfrm>
          <a:prstGeom prst="rect">
            <a:avLst/>
          </a:prstGeom>
          <a:noFill/>
          <a:ln/>
        </p:spPr>
        <p:txBody>
          <a:bodyPr wrap="square" lIns="0" tIns="0" rIns="0" bIns="0" rtlCol="0" anchor="ctr"/>
          <a:lstStyle/>
          <a:p>
            <a:pPr indent="0" marL="0">
              <a:buNone/>
            </a:pPr>
            <a:r>
              <a:rPr lang="en-US" sz="850" dirty="0">
                <a:solidFill>
                  <a:srgbClr val="10B981"/>
                </a:solidFill>
                <a:latin typeface="Courier New" pitchFamily="34" charset="0"/>
                <a:ea typeface="Courier New" pitchFamily="34" charset="-122"/>
                <a:cs typeface="Courier New" pitchFamily="34" charset="-120"/>
              </a:rPr>
              <a:t>echo "Last commit: $(git log -1 --oneline)"</a:t>
            </a:r>
            <a:endParaRPr lang="en-US" sz="850" dirty="0"/>
          </a:p>
        </p:txBody>
      </p:sp>
      <p:sp>
        <p:nvSpPr>
          <p:cNvPr id="33" name="Text 31"/>
          <p:cNvSpPr/>
          <p:nvPr/>
        </p:nvSpPr>
        <p:spPr>
          <a:xfrm>
            <a:off x="4800600" y="2322576"/>
            <a:ext cx="3931920" cy="182880"/>
          </a:xfrm>
          <a:prstGeom prst="rect">
            <a:avLst/>
          </a:prstGeom>
          <a:noFill/>
          <a:ln/>
        </p:spPr>
        <p:txBody>
          <a:bodyPr wrap="square" lIns="0" tIns="0" rIns="0" bIns="0" rtlCol="0" anchor="ctr"/>
          <a:lstStyle/>
          <a:p>
            <a:pPr indent="0" marL="0">
              <a:buNone/>
            </a:pPr>
            <a:r>
              <a:rPr lang="en-US" sz="850" dirty="0">
                <a:solidFill>
                  <a:srgbClr val="10B981"/>
                </a:solidFill>
                <a:latin typeface="Courier New" pitchFamily="34" charset="0"/>
                <a:ea typeface="Courier New" pitchFamily="34" charset="-122"/>
                <a:cs typeface="Courier New" pitchFamily="34" charset="-120"/>
              </a:rPr>
              <a:t>echo "Open files: $(git diff --name-only)"</a:t>
            </a:r>
            <a:endParaRPr lang="en-US" sz="850" dirty="0"/>
          </a:p>
        </p:txBody>
      </p:sp>
      <p:sp>
        <p:nvSpPr>
          <p:cNvPr id="34" name="Text 32"/>
          <p:cNvSpPr/>
          <p:nvPr/>
        </p:nvSpPr>
        <p:spPr>
          <a:xfrm>
            <a:off x="4800600" y="2514600"/>
            <a:ext cx="3931920" cy="182880"/>
          </a:xfrm>
          <a:prstGeom prst="rect">
            <a:avLst/>
          </a:prstGeom>
          <a:noFill/>
          <a:ln/>
        </p:spPr>
        <p:txBody>
          <a:bodyPr wrap="square" lIns="0" tIns="0" rIns="0" bIns="0" rtlCol="0" anchor="ctr"/>
          <a:lstStyle/>
          <a:p>
            <a:pPr indent="0" marL="0">
              <a:buNone/>
            </a:pPr>
            <a:r>
              <a:rPr lang="en-US" sz="850" dirty="0">
                <a:solidFill>
                  <a:srgbClr val="10B981"/>
                </a:solidFill>
                <a:latin typeface="Courier New" pitchFamily="34" charset="0"/>
                <a:ea typeface="Courier New" pitchFamily="34" charset="-122"/>
                <a:cs typeface="Courier New" pitchFamily="34" charset="-120"/>
              </a:rPr>
              <a:t>echo "Date: $(date +%Y-%m-%d)"</a:t>
            </a:r>
            <a:endParaRPr lang="en-US" sz="850" dirty="0"/>
          </a:p>
        </p:txBody>
      </p:sp>
      <p:sp>
        <p:nvSpPr>
          <p:cNvPr id="35" name="Text 33"/>
          <p:cNvSpPr/>
          <p:nvPr/>
        </p:nvSpPr>
        <p:spPr>
          <a:xfrm>
            <a:off x="4663440" y="2834640"/>
            <a:ext cx="4206240" cy="320040"/>
          </a:xfrm>
          <a:prstGeom prst="rect">
            <a:avLst/>
          </a:prstGeom>
          <a:noFill/>
          <a:ln/>
        </p:spPr>
        <p:txBody>
          <a:bodyPr wrap="square" lIns="0" tIns="0" rIns="0" bIns="0" rtlCol="0" anchor="ctr"/>
          <a:lstStyle/>
          <a:p>
            <a:pPr indent="0" marL="0">
              <a:buNone/>
            </a:pPr>
            <a:r>
              <a:rPr lang="en-US" sz="1400" b="1" dirty="0">
                <a:solidFill>
                  <a:srgbClr val="00C2CC"/>
                </a:solidFill>
                <a:latin typeface="Cambria" pitchFamily="34" charset="0"/>
                <a:ea typeface="Cambria" pitchFamily="34" charset="-122"/>
                <a:cs typeface="Cambria" pitchFamily="34" charset="-120"/>
              </a:rPr>
              <a:t>Install in 3 steps</a:t>
            </a:r>
            <a:endParaRPr lang="en-US" sz="1400" dirty="0"/>
          </a:p>
        </p:txBody>
      </p:sp>
      <p:sp>
        <p:nvSpPr>
          <p:cNvPr id="36" name="Shape 34"/>
          <p:cNvSpPr/>
          <p:nvPr/>
        </p:nvSpPr>
        <p:spPr>
          <a:xfrm>
            <a:off x="4663440" y="3273552"/>
            <a:ext cx="320040" cy="320040"/>
          </a:xfrm>
          <a:prstGeom prst="ellipse">
            <a:avLst/>
          </a:prstGeom>
          <a:solidFill>
            <a:srgbClr val="EA580C"/>
          </a:solidFill>
          <a:ln w="12700">
            <a:solidFill>
              <a:srgbClr val="EA580C"/>
            </a:solidFill>
            <a:prstDash val="solid"/>
          </a:ln>
        </p:spPr>
      </p:sp>
      <p:sp>
        <p:nvSpPr>
          <p:cNvPr id="37" name="Text 35"/>
          <p:cNvSpPr/>
          <p:nvPr/>
        </p:nvSpPr>
        <p:spPr>
          <a:xfrm>
            <a:off x="4663440" y="327355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38" name="Text 36"/>
          <p:cNvSpPr/>
          <p:nvPr/>
        </p:nvSpPr>
        <p:spPr>
          <a:xfrm>
            <a:off x="5074920" y="3218688"/>
            <a:ext cx="3703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Create the folder structure + plugin.json</a:t>
            </a:r>
            <a:endParaRPr lang="en-US" sz="1200" dirty="0"/>
          </a:p>
        </p:txBody>
      </p:sp>
      <p:sp>
        <p:nvSpPr>
          <p:cNvPr id="39" name="Shape 37"/>
          <p:cNvSpPr/>
          <p:nvPr/>
        </p:nvSpPr>
        <p:spPr>
          <a:xfrm>
            <a:off x="4663440" y="3776472"/>
            <a:ext cx="320040" cy="320040"/>
          </a:xfrm>
          <a:prstGeom prst="ellipse">
            <a:avLst/>
          </a:prstGeom>
          <a:solidFill>
            <a:srgbClr val="3B82F6"/>
          </a:solidFill>
          <a:ln w="12700">
            <a:solidFill>
              <a:srgbClr val="3B82F6"/>
            </a:solidFill>
            <a:prstDash val="solid"/>
          </a:ln>
        </p:spPr>
      </p:sp>
      <p:sp>
        <p:nvSpPr>
          <p:cNvPr id="40" name="Text 38"/>
          <p:cNvSpPr/>
          <p:nvPr/>
        </p:nvSpPr>
        <p:spPr>
          <a:xfrm>
            <a:off x="4663440" y="377647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41" name="Text 39"/>
          <p:cNvSpPr/>
          <p:nvPr/>
        </p:nvSpPr>
        <p:spPr>
          <a:xfrm>
            <a:off x="5074920" y="3721608"/>
            <a:ext cx="3703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Push to Git or keep as a local path</a:t>
            </a:r>
            <a:endParaRPr lang="en-US" sz="1200" dirty="0"/>
          </a:p>
        </p:txBody>
      </p:sp>
      <p:sp>
        <p:nvSpPr>
          <p:cNvPr id="42" name="Shape 40"/>
          <p:cNvSpPr/>
          <p:nvPr/>
        </p:nvSpPr>
        <p:spPr>
          <a:xfrm>
            <a:off x="4663440" y="4279392"/>
            <a:ext cx="320040" cy="320040"/>
          </a:xfrm>
          <a:prstGeom prst="ellipse">
            <a:avLst/>
          </a:prstGeom>
          <a:solidFill>
            <a:srgbClr val="10B981"/>
          </a:solidFill>
          <a:ln w="12700">
            <a:solidFill>
              <a:srgbClr val="10B981"/>
            </a:solidFill>
            <a:prstDash val="solid"/>
          </a:ln>
        </p:spPr>
      </p:sp>
      <p:sp>
        <p:nvSpPr>
          <p:cNvPr id="43" name="Text 41"/>
          <p:cNvSpPr/>
          <p:nvPr/>
        </p:nvSpPr>
        <p:spPr>
          <a:xfrm>
            <a:off x="4663440" y="427939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44" name="Text 42"/>
          <p:cNvSpPr/>
          <p:nvPr/>
        </p:nvSpPr>
        <p:spPr>
          <a:xfrm>
            <a:off x="5074920" y="4224528"/>
            <a:ext cx="3703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VS Code → Plugins → Install from Source → paste path/URL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2026-06-13T12:03:50Z</dcterms:created>
  <dcterms:modified xsi:type="dcterms:W3CDTF">2026-06-13T12:03:50Z</dcterms:modified>
</cp:coreProperties>
</file>