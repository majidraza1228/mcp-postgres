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1" r:id="rId2"/>
    <p:sldId id="272" r:id="rId3"/>
    <p:sldId id="257" r:id="rId4"/>
    <p:sldId id="258" r:id="rId5"/>
    <p:sldId id="259" r:id="rId6"/>
    <p:sldId id="273" r:id="rId7"/>
    <p:sldId id="260" r:id="rId8"/>
    <p:sldId id="261" r:id="rId9"/>
    <p:sldId id="262" r:id="rId10"/>
    <p:sldId id="274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647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5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F3C7E"/>
                </a:solidFill>
              </a:rPr>
              <a:t>Traditional AI chat degrades accuracy by 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990011"/>
                </a:solidFill>
              </a:rPr>
              <a:t>58%</a:t>
            </a:r>
            <a:r>
              <a:rPr lang="en-US" sz="1400" dirty="0">
                <a:solidFill>
                  <a:srgbClr val="2F3C7E"/>
                </a:solidFill>
              </a:rPr>
              <a:t> in long conversations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F3C7E"/>
                </a:solidFill>
              </a:rPr>
              <a:t>Generic, context-unaware responses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F3C7E"/>
                </a:solidFill>
              </a:rPr>
              <a:t>Endless iterations without improvement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F3C7E"/>
                </a:solidFill>
              </a:rPr>
              <a:t>High API costs with poor results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The Solution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28090"/>
                </a:solidFill>
              </a:rPr>
              <a:t>95% cost reduction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F3C7E"/>
                </a:solidFill>
              </a:rPr>
              <a:t> with smart workflows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F3C7E"/>
                </a:solidFill>
              </a:rPr>
              <a:t>Context-rot-proof architecture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F3C7E"/>
                </a:solidFill>
              </a:rPr>
              <a:t>Modular, step-by-step execution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F3C7E"/>
                </a:solidFill>
              </a:rPr>
              <a:t>You orchestrate, AI executes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Phase 1: The New Arsenal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A896"/>
                </a:solidFill>
              </a:rPr>
              <a:t>Five immediate upgrades to how you interface with Copilot in VS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/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Agent Skills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Slash commands for precision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828800"/>
            <a:ext cx="155448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⚡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48840" y="2514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Message Steering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2926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Guide mid-generation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828800"/>
            <a:ext cx="155448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🌐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840480" y="2514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Browser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926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Autonomous testing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1828800"/>
            <a:ext cx="155448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🔀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532120" y="2514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Forking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926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Safe exploration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828800"/>
            <a:ext cx="1554480" cy="2011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🔗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223760" y="2514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Hooks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2926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Lifecycle automation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A896"/>
                </a:solidFill>
              </a:rPr>
              <a:t>Designed to give you granular control, autonomous execution, and built-in safeguards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Exercising Unprecedented Control Mid-Flight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Agent Skills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Use slash commands like </a:t>
            </a:r>
            <a:r>
              <a:rPr lang="en-US" sz="12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/frontend-design</a:t>
            </a:r>
            <a:r>
              <a:rPr lang="en-US" sz="1200" dirty="0">
                <a:solidFill>
                  <a:srgbClr val="2F3C7E"/>
                </a:solidFill>
              </a:rPr>
              <a:t> to instantly apply specific guidelines to a prompt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Keeps output tight and project-specific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Avoids generic AI slop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Enforces consistent standards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41148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Message Steering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Add follow-up details, clarifications, or course corrections </a:t>
            </a:r>
            <a:r>
              <a:rPr lang="en-US" sz="1200" b="1" dirty="0">
                <a:solidFill>
                  <a:srgbClr val="2F3C7E"/>
                </a:solidFill>
              </a:rPr>
              <a:t>while the agent is actively working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No need to stop generation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Real-time feedback incorporation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Saves iteration cycles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Example: Message Steering in 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React component for authentication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</a:t>
            </a:r>
            <a:r>
              <a:rPr lang="en-US" sz="1100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Generating... (thinking)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(mid-generation): </a:t>
            </a: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the new React 18 hooks for this.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</a:t>
            </a: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Incorporating feedback and using useTransition...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Autonomous Action &amp; Safe Exploration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Integrated Browser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F3C7E"/>
                </a:solidFill>
              </a:rPr>
              <a:t>The agent can autonomously: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Open web pages and navigate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Click elements and fill forms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Run Playwright code for testing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F3C7E"/>
                </a:solidFill>
              </a:rPr>
              <a:t>• Verify its own UI changes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41148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Forking Conversations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Use </a:t>
            </a:r>
            <a:r>
              <a:rPr lang="en-US" sz="12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/fork</a:t>
            </a:r>
            <a:r>
              <a:rPr lang="en-US" sz="1200" dirty="0">
                <a:solidFill>
                  <a:srgbClr val="2F3C7E"/>
                </a:solidFill>
              </a:rPr>
              <a:t> to branch an active chat session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Explore alternative designs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Compare architectures side-by-side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F3C7E"/>
                </a:solidFill>
              </a:rPr>
              <a:t>• Never lose original context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F3C7E"/>
                </a:solidFill>
              </a:rPr>
              <a:t>• Fearless experimentation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💡 Use Case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F3C7E"/>
                </a:solidFill>
              </a:rPr>
              <a:t>Main conversation: Designing PostgreSQL schema for e-commerce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28090"/>
                </a:solidFill>
              </a:rPr>
              <a:t>Fork 1: </a:t>
            </a:r>
            <a:r>
              <a:rPr lang="en-US" sz="1100" dirty="0">
                <a:solidFill>
                  <a:srgbClr val="2F3C7E"/>
                </a:solidFill>
              </a:rPr>
              <a:t>Explore MongoDB alternative without losing SQL discussion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A896"/>
                </a:solidFill>
              </a:rPr>
              <a:t>Fork 2: </a:t>
            </a:r>
            <a:r>
              <a:rPr lang="en-US" sz="1100" dirty="0">
                <a:solidFill>
                  <a:srgbClr val="2F3C7E"/>
                </a:solidFill>
              </a:rPr>
              <a:t>Test GraphQL API vs REST while keeping both database explorations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2C39A"/>
                </a:solidFill>
              </a:rPr>
              <a:t>Result: </a:t>
            </a:r>
            <a:r>
              <a:rPr lang="en-US" sz="1100" dirty="0">
                <a:solidFill>
                  <a:srgbClr val="2F3C7E"/>
                </a:solidFill>
              </a:rPr>
              <a:t>Compare all approaches, pick the best, continue from that point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Baking Automations into Agent Lifecycles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Hook Support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F3C7E"/>
                </a:solidFill>
              </a:rPr>
              <a:t>Execute custom shell commands at key lifecycle points: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on_start</a:t>
            </a:r>
            <a:r>
              <a:rPr lang="en-US" sz="1200" dirty="0">
                <a:solidFill>
                  <a:srgbClr val="2F3C7E"/>
                </a:solidFill>
              </a:rPr>
              <a:t> - When agent session begins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on_stop</a:t>
            </a:r>
            <a:r>
              <a:rPr lang="en-US" sz="1200" dirty="0">
                <a:solidFill>
                  <a:srgbClr val="2F3C7E"/>
                </a:solidFill>
              </a:rPr>
              <a:t> - When agent session ends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</a:t>
            </a:r>
            <a:r>
              <a:rPr lang="en-US" sz="1200" dirty="0">
                <a:solidFill>
                  <a:srgbClr val="2F3C7E"/>
                </a:solidFill>
              </a:rPr>
              <a:t> - When errors occur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on_file_change</a:t>
            </a:r>
            <a:r>
              <a:rPr lang="en-US" sz="1200" dirty="0">
                <a:solidFill>
                  <a:srgbClr val="2F3C7E"/>
                </a:solidFill>
              </a:rPr>
              <a:t> - When files are modified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297680" cy="3291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Example: Auto-Commit Hook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"auto-commit",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"trigger": "on_stop",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"commands":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 add 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 commit -m 'Auto-save'",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 push origin main"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3886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C39A"/>
                </a:solidFill>
              </a:rPr>
              <a:t>✓ Never lose generated work again!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Phase 2: The Engine Under the Hood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A896"/>
                </a:solidFill>
              </a:rPr>
              <a:t>To truly control the agent, you must understand exactly how it thinks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Every chat message triggers a massive compilation of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before it ever reaches the model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The Anatomy of a Copilot Prompt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Your simple message is wrapped in layers of system identity, workspace topology, and live context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4A90E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 Prompt (Layer 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Core Identity → General Rules → Tool Use → Output Formats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solidFill>
            <a:srgbClr val="9B59B6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Prompt 1 (Layer 2)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Environment Info → Workspace/Project Structure → Dependencies → File Tree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E67E2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Prompt 2 (Layer 3)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Context Info: Date/Time → Open Terminals → Attached Files → YOUR MESSAGE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80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</a:rPr>
              <a:t>Understanding these layers helps you craft better prompts and target customizations precisely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Silent Killer: Context Rot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</a:rPr>
              <a:t>As context window grows, model performance degrades rapidly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1143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179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2C39A"/>
                </a:solidFill>
              </a:rPr>
              <a:t>88%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542902" y="17602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Accuracy with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short conversations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3657600" cy="10972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212079" y="1600200"/>
            <a:ext cx="180557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990011"/>
                </a:solidFill>
              </a:rPr>
              <a:t>30 %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200535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Accuracy 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32,000 tokens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Why This Happens: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Earlier context gets 'diluted' by new information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Model struggles to maintain coherence across long history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Important details from early messages are forgotten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The AI focuses more on recent messages, ignoring earlier context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4251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SOLUTION: Clear context intentionally between phases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</a:rPr>
              <a:t>Phase 3: The Building Blocks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Three components that inject specific data into exact locations within the prompt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8229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Custom Instructions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90E2"/>
                </a:solidFill>
              </a:rPr>
              <a:t>End of System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Project-level context (NextJS, TypeScript best practices)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Sets global standards for all conversations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73152" cy="8229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Prompt Files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59B6"/>
                </a:solidFill>
              </a:rPr>
              <a:t>Top of User Prompt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Reusable templates with model switching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Auto-switch to Opus for complex tasks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83280"/>
            <a:ext cx="73152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29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1887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Custom Agents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7E22"/>
                </a:solidFill>
              </a:rPr>
              <a:t>End of System Prompt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520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</a:rPr>
              <a:t>Complete behavior override with specialized roles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Build Plan Mode, Implementation Mode, etc.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0011"/>
                </a:solidFill>
              </a:rPr>
              <a:t>⚠️ These are NOT interchangeable—each targets a specific injection point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Phase 4: The Master Agentic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Combining Prompt Files, Custom Agents, and exact model selection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to build a context-rot-proof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The Strategy: One-shot complex logic with large models,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execute with fast models, clear context between every 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28600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377440"/>
            <a:ext cx="2286000" cy="10972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60604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Plan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</a:rPr>
              <a:t>Large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</a:rPr>
              <a:t>(Opus 4.5)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Analyze codebase</a:t>
            </a:r>
          </a:p>
          <a:p>
            <a:pPr marL="0" indent="0" algn="ctr">
              <a:buNone/>
            </a:pPr>
            <a:r>
              <a:rPr lang="en-US" sz="1000" dirty="0"/>
              <a:t>Create PR plan</a:t>
            </a:r>
          </a:p>
        </p:txBody>
      </p:sp>
      <p:sp>
        <p:nvSpPr>
          <p:cNvPr id="12" name="Text 10"/>
          <p:cNvSpPr/>
          <p:nvPr/>
        </p:nvSpPr>
        <p:spPr>
          <a:xfrm>
            <a:off x="31089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97706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0020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🗑️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97706"/>
                </a:solidFill>
              </a:rPr>
              <a:t>Clear Context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2377440"/>
            <a:ext cx="228600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2377440"/>
            <a:ext cx="2286000" cy="10972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26060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0624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Generate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9040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</a:rPr>
              <a:t>Large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</a:rPr>
              <a:t>(Opus 4.5)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Read plan</a:t>
            </a:r>
          </a:p>
          <a:p>
            <a:pPr marL="0" indent="0" algn="ctr">
              <a:buNone/>
            </a:pPr>
            <a:r>
              <a:rPr lang="en-US" sz="1000" dirty="0"/>
              <a:t>Generate code</a:t>
            </a:r>
          </a:p>
          <a:p>
            <a:pPr marL="0" indent="0" algn="ctr">
              <a:buNone/>
            </a:pPr>
            <a:r>
              <a:rPr lang="en-US" sz="1000" dirty="0"/>
              <a:t>(Markdown only)</a:t>
            </a:r>
          </a:p>
        </p:txBody>
      </p:sp>
      <p:sp>
        <p:nvSpPr>
          <p:cNvPr id="22" name="Text 20"/>
          <p:cNvSpPr/>
          <p:nvPr/>
        </p:nvSpPr>
        <p:spPr>
          <a:xfrm>
            <a:off x="59436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97706"/>
                </a:solidFill>
              </a:rPr>
              <a:t>→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43484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🗑️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40480" y="4480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97706"/>
                </a:solidFill>
              </a:rPr>
              <a:t>Clear Context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377440"/>
            <a:ext cx="228600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2377440"/>
            <a:ext cx="2286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2606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4088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Implement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</a:rPr>
              <a:t>Fast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</a:rPr>
              <a:t>(GPT-4o-mini)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Read checklist</a:t>
            </a:r>
          </a:p>
          <a:p>
            <a:pPr marL="0" indent="0" algn="ctr">
              <a:buNone/>
            </a:pPr>
            <a:r>
              <a:rPr lang="en-US" sz="1000" dirty="0"/>
              <a:t>Write files</a:t>
            </a:r>
          </a:p>
          <a:p>
            <a:pPr marL="0" indent="0" algn="ctr">
              <a:buNone/>
            </a:pPr>
            <a:r>
              <a:rPr lang="en-US" sz="1000" dirty="0"/>
              <a:t>Review &amp; commit</a:t>
            </a:r>
          </a:p>
        </p:txBody>
      </p:sp>
      <p:sp>
        <p:nvSpPr>
          <p:cNvPr id="32" name="Text 30"/>
          <p:cNvSpPr/>
          <p:nvPr/>
        </p:nvSpPr>
        <p:spPr>
          <a:xfrm>
            <a:off x="726948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🗑️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75120" y="4480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97706"/>
                </a:solidFill>
              </a:rPr>
              <a:t>Clear Context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The 3-Step Assembly Line (Detailed)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39"/>
            <a:ext cx="2743200" cy="13091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</a:rPr>
              <a:t>Step 1: Plan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Use Prompt File + Large Model (Opus)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Analyze codebase comprehensively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Create high-level step-by-step plan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</a:t>
            </a:r>
            <a:r>
              <a:rPr lang="en-US" sz="1100" b="1" dirty="0">
                <a:solidFill>
                  <a:srgbClr val="990011"/>
                </a:solidFill>
              </a:rPr>
              <a:t>[Clear Context]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743200" cy="13091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E2"/>
                </a:solidFill>
              </a:rPr>
              <a:t>Step 2: Generate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1463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Use Prompt File + Large Model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Read plan from Step 1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Generate ALL code in Markdown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NOT in project files yet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</a:t>
            </a:r>
            <a:r>
              <a:rPr lang="en-US" sz="1100" b="1" dirty="0">
                <a:solidFill>
                  <a:srgbClr val="990011"/>
                </a:solidFill>
              </a:rPr>
              <a:t>[Clear Context]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743200" cy="13091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Step 3: Implement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463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Use Custom Agent + Fast Model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Read Markdown checklist verbatim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Write files one by one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You review and commit each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3C7E"/>
                </a:solidFill>
              </a:rPr>
              <a:t>• Fast, cheap, reliable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Why This Works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F3C7E"/>
                </a:solidFill>
              </a:rPr>
              <a:t>✓ Context cleared between phases prevents degradation</a:t>
            </a:r>
            <a:endParaRPr lang="en-US" sz="13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F3C7E"/>
                </a:solidFill>
              </a:rPr>
              <a:t>✓ Expensive models used ONLY for complex thinking (Steps 1-2)</a:t>
            </a:r>
            <a:endParaRPr lang="en-US" sz="13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F3C7E"/>
                </a:solidFill>
              </a:rPr>
              <a:t>✓ Cheap models used for repetitive execution (Step 3)</a:t>
            </a:r>
            <a:endParaRPr lang="en-US" sz="13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F3C7E"/>
                </a:solidFill>
              </a:rPr>
              <a:t>✓ Can save 95% on API costs for large projects</a:t>
            </a:r>
            <a:endParaRPr lang="en-US" sz="13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F3C7E"/>
                </a:solidFill>
              </a:rPr>
              <a:t>✓ Maintains high quality throughout entire workflow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F3C7E"/>
                </a:solidFill>
              </a:rPr>
              <a:t>✓ Developer maintains control—review before committing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Cost Optimization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474720" cy="2560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</a:rPr>
              <a:t>Traditional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All Opus, All the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50 messages × $0.015</a:t>
            </a:r>
            <a:endParaRPr lang="en-US" sz="14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</a:rPr>
              <a:t>= $0.75 per feature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❌ Context rot at 30 messages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❌ Degraded quality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❌ High costs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474720" cy="2560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3-Step Workflow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Right Model for Each Job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331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Step 1: $0.015 (Opus)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Step 2: $0.015 (Opus)</a:t>
            </a:r>
            <a:endParaRPr lang="en-US" sz="1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Step 3: $0.008 (40× Mini)</a:t>
            </a:r>
            <a:endParaRPr lang="en-US" sz="14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= $0.038 per feature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✓ No context rot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✓ Consistent quality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✓ 95% cost savings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4206240"/>
            <a:ext cx="45720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4297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SAVINGS: $0.75 → $0.038 (95% reduction)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Results &amp; Immediate 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Key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6858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2761"/>
                </a:solidFill>
              </a:rPr>
              <a:t>95%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19456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Cost Reduction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Using 3-Step Workflow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114800" cy="68580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77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2761"/>
                </a:solidFill>
              </a:rPr>
              <a:t>58%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194560" y="2423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Accuracy Drop Prevented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With Context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114800" cy="6858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200400"/>
            <a:ext cx="23788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2761"/>
                </a:solidFill>
              </a:rPr>
              <a:t>50-70%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19456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Faster Development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</a:rPr>
              <a:t>For Complex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Immediate Action Items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411480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6002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28090"/>
                </a:solidFill>
              </a:rPr>
              <a:t>This Week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Configure Agent Skills in VS Code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Create Custom Instructions for your main project</a:t>
            </a:r>
            <a:endParaRPr lang="en-US" sz="1100" dirty="0"/>
          </a:p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F3C7E"/>
                </a:solidFill>
              </a:rPr>
              <a:t>• Try /fork command when exploring alternatives</a:t>
            </a:r>
            <a:endParaRPr lang="en-US" sz="110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A896"/>
                </a:solidFill>
              </a:rPr>
              <a:t>This Month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Build your first Prompt File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Set up post-stop hook for auto-commit</a:t>
            </a:r>
            <a:endParaRPr lang="en-US" sz="1100" dirty="0"/>
          </a:p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F3C7E"/>
                </a:solidFill>
              </a:rPr>
              <a:t>• Implement 3-step workflow on a real feature</a:t>
            </a:r>
            <a:endParaRPr lang="en-US" sz="110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2C39A"/>
                </a:solidFill>
              </a:rPr>
              <a:t>Success Criteria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Measure cost savings and accuracy improvements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Track iteration reduction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F3C7E"/>
                </a:solidFill>
              </a:rPr>
              <a:t>• Share results with your team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You Are the Orchestrator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371600" y="2103120"/>
            <a:ext cx="6400800" cy="1261291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25146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/>
              <a:t>By combining custom instructions, prompt files, and agents,</a:t>
            </a:r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400" b="1" dirty="0"/>
              <a:t>you dictate the pipeline.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/>
              <a:t>Stop fighting context rot.</a:t>
            </a:r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400" dirty="0"/>
              <a:t>Start building modular, step-by-step systems.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The AI is your engineering team.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A896"/>
                </a:solidFill>
              </a:rPr>
              <a:t>Explore the Awesome Copilot repository for community-built workflows →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1246</Words>
  <Application>Microsoft Macintosh PowerPoint</Application>
  <PresentationFormat>On-screen Show (16:9)</PresentationFormat>
  <Paragraphs>250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AI Workflows in VS Code - Complete Guide</dc:title>
  <dc:subject>PptxGenJS Presentation</dc:subject>
  <dc:creator>AI Orchestration Workshop</dc:creator>
  <cp:lastModifiedBy>SYED RAZA</cp:lastModifiedBy>
  <cp:revision>5</cp:revision>
  <dcterms:created xsi:type="dcterms:W3CDTF">2026-03-07T09:42:40Z</dcterms:created>
  <dcterms:modified xsi:type="dcterms:W3CDTF">2026-03-07T10:02:06Z</dcterms:modified>
</cp:coreProperties>
</file>