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151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Walk through .github setup — copilot-instructions.md is the key config. Content Exclusion (Repo Settings → Copilot → Content exclusion) controls what Copilot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3-layer model is how you control token cost. L1 (copilot-instructions.md) always loads — keep it lean, global rules only. L2 (instructions/*.instructions.md with applyTo) auto-loads per file type — scoped rules for Python, React, SQL etc. L3 (prompts/*.prompt.md) is on-demand Skills — rich context only when explicitly triggered. Golden Rule: push rules as deep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64008"/>
            <a:ext cx="36576" cy="5079492"/>
          </a:xfrm>
          <a:prstGeom prst="rect">
            <a:avLst/>
          </a:prstGeom>
          <a:solidFill>
            <a:srgbClr val="C9A227">
              <a:alpha val="30000"/>
            </a:srgbClr>
          </a:solidFill>
          <a:ln w="12700">
            <a:solidFill>
              <a:srgbClr val="C9A227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2240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3108960"/>
            <a:ext cx="2468880" cy="329184"/>
          </a:xfrm>
          <a:prstGeom prst="roundRect">
            <a:avLst>
              <a:gd name="adj" fmla="val 27778"/>
            </a:avLst>
          </a:prstGeom>
          <a:solidFill>
            <a:srgbClr val="9A7A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108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Agentic Development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Setup &amp; Best Practices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4754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For Dev Team  ·  June 2026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29000" y="182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Smarter with GitHub Copilot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29000" y="7498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</a:rPr>
              <a:t>Structure your repo so Copilot agents can navigate, understand, and execute — consistently.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29000" y="1115568"/>
            <a:ext cx="5486400" cy="22860"/>
          </a:xfrm>
          <a:prstGeom prst="rect">
            <a:avLst/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234440"/>
            <a:ext cx="1810512" cy="2423160"/>
          </a:xfrm>
          <a:prstGeom prst="roundRect">
            <a:avLst>
              <a:gd name="adj" fmla="val 606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27000" dist="25400" dir="2700000" algn="bl" rotWithShape="0">
              <a:srgbClr val="C9A227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93008" y="1234440"/>
            <a:ext cx="1682496" cy="50292"/>
          </a:xfrm>
          <a:prstGeom prst="roundRect">
            <a:avLst>
              <a:gd name="adj" fmla="val 10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8988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2152" y="177393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F4A"/>
                </a:solidFill>
              </a:rPr>
              <a:t>.github/ Setup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02152" y="214884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copilot-instructions.md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PR &amp; Issue templates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CI/CD agent workflows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Repository-level context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330952" y="1234440"/>
            <a:ext cx="1810512" cy="2423160"/>
          </a:xfrm>
          <a:prstGeom prst="roundRect">
            <a:avLst>
              <a:gd name="adj" fmla="val 606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27000" dist="25400" dir="2700000" algn="bl" rotWithShape="0">
              <a:srgbClr val="C9A227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94960" y="1234440"/>
            <a:ext cx="1682496" cy="50292"/>
          </a:xfrm>
          <a:prstGeom prst="roundRect">
            <a:avLst>
              <a:gd name="adj" fmla="val 10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8988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04104" y="177393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F4A"/>
                </a:solidFill>
              </a:rPr>
              <a:t>Agent Prompts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04104" y="214884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prompts/ folder in root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Task-specific .md files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System prompt per domain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Versioned &amp; peer-reviewed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232904" y="1234440"/>
            <a:ext cx="1810512" cy="2423160"/>
          </a:xfrm>
          <a:prstGeom prst="roundRect">
            <a:avLst>
              <a:gd name="adj" fmla="val 606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27000" dist="25400" dir="2700000" algn="bl" rotWithShape="0">
              <a:srgbClr val="C9A227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296912" y="1234440"/>
            <a:ext cx="1682496" cy="50292"/>
          </a:xfrm>
          <a:prstGeom prst="roundRect">
            <a:avLst>
              <a:gd name="adj" fmla="val 10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38988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06056" y="177393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F4A"/>
                </a:solidFill>
              </a:rPr>
              <a:t>File Structure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306056" y="214884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agents/ for custom agents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skills/ for reusable logic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Content Exclusion via Settings</a:t>
            </a:r>
            <a:endParaRPr lang="en-US" sz="850" dirty="0"/>
          </a:p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BBBBBB"/>
                </a:solidFill>
              </a:rPr>
              <a:t>Clear README per module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3429000" y="3749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C9A227"/>
                </a:solidFill>
              </a:rPr>
              <a:t>WHY BEST PRACTICES MATTER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3429000" y="4041648"/>
            <a:ext cx="1810512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4133088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6200" y="413308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Faster Onboarding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886200" y="43616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Copilot finds context instantly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5330952" y="4041648"/>
            <a:ext cx="1810512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413308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88152" y="413308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Consistent Output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5788152" y="43616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Same prompt = predictable results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7232904" y="4041648"/>
            <a:ext cx="1810512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632" y="4133088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690104" y="413308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Fewer Hallucinations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7690104" y="43616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Clear scope = accurate completions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828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27632" y="109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62763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3-Layer Instruction Architecture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2560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8888"/>
                </a:solidFill>
              </a:rPr>
              <a:t>Main file + scoped files + skills — each layer has a distinct job and a different token cost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28600" y="1024128"/>
            <a:ext cx="8686800" cy="1005840"/>
          </a:xfrm>
          <a:prstGeom prst="roundRect">
            <a:avLst>
              <a:gd name="adj" fmla="val 10909"/>
            </a:avLst>
          </a:prstGeom>
          <a:solidFill>
            <a:srgbClr val="3D280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7472" y="1298448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747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</a:rPr>
              <a:t>L1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31673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1234440" y="144475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234440" y="14447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</a:rPr>
              <a:t>GLOBAL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2084832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BBBBB"/>
                </a:solidFill>
              </a:rPr>
              <a:t>Loaded on EVERY request · No conditions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773168" y="1115568"/>
            <a:ext cx="22860" cy="822960"/>
          </a:xfrm>
          <a:prstGeom prst="rect">
            <a:avLst/>
          </a:prstGeom>
          <a:solidFill>
            <a:srgbClr val="C9A227">
              <a:alpha val="40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919472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BF4A"/>
                </a:solidFill>
              </a:rPr>
              <a:t>Best for: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919472" y="12984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BBBBB"/>
                </a:solidFill>
              </a:rPr>
              <a:t>Repo language, 'code only' directive, global naming conventions — rules true for ALL files &amp; ALL tasks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228600" y="2176272"/>
            <a:ext cx="8686800" cy="1005840"/>
          </a:xfrm>
          <a:prstGeom prst="roundRect">
            <a:avLst>
              <a:gd name="adj" fmla="val 10909"/>
            </a:avLst>
          </a:prstGeom>
          <a:solidFill>
            <a:srgbClr val="0D2535"/>
          </a:solidFill>
          <a:ln w="12700">
            <a:solidFill>
              <a:srgbClr val="3A7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7472" y="2450592"/>
            <a:ext cx="384048" cy="384048"/>
          </a:xfrm>
          <a:prstGeom prst="ellipse">
            <a:avLst/>
          </a:prstGeom>
          <a:solidFill>
            <a:srgbClr val="3A7CBD"/>
          </a:solidFill>
          <a:ln w="12700">
            <a:solidFill>
              <a:srgbClr val="3A7CB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4747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2249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B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.github/instructions/*.instructions.md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234440" y="2596896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3A7CBD">
              <a:alpha val="20000"/>
            </a:srgbClr>
          </a:solidFill>
          <a:ln w="12700">
            <a:solidFill>
              <a:srgbClr val="3A7CB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234440" y="2596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A7CBD"/>
                </a:solidFill>
              </a:rPr>
              <a:t>SCOPED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2084832" y="2596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BBBBB"/>
                </a:solidFill>
              </a:rPr>
              <a:t>Auto-loaded when 'applyTo' glob pattern matches the file being edited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773168" y="2267712"/>
            <a:ext cx="22860" cy="822960"/>
          </a:xfrm>
          <a:prstGeom prst="rect">
            <a:avLst/>
          </a:prstGeom>
          <a:solidFill>
            <a:srgbClr val="3A7CBD">
              <a:alpha val="40000"/>
            </a:srgbClr>
          </a:solidFill>
          <a:ln w="12700">
            <a:solidFill>
              <a:srgbClr val="3A7CBD">
                <a:alpha val="4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9472" y="2249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BB8F5"/>
                </a:solidFill>
              </a:rPr>
              <a:t>Best for: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919472" y="24505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BBBBB"/>
                </a:solidFill>
              </a:rPr>
              <a:t>python.instructions.md for *.py · react.instructions.md for *.tsx · sql.instructions.md for *.sql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28600" y="3328416"/>
            <a:ext cx="8686800" cy="1005840"/>
          </a:xfrm>
          <a:prstGeom prst="roundRect">
            <a:avLst>
              <a:gd name="adj" fmla="val 10909"/>
            </a:avLst>
          </a:prstGeom>
          <a:solidFill>
            <a:srgbClr val="0D2D1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47472" y="3602736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47472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621024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3444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C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.github/prompts/*.prompt.md  (Skills)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1234440" y="3749040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2E8B57">
              <a:alpha val="2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234440" y="3749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B57"/>
                </a:solidFill>
              </a:rPr>
              <a:t>ON-DEMAND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2084832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BBBBB"/>
                </a:solidFill>
              </a:rPr>
              <a:t>Only fetched when the agent identifies a trigger keyword in the prompt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773168" y="3419856"/>
            <a:ext cx="22860" cy="822960"/>
          </a:xfrm>
          <a:prstGeom prst="rect">
            <a:avLst/>
          </a:prstGeom>
          <a:solidFill>
            <a:srgbClr val="2E8B57">
              <a:alpha val="40000"/>
            </a:srgbClr>
          </a:solidFill>
          <a:ln w="12700">
            <a:solidFill>
              <a:srgbClr val="2E8B57">
                <a:alpha val="40000"/>
              </a:srgbClr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919472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CC97A"/>
                </a:solidFill>
              </a:rPr>
              <a:t>Best for: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4919472" y="36027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BBBBB"/>
                </a:solidFill>
              </a:rPr>
              <a:t>PR review playbooks, security audit checklists, deployment runbooks — rich context, needed occasionally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228600" y="4407408"/>
            <a:ext cx="8686800" cy="521208"/>
          </a:xfrm>
          <a:prstGeom prst="roundRect">
            <a:avLst>
              <a:gd name="adj" fmla="val 17544"/>
            </a:avLst>
          </a:prstGeom>
          <a:solidFill>
            <a:srgbClr val="1A1500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489704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77240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227"/>
                </a:solidFill>
              </a:rPr>
              <a:t>Golden Rule: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2029968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Put every rule in the deepest layer that still works.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777240" y="47000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BF4A"/>
                </a:solidFill>
              </a:rPr>
              <a:t>Deeper = fewer tokens paid per request.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</a:rPr>
              <a:t>GitHub Copilot  ·  Agentic Development Demo  ·  Dev Team  ·  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Macintosh PowerPoint</Application>
  <PresentationFormat>On-screen Show (16:9)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— Agentic Development</dc:title>
  <dc:subject>PptxGenJS Presentation</dc:subject>
  <dc:creator>PptxGenJS</dc:creator>
  <cp:lastModifiedBy>SYED RAZA</cp:lastModifiedBy>
  <cp:revision>2</cp:revision>
  <dcterms:created xsi:type="dcterms:W3CDTF">2026-06-23T00:02:08Z</dcterms:created>
  <dcterms:modified xsi:type="dcterms:W3CDTF">2026-06-23T00:05:11Z</dcterms:modified>
</cp:coreProperties>
</file>