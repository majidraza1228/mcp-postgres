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skills are easy to build, hard to trust. The session covers 11 evaluation methods plus live demos.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static and routing checks are fast and cheap; output and behavior evals judge quality; production evals keep it reliable over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lesson demos lint, pairwise A/B, LLM-as-judge and trajectory runs live. Close on the loop: build, evaluate, improve,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MAVEN LESSON  ·  AI EVALS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Your Agent Skills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evals that actually work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AI skill is only step one. The harder question is whether it actually works. Evals replace intuition with a systematic way to test quality, catch failures, and measure improvement.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46520" y="594360"/>
            <a:ext cx="2011680" cy="201168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46520" y="8229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16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783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to evaluate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6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23285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2735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2735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evals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657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measure whether skills are reliable, accurate and consistent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64408" y="31546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23285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47288" y="32735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950208" y="32735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them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447288" y="3657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real use cases into test cases that show where skills pass or fail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71616" y="31546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23285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54496" y="32735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757416" y="32735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with results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254496" y="3657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weak spots, iterate fast, harden skills for real-world use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 Shah (Senior AI SDE, Microsoft)  ·  Dr. Aki Wijesundara (AI Founder, TAI Labs)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11 ways to evaluate agent skills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from cheap static checks to production monitoring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517904" cy="3429000"/>
          </a:xfrm>
          <a:prstGeom prst="roundRect">
            <a:avLst>
              <a:gd name="adj" fmla="val 4819"/>
            </a:avLst>
          </a:prstGeom>
          <a:solidFill>
            <a:srgbClr val="F3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444752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37360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it runs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2148840"/>
            <a:ext cx="310896" cy="310896"/>
          </a:xfrm>
          <a:prstGeom prst="ellipse">
            <a:avLst/>
          </a:prstGeom>
          <a:solidFill>
            <a:srgbClr val="161A3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2148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514600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linting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724912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skill file format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" y="3017520"/>
            <a:ext cx="310896" cy="310896"/>
          </a:xfrm>
          <a:prstGeom prst="ellipse">
            <a:avLst/>
          </a:prstGeom>
          <a:solidFill>
            <a:srgbClr val="161A3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3017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383280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scanning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593592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skills for risks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135124" y="1325880"/>
            <a:ext cx="1517904" cy="3429000"/>
          </a:xfrm>
          <a:prstGeom prst="roundRect">
            <a:avLst>
              <a:gd name="adj" fmla="val 4819"/>
            </a:avLst>
          </a:prstGeom>
          <a:solidFill>
            <a:srgbClr val="F3F5F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272284" y="1444752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272284" y="1737360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trigger?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72284" y="2148840"/>
            <a:ext cx="310896" cy="310896"/>
          </a:xfrm>
          <a:prstGeom prst="ellipse">
            <a:avLst/>
          </a:prstGeom>
          <a:solidFill>
            <a:srgbClr val="161A3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272284" y="2148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272284" y="2514600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routing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2272284" y="2724912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72284" y="3017520"/>
            <a:ext cx="310896" cy="310896"/>
          </a:xfrm>
          <a:prstGeom prst="ellipse">
            <a:avLst/>
          </a:prstGeom>
          <a:solidFill>
            <a:srgbClr val="161A3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272284" y="3017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272284" y="3383280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eval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2272284" y="3593592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against decoy skills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13048" y="1325880"/>
            <a:ext cx="1517904" cy="3429000"/>
          </a:xfrm>
          <a:prstGeom prst="roundRect">
            <a:avLst>
              <a:gd name="adj" fmla="val 4819"/>
            </a:avLst>
          </a:prstGeom>
          <a:solidFill>
            <a:srgbClr val="F3F5F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950208" y="1444752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950208" y="1737360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result good?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950208" y="2148840"/>
            <a:ext cx="310896" cy="310896"/>
          </a:xfrm>
          <a:prstGeom prst="ellipse">
            <a:avLst/>
          </a:prstGeom>
          <a:solidFill>
            <a:srgbClr val="161A3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950208" y="2148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950208" y="2514600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3950208" y="2724912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grading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950208" y="3017520"/>
            <a:ext cx="310896" cy="310896"/>
          </a:xfrm>
          <a:prstGeom prst="ellipse">
            <a:avLst/>
          </a:prstGeom>
          <a:solidFill>
            <a:srgbClr val="161A3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950208" y="3017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3950208" y="3383280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A/B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3950208" y="3593592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versions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950208" y="3886200"/>
            <a:ext cx="310896" cy="310896"/>
          </a:xfrm>
          <a:prstGeom prst="ellipse">
            <a:avLst/>
          </a:prstGeom>
          <a:solidFill>
            <a:srgbClr val="161A33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950208" y="3886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3950208" y="4251960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as judge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3950208" y="4462272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with defined rubrics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490972" y="1325880"/>
            <a:ext cx="1517904" cy="3429000"/>
          </a:xfrm>
          <a:prstGeom prst="roundRect">
            <a:avLst>
              <a:gd name="adj" fmla="val 4819"/>
            </a:avLst>
          </a:prstGeom>
          <a:solidFill>
            <a:srgbClr val="F3F5F9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628132" y="1444752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5628132" y="1737360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it act right?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628132" y="2148840"/>
            <a:ext cx="310896" cy="310896"/>
          </a:xfrm>
          <a:prstGeom prst="ellipse">
            <a:avLst/>
          </a:prstGeom>
          <a:solidFill>
            <a:srgbClr val="161A33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5628132" y="2148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5628132" y="2514600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eval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5628132" y="2724912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tool-call order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168896" y="1325880"/>
            <a:ext cx="1517904" cy="3429000"/>
          </a:xfrm>
          <a:prstGeom prst="roundRect">
            <a:avLst>
              <a:gd name="adj" fmla="val 4819"/>
            </a:avLst>
          </a:prstGeom>
          <a:solidFill>
            <a:srgbClr val="F3F5F9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7306056" y="1444752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7306056" y="1737360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hold up?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306056" y="2148840"/>
            <a:ext cx="310896" cy="310896"/>
          </a:xfrm>
          <a:prstGeom prst="ellipse">
            <a:avLst/>
          </a:prstGeom>
          <a:solidFill>
            <a:srgbClr val="161A33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7306056" y="2148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7306056" y="2514600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tracing</a:t>
            </a:r>
            <a:endParaRPr 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7306056" y="2724912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on real runs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306056" y="3017520"/>
            <a:ext cx="310896" cy="310896"/>
          </a:xfrm>
          <a:prstGeom prst="ellipse">
            <a:avLst/>
          </a:prstGeom>
          <a:solidFill>
            <a:srgbClr val="161A33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7306056" y="3017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7306056" y="3383280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checks</a:t>
            </a:r>
            <a:endParaRPr lang="en-US" sz="1150" dirty="0"/>
          </a:p>
        </p:txBody>
      </p:sp>
      <p:sp>
        <p:nvSpPr>
          <p:cNvPr id="58" name="Text 56"/>
          <p:cNvSpPr txBox="1"/>
          <p:nvPr/>
        </p:nvSpPr>
        <p:spPr>
          <a:xfrm>
            <a:off x="7306056" y="3593592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quality drops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306056" y="3886200"/>
            <a:ext cx="310896" cy="310896"/>
          </a:xfrm>
          <a:prstGeom prst="ellipse">
            <a:avLst/>
          </a:prstGeom>
          <a:solidFill>
            <a:srgbClr val="161A33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7306056" y="3886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7306056" y="4251960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efficiency</a:t>
            </a:r>
            <a:endParaRPr lang="en-US" sz="1150" dirty="0"/>
          </a:p>
        </p:txBody>
      </p:sp>
      <p:sp>
        <p:nvSpPr>
          <p:cNvPr id="62" name="Text 60"/>
          <p:cNvSpPr txBox="1"/>
          <p:nvPr/>
        </p:nvSpPr>
        <p:spPr>
          <a:xfrm>
            <a:off x="7306056" y="4462272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per dollar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evals to 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evaluation as a loop, not a final exam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188720" cy="1188720"/>
          </a:xfrm>
          <a:prstGeom prst="ellipse">
            <a:avLst/>
          </a:prstGeom>
          <a:solidFill>
            <a:srgbClr val="232850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874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194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148840" y="2514600"/>
            <a:ext cx="1188720" cy="1188720"/>
          </a:xfrm>
          <a:prstGeom prst="ellipse">
            <a:avLst/>
          </a:prstGeom>
          <a:solidFill>
            <a:srgbClr val="3DDC97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48840" y="2834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3154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test cases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3474720"/>
            <a:ext cx="1188720" cy="1188720"/>
          </a:xfrm>
          <a:prstGeom prst="ellipse">
            <a:avLst/>
          </a:prstGeom>
          <a:solidFill>
            <a:srgbClr val="232850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3794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114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weak spots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691640" y="2240280"/>
            <a:ext cx="502920" cy="411480"/>
          </a:xfrm>
          <a:prstGeom prst="line">
            <a:avLst/>
          </a:prstGeom>
          <a:noFill/>
          <a:ln w="25400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V="1">
            <a:off x="1691640" y="3611880"/>
            <a:ext cx="502920" cy="365760"/>
          </a:xfrm>
          <a:prstGeom prst="line">
            <a:avLst/>
          </a:prstGeom>
          <a:noFill/>
          <a:ln w="25400">
            <a:solidFill>
              <a:srgbClr val="3DDC97"/>
            </a:solidFill>
            <a:prstDash val="solid"/>
            <a:headEnd type="triangle"/>
          </a:ln>
        </p:spPr>
      </p:sp>
      <p:sp>
        <p:nvSpPr>
          <p:cNvPr id="15" name="Shape 13"/>
          <p:cNvSpPr/>
          <p:nvPr/>
        </p:nvSpPr>
        <p:spPr>
          <a:xfrm flipV="1">
            <a:off x="1097280" y="2761488"/>
            <a:ext cx="0" cy="694944"/>
          </a:xfrm>
          <a:prstGeom prst="line">
            <a:avLst/>
          </a:prstGeom>
          <a:noFill/>
          <a:ln w="25400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023360" y="1444752"/>
            <a:ext cx="365760" cy="36576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02336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real use cases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170992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test cases from how the skill is actually used, not idealized inputs.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23360" y="2267712"/>
            <a:ext cx="365760" cy="36576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023360" y="2267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2240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cheap and rich checks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25328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linting and deterministic grading on every change; add LLM-as-judge and A/B for nuance.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023360" y="3090672"/>
            <a:ext cx="365760" cy="36576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023360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0" y="3063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path, not just the answer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33558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evals confirm the agent called the right tools in the right order.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023360" y="3913632"/>
            <a:ext cx="365760" cy="36576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023360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0" y="3886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in gains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0" y="41788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checks, tracing and cost analysis keep a skill reliable after launch.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Maven free lesson "Evaluate Your Agent Skills: Build Evals That Actually Work" (TAI Labs)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Evaluate Your Agent Skills</dc:title>
  <dc:subject>PptxGenJS Presentation</dc:subject>
  <dc:creator>PptxGenJS</dc:creator>
  <cp:lastModifiedBy>PptxGenJS</cp:lastModifiedBy>
  <cp:revision>1</cp:revision>
  <dcterms:created xsi:type="dcterms:W3CDTF">2026-09-22T03:43:01Z</dcterms:created>
  <dcterms:modified xsi:type="dcterms:W3CDTF">2026-09-22T03:43:01Z</dcterms:modified>
</cp:coreProperties>
</file>