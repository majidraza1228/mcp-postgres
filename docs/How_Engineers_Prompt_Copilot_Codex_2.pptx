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3"/>
    <p:restoredTop sz="94610"/>
  </p:normalViewPr>
  <p:slideViewPr>
    <p:cSldViewPr snapToGrid="0" snapToObjects="1">
      <p:cViewPr varScale="1">
        <p:scale>
          <a:sx n="216" d="100"/>
          <a:sy n="216" d="100"/>
        </p:scale>
        <p:origin x="4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6968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24292E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0A37F">
              <a:alpha val="1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914400"/>
            <a:ext cx="731520" cy="7315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914400"/>
            <a:ext cx="731520" cy="731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17373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Engineers Prompt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 &amp; OpenAI Codex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64008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Prompting Playbook for Developer Teams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4008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 |  Best Practices, Examples &amp; Adoption Guide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AI Prompting Matters for Engineers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234440"/>
            <a:ext cx="64008" cy="1051560"/>
          </a:xfrm>
          <a:prstGeom prst="rect">
            <a:avLst/>
          </a:prstGeom>
          <a:solidFill>
            <a:srgbClr val="10A37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08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3258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429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4M+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2926080" y="132588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active developers on OpenAI Codex — prompting quality separates top teams from the rest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468880"/>
            <a:ext cx="64008" cy="1051560"/>
          </a:xfrm>
          <a:prstGeom prst="rect">
            <a:avLst/>
          </a:prstGeom>
          <a:solidFill>
            <a:srgbClr val="10A37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7432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560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429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3600" dirty="0"/>
          </a:p>
        </p:txBody>
      </p:sp>
      <p:sp>
        <p:nvSpPr>
          <p:cNvPr id="12" name="Text 8"/>
          <p:cNvSpPr/>
          <p:nvPr/>
        </p:nvSpPr>
        <p:spPr>
          <a:xfrm>
            <a:off x="2926080" y="256032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code completion reported by teams using Copilot with structured prompts and clear comments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70332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48640" y="3703320"/>
            <a:ext cx="64008" cy="1051560"/>
          </a:xfrm>
          <a:prstGeom prst="rect">
            <a:avLst/>
          </a:prstGeom>
          <a:solidFill>
            <a:srgbClr val="10A37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9776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7947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429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33%</a:t>
            </a:r>
            <a:endParaRPr lang="en-US" sz="3600" dirty="0"/>
          </a:p>
        </p:txBody>
      </p:sp>
      <p:sp>
        <p:nvSpPr>
          <p:cNvPr id="17" name="Text 12"/>
          <p:cNvSpPr/>
          <p:nvPr/>
        </p:nvSpPr>
        <p:spPr>
          <a:xfrm>
            <a:off x="2926080" y="37947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on unguided AI attempts — planning and config files change the outcome dramatically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Two Tools at a Glance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365760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5029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IDE-integrated pair programmer with inline suggestions, Chat, CLI agent, and cloud coding agent. Works in VS Code, JetBrains, and the terminal.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for: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autocomplete, in-IDE chat, PR generation, auto-fix CI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 file: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copilot-instructions.md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023360" cy="365760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4023360" cy="50292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0058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OpenAI Codex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coding system across CLI, IDE extension, and web app. Runs in isolated environments with parallel thread support.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DC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for: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3154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task delegation, parallel agents, scheduled automations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DC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 file: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 + SKILL.md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Prompting Principles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patterns work across both Copilot and Codex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544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99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 Specific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7647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constraints, expected behavior, and edge cases. Vague = hallucinations.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32588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5544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399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 It Down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440680" y="17647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complex tasks into smaller steps. One prompt per concern.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246888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9748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2542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 Context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29077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files, reference code, show examples. Context &gt; clever wording.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54880" y="246888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69748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2542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Before Execute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440680" y="29077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/plan mode. Review the AI's approach before implementation.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361188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84048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34440" y="3685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the Output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234440" y="40507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tests, linters, type-checks. Both tools can produce confident mistakes.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754880" y="361188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384048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40680" y="3685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Iterate or Reset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5440680" y="40507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 with corrections. If context degrades, start a fresh thread.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 — Prompting Deep Dive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54864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87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Comment-Driven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2527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detailed comments above functions: purpose, params, return type, error behavior. Copilot generates from these.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37360"/>
            <a:ext cx="54864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764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#file &amp; @workspace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0299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relevant files with #file:path. Use @workspace to pull project-wide context into Chat queries.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542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Constraint Prompts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28072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I fix this error without changing the public API?" — Constraints narrow the solution space dramatically.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291840"/>
            <a:ext cx="54864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3192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copilot-instructions.md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5844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Repository-level custom instructions: code standards, build commands, test frameworks. Copilot reads this automatically.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069080"/>
            <a:ext cx="54864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096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&amp; /fleet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4361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CLI: /plan for structured plans, /fleet for parallel subtasks, cloud agent auto-fixes CI failures.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 — Practical Examples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Inline: Comment-Driven Generation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840480" cy="173736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Authenticate user by validating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username + password against DB.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Return JWT if valid; otherwise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throw AuthenticationException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authenticate(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username: string,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password: string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 Promise&lt;string&gt; { ... 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Chat: Constrained Refactoring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4023360" cy="173736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716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@workspace Refactor the payment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to use the Strategy pattern.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Don't change the public API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Compatible with Node 18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Keep existing test coverage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#file:src/payments/processor.ts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copilot-instructions.md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8046720" cy="118872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74904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.github/copilot-instructions.md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Build: `make build`  |  Test: `make test`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Style: gofmt on all Go files before commit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Architecture: cmd/ for entry points, internal/ for logic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Always run `make ci` before declaring complete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OpenAI Codex — Prompting Deep Dive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54864" cy="64008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87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AGENTS.md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2527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Repository-level guidance: conventions, test commands, codebase navigation tips. Auto-injected per-directory.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37360"/>
            <a:ext cx="54864" cy="64008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764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Threads &amp; Forking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0299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thread per unit of work. Fork when direction diverges. Use /compact when context gets long.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542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Everything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28072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tests, run them, confirm the result, and review the work before you accept it." Include verification steps.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291840"/>
            <a:ext cx="54864" cy="64008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3192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Parallel Agents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5844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/fleet to break tasks into parallel subtasks with subagents. Plan scope per session to avoid conflicts.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069080"/>
            <a:ext cx="54864" cy="64008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096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&amp; Automation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4361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repeatable workflows in SKILL.md. Automate routine tasks (dependency updates, stale branch cleanup).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OpenAI Codex — Practical Examples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Well-Scoped Task Prompt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840480" cy="182880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a --json flag to the CLI.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Add the flag to the arg parser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Write failing tests first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Implement JSON output formatter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Run `make test` and `make lint`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Don't modify existing tests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AGENTS.md Example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4023360" cy="182880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716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AGENTS.md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Build &amp; Test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Build: `cargo build`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Test: `cargo test --all`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Lint: `cargo clippy`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Conventions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Error handling: use `anyhow`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 unsafe code without comment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Automation: Scheduled Tasks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8046720" cy="109728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8404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Codex Automation — runs every Monday at 9am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Prompt: "Update all dependencies, run tests, fix any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breakages, and open a PR with the changes."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Comparison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286000" cy="4114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651760" y="914400"/>
            <a:ext cx="3200400" cy="4114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2651760" y="914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914400"/>
            <a:ext cx="2926080" cy="4114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0" y="914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OpenAI Codex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2286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325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1325880"/>
            <a:ext cx="32004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1325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copilot-instructions.md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1325880"/>
            <a:ext cx="29260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1325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+ SKILL.md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783080"/>
            <a:ext cx="228600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Mode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51760" y="1783080"/>
            <a:ext cx="320040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/plan command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52160" y="1783080"/>
            <a:ext cx="292608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/plan command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240280"/>
            <a:ext cx="2286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Parallel Tasks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51760" y="2240280"/>
            <a:ext cx="32004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/fleet parallel subtasks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52160" y="2240280"/>
            <a:ext cx="29260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0" y="2240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threads + /fleet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2697480"/>
            <a:ext cx="228600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 Integration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51760" y="2697480"/>
            <a:ext cx="320040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JetBrains, CLI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52160" y="2697480"/>
            <a:ext cx="292608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CLI, IDE extension, Web App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154680"/>
            <a:ext cx="2286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154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Control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651760" y="3154680"/>
            <a:ext cx="32004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#file + @workspace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852160" y="3154680"/>
            <a:ext cx="29260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0" y="3154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files + MCP servers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3611880"/>
            <a:ext cx="228600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3611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651760" y="3611880"/>
            <a:ext cx="320040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0" y="3611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Auto-fix CI failures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852160" y="3611880"/>
            <a:ext cx="292608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5943600" y="3611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Red-green-refactor TDD loop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4069080"/>
            <a:ext cx="2286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069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Skills/Reuse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651760" y="4069080"/>
            <a:ext cx="32004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274320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instructions file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852160" y="4069080"/>
            <a:ext cx="29260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5943600" y="4069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reusable packages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65760" y="4526280"/>
            <a:ext cx="228600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" y="4526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Agent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651760" y="4526280"/>
            <a:ext cx="320040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52"/>
          <p:cNvSpPr/>
          <p:nvPr/>
        </p:nvSpPr>
        <p:spPr>
          <a:xfrm>
            <a:off x="2743200" y="4526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cloud coding agent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852160" y="4526280"/>
            <a:ext cx="292608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54"/>
          <p:cNvSpPr/>
          <p:nvPr/>
        </p:nvSpPr>
        <p:spPr>
          <a:xfrm>
            <a:off x="5943600" y="4526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Cloud threads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Prompt Engineering → Context Engineering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2026, the structure around your task matters more than the wording of the task itself.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600200" cy="201168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371600"/>
            <a:ext cx="1600200" cy="4114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716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 File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copilot-instructions.md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952" y="2194560"/>
            <a:ext cx="182880" cy="182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057400" y="1371600"/>
            <a:ext cx="1600200" cy="201168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057400" y="1371600"/>
            <a:ext cx="1600200" cy="41148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1" name="Text 8"/>
          <p:cNvSpPr/>
          <p:nvPr/>
        </p:nvSpPr>
        <p:spPr>
          <a:xfrm>
            <a:off x="2057400" y="13716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Loading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148840" y="19202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#file, @workspace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files + MCP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32" y="2194560"/>
            <a:ext cx="182880" cy="1828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840480" y="1371600"/>
            <a:ext cx="1600200" cy="201168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840480" y="1371600"/>
            <a:ext cx="1600200" cy="41148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6" name="Text 12"/>
          <p:cNvSpPr/>
          <p:nvPr/>
        </p:nvSpPr>
        <p:spPr>
          <a:xfrm>
            <a:off x="3840480" y="13716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&amp; Spec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931920" y="19202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/plan mode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before code</a:t>
            </a:r>
            <a:endParaRPr lang="en-US" sz="10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2194560"/>
            <a:ext cx="182880" cy="1828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623560" y="1371600"/>
            <a:ext cx="1600200" cy="201168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623560" y="1371600"/>
            <a:ext cx="1600200" cy="411480"/>
          </a:xfrm>
          <a:prstGeom prst="rect">
            <a:avLst/>
          </a:prstGeom>
          <a:solidFill>
            <a:srgbClr val="10A37F"/>
          </a:solidFill>
          <a:ln/>
        </p:spPr>
      </p:sp>
      <p:sp>
        <p:nvSpPr>
          <p:cNvPr id="21" name="Text 16"/>
          <p:cNvSpPr/>
          <p:nvPr/>
        </p:nvSpPr>
        <p:spPr>
          <a:xfrm>
            <a:off x="5623560" y="13716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Execute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715000" y="19202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with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steps</a:t>
            </a:r>
            <a:endParaRPr lang="en-US" sz="10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2194560"/>
            <a:ext cx="182880" cy="18288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406640" y="1371600"/>
            <a:ext cx="1600200" cy="201168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06640" y="1371600"/>
            <a:ext cx="1600200" cy="41148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26" name="Text 20"/>
          <p:cNvSpPr/>
          <p:nvPr/>
        </p:nvSpPr>
        <p:spPr>
          <a:xfrm>
            <a:off x="7406640" y="13716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498080" y="19202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CI auto-fix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F0A500">
              <a:alpha val="20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high-output engineers and everyone else is the structure they build around AI before execution begins.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 Advanced Techniques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54864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87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Before Code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2527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Copilot Chat, ask "Explain before you code" as a guardrail. Forces the AI to think through its approach before generating.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37360"/>
            <a:ext cx="54864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764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Tests as Examples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0299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unit tests first. Ask Copilot to generate the function described by those tests. Tests serve as unambiguous specifications.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#selection for Precision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28072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specific code before opening Chat. Produces more targeted responses than asking about the whole file.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291840"/>
            <a:ext cx="54864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319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Multi-Repo with /fleet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5844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CLI works across child repositories simultaneously. Use /fleet to break cross-repo tasks into parallel subtasks.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069080"/>
            <a:ext cx="54864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096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Agent for PRs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4361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@copilot in PR comments triggers revisions. Batch comments before mentioning to avoid multiple runs. Reviews merge conflicts too.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Codex Advanced Techniques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54864" cy="64008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87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TDD-First Workflow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2527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failing tests → commit → ask Codex to implement until all pass. Explicit instruction: don't modify the tests.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37360"/>
            <a:ext cx="54864" cy="64008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764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/compact for Long Sessions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0299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context feels diluted, /compact summarizes earlier context. Keeps recent decisions crisp while preserving history.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Inputs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28072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screenshots or design specs. Codex reads image details alongside your prompt. Great for implementing UI from mockups.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291840"/>
            <a:ext cx="54864" cy="64008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319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Server Connections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5844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Codex to external tools via Model Context Protocol. Live data from databases, APIs, and CI systems.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069080"/>
            <a:ext cx="54864" cy="64008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096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Scheduled Automations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4361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recurring tasks in the Codex App. Dependency updates, stale branch cleanup, weekly code audits — fully hands-off.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Prompt Examples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023360" cy="178308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4023360" cy="3200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987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Copilot: Feature Dev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@workspace Add OAuth2 with Google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provider. Use Passport.js.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Constraints: don't change existing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 middleware.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#file:src/auth/config.ts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960120"/>
            <a:ext cx="4023360" cy="178308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960120"/>
            <a:ext cx="4023360" cy="32004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987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Codex: Debugging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13716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/api/users endpoint returns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 intermittently. Search codebase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logs. Write a failing test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first, then fix. Run cargo test.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023360" cy="178308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926080"/>
            <a:ext cx="4023360" cy="3200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953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Copilot: Code Review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3375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/review Focus on security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vulnerabilities and breaking API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changes in my current branch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against main.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2926080"/>
            <a:ext cx="4023360" cy="178308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926080"/>
            <a:ext cx="4023360" cy="32004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953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Codex: Scheduled Task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33375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Automation: Every Monday 9am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"Update all dependencies, run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tests, fix breakages, open a PR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the changes."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Anti-Patterns to Avoid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85800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685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D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Anti-Pattern</a:t>
            </a: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685800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480560" y="685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Better Approach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548640" y="960120"/>
            <a:ext cx="3474720" cy="54864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8" name="Shape 4"/>
          <p:cNvSpPr/>
          <p:nvPr/>
        </p:nvSpPr>
        <p:spPr>
          <a:xfrm>
            <a:off x="548640" y="960120"/>
            <a:ext cx="45720" cy="548640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9" name="Text 5"/>
          <p:cNvSpPr/>
          <p:nvPr/>
        </p:nvSpPr>
        <p:spPr>
          <a:xfrm>
            <a:off x="777240" y="960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one-shot prompts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206240" y="960120"/>
            <a:ext cx="4389120" cy="548640"/>
          </a:xfrm>
          <a:prstGeom prst="rect">
            <a:avLst/>
          </a:prstGeom>
          <a:solidFill>
            <a:srgbClr val="F0FFF0"/>
          </a:solidFill>
          <a:ln/>
        </p:spPr>
      </p:sp>
      <p:sp>
        <p:nvSpPr>
          <p:cNvPr id="11" name="Shape 7"/>
          <p:cNvSpPr/>
          <p:nvPr/>
        </p:nvSpPr>
        <p:spPr>
          <a:xfrm>
            <a:off x="4206240" y="960120"/>
            <a:ext cx="45720" cy="5486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2" name="Text 8"/>
          <p:cNvSpPr/>
          <p:nvPr/>
        </p:nvSpPr>
        <p:spPr>
          <a:xfrm>
            <a:off x="4434840" y="9601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complex tasks into steps with explicit constraints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1618488"/>
            <a:ext cx="3474720" cy="54864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14" name="Shape 10"/>
          <p:cNvSpPr/>
          <p:nvPr/>
        </p:nvSpPr>
        <p:spPr>
          <a:xfrm>
            <a:off x="548640" y="1618488"/>
            <a:ext cx="45720" cy="548640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15" name="Text 11"/>
          <p:cNvSpPr/>
          <p:nvPr/>
        </p:nvSpPr>
        <p:spPr>
          <a:xfrm>
            <a:off x="777240" y="16184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Accepting output without tests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206240" y="1618488"/>
            <a:ext cx="4389120" cy="548640"/>
          </a:xfrm>
          <a:prstGeom prst="rect">
            <a:avLst/>
          </a:prstGeom>
          <a:solidFill>
            <a:srgbClr val="F0FFF0"/>
          </a:solidFill>
          <a:ln/>
        </p:spPr>
      </p:sp>
      <p:sp>
        <p:nvSpPr>
          <p:cNvPr id="17" name="Shape 13"/>
          <p:cNvSpPr/>
          <p:nvPr/>
        </p:nvSpPr>
        <p:spPr>
          <a:xfrm>
            <a:off x="4206240" y="1618488"/>
            <a:ext cx="45720" cy="5486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8" name="Text 14"/>
          <p:cNvSpPr/>
          <p:nvPr/>
        </p:nvSpPr>
        <p:spPr>
          <a:xfrm>
            <a:off x="4434840" y="161848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 tests, linters, type-checks before accepting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2276856"/>
            <a:ext cx="3474720" cy="54864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20" name="Shape 16"/>
          <p:cNvSpPr/>
          <p:nvPr/>
        </p:nvSpPr>
        <p:spPr>
          <a:xfrm>
            <a:off x="548640" y="2276856"/>
            <a:ext cx="45720" cy="548640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21" name="Text 17"/>
          <p:cNvSpPr/>
          <p:nvPr/>
        </p:nvSpPr>
        <p:spPr>
          <a:xfrm>
            <a:off x="777240" y="227685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irrelevant files open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206240" y="2276856"/>
            <a:ext cx="4389120" cy="548640"/>
          </a:xfrm>
          <a:prstGeom prst="rect">
            <a:avLst/>
          </a:prstGeom>
          <a:solidFill>
            <a:srgbClr val="F0FFF0"/>
          </a:solidFill>
          <a:ln/>
        </p:spPr>
      </p:sp>
      <p:sp>
        <p:nvSpPr>
          <p:cNvPr id="23" name="Shape 19"/>
          <p:cNvSpPr/>
          <p:nvPr/>
        </p:nvSpPr>
        <p:spPr>
          <a:xfrm>
            <a:off x="4206240" y="2276856"/>
            <a:ext cx="45720" cy="5486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4" name="Text 20"/>
          <p:cNvSpPr/>
          <p:nvPr/>
        </p:nvSpPr>
        <p:spPr>
          <a:xfrm>
            <a:off x="4434840" y="22768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only relevant files. Close irrelevant ones for cleaner context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48640" y="2935224"/>
            <a:ext cx="3474720" cy="54864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26" name="Shape 22"/>
          <p:cNvSpPr/>
          <p:nvPr/>
        </p:nvSpPr>
        <p:spPr>
          <a:xfrm>
            <a:off x="548640" y="2935224"/>
            <a:ext cx="45720" cy="548640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27" name="Text 23"/>
          <p:cNvSpPr/>
          <p:nvPr/>
        </p:nvSpPr>
        <p:spPr>
          <a:xfrm>
            <a:off x="777240" y="293522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config file in the repo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206240" y="2935224"/>
            <a:ext cx="4389120" cy="548640"/>
          </a:xfrm>
          <a:prstGeom prst="rect">
            <a:avLst/>
          </a:prstGeom>
          <a:solidFill>
            <a:srgbClr val="F0FFF0"/>
          </a:solidFill>
          <a:ln/>
        </p:spPr>
      </p:sp>
      <p:sp>
        <p:nvSpPr>
          <p:cNvPr id="29" name="Shape 25"/>
          <p:cNvSpPr/>
          <p:nvPr/>
        </p:nvSpPr>
        <p:spPr>
          <a:xfrm>
            <a:off x="4206240" y="2935224"/>
            <a:ext cx="45720" cy="5486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0" name="Text 26"/>
          <p:cNvSpPr/>
          <p:nvPr/>
        </p:nvSpPr>
        <p:spPr>
          <a:xfrm>
            <a:off x="4434840" y="293522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copilot-instructions.md / AGENTS.md on day one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548640" y="3593592"/>
            <a:ext cx="3474720" cy="54864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32" name="Shape 28"/>
          <p:cNvSpPr/>
          <p:nvPr/>
        </p:nvSpPr>
        <p:spPr>
          <a:xfrm>
            <a:off x="548640" y="3593592"/>
            <a:ext cx="45720" cy="548640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33" name="Text 29"/>
          <p:cNvSpPr/>
          <p:nvPr/>
        </p:nvSpPr>
        <p:spPr>
          <a:xfrm>
            <a:off x="777240" y="359359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Chat for everything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4206240" y="3593592"/>
            <a:ext cx="4389120" cy="548640"/>
          </a:xfrm>
          <a:prstGeom prst="rect">
            <a:avLst/>
          </a:prstGeom>
          <a:solidFill>
            <a:srgbClr val="F0FFF0"/>
          </a:solidFill>
          <a:ln/>
        </p:spPr>
      </p:sp>
      <p:sp>
        <p:nvSpPr>
          <p:cNvPr id="35" name="Shape 31"/>
          <p:cNvSpPr/>
          <p:nvPr/>
        </p:nvSpPr>
        <p:spPr>
          <a:xfrm>
            <a:off x="4206240" y="3593592"/>
            <a:ext cx="45720" cy="5486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6" name="Text 32"/>
          <p:cNvSpPr/>
          <p:nvPr/>
        </p:nvSpPr>
        <p:spPr>
          <a:xfrm>
            <a:off x="4434840" y="359359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inline suggestions for simple completions — save Chat for complex tasks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548640" y="4251960"/>
            <a:ext cx="3474720" cy="54864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38" name="Shape 34"/>
          <p:cNvSpPr/>
          <p:nvPr/>
        </p:nvSpPr>
        <p:spPr>
          <a:xfrm>
            <a:off x="548640" y="4251960"/>
            <a:ext cx="45720" cy="548640"/>
          </a:xfrm>
          <a:prstGeom prst="rect">
            <a:avLst/>
          </a:prstGeom>
          <a:solidFill>
            <a:srgbClr val="FF4D4D"/>
          </a:solidFill>
          <a:ln/>
        </p:spPr>
      </p:sp>
      <p:sp>
        <p:nvSpPr>
          <p:cNvPr id="39" name="Text 35"/>
          <p:cNvSpPr/>
          <p:nvPr/>
        </p:nvSpPr>
        <p:spPr>
          <a:xfrm>
            <a:off x="777240" y="4251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over-engineering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4206240" y="4251960"/>
            <a:ext cx="4389120" cy="548640"/>
          </a:xfrm>
          <a:prstGeom prst="rect">
            <a:avLst/>
          </a:prstGeom>
          <a:solidFill>
            <a:srgbClr val="F0FFF0"/>
          </a:solidFill>
          <a:ln/>
        </p:spPr>
      </p:sp>
      <p:sp>
        <p:nvSpPr>
          <p:cNvPr id="41" name="Shape 37"/>
          <p:cNvSpPr/>
          <p:nvPr/>
        </p:nvSpPr>
        <p:spPr>
          <a:xfrm>
            <a:off x="4206240" y="4251960"/>
            <a:ext cx="45720" cy="5486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42" name="Text 38"/>
          <p:cNvSpPr/>
          <p:nvPr/>
        </p:nvSpPr>
        <p:spPr>
          <a:xfrm>
            <a:off x="4434840" y="42519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"Use the simplest possible approach" to your config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Adoption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8229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51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1–2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3898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0515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config files. Enable Copilot in IDE + install Codex CLI. Run first structured prompts with both tools.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8229600" cy="82296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93392"/>
            <a:ext cx="73152" cy="82296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0391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3–4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377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 Integration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2039112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/plan-first workflow. Create team-shared instructions. Set up CI integration for auto-fix.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80944"/>
            <a:ext cx="8229600" cy="82296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80944"/>
            <a:ext cx="73152" cy="82296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02666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5–6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3649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Patterns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03120" y="3026664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/fleet for parallel tasks. Build SKILL.md packages. Connect MCP servers for live context.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968496"/>
            <a:ext cx="8229600" cy="822960"/>
          </a:xfrm>
          <a:prstGeom prst="rect">
            <a:avLst/>
          </a:prstGeom>
          <a:solidFill>
            <a:srgbClr val="16213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968496"/>
            <a:ext cx="73152" cy="822960"/>
          </a:xfrm>
          <a:prstGeom prst="rect">
            <a:avLst/>
          </a:prstGeom>
          <a:solidFill>
            <a:srgbClr val="10A37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01421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A3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7+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435254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&amp; Govern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03120" y="4014216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routine tasks. Set up governance (spend controls, model access). Measure productivity impact.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Pricing &amp; Access (2026)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64008" cy="15544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(2K completions/mo)  →  Individual ($10/mo)  →  Business ($19/mo)  →  Enterprise ($39/mo)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is enough to evaluate. Individual unlocks unlimited completions.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80467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926080"/>
            <a:ext cx="64008" cy="155448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OpenAI Codex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with ChatGPT Pro/Plus/Enterprise. Codex CLI: authenticate with ChatGPT account or API key.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9319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&amp; Plus users get free API credits. On-demand pricing for heavy usage.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097280"/>
            <a:ext cx="274320" cy="2743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97280" y="10515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&gt; prompt engineering — structure your AI's environment before prompting.</a:t>
            </a:r>
            <a:endParaRPr lang="en-US" sz="1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91640"/>
            <a:ext cx="274320" cy="2743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97280" y="16459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tools converge: config files, plan-first, verify-always, reuse as skills.</a:t>
            </a:r>
            <a:endParaRPr lang="en-US" sz="1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286000"/>
            <a:ext cx="274320" cy="27432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097280" y="22402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AI like a fast junior developer — always review, test, and validate output.</a:t>
            </a:r>
            <a:endParaRPr lang="en-US" sz="14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880360"/>
            <a:ext cx="274320" cy="27432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097280" y="2834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excels at real-time pairing; Codex excels at async task delegation. Use both.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474720"/>
            <a:ext cx="274320" cy="27432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097280" y="34290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config files, /plan workflows, and reusable skills — they compound over time.</a:t>
            </a:r>
            <a:endParaRPr lang="en-US" sz="140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69080"/>
            <a:ext cx="274320" cy="27432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1097280" y="40233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tool, master the patterns, then expand. The prompting skills transfer.</a:t>
            </a:r>
            <a:endParaRPr lang="en-US" sz="1400" dirty="0"/>
          </a:p>
        </p:txBody>
      </p:sp>
      <p:sp>
        <p:nvSpPr>
          <p:cNvPr id="16" name="Shape 7"/>
          <p:cNvSpPr/>
          <p:nvPr/>
        </p:nvSpPr>
        <p:spPr>
          <a:xfrm>
            <a:off x="2286000" y="4572000"/>
            <a:ext cx="4572000" cy="365760"/>
          </a:xfrm>
          <a:prstGeom prst="rect">
            <a:avLst/>
          </a:prstGeom>
          <a:solidFill>
            <a:srgbClr val="F0A500">
              <a:alpha val="70000"/>
            </a:srgbClr>
          </a:solidFill>
          <a:ln/>
        </p:spPr>
      </p:sp>
      <p:sp>
        <p:nvSpPr>
          <p:cNvPr id="17" name="Text 8"/>
          <p:cNvSpPr/>
          <p:nvPr/>
        </p:nvSpPr>
        <p:spPr>
          <a:xfrm>
            <a:off x="228600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config file to your project this week. The ROI is immediate.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-97487"/>
            <a:ext cx="822960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Resources &amp;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684325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740369"/>
            <a:ext cx="64008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767801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 Docs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060409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docs.github.com/copilot — best practices, prompt engineering, CLI guide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517609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17609"/>
            <a:ext cx="64008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545041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 Blog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837649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github.blog/copilot — tips, case studies, prompt crafting guides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294849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294849"/>
            <a:ext cx="64008" cy="64008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322281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OpenAI Codex Docs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614889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developers.openai.com/codex — best practices, prompting guide, CLI reference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072089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3072089"/>
            <a:ext cx="64008" cy="64008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099521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Codex Prompting Guide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3392129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developers.openai.com/cookbook — model-specific prompting for gpt-5.3-codex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49329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3849329"/>
            <a:ext cx="64008" cy="64008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876761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AGENTS.md Reference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4169369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Repository-level guidance — conventions, build commands, per-directory injection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553417"/>
            <a:ext cx="8046720" cy="41148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599137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88720" y="4553417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Add copilot-instructions.md or AGENTS.md to one project this week.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1876</Words>
  <Application>Microsoft Macintosh PowerPoint</Application>
  <PresentationFormat>On-screen Show (16:9)</PresentationFormat>
  <Paragraphs>270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Engineers Prompt GitHub Copilot &amp; OpenAI Codex</dc:title>
  <dc:subject>PptxGenJS Presentation</dc:subject>
  <dc:creator>PptxGenJS</dc:creator>
  <cp:lastModifiedBy>SYED RAZA</cp:lastModifiedBy>
  <cp:revision>2</cp:revision>
  <dcterms:created xsi:type="dcterms:W3CDTF">2026-05-16T17:24:42Z</dcterms:created>
  <dcterms:modified xsi:type="dcterms:W3CDTF">2026-05-16T20:09:03Z</dcterms:modified>
</cp:coreProperties>
</file>